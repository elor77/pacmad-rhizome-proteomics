
<file path=[Content_Types].xml><?xml version="1.0" encoding="utf-8"?>
<Types xmlns="http://schemas.openxmlformats.org/package/2006/content-types">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63" r:id="rId3"/>
    <p:sldId id="264" r:id="rId4"/>
    <p:sldId id="257" r:id="rId5"/>
    <p:sldId id="258" r:id="rId6"/>
    <p:sldId id="259" r:id="rId7"/>
    <p:sldId id="260" r:id="rId8"/>
    <p:sldId id="261" r:id="rId9"/>
    <p:sldId id="262" r:id="rId10"/>
  </p:sldIdLst>
  <p:sldSz cx="9906000" cy="6858000" type="A4"/>
  <p:notesSz cx="9906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3E0F3B-B79D-2444-8020-464DAEAA3BEE}" v="45" dt="2026-02-06T20:01:38.50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97"/>
    <p:restoredTop sz="93638"/>
  </p:normalViewPr>
  <p:slideViewPr>
    <p:cSldViewPr>
      <p:cViewPr varScale="1">
        <p:scale>
          <a:sx n="113" d="100"/>
          <a:sy n="113" d="100"/>
        </p:scale>
        <p:origin x="1360" y="17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ad Oren" userId="211a55de1c355a5b" providerId="LiveId" clId="{D82687A4-6243-5AE4-AB01-541924923F2E}"/>
    <pc:docChg chg="undo redo custSel addSld modSld sldOrd">
      <pc:chgData name="Elad Oren" userId="211a55de1c355a5b" providerId="LiveId" clId="{D82687A4-6243-5AE4-AB01-541924923F2E}" dt="2026-02-06T20:10:04.832" v="575" actId="123"/>
      <pc:docMkLst>
        <pc:docMk/>
      </pc:docMkLst>
      <pc:sldChg chg="addSp delSp modSp mod">
        <pc:chgData name="Elad Oren" userId="211a55de1c355a5b" providerId="LiveId" clId="{D82687A4-6243-5AE4-AB01-541924923F2E}" dt="2026-02-06T19:34:35.184" v="351" actId="20577"/>
        <pc:sldMkLst>
          <pc:docMk/>
          <pc:sldMk cId="0" sldId="256"/>
        </pc:sldMkLst>
        <pc:spChg chg="mod">
          <ac:chgData name="Elad Oren" userId="211a55de1c355a5b" providerId="LiveId" clId="{D82687A4-6243-5AE4-AB01-541924923F2E}" dt="2026-02-06T19:34:35.184" v="351" actId="20577"/>
          <ac:spMkLst>
            <pc:docMk/>
            <pc:sldMk cId="0" sldId="256"/>
            <ac:spMk id="121" creationId="{00000000-0000-0000-0000-000000000000}"/>
          </ac:spMkLst>
        </pc:spChg>
        <pc:spChg chg="add del">
          <ac:chgData name="Elad Oren" userId="211a55de1c355a5b" providerId="LiveId" clId="{D82687A4-6243-5AE4-AB01-541924923F2E}" dt="2026-02-06T19:23:08.876" v="101" actId="22"/>
          <ac:spMkLst>
            <pc:docMk/>
            <pc:sldMk cId="0" sldId="256"/>
            <ac:spMk id="122" creationId="{8D9DCCC9-6CD6-94C7-CE40-92DF9C174EDB}"/>
          </ac:spMkLst>
        </pc:spChg>
        <pc:spChg chg="add del">
          <ac:chgData name="Elad Oren" userId="211a55de1c355a5b" providerId="LiveId" clId="{D82687A4-6243-5AE4-AB01-541924923F2E}" dt="2026-02-06T19:23:45.287" v="126" actId="478"/>
          <ac:spMkLst>
            <pc:docMk/>
            <pc:sldMk cId="0" sldId="256"/>
            <ac:spMk id="125" creationId="{0C8EA3F1-0711-BFBF-085F-D1957CEF41CC}"/>
          </ac:spMkLst>
        </pc:spChg>
        <pc:spChg chg="add del">
          <ac:chgData name="Elad Oren" userId="211a55de1c355a5b" providerId="LiveId" clId="{D82687A4-6243-5AE4-AB01-541924923F2E}" dt="2026-02-06T19:26:04.654" v="232" actId="478"/>
          <ac:spMkLst>
            <pc:docMk/>
            <pc:sldMk cId="0" sldId="256"/>
            <ac:spMk id="127" creationId="{C0740309-CB2E-4A74-2517-5FF1A713A3F0}"/>
          </ac:spMkLst>
        </pc:spChg>
        <pc:grpChg chg="add mod">
          <ac:chgData name="Elad Oren" userId="211a55de1c355a5b" providerId="LiveId" clId="{D82687A4-6243-5AE4-AB01-541924923F2E}" dt="2026-02-04T15:08:43.303" v="51" actId="1076"/>
          <ac:grpSpMkLst>
            <pc:docMk/>
            <pc:sldMk cId="0" sldId="256"/>
            <ac:grpSpMk id="124" creationId="{4DBF8883-7977-5B32-C3AC-409D303C6120}"/>
          </ac:grpSpMkLst>
        </pc:grpChg>
      </pc:sldChg>
      <pc:sldChg chg="modSp mod">
        <pc:chgData name="Elad Oren" userId="211a55de1c355a5b" providerId="LiveId" clId="{D82687A4-6243-5AE4-AB01-541924923F2E}" dt="2026-02-06T20:10:04.832" v="575" actId="123"/>
        <pc:sldMkLst>
          <pc:docMk/>
          <pc:sldMk cId="0" sldId="257"/>
        </pc:sldMkLst>
        <pc:spChg chg="mod">
          <ac:chgData name="Elad Oren" userId="211a55de1c355a5b" providerId="LiveId" clId="{D82687A4-6243-5AE4-AB01-541924923F2E}" dt="2026-02-06T20:10:04.832" v="575" actId="123"/>
          <ac:spMkLst>
            <pc:docMk/>
            <pc:sldMk cId="0" sldId="257"/>
            <ac:spMk id="2" creationId="{00000000-0000-0000-0000-000000000000}"/>
          </ac:spMkLst>
        </pc:spChg>
        <pc:spChg chg="mod">
          <ac:chgData name="Elad Oren" userId="211a55de1c355a5b" providerId="LiveId" clId="{D82687A4-6243-5AE4-AB01-541924923F2E}" dt="2026-02-06T19:33:38.893" v="325" actId="1035"/>
          <ac:spMkLst>
            <pc:docMk/>
            <pc:sldMk cId="0" sldId="257"/>
            <ac:spMk id="283" creationId="{00000000-0000-0000-0000-000000000000}"/>
          </ac:spMkLst>
        </pc:spChg>
        <pc:spChg chg="mod">
          <ac:chgData name="Elad Oren" userId="211a55de1c355a5b" providerId="LiveId" clId="{D82687A4-6243-5AE4-AB01-541924923F2E}" dt="2026-02-06T19:33:39.250" v="326" actId="1035"/>
          <ac:spMkLst>
            <pc:docMk/>
            <pc:sldMk cId="0" sldId="257"/>
            <ac:spMk id="284" creationId="{00000000-0000-0000-0000-000000000000}"/>
          </ac:spMkLst>
        </pc:spChg>
        <pc:spChg chg="mod">
          <ac:chgData name="Elad Oren" userId="211a55de1c355a5b" providerId="LiveId" clId="{D82687A4-6243-5AE4-AB01-541924923F2E}" dt="2026-02-06T19:33:39.250" v="326" actId="1035"/>
          <ac:spMkLst>
            <pc:docMk/>
            <pc:sldMk cId="0" sldId="257"/>
            <ac:spMk id="285" creationId="{00000000-0000-0000-0000-000000000000}"/>
          </ac:spMkLst>
        </pc:spChg>
        <pc:spChg chg="mod">
          <ac:chgData name="Elad Oren" userId="211a55de1c355a5b" providerId="LiveId" clId="{D82687A4-6243-5AE4-AB01-541924923F2E}" dt="2026-02-06T19:33:39.250" v="326" actId="1035"/>
          <ac:spMkLst>
            <pc:docMk/>
            <pc:sldMk cId="0" sldId="257"/>
            <ac:spMk id="286" creationId="{00000000-0000-0000-0000-000000000000}"/>
          </ac:spMkLst>
        </pc:spChg>
        <pc:spChg chg="mod">
          <ac:chgData name="Elad Oren" userId="211a55de1c355a5b" providerId="LiveId" clId="{D82687A4-6243-5AE4-AB01-541924923F2E}" dt="2026-02-06T19:33:39.250" v="326" actId="1035"/>
          <ac:spMkLst>
            <pc:docMk/>
            <pc:sldMk cId="0" sldId="257"/>
            <ac:spMk id="287" creationId="{00000000-0000-0000-0000-000000000000}"/>
          </ac:spMkLst>
        </pc:spChg>
        <pc:spChg chg="mod">
          <ac:chgData name="Elad Oren" userId="211a55de1c355a5b" providerId="LiveId" clId="{D82687A4-6243-5AE4-AB01-541924923F2E}" dt="2026-02-06T19:33:38.893" v="325" actId="1035"/>
          <ac:spMkLst>
            <pc:docMk/>
            <pc:sldMk cId="0" sldId="257"/>
            <ac:spMk id="288" creationId="{00000000-0000-0000-0000-000000000000}"/>
          </ac:spMkLst>
        </pc:spChg>
        <pc:spChg chg="mod">
          <ac:chgData name="Elad Oren" userId="211a55de1c355a5b" providerId="LiveId" clId="{D82687A4-6243-5AE4-AB01-541924923F2E}" dt="2026-02-06T19:33:39.250" v="326" actId="1035"/>
          <ac:spMkLst>
            <pc:docMk/>
            <pc:sldMk cId="0" sldId="257"/>
            <ac:spMk id="291" creationId="{00000000-0000-0000-0000-000000000000}"/>
          </ac:spMkLst>
        </pc:spChg>
        <pc:spChg chg="mod">
          <ac:chgData name="Elad Oren" userId="211a55de1c355a5b" providerId="LiveId" clId="{D82687A4-6243-5AE4-AB01-541924923F2E}" dt="2026-02-06T19:33:39.250" v="326" actId="1035"/>
          <ac:spMkLst>
            <pc:docMk/>
            <pc:sldMk cId="0" sldId="257"/>
            <ac:spMk id="293" creationId="{00000000-0000-0000-0000-000000000000}"/>
          </ac:spMkLst>
        </pc:spChg>
        <pc:spChg chg="mod">
          <ac:chgData name="Elad Oren" userId="211a55de1c355a5b" providerId="LiveId" clId="{D82687A4-6243-5AE4-AB01-541924923F2E}" dt="2026-02-06T19:33:39.250" v="326" actId="1035"/>
          <ac:spMkLst>
            <pc:docMk/>
            <pc:sldMk cId="0" sldId="257"/>
            <ac:spMk id="336" creationId="{00000000-0000-0000-0000-000000000000}"/>
          </ac:spMkLst>
        </pc:spChg>
        <pc:spChg chg="mod">
          <ac:chgData name="Elad Oren" userId="211a55de1c355a5b" providerId="LiveId" clId="{D82687A4-6243-5AE4-AB01-541924923F2E}" dt="2026-02-06T19:33:39.250" v="326" actId="1035"/>
          <ac:spMkLst>
            <pc:docMk/>
            <pc:sldMk cId="0" sldId="257"/>
            <ac:spMk id="337" creationId="{00000000-0000-0000-0000-000000000000}"/>
          </ac:spMkLst>
        </pc:spChg>
        <pc:spChg chg="mod">
          <ac:chgData name="Elad Oren" userId="211a55de1c355a5b" providerId="LiveId" clId="{D82687A4-6243-5AE4-AB01-541924923F2E}" dt="2026-02-06T19:33:39.250" v="326" actId="1035"/>
          <ac:spMkLst>
            <pc:docMk/>
            <pc:sldMk cId="0" sldId="257"/>
            <ac:spMk id="341" creationId="{00000000-0000-0000-0000-000000000000}"/>
          </ac:spMkLst>
        </pc:spChg>
        <pc:spChg chg="mod">
          <ac:chgData name="Elad Oren" userId="211a55de1c355a5b" providerId="LiveId" clId="{D82687A4-6243-5AE4-AB01-541924923F2E}" dt="2026-02-06T19:33:39.250" v="326" actId="1035"/>
          <ac:spMkLst>
            <pc:docMk/>
            <pc:sldMk cId="0" sldId="257"/>
            <ac:spMk id="343" creationId="{00000000-0000-0000-0000-000000000000}"/>
          </ac:spMkLst>
        </pc:spChg>
        <pc:grpChg chg="mod">
          <ac:chgData name="Elad Oren" userId="211a55de1c355a5b" providerId="LiveId" clId="{D82687A4-6243-5AE4-AB01-541924923F2E}" dt="2026-02-06T19:33:10.529" v="322" actId="1035"/>
          <ac:grpSpMkLst>
            <pc:docMk/>
            <pc:sldMk cId="0" sldId="257"/>
            <ac:grpSpMk id="294" creationId="{00000000-0000-0000-0000-000000000000}"/>
          </ac:grpSpMkLst>
        </pc:grpChg>
      </pc:sldChg>
      <pc:sldChg chg="modSp mod">
        <pc:chgData name="Elad Oren" userId="211a55de1c355a5b" providerId="LiveId" clId="{D82687A4-6243-5AE4-AB01-541924923F2E}" dt="2026-02-06T19:50:35.443" v="514" actId="113"/>
        <pc:sldMkLst>
          <pc:docMk/>
          <pc:sldMk cId="0" sldId="258"/>
        </pc:sldMkLst>
        <pc:spChg chg="mod">
          <ac:chgData name="Elad Oren" userId="211a55de1c355a5b" providerId="LiveId" clId="{D82687A4-6243-5AE4-AB01-541924923F2E}" dt="2026-02-06T19:50:35.443" v="514" actId="113"/>
          <ac:spMkLst>
            <pc:docMk/>
            <pc:sldMk cId="0" sldId="258"/>
            <ac:spMk id="3" creationId="{00000000-0000-0000-0000-000000000000}"/>
          </ac:spMkLst>
        </pc:spChg>
      </pc:sldChg>
      <pc:sldChg chg="modSp mod">
        <pc:chgData name="Elad Oren" userId="211a55de1c355a5b" providerId="LiveId" clId="{D82687A4-6243-5AE4-AB01-541924923F2E}" dt="2026-02-06T19:55:47.651" v="526" actId="14100"/>
        <pc:sldMkLst>
          <pc:docMk/>
          <pc:sldMk cId="0" sldId="259"/>
        </pc:sldMkLst>
        <pc:spChg chg="mod">
          <ac:chgData name="Elad Oren" userId="211a55de1c355a5b" providerId="LiveId" clId="{D82687A4-6243-5AE4-AB01-541924923F2E}" dt="2026-02-06T19:55:47.651" v="526" actId="14100"/>
          <ac:spMkLst>
            <pc:docMk/>
            <pc:sldMk cId="0" sldId="259"/>
            <ac:spMk id="496" creationId="{00000000-0000-0000-0000-000000000000}"/>
          </ac:spMkLst>
        </pc:spChg>
      </pc:sldChg>
      <pc:sldChg chg="addSp delSp modSp mod">
        <pc:chgData name="Elad Oren" userId="211a55de1c355a5b" providerId="LiveId" clId="{D82687A4-6243-5AE4-AB01-541924923F2E}" dt="2026-02-06T20:00:04.830" v="554" actId="1036"/>
        <pc:sldMkLst>
          <pc:docMk/>
          <pc:sldMk cId="0" sldId="260"/>
        </pc:sldMkLst>
        <pc:spChg chg="add del mod">
          <ac:chgData name="Elad Oren" userId="211a55de1c355a5b" providerId="LiveId" clId="{D82687A4-6243-5AE4-AB01-541924923F2E}" dt="2026-02-06T20:00:04.830" v="554" actId="1036"/>
          <ac:spMkLst>
            <pc:docMk/>
            <pc:sldMk cId="0" sldId="260"/>
            <ac:spMk id="14" creationId="{00000000-0000-0000-0000-000000000000}"/>
          </ac:spMkLst>
        </pc:spChg>
        <pc:spChg chg="add mod">
          <ac:chgData name="Elad Oren" userId="211a55de1c355a5b" providerId="LiveId" clId="{D82687A4-6243-5AE4-AB01-541924923F2E}" dt="2026-02-06T19:59:54.864" v="551" actId="1035"/>
          <ac:spMkLst>
            <pc:docMk/>
            <pc:sldMk cId="0" sldId="260"/>
            <ac:spMk id="105" creationId="{BBF6F442-0870-DEA0-1042-9A6FD4225154}"/>
          </ac:spMkLst>
        </pc:spChg>
        <pc:spChg chg="add del">
          <ac:chgData name="Elad Oren" userId="211a55de1c355a5b" providerId="LiveId" clId="{D82687A4-6243-5AE4-AB01-541924923F2E}" dt="2026-02-06T19:38:49.243" v="401" actId="22"/>
          <ac:spMkLst>
            <pc:docMk/>
            <pc:sldMk cId="0" sldId="260"/>
            <ac:spMk id="107" creationId="{51F1317B-25CF-FB95-D476-847EBBAA09BE}"/>
          </ac:spMkLst>
        </pc:spChg>
      </pc:sldChg>
      <pc:sldChg chg="modSp mod">
        <pc:chgData name="Elad Oren" userId="211a55de1c355a5b" providerId="LiveId" clId="{D82687A4-6243-5AE4-AB01-541924923F2E}" dt="2026-02-06T19:40:40.922" v="444" actId="20577"/>
        <pc:sldMkLst>
          <pc:docMk/>
          <pc:sldMk cId="0" sldId="261"/>
        </pc:sldMkLst>
        <pc:spChg chg="mod">
          <ac:chgData name="Elad Oren" userId="211a55de1c355a5b" providerId="LiveId" clId="{D82687A4-6243-5AE4-AB01-541924923F2E}" dt="2026-02-06T19:40:40.922" v="444" actId="20577"/>
          <ac:spMkLst>
            <pc:docMk/>
            <pc:sldMk cId="0" sldId="261"/>
            <ac:spMk id="15" creationId="{00000000-0000-0000-0000-000000000000}"/>
          </ac:spMkLst>
        </pc:spChg>
      </pc:sldChg>
      <pc:sldChg chg="modSp mod ord">
        <pc:chgData name="Elad Oren" userId="211a55de1c355a5b" providerId="LiveId" clId="{D82687A4-6243-5AE4-AB01-541924923F2E}" dt="2026-02-06T20:05:29.597" v="574" actId="20577"/>
        <pc:sldMkLst>
          <pc:docMk/>
          <pc:sldMk cId="0" sldId="262"/>
        </pc:sldMkLst>
        <pc:spChg chg="mod">
          <ac:chgData name="Elad Oren" userId="211a55de1c355a5b" providerId="LiveId" clId="{D82687A4-6243-5AE4-AB01-541924923F2E}" dt="2026-02-06T20:05:29.597" v="574" actId="20577"/>
          <ac:spMkLst>
            <pc:docMk/>
            <pc:sldMk cId="0" sldId="262"/>
            <ac:spMk id="51" creationId="{00000000-0000-0000-0000-000000000000}"/>
          </ac:spMkLst>
        </pc:spChg>
      </pc:sldChg>
      <pc:sldChg chg="addSp delSp modSp new mod">
        <pc:chgData name="Elad Oren" userId="211a55de1c355a5b" providerId="LiveId" clId="{D82687A4-6243-5AE4-AB01-541924923F2E}" dt="2026-02-06T19:34:59.765" v="358" actId="20577"/>
        <pc:sldMkLst>
          <pc:docMk/>
          <pc:sldMk cId="2979531068" sldId="263"/>
        </pc:sldMkLst>
        <pc:spChg chg="add mod">
          <ac:chgData name="Elad Oren" userId="211a55de1c355a5b" providerId="LiveId" clId="{D82687A4-6243-5AE4-AB01-541924923F2E}" dt="2026-02-06T19:34:59.765" v="358" actId="20577"/>
          <ac:spMkLst>
            <pc:docMk/>
            <pc:sldMk cId="2979531068" sldId="263"/>
            <ac:spMk id="4" creationId="{175B270B-4AE4-CE14-64F7-24761B2ED590}"/>
          </ac:spMkLst>
        </pc:spChg>
        <pc:picChg chg="add mod">
          <ac:chgData name="Elad Oren" userId="211a55de1c355a5b" providerId="LiveId" clId="{D82687A4-6243-5AE4-AB01-541924923F2E}" dt="2026-02-04T15:26:25.105" v="73" actId="14100"/>
          <ac:picMkLst>
            <pc:docMk/>
            <pc:sldMk cId="2979531068" sldId="263"/>
            <ac:picMk id="8" creationId="{9498E95A-7A3A-C1AD-8631-2AAC3A449BAF}"/>
          </ac:picMkLst>
        </pc:picChg>
      </pc:sldChg>
      <pc:sldChg chg="addSp modSp new mod">
        <pc:chgData name="Elad Oren" userId="211a55de1c355a5b" providerId="LiveId" clId="{D82687A4-6243-5AE4-AB01-541924923F2E}" dt="2026-02-06T19:34:52.533" v="357" actId="20577"/>
        <pc:sldMkLst>
          <pc:docMk/>
          <pc:sldMk cId="1471013447" sldId="264"/>
        </pc:sldMkLst>
        <pc:spChg chg="add mod">
          <ac:chgData name="Elad Oren" userId="211a55de1c355a5b" providerId="LiveId" clId="{D82687A4-6243-5AE4-AB01-541924923F2E}" dt="2026-02-06T19:34:52.533" v="357" actId="20577"/>
          <ac:spMkLst>
            <pc:docMk/>
            <pc:sldMk cId="1471013447" sldId="264"/>
            <ac:spMk id="4" creationId="{2E327A7B-68BA-B258-FEBE-0C356B3FA440}"/>
          </ac:spMkLst>
        </pc:spChg>
        <pc:picChg chg="add mod">
          <ac:chgData name="Elad Oren" userId="211a55de1c355a5b" providerId="LiveId" clId="{D82687A4-6243-5AE4-AB01-541924923F2E}" dt="2026-02-04T15:09:01.517" v="55" actId="1076"/>
          <ac:picMkLst>
            <pc:docMk/>
            <pc:sldMk cId="1471013447" sldId="264"/>
            <ac:picMk id="3" creationId="{587BE168-4352-2FD0-FFC6-E4DB0F92397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92600" cy="3444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5611813" y="0"/>
            <a:ext cx="4292600" cy="344488"/>
          </a:xfrm>
          <a:prstGeom prst="rect">
            <a:avLst/>
          </a:prstGeom>
        </p:spPr>
        <p:txBody>
          <a:bodyPr vert="horz" lIns="91440" tIns="45720" rIns="91440" bIns="45720" rtlCol="0"/>
          <a:lstStyle>
            <a:lvl1pPr algn="r">
              <a:defRPr sz="1200"/>
            </a:lvl1pPr>
          </a:lstStyle>
          <a:p>
            <a:fld id="{C7B3804D-9B91-E44B-91EB-7247B239EA50}" type="datetimeFigureOut">
              <a:rPr lang="en-IL" smtClean="0"/>
              <a:t>05/02/2026</a:t>
            </a:fld>
            <a:endParaRPr lang="en-IL"/>
          </a:p>
        </p:txBody>
      </p:sp>
      <p:sp>
        <p:nvSpPr>
          <p:cNvPr id="4" name="Slide Image Placeholder 3"/>
          <p:cNvSpPr>
            <a:spLocks noGrp="1" noRot="1" noChangeAspect="1"/>
          </p:cNvSpPr>
          <p:nvPr>
            <p:ph type="sldImg" idx="2"/>
          </p:nvPr>
        </p:nvSpPr>
        <p:spPr>
          <a:xfrm>
            <a:off x="3281363" y="857250"/>
            <a:ext cx="3343275" cy="2314575"/>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990600" y="3300413"/>
            <a:ext cx="79248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6513513"/>
            <a:ext cx="4292600" cy="3444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5611813" y="6513513"/>
            <a:ext cx="4292600" cy="344487"/>
          </a:xfrm>
          <a:prstGeom prst="rect">
            <a:avLst/>
          </a:prstGeom>
        </p:spPr>
        <p:txBody>
          <a:bodyPr vert="horz" lIns="91440" tIns="45720" rIns="91440" bIns="45720" rtlCol="0" anchor="b"/>
          <a:lstStyle>
            <a:lvl1pPr algn="r">
              <a:defRPr sz="1200"/>
            </a:lvl1pPr>
          </a:lstStyle>
          <a:p>
            <a:fld id="{B2030424-2981-A942-8E8A-F43C86421C52}" type="slidenum">
              <a:rPr lang="en-IL" smtClean="0"/>
              <a:t>‹#›</a:t>
            </a:fld>
            <a:endParaRPr lang="en-IL"/>
          </a:p>
        </p:txBody>
      </p:sp>
    </p:spTree>
    <p:extLst>
      <p:ext uri="{BB962C8B-B14F-4D97-AF65-F5344CB8AC3E}">
        <p14:creationId xmlns:p14="http://schemas.microsoft.com/office/powerpoint/2010/main" val="3323515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B2030424-2981-A942-8E8A-F43C86421C52}" type="slidenum">
              <a:rPr lang="en-IL" smtClean="0"/>
              <a:t>8</a:t>
            </a:fld>
            <a:endParaRPr lang="en-IL"/>
          </a:p>
        </p:txBody>
      </p:sp>
    </p:spTree>
    <p:extLst>
      <p:ext uri="{BB962C8B-B14F-4D97-AF65-F5344CB8AC3E}">
        <p14:creationId xmlns:p14="http://schemas.microsoft.com/office/powerpoint/2010/main" val="80122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42950" y="2125980"/>
            <a:ext cx="84201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485900" y="3840480"/>
            <a:ext cx="69342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2/5/26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2/5/26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495300" y="1577340"/>
            <a:ext cx="430911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01590" y="1577340"/>
            <a:ext cx="430911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2/5/26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2/5/26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2/5/26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95300" y="274320"/>
            <a:ext cx="8915400" cy="10972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495300" y="1577340"/>
            <a:ext cx="89154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368040" y="6377940"/>
            <a:ext cx="316992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95300" y="6377940"/>
            <a:ext cx="227838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2/5/26</a:t>
            </a:fld>
            <a:endParaRPr lang="en-US"/>
          </a:p>
        </p:txBody>
      </p:sp>
      <p:sp>
        <p:nvSpPr>
          <p:cNvPr id="6" name="Holder 6"/>
          <p:cNvSpPr>
            <a:spLocks noGrp="1"/>
          </p:cNvSpPr>
          <p:nvPr>
            <p:ph type="sldNum" sz="quarter" idx="7"/>
          </p:nvPr>
        </p:nvSpPr>
        <p:spPr>
          <a:xfrm>
            <a:off x="7132320" y="6377940"/>
            <a:ext cx="227838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image" Target="../media/image12.png"/><Relationship Id="rId16" Type="http://schemas.openxmlformats.org/officeDocument/2006/relationships/image" Target="../media/image26.png"/><Relationship Id="rId1" Type="http://schemas.openxmlformats.org/officeDocument/2006/relationships/slideLayout" Target="../slideLayouts/slideLayout5.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5.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0.jpg"/><Relationship Id="rId7"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33.jpg"/><Relationship Id="rId5" Type="http://schemas.openxmlformats.org/officeDocument/2006/relationships/image" Target="../media/image32.jpg"/><Relationship Id="rId4" Type="http://schemas.openxmlformats.org/officeDocument/2006/relationships/image" Target="../media/image31.jpg"/></Relationships>
</file>

<file path=ppt/slides/_rels/slide9.xml.rels><?xml version="1.0" encoding="UTF-8" standalone="yes"?>
<Relationships xmlns="http://schemas.openxmlformats.org/package/2006/relationships"><Relationship Id="rId8" Type="http://schemas.openxmlformats.org/officeDocument/2006/relationships/image" Target="../media/image41.jpg"/><Relationship Id="rId13" Type="http://schemas.openxmlformats.org/officeDocument/2006/relationships/image" Target="../media/image46.png"/><Relationship Id="rId3" Type="http://schemas.openxmlformats.org/officeDocument/2006/relationships/image" Target="../media/image36.jpg"/><Relationship Id="rId7" Type="http://schemas.openxmlformats.org/officeDocument/2006/relationships/image" Target="../media/image40.jpg"/><Relationship Id="rId12" Type="http://schemas.openxmlformats.org/officeDocument/2006/relationships/image" Target="../media/image45.jpg"/><Relationship Id="rId2" Type="http://schemas.openxmlformats.org/officeDocument/2006/relationships/image" Target="../media/image35.jpg"/><Relationship Id="rId16" Type="http://schemas.openxmlformats.org/officeDocument/2006/relationships/image" Target="../media/image49.png"/><Relationship Id="rId1" Type="http://schemas.openxmlformats.org/officeDocument/2006/relationships/slideLayout" Target="../slideLayouts/slideLayout5.xml"/><Relationship Id="rId6" Type="http://schemas.openxmlformats.org/officeDocument/2006/relationships/image" Target="../media/image39.jpg"/><Relationship Id="rId11" Type="http://schemas.openxmlformats.org/officeDocument/2006/relationships/image" Target="../media/image44.jpg"/><Relationship Id="rId5" Type="http://schemas.openxmlformats.org/officeDocument/2006/relationships/image" Target="../media/image38.jpg"/><Relationship Id="rId15" Type="http://schemas.openxmlformats.org/officeDocument/2006/relationships/image" Target="../media/image48.png"/><Relationship Id="rId10" Type="http://schemas.openxmlformats.org/officeDocument/2006/relationships/image" Target="../media/image43.jpg"/><Relationship Id="rId4" Type="http://schemas.openxmlformats.org/officeDocument/2006/relationships/image" Target="../media/image37.png"/><Relationship Id="rId9" Type="http://schemas.openxmlformats.org/officeDocument/2006/relationships/image" Target="../media/image42.jpg"/><Relationship Id="rId1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4" name="Group 123">
            <a:extLst>
              <a:ext uri="{FF2B5EF4-FFF2-40B4-BE49-F238E27FC236}">
                <a16:creationId xmlns:a16="http://schemas.microsoft.com/office/drawing/2014/main" id="{4DBF8883-7977-5B32-C3AC-409D303C6120}"/>
              </a:ext>
            </a:extLst>
          </p:cNvPr>
          <p:cNvGrpSpPr/>
          <p:nvPr/>
        </p:nvGrpSpPr>
        <p:grpSpPr>
          <a:xfrm>
            <a:off x="234183" y="838200"/>
            <a:ext cx="9594786" cy="3709902"/>
            <a:chOff x="132958" y="115860"/>
            <a:chExt cx="9594786" cy="3709902"/>
          </a:xfrm>
        </p:grpSpPr>
        <p:sp>
          <p:nvSpPr>
            <p:cNvPr id="2" name="object 2"/>
            <p:cNvSpPr txBox="1"/>
            <p:nvPr/>
          </p:nvSpPr>
          <p:spPr>
            <a:xfrm>
              <a:off x="132958" y="115860"/>
              <a:ext cx="153035" cy="237490"/>
            </a:xfrm>
            <a:prstGeom prst="rect">
              <a:avLst/>
            </a:prstGeom>
          </p:spPr>
          <p:txBody>
            <a:bodyPr vert="horz" wrap="square" lIns="0" tIns="17145" rIns="0" bIns="0" rtlCol="0">
              <a:spAutoFit/>
            </a:bodyPr>
            <a:lstStyle/>
            <a:p>
              <a:pPr marL="12700">
                <a:lnSpc>
                  <a:spcPct val="100000"/>
                </a:lnSpc>
                <a:spcBef>
                  <a:spcPts val="135"/>
                </a:spcBef>
              </a:pPr>
              <a:r>
                <a:rPr sz="1350" b="1" spc="-50" dirty="0">
                  <a:latin typeface="Arial"/>
                  <a:cs typeface="Arial"/>
                </a:rPr>
                <a:t>A</a:t>
              </a:r>
              <a:endParaRPr sz="1350">
                <a:latin typeface="Arial"/>
                <a:cs typeface="Arial"/>
              </a:endParaRPr>
            </a:p>
          </p:txBody>
        </p:sp>
        <p:sp>
          <p:nvSpPr>
            <p:cNvPr id="3" name="object 3"/>
            <p:cNvSpPr txBox="1"/>
            <p:nvPr/>
          </p:nvSpPr>
          <p:spPr>
            <a:xfrm>
              <a:off x="5116753" y="115860"/>
              <a:ext cx="153035" cy="237490"/>
            </a:xfrm>
            <a:prstGeom prst="rect">
              <a:avLst/>
            </a:prstGeom>
          </p:spPr>
          <p:txBody>
            <a:bodyPr vert="horz" wrap="square" lIns="0" tIns="17145" rIns="0" bIns="0" rtlCol="0">
              <a:spAutoFit/>
            </a:bodyPr>
            <a:lstStyle/>
            <a:p>
              <a:pPr marL="12700">
                <a:lnSpc>
                  <a:spcPct val="100000"/>
                </a:lnSpc>
                <a:spcBef>
                  <a:spcPts val="135"/>
                </a:spcBef>
              </a:pPr>
              <a:r>
                <a:rPr sz="1350" b="1" spc="-50" dirty="0">
                  <a:latin typeface="Arial"/>
                  <a:cs typeface="Arial"/>
                </a:rPr>
                <a:t>B</a:t>
              </a:r>
              <a:endParaRPr sz="1350">
                <a:latin typeface="Arial"/>
                <a:cs typeface="Arial"/>
              </a:endParaRPr>
            </a:p>
          </p:txBody>
        </p:sp>
        <p:grpSp>
          <p:nvGrpSpPr>
            <p:cNvPr id="4" name="object 4"/>
            <p:cNvGrpSpPr/>
            <p:nvPr/>
          </p:nvGrpSpPr>
          <p:grpSpPr>
            <a:xfrm>
              <a:off x="650061" y="454406"/>
              <a:ext cx="3429000" cy="2947035"/>
              <a:chOff x="650061" y="454406"/>
              <a:chExt cx="3429000" cy="2947035"/>
            </a:xfrm>
          </p:grpSpPr>
          <p:sp>
            <p:nvSpPr>
              <p:cNvPr id="5" name="object 5"/>
              <p:cNvSpPr/>
              <p:nvPr/>
            </p:nvSpPr>
            <p:spPr>
              <a:xfrm>
                <a:off x="676641" y="463296"/>
                <a:ext cx="0" cy="2911475"/>
              </a:xfrm>
              <a:custGeom>
                <a:avLst/>
                <a:gdLst/>
                <a:ahLst/>
                <a:cxnLst/>
                <a:rect l="l" t="t" r="r" b="b"/>
                <a:pathLst>
                  <a:path h="2911475">
                    <a:moveTo>
                      <a:pt x="0" y="2911407"/>
                    </a:moveTo>
                    <a:lnTo>
                      <a:pt x="0" y="0"/>
                    </a:lnTo>
                  </a:path>
                </a:pathLst>
              </a:custGeom>
              <a:ln w="17707">
                <a:solidFill>
                  <a:srgbClr val="000000"/>
                </a:solidFill>
              </a:ln>
            </p:spPr>
            <p:txBody>
              <a:bodyPr wrap="square" lIns="0" tIns="0" rIns="0" bIns="0" rtlCol="0"/>
              <a:lstStyle/>
              <a:p>
                <a:endParaRPr/>
              </a:p>
            </p:txBody>
          </p:sp>
          <p:sp>
            <p:nvSpPr>
              <p:cNvPr id="6" name="object 6"/>
              <p:cNvSpPr/>
              <p:nvPr/>
            </p:nvSpPr>
            <p:spPr>
              <a:xfrm>
                <a:off x="658951" y="3007920"/>
                <a:ext cx="17780" cy="0"/>
              </a:xfrm>
              <a:custGeom>
                <a:avLst/>
                <a:gdLst/>
                <a:ahLst/>
                <a:cxnLst/>
                <a:rect l="l" t="t" r="r" b="b"/>
                <a:pathLst>
                  <a:path w="17779">
                    <a:moveTo>
                      <a:pt x="0" y="0"/>
                    </a:moveTo>
                    <a:lnTo>
                      <a:pt x="17687" y="0"/>
                    </a:lnTo>
                  </a:path>
                </a:pathLst>
              </a:custGeom>
              <a:ln w="17723">
                <a:solidFill>
                  <a:srgbClr val="333333"/>
                </a:solidFill>
              </a:ln>
            </p:spPr>
            <p:txBody>
              <a:bodyPr wrap="square" lIns="0" tIns="0" rIns="0" bIns="0" rtlCol="0"/>
              <a:lstStyle/>
              <a:p>
                <a:endParaRPr/>
              </a:p>
            </p:txBody>
          </p:sp>
          <p:sp>
            <p:nvSpPr>
              <p:cNvPr id="7" name="object 7"/>
              <p:cNvSpPr/>
              <p:nvPr/>
            </p:nvSpPr>
            <p:spPr>
              <a:xfrm>
                <a:off x="658951" y="2284688"/>
                <a:ext cx="17780" cy="0"/>
              </a:xfrm>
              <a:custGeom>
                <a:avLst/>
                <a:gdLst/>
                <a:ahLst/>
                <a:cxnLst/>
                <a:rect l="l" t="t" r="r" b="b"/>
                <a:pathLst>
                  <a:path w="17779">
                    <a:moveTo>
                      <a:pt x="0" y="0"/>
                    </a:moveTo>
                    <a:lnTo>
                      <a:pt x="17687" y="0"/>
                    </a:lnTo>
                  </a:path>
                </a:pathLst>
              </a:custGeom>
              <a:ln w="17723">
                <a:solidFill>
                  <a:srgbClr val="333333"/>
                </a:solidFill>
              </a:ln>
            </p:spPr>
            <p:txBody>
              <a:bodyPr wrap="square" lIns="0" tIns="0" rIns="0" bIns="0" rtlCol="0"/>
              <a:lstStyle/>
              <a:p>
                <a:endParaRPr/>
              </a:p>
            </p:txBody>
          </p:sp>
          <p:sp>
            <p:nvSpPr>
              <p:cNvPr id="8" name="object 8"/>
              <p:cNvSpPr/>
              <p:nvPr/>
            </p:nvSpPr>
            <p:spPr>
              <a:xfrm>
                <a:off x="658951" y="1561393"/>
                <a:ext cx="17780" cy="0"/>
              </a:xfrm>
              <a:custGeom>
                <a:avLst/>
                <a:gdLst/>
                <a:ahLst/>
                <a:cxnLst/>
                <a:rect l="l" t="t" r="r" b="b"/>
                <a:pathLst>
                  <a:path w="17779">
                    <a:moveTo>
                      <a:pt x="0" y="0"/>
                    </a:moveTo>
                    <a:lnTo>
                      <a:pt x="17687" y="0"/>
                    </a:lnTo>
                  </a:path>
                </a:pathLst>
              </a:custGeom>
              <a:ln w="17723">
                <a:solidFill>
                  <a:srgbClr val="333333"/>
                </a:solidFill>
              </a:ln>
            </p:spPr>
            <p:txBody>
              <a:bodyPr wrap="square" lIns="0" tIns="0" rIns="0" bIns="0" rtlCol="0"/>
              <a:lstStyle/>
              <a:p>
                <a:endParaRPr/>
              </a:p>
            </p:txBody>
          </p:sp>
          <p:sp>
            <p:nvSpPr>
              <p:cNvPr id="9" name="object 9"/>
              <p:cNvSpPr/>
              <p:nvPr/>
            </p:nvSpPr>
            <p:spPr>
              <a:xfrm>
                <a:off x="658951" y="838164"/>
                <a:ext cx="17780" cy="0"/>
              </a:xfrm>
              <a:custGeom>
                <a:avLst/>
                <a:gdLst/>
                <a:ahLst/>
                <a:cxnLst/>
                <a:rect l="l" t="t" r="r" b="b"/>
                <a:pathLst>
                  <a:path w="17779">
                    <a:moveTo>
                      <a:pt x="0" y="0"/>
                    </a:moveTo>
                    <a:lnTo>
                      <a:pt x="17687" y="0"/>
                    </a:lnTo>
                  </a:path>
                </a:pathLst>
              </a:custGeom>
              <a:ln w="17723">
                <a:solidFill>
                  <a:srgbClr val="333333"/>
                </a:solidFill>
              </a:ln>
            </p:spPr>
            <p:txBody>
              <a:bodyPr wrap="square" lIns="0" tIns="0" rIns="0" bIns="0" rtlCol="0"/>
              <a:lstStyle/>
              <a:p>
                <a:endParaRPr/>
              </a:p>
            </p:txBody>
          </p:sp>
          <p:sp>
            <p:nvSpPr>
              <p:cNvPr id="10" name="object 10"/>
              <p:cNvSpPr/>
              <p:nvPr/>
            </p:nvSpPr>
            <p:spPr>
              <a:xfrm>
                <a:off x="676641" y="3374703"/>
                <a:ext cx="3393440" cy="0"/>
              </a:xfrm>
              <a:custGeom>
                <a:avLst/>
                <a:gdLst/>
                <a:ahLst/>
                <a:cxnLst/>
                <a:rect l="l" t="t" r="r" b="b"/>
                <a:pathLst>
                  <a:path w="3393440">
                    <a:moveTo>
                      <a:pt x="0" y="0"/>
                    </a:moveTo>
                    <a:lnTo>
                      <a:pt x="3393201" y="0"/>
                    </a:lnTo>
                  </a:path>
                </a:pathLst>
              </a:custGeom>
              <a:ln w="17723">
                <a:solidFill>
                  <a:srgbClr val="000000"/>
                </a:solidFill>
              </a:ln>
            </p:spPr>
            <p:txBody>
              <a:bodyPr wrap="square" lIns="0" tIns="0" rIns="0" bIns="0" rtlCol="0"/>
              <a:lstStyle/>
              <a:p>
                <a:endParaRPr/>
              </a:p>
            </p:txBody>
          </p:sp>
          <p:sp>
            <p:nvSpPr>
              <p:cNvPr id="11" name="object 11"/>
              <p:cNvSpPr/>
              <p:nvPr/>
            </p:nvSpPr>
            <p:spPr>
              <a:xfrm>
                <a:off x="1225990" y="3374706"/>
                <a:ext cx="0" cy="17780"/>
              </a:xfrm>
              <a:custGeom>
                <a:avLst/>
                <a:gdLst/>
                <a:ahLst/>
                <a:cxnLst/>
                <a:rect l="l" t="t" r="r" b="b"/>
                <a:pathLst>
                  <a:path h="17779">
                    <a:moveTo>
                      <a:pt x="0" y="17703"/>
                    </a:moveTo>
                    <a:lnTo>
                      <a:pt x="0" y="0"/>
                    </a:lnTo>
                  </a:path>
                </a:pathLst>
              </a:custGeom>
              <a:ln w="17707">
                <a:solidFill>
                  <a:srgbClr val="333333"/>
                </a:solidFill>
              </a:ln>
            </p:spPr>
            <p:txBody>
              <a:bodyPr wrap="square" lIns="0" tIns="0" rIns="0" bIns="0" rtlCol="0"/>
              <a:lstStyle/>
              <a:p>
                <a:endParaRPr/>
              </a:p>
            </p:txBody>
          </p:sp>
          <p:sp>
            <p:nvSpPr>
              <p:cNvPr id="12" name="object 12"/>
              <p:cNvSpPr/>
              <p:nvPr/>
            </p:nvSpPr>
            <p:spPr>
              <a:xfrm>
                <a:off x="1913953" y="3374706"/>
                <a:ext cx="0" cy="17780"/>
              </a:xfrm>
              <a:custGeom>
                <a:avLst/>
                <a:gdLst/>
                <a:ahLst/>
                <a:cxnLst/>
                <a:rect l="l" t="t" r="r" b="b"/>
                <a:pathLst>
                  <a:path h="17779">
                    <a:moveTo>
                      <a:pt x="0" y="17703"/>
                    </a:moveTo>
                    <a:lnTo>
                      <a:pt x="0" y="0"/>
                    </a:lnTo>
                  </a:path>
                </a:pathLst>
              </a:custGeom>
              <a:ln w="17707">
                <a:solidFill>
                  <a:srgbClr val="333333"/>
                </a:solidFill>
              </a:ln>
            </p:spPr>
            <p:txBody>
              <a:bodyPr wrap="square" lIns="0" tIns="0" rIns="0" bIns="0" rtlCol="0"/>
              <a:lstStyle/>
              <a:p>
                <a:endParaRPr/>
              </a:p>
            </p:txBody>
          </p:sp>
          <p:sp>
            <p:nvSpPr>
              <p:cNvPr id="13" name="object 13"/>
              <p:cNvSpPr/>
              <p:nvPr/>
            </p:nvSpPr>
            <p:spPr>
              <a:xfrm>
                <a:off x="2601979" y="3374706"/>
                <a:ext cx="0" cy="17780"/>
              </a:xfrm>
              <a:custGeom>
                <a:avLst/>
                <a:gdLst/>
                <a:ahLst/>
                <a:cxnLst/>
                <a:rect l="l" t="t" r="r" b="b"/>
                <a:pathLst>
                  <a:path h="17779">
                    <a:moveTo>
                      <a:pt x="0" y="17703"/>
                    </a:moveTo>
                    <a:lnTo>
                      <a:pt x="0" y="0"/>
                    </a:lnTo>
                  </a:path>
                </a:pathLst>
              </a:custGeom>
              <a:ln w="17707">
                <a:solidFill>
                  <a:srgbClr val="333333"/>
                </a:solidFill>
              </a:ln>
            </p:spPr>
            <p:txBody>
              <a:bodyPr wrap="square" lIns="0" tIns="0" rIns="0" bIns="0" rtlCol="0"/>
              <a:lstStyle/>
              <a:p>
                <a:endParaRPr/>
              </a:p>
            </p:txBody>
          </p:sp>
          <p:sp>
            <p:nvSpPr>
              <p:cNvPr id="14" name="object 14"/>
              <p:cNvSpPr/>
              <p:nvPr/>
            </p:nvSpPr>
            <p:spPr>
              <a:xfrm>
                <a:off x="3290008" y="3374706"/>
                <a:ext cx="0" cy="17780"/>
              </a:xfrm>
              <a:custGeom>
                <a:avLst/>
                <a:gdLst/>
                <a:ahLst/>
                <a:cxnLst/>
                <a:rect l="l" t="t" r="r" b="b"/>
                <a:pathLst>
                  <a:path h="17779">
                    <a:moveTo>
                      <a:pt x="0" y="17703"/>
                    </a:moveTo>
                    <a:lnTo>
                      <a:pt x="0" y="0"/>
                    </a:lnTo>
                  </a:path>
                </a:pathLst>
              </a:custGeom>
              <a:ln w="17707">
                <a:solidFill>
                  <a:srgbClr val="333333"/>
                </a:solidFill>
              </a:ln>
            </p:spPr>
            <p:txBody>
              <a:bodyPr wrap="square" lIns="0" tIns="0" rIns="0" bIns="0" rtlCol="0"/>
              <a:lstStyle/>
              <a:p>
                <a:endParaRPr/>
              </a:p>
            </p:txBody>
          </p:sp>
          <p:sp>
            <p:nvSpPr>
              <p:cNvPr id="15" name="object 15"/>
              <p:cNvSpPr/>
              <p:nvPr/>
            </p:nvSpPr>
            <p:spPr>
              <a:xfrm>
                <a:off x="3978036" y="3374706"/>
                <a:ext cx="0" cy="17780"/>
              </a:xfrm>
              <a:custGeom>
                <a:avLst/>
                <a:gdLst/>
                <a:ahLst/>
                <a:cxnLst/>
                <a:rect l="l" t="t" r="r" b="b"/>
                <a:pathLst>
                  <a:path h="17779">
                    <a:moveTo>
                      <a:pt x="0" y="17703"/>
                    </a:moveTo>
                    <a:lnTo>
                      <a:pt x="0" y="0"/>
                    </a:lnTo>
                  </a:path>
                </a:pathLst>
              </a:custGeom>
              <a:ln w="17707">
                <a:solidFill>
                  <a:srgbClr val="333333"/>
                </a:solidFill>
              </a:ln>
            </p:spPr>
            <p:txBody>
              <a:bodyPr wrap="square" lIns="0" tIns="0" rIns="0" bIns="0" rtlCol="0"/>
              <a:lstStyle/>
              <a:p>
                <a:endParaRPr/>
              </a:p>
            </p:txBody>
          </p:sp>
        </p:grpSp>
        <p:sp>
          <p:nvSpPr>
            <p:cNvPr id="16" name="object 16"/>
            <p:cNvSpPr txBox="1"/>
            <p:nvPr/>
          </p:nvSpPr>
          <p:spPr>
            <a:xfrm>
              <a:off x="388725" y="2900549"/>
              <a:ext cx="266700" cy="196215"/>
            </a:xfrm>
            <a:prstGeom prst="rect">
              <a:avLst/>
            </a:prstGeom>
          </p:spPr>
          <p:txBody>
            <a:bodyPr vert="horz" wrap="square" lIns="0" tIns="15240" rIns="0" bIns="0" rtlCol="0">
              <a:spAutoFit/>
            </a:bodyPr>
            <a:lstStyle/>
            <a:p>
              <a:pPr marL="12700">
                <a:lnSpc>
                  <a:spcPct val="100000"/>
                </a:lnSpc>
                <a:spcBef>
                  <a:spcPts val="120"/>
                </a:spcBef>
              </a:pPr>
              <a:r>
                <a:rPr sz="1100" spc="-25" dirty="0">
                  <a:solidFill>
                    <a:srgbClr val="4D4D4D"/>
                  </a:solidFill>
                  <a:latin typeface="Arial"/>
                  <a:cs typeface="Arial"/>
                </a:rPr>
                <a:t>−10</a:t>
              </a:r>
              <a:endParaRPr sz="1100">
                <a:latin typeface="Arial"/>
                <a:cs typeface="Arial"/>
              </a:endParaRPr>
            </a:p>
          </p:txBody>
        </p:sp>
        <p:sp>
          <p:nvSpPr>
            <p:cNvPr id="17" name="object 17"/>
            <p:cNvSpPr txBox="1"/>
            <p:nvPr/>
          </p:nvSpPr>
          <p:spPr>
            <a:xfrm>
              <a:off x="550779" y="2177181"/>
              <a:ext cx="104775" cy="196215"/>
            </a:xfrm>
            <a:prstGeom prst="rect">
              <a:avLst/>
            </a:prstGeom>
          </p:spPr>
          <p:txBody>
            <a:bodyPr vert="horz" wrap="square" lIns="0" tIns="15240" rIns="0" bIns="0" rtlCol="0">
              <a:spAutoFit/>
            </a:bodyPr>
            <a:lstStyle/>
            <a:p>
              <a:pPr marL="12700">
                <a:lnSpc>
                  <a:spcPct val="100000"/>
                </a:lnSpc>
                <a:spcBef>
                  <a:spcPts val="120"/>
                </a:spcBef>
              </a:pPr>
              <a:r>
                <a:rPr sz="1100" spc="-50" dirty="0">
                  <a:solidFill>
                    <a:srgbClr val="4D4D4D"/>
                  </a:solidFill>
                  <a:latin typeface="Arial"/>
                  <a:cs typeface="Arial"/>
                </a:rPr>
                <a:t>0</a:t>
              </a:r>
              <a:endParaRPr sz="1100">
                <a:latin typeface="Arial"/>
                <a:cs typeface="Arial"/>
              </a:endParaRPr>
            </a:p>
          </p:txBody>
        </p:sp>
        <p:sp>
          <p:nvSpPr>
            <p:cNvPr id="18" name="object 18"/>
            <p:cNvSpPr txBox="1"/>
            <p:nvPr/>
          </p:nvSpPr>
          <p:spPr>
            <a:xfrm>
              <a:off x="471742" y="1453956"/>
              <a:ext cx="183515" cy="196215"/>
            </a:xfrm>
            <a:prstGeom prst="rect">
              <a:avLst/>
            </a:prstGeom>
          </p:spPr>
          <p:txBody>
            <a:bodyPr vert="horz" wrap="square" lIns="0" tIns="15240" rIns="0" bIns="0" rtlCol="0">
              <a:spAutoFit/>
            </a:bodyPr>
            <a:lstStyle/>
            <a:p>
              <a:pPr marL="12700">
                <a:lnSpc>
                  <a:spcPct val="100000"/>
                </a:lnSpc>
                <a:spcBef>
                  <a:spcPts val="120"/>
                </a:spcBef>
              </a:pPr>
              <a:r>
                <a:rPr sz="1100" spc="-25" dirty="0">
                  <a:solidFill>
                    <a:srgbClr val="4D4D4D"/>
                  </a:solidFill>
                  <a:latin typeface="Arial"/>
                  <a:cs typeface="Arial"/>
                </a:rPr>
                <a:t>10</a:t>
              </a:r>
              <a:endParaRPr sz="1100">
                <a:latin typeface="Arial"/>
                <a:cs typeface="Arial"/>
              </a:endParaRPr>
            </a:p>
          </p:txBody>
        </p:sp>
        <p:sp>
          <p:nvSpPr>
            <p:cNvPr id="19" name="object 19"/>
            <p:cNvSpPr txBox="1"/>
            <p:nvPr/>
          </p:nvSpPr>
          <p:spPr>
            <a:xfrm>
              <a:off x="471742" y="730730"/>
              <a:ext cx="183515" cy="196215"/>
            </a:xfrm>
            <a:prstGeom prst="rect">
              <a:avLst/>
            </a:prstGeom>
          </p:spPr>
          <p:txBody>
            <a:bodyPr vert="horz" wrap="square" lIns="0" tIns="15240" rIns="0" bIns="0" rtlCol="0">
              <a:spAutoFit/>
            </a:bodyPr>
            <a:lstStyle/>
            <a:p>
              <a:pPr marL="12700">
                <a:lnSpc>
                  <a:spcPct val="100000"/>
                </a:lnSpc>
                <a:spcBef>
                  <a:spcPts val="120"/>
                </a:spcBef>
              </a:pPr>
              <a:r>
                <a:rPr sz="1100" spc="-25" dirty="0">
                  <a:solidFill>
                    <a:srgbClr val="4D4D4D"/>
                  </a:solidFill>
                  <a:latin typeface="Arial"/>
                  <a:cs typeface="Arial"/>
                </a:rPr>
                <a:t>20</a:t>
              </a:r>
              <a:endParaRPr sz="1100">
                <a:latin typeface="Arial"/>
                <a:cs typeface="Arial"/>
              </a:endParaRPr>
            </a:p>
          </p:txBody>
        </p:sp>
        <p:sp>
          <p:nvSpPr>
            <p:cNvPr id="20" name="object 20"/>
            <p:cNvSpPr txBox="1"/>
            <p:nvPr/>
          </p:nvSpPr>
          <p:spPr>
            <a:xfrm>
              <a:off x="1074192" y="3375154"/>
              <a:ext cx="266700" cy="196215"/>
            </a:xfrm>
            <a:prstGeom prst="rect">
              <a:avLst/>
            </a:prstGeom>
          </p:spPr>
          <p:txBody>
            <a:bodyPr vert="horz" wrap="square" lIns="0" tIns="15240" rIns="0" bIns="0" rtlCol="0">
              <a:spAutoFit/>
            </a:bodyPr>
            <a:lstStyle/>
            <a:p>
              <a:pPr marL="12700">
                <a:lnSpc>
                  <a:spcPct val="100000"/>
                </a:lnSpc>
                <a:spcBef>
                  <a:spcPts val="120"/>
                </a:spcBef>
              </a:pPr>
              <a:r>
                <a:rPr sz="1100" spc="-25" dirty="0">
                  <a:solidFill>
                    <a:srgbClr val="4D4D4D"/>
                  </a:solidFill>
                  <a:latin typeface="Arial"/>
                  <a:cs typeface="Arial"/>
                </a:rPr>
                <a:t>−10</a:t>
              </a:r>
              <a:endParaRPr sz="1100">
                <a:latin typeface="Arial"/>
                <a:cs typeface="Arial"/>
              </a:endParaRPr>
            </a:p>
          </p:txBody>
        </p:sp>
        <p:sp>
          <p:nvSpPr>
            <p:cNvPr id="21" name="object 21"/>
            <p:cNvSpPr txBox="1"/>
            <p:nvPr/>
          </p:nvSpPr>
          <p:spPr>
            <a:xfrm>
              <a:off x="3187263" y="3375154"/>
              <a:ext cx="183515" cy="196215"/>
            </a:xfrm>
            <a:prstGeom prst="rect">
              <a:avLst/>
            </a:prstGeom>
          </p:spPr>
          <p:txBody>
            <a:bodyPr vert="horz" wrap="square" lIns="0" tIns="15240" rIns="0" bIns="0" rtlCol="0">
              <a:spAutoFit/>
            </a:bodyPr>
            <a:lstStyle/>
            <a:p>
              <a:pPr marL="12700">
                <a:lnSpc>
                  <a:spcPct val="100000"/>
                </a:lnSpc>
                <a:spcBef>
                  <a:spcPts val="120"/>
                </a:spcBef>
              </a:pPr>
              <a:r>
                <a:rPr sz="1100" spc="-25" dirty="0">
                  <a:solidFill>
                    <a:srgbClr val="4D4D4D"/>
                  </a:solidFill>
                  <a:latin typeface="Arial"/>
                  <a:cs typeface="Arial"/>
                </a:rPr>
                <a:t>20</a:t>
              </a:r>
              <a:endParaRPr sz="1100">
                <a:latin typeface="Arial"/>
                <a:cs typeface="Arial"/>
              </a:endParaRPr>
            </a:p>
          </p:txBody>
        </p:sp>
        <p:sp>
          <p:nvSpPr>
            <p:cNvPr id="22" name="object 22"/>
            <p:cNvSpPr txBox="1"/>
            <p:nvPr/>
          </p:nvSpPr>
          <p:spPr>
            <a:xfrm>
              <a:off x="3875281" y="3375154"/>
              <a:ext cx="183515" cy="196215"/>
            </a:xfrm>
            <a:prstGeom prst="rect">
              <a:avLst/>
            </a:prstGeom>
          </p:spPr>
          <p:txBody>
            <a:bodyPr vert="horz" wrap="square" lIns="0" tIns="15240" rIns="0" bIns="0" rtlCol="0">
              <a:spAutoFit/>
            </a:bodyPr>
            <a:lstStyle/>
            <a:p>
              <a:pPr marL="12700">
                <a:lnSpc>
                  <a:spcPct val="100000"/>
                </a:lnSpc>
                <a:spcBef>
                  <a:spcPts val="120"/>
                </a:spcBef>
              </a:pPr>
              <a:r>
                <a:rPr sz="1100" spc="-25" dirty="0">
                  <a:solidFill>
                    <a:srgbClr val="4D4D4D"/>
                  </a:solidFill>
                  <a:latin typeface="Arial"/>
                  <a:cs typeface="Arial"/>
                </a:rPr>
                <a:t>30</a:t>
              </a:r>
              <a:endParaRPr sz="1100">
                <a:latin typeface="Arial"/>
                <a:cs typeface="Arial"/>
              </a:endParaRPr>
            </a:p>
          </p:txBody>
        </p:sp>
        <p:sp>
          <p:nvSpPr>
            <p:cNvPr id="23" name="object 23"/>
            <p:cNvSpPr txBox="1"/>
            <p:nvPr/>
          </p:nvSpPr>
          <p:spPr>
            <a:xfrm>
              <a:off x="1463118" y="3334272"/>
              <a:ext cx="1694180" cy="491490"/>
            </a:xfrm>
            <a:prstGeom prst="rect">
              <a:avLst/>
            </a:prstGeom>
          </p:spPr>
          <p:txBody>
            <a:bodyPr vert="horz" wrap="square" lIns="0" tIns="55880" rIns="0" bIns="0" rtlCol="0">
              <a:spAutoFit/>
            </a:bodyPr>
            <a:lstStyle/>
            <a:p>
              <a:pPr marL="402590">
                <a:lnSpc>
                  <a:spcPct val="100000"/>
                </a:lnSpc>
                <a:spcBef>
                  <a:spcPts val="440"/>
                </a:spcBef>
                <a:tabLst>
                  <a:tab pos="1048385" algn="l"/>
                </a:tabLst>
              </a:pPr>
              <a:r>
                <a:rPr sz="1100" spc="-50" dirty="0">
                  <a:solidFill>
                    <a:srgbClr val="4D4D4D"/>
                  </a:solidFill>
                  <a:latin typeface="Arial"/>
                  <a:cs typeface="Arial"/>
                </a:rPr>
                <a:t>0</a:t>
              </a:r>
              <a:r>
                <a:rPr sz="1100" dirty="0">
                  <a:solidFill>
                    <a:srgbClr val="4D4D4D"/>
                  </a:solidFill>
                  <a:latin typeface="Arial"/>
                  <a:cs typeface="Arial"/>
                </a:rPr>
                <a:t>	</a:t>
              </a:r>
              <a:r>
                <a:rPr sz="1100" spc="-25" dirty="0">
                  <a:solidFill>
                    <a:srgbClr val="4D4D4D"/>
                  </a:solidFill>
                  <a:latin typeface="Arial"/>
                  <a:cs typeface="Arial"/>
                </a:rPr>
                <a:t>10</a:t>
              </a:r>
              <a:endParaRPr sz="1100">
                <a:latin typeface="Arial"/>
                <a:cs typeface="Arial"/>
              </a:endParaRPr>
            </a:p>
            <a:p>
              <a:pPr marL="12700">
                <a:lnSpc>
                  <a:spcPct val="100000"/>
                </a:lnSpc>
                <a:spcBef>
                  <a:spcPts val="385"/>
                </a:spcBef>
              </a:pPr>
              <a:r>
                <a:rPr sz="1350" dirty="0">
                  <a:latin typeface="Arial"/>
                  <a:cs typeface="Arial"/>
                </a:rPr>
                <a:t>PC1</a:t>
              </a:r>
              <a:r>
                <a:rPr sz="1350" spc="-60" dirty="0">
                  <a:latin typeface="Arial"/>
                  <a:cs typeface="Arial"/>
                </a:rPr>
                <a:t> </a:t>
              </a:r>
              <a:r>
                <a:rPr sz="1350" dirty="0">
                  <a:latin typeface="Arial"/>
                  <a:cs typeface="Arial"/>
                </a:rPr>
                <a:t>(24.5%</a:t>
              </a:r>
              <a:r>
                <a:rPr sz="1350" spc="-55" dirty="0">
                  <a:latin typeface="Arial"/>
                  <a:cs typeface="Arial"/>
                </a:rPr>
                <a:t> </a:t>
              </a:r>
              <a:r>
                <a:rPr sz="1350" spc="-10" dirty="0">
                  <a:latin typeface="Arial"/>
                  <a:cs typeface="Arial"/>
                </a:rPr>
                <a:t>variance)</a:t>
              </a:r>
              <a:endParaRPr sz="1350">
                <a:latin typeface="Arial"/>
                <a:cs typeface="Arial"/>
              </a:endParaRPr>
            </a:p>
          </p:txBody>
        </p:sp>
        <p:sp>
          <p:nvSpPr>
            <p:cNvPr id="24" name="object 24"/>
            <p:cNvSpPr txBox="1"/>
            <p:nvPr/>
          </p:nvSpPr>
          <p:spPr>
            <a:xfrm>
              <a:off x="205284" y="1077717"/>
              <a:ext cx="216535" cy="1553210"/>
            </a:xfrm>
            <a:prstGeom prst="rect">
              <a:avLst/>
            </a:prstGeom>
          </p:spPr>
          <p:txBody>
            <a:bodyPr vert="vert270" wrap="square" lIns="0" tIns="0" rIns="0" bIns="0" rtlCol="0">
              <a:spAutoFit/>
            </a:bodyPr>
            <a:lstStyle/>
            <a:p>
              <a:pPr marL="12700">
                <a:lnSpc>
                  <a:spcPts val="1585"/>
                </a:lnSpc>
              </a:pPr>
              <a:r>
                <a:rPr sz="1350" dirty="0">
                  <a:latin typeface="Arial"/>
                  <a:cs typeface="Arial"/>
                </a:rPr>
                <a:t>PC2</a:t>
              </a:r>
              <a:r>
                <a:rPr sz="1350" spc="-50" dirty="0">
                  <a:latin typeface="Arial"/>
                  <a:cs typeface="Arial"/>
                </a:rPr>
                <a:t> </a:t>
              </a:r>
              <a:r>
                <a:rPr sz="1350" dirty="0">
                  <a:latin typeface="Arial"/>
                  <a:cs typeface="Arial"/>
                </a:rPr>
                <a:t>(15%</a:t>
              </a:r>
              <a:r>
                <a:rPr sz="1350" spc="-45" dirty="0">
                  <a:latin typeface="Arial"/>
                  <a:cs typeface="Arial"/>
                </a:rPr>
                <a:t> </a:t>
              </a:r>
              <a:r>
                <a:rPr sz="1350" spc="-10" dirty="0">
                  <a:latin typeface="Arial"/>
                  <a:cs typeface="Arial"/>
                </a:rPr>
                <a:t>variance)</a:t>
              </a:r>
              <a:endParaRPr sz="1350">
                <a:latin typeface="Arial"/>
                <a:cs typeface="Arial"/>
              </a:endParaRPr>
            </a:p>
          </p:txBody>
        </p:sp>
        <p:grpSp>
          <p:nvGrpSpPr>
            <p:cNvPr id="25" name="object 25"/>
            <p:cNvGrpSpPr/>
            <p:nvPr/>
          </p:nvGrpSpPr>
          <p:grpSpPr>
            <a:xfrm>
              <a:off x="3502347" y="593520"/>
              <a:ext cx="73660" cy="1278890"/>
              <a:chOff x="3502347" y="593520"/>
              <a:chExt cx="73660" cy="1278890"/>
            </a:xfrm>
          </p:grpSpPr>
          <p:pic>
            <p:nvPicPr>
              <p:cNvPr id="26" name="object 26"/>
              <p:cNvPicPr/>
              <p:nvPr/>
            </p:nvPicPr>
            <p:blipFill>
              <a:blip r:embed="rId2" cstate="print"/>
              <a:stretch>
                <a:fillRect/>
              </a:stretch>
            </p:blipFill>
            <p:spPr>
              <a:xfrm>
                <a:off x="3502347" y="593520"/>
                <a:ext cx="73456" cy="73532"/>
              </a:xfrm>
              <a:prstGeom prst="rect">
                <a:avLst/>
              </a:prstGeom>
            </p:spPr>
          </p:pic>
          <p:pic>
            <p:nvPicPr>
              <p:cNvPr id="27" name="object 27"/>
              <p:cNvPicPr/>
              <p:nvPr/>
            </p:nvPicPr>
            <p:blipFill>
              <a:blip r:embed="rId3" cstate="print"/>
              <a:stretch>
                <a:fillRect/>
              </a:stretch>
            </p:blipFill>
            <p:spPr>
              <a:xfrm>
                <a:off x="3502347" y="840172"/>
                <a:ext cx="73456" cy="73532"/>
              </a:xfrm>
              <a:prstGeom prst="rect">
                <a:avLst/>
              </a:prstGeom>
            </p:spPr>
          </p:pic>
          <p:pic>
            <p:nvPicPr>
              <p:cNvPr id="28" name="object 28"/>
              <p:cNvPicPr/>
              <p:nvPr/>
            </p:nvPicPr>
            <p:blipFill>
              <a:blip r:embed="rId4" cstate="print"/>
              <a:stretch>
                <a:fillRect/>
              </a:stretch>
            </p:blipFill>
            <p:spPr>
              <a:xfrm>
                <a:off x="3502347" y="1086826"/>
                <a:ext cx="73456" cy="73532"/>
              </a:xfrm>
              <a:prstGeom prst="rect">
                <a:avLst/>
              </a:prstGeom>
            </p:spPr>
          </p:pic>
          <p:pic>
            <p:nvPicPr>
              <p:cNvPr id="29" name="object 29"/>
              <p:cNvPicPr/>
              <p:nvPr/>
            </p:nvPicPr>
            <p:blipFill>
              <a:blip r:embed="rId5" cstate="print"/>
              <a:stretch>
                <a:fillRect/>
              </a:stretch>
            </p:blipFill>
            <p:spPr>
              <a:xfrm>
                <a:off x="3502347" y="1333479"/>
                <a:ext cx="73456" cy="73532"/>
              </a:xfrm>
              <a:prstGeom prst="rect">
                <a:avLst/>
              </a:prstGeom>
            </p:spPr>
          </p:pic>
          <p:pic>
            <p:nvPicPr>
              <p:cNvPr id="30" name="object 30"/>
              <p:cNvPicPr/>
              <p:nvPr/>
            </p:nvPicPr>
            <p:blipFill>
              <a:blip r:embed="rId6" cstate="print"/>
              <a:stretch>
                <a:fillRect/>
              </a:stretch>
            </p:blipFill>
            <p:spPr>
              <a:xfrm>
                <a:off x="3502347" y="1551675"/>
                <a:ext cx="73456" cy="73532"/>
              </a:xfrm>
              <a:prstGeom prst="rect">
                <a:avLst/>
              </a:prstGeom>
            </p:spPr>
          </p:pic>
          <p:pic>
            <p:nvPicPr>
              <p:cNvPr id="31" name="object 31"/>
              <p:cNvPicPr/>
              <p:nvPr/>
            </p:nvPicPr>
            <p:blipFill>
              <a:blip r:embed="rId7" cstate="print"/>
              <a:stretch>
                <a:fillRect/>
              </a:stretch>
            </p:blipFill>
            <p:spPr>
              <a:xfrm>
                <a:off x="3502347" y="1798328"/>
                <a:ext cx="73456" cy="73532"/>
              </a:xfrm>
              <a:prstGeom prst="rect">
                <a:avLst/>
              </a:prstGeom>
            </p:spPr>
          </p:pic>
        </p:grpSp>
        <p:sp>
          <p:nvSpPr>
            <p:cNvPr id="32" name="object 32"/>
            <p:cNvSpPr txBox="1"/>
            <p:nvPr/>
          </p:nvSpPr>
          <p:spPr>
            <a:xfrm>
              <a:off x="3478843" y="206296"/>
              <a:ext cx="1374775" cy="1731645"/>
            </a:xfrm>
            <a:prstGeom prst="rect">
              <a:avLst/>
            </a:prstGeom>
          </p:spPr>
          <p:txBody>
            <a:bodyPr vert="horz" wrap="square" lIns="0" tIns="64769" rIns="0" bIns="0" rtlCol="0">
              <a:spAutoFit/>
            </a:bodyPr>
            <a:lstStyle/>
            <a:p>
              <a:pPr marL="12700">
                <a:lnSpc>
                  <a:spcPct val="100000"/>
                </a:lnSpc>
                <a:spcBef>
                  <a:spcPts val="509"/>
                </a:spcBef>
              </a:pPr>
              <a:r>
                <a:rPr sz="1350" b="1" spc="-10" dirty="0">
                  <a:latin typeface="Arial"/>
                  <a:cs typeface="Arial"/>
                </a:rPr>
                <a:t>Species</a:t>
              </a:r>
              <a:endParaRPr sz="1350">
                <a:latin typeface="Arial"/>
                <a:cs typeface="Arial"/>
              </a:endParaRPr>
            </a:p>
            <a:p>
              <a:pPr marL="151130">
                <a:lnSpc>
                  <a:spcPct val="100000"/>
                </a:lnSpc>
                <a:spcBef>
                  <a:spcPts val="414"/>
                </a:spcBef>
              </a:pPr>
              <a:r>
                <a:rPr sz="1350" i="1" spc="-10" dirty="0">
                  <a:latin typeface="Arial"/>
                  <a:cs typeface="Arial"/>
                </a:rPr>
                <a:t>A.gerardii</a:t>
              </a:r>
              <a:endParaRPr sz="1350">
                <a:latin typeface="Arial"/>
                <a:cs typeface="Arial"/>
              </a:endParaRPr>
            </a:p>
            <a:p>
              <a:pPr marL="151130">
                <a:lnSpc>
                  <a:spcPct val="100000"/>
                </a:lnSpc>
                <a:spcBef>
                  <a:spcPts val="250"/>
                </a:spcBef>
              </a:pPr>
              <a:r>
                <a:rPr sz="1350" i="1" dirty="0">
                  <a:latin typeface="Arial"/>
                  <a:cs typeface="Arial"/>
                </a:rPr>
                <a:t>M.</a:t>
              </a:r>
              <a:r>
                <a:rPr sz="1350" i="1" spc="-20" dirty="0">
                  <a:latin typeface="Arial"/>
                  <a:cs typeface="Arial"/>
                </a:rPr>
                <a:t> </a:t>
              </a:r>
              <a:r>
                <a:rPr sz="1350" i="1" spc="-10" dirty="0">
                  <a:latin typeface="Arial"/>
                  <a:cs typeface="Arial"/>
                </a:rPr>
                <a:t>giganteus</a:t>
              </a:r>
              <a:endParaRPr sz="1350">
                <a:latin typeface="Arial"/>
                <a:cs typeface="Arial"/>
              </a:endParaRPr>
            </a:p>
            <a:p>
              <a:pPr marL="151130">
                <a:lnSpc>
                  <a:spcPct val="100000"/>
                </a:lnSpc>
                <a:spcBef>
                  <a:spcPts val="254"/>
                </a:spcBef>
              </a:pPr>
              <a:r>
                <a:rPr sz="1350" i="1" spc="-100" dirty="0">
                  <a:latin typeface="Arial"/>
                  <a:cs typeface="Arial"/>
                </a:rPr>
                <a:t>P.</a:t>
              </a:r>
              <a:r>
                <a:rPr sz="1350" i="1" spc="5" dirty="0">
                  <a:latin typeface="Arial"/>
                  <a:cs typeface="Arial"/>
                </a:rPr>
                <a:t> </a:t>
              </a:r>
              <a:r>
                <a:rPr sz="1350" i="1" spc="-10" dirty="0">
                  <a:latin typeface="Arial"/>
                  <a:cs typeface="Arial"/>
                </a:rPr>
                <a:t>virgatum</a:t>
              </a:r>
              <a:endParaRPr sz="1350">
                <a:latin typeface="Arial"/>
                <a:cs typeface="Arial"/>
              </a:endParaRPr>
            </a:p>
            <a:p>
              <a:pPr marL="151130" marR="5080">
                <a:lnSpc>
                  <a:spcPct val="115700"/>
                </a:lnSpc>
              </a:pPr>
              <a:r>
                <a:rPr sz="1350" i="1" dirty="0">
                  <a:latin typeface="Arial"/>
                  <a:cs typeface="Arial"/>
                </a:rPr>
                <a:t>S.</a:t>
              </a:r>
              <a:r>
                <a:rPr sz="1350" i="1" spc="-20" dirty="0">
                  <a:latin typeface="Arial"/>
                  <a:cs typeface="Arial"/>
                </a:rPr>
                <a:t> </a:t>
              </a:r>
              <a:r>
                <a:rPr sz="1350" i="1" spc="-10" dirty="0">
                  <a:latin typeface="Arial"/>
                  <a:cs typeface="Arial"/>
                </a:rPr>
                <a:t>nutans Tripsacum</a:t>
              </a:r>
              <a:r>
                <a:rPr sz="1350" i="1" spc="-80" dirty="0">
                  <a:latin typeface="Arial"/>
                  <a:cs typeface="Arial"/>
                </a:rPr>
                <a:t> </a:t>
              </a:r>
              <a:r>
                <a:rPr sz="1350" spc="-20" dirty="0">
                  <a:latin typeface="Arial"/>
                  <a:cs typeface="Arial"/>
                </a:rPr>
                <a:t>2019</a:t>
              </a:r>
              <a:endParaRPr sz="1350">
                <a:latin typeface="Arial"/>
                <a:cs typeface="Arial"/>
              </a:endParaRPr>
            </a:p>
            <a:p>
              <a:pPr marL="151130">
                <a:lnSpc>
                  <a:spcPct val="100000"/>
                </a:lnSpc>
                <a:spcBef>
                  <a:spcPts val="254"/>
                </a:spcBef>
              </a:pPr>
              <a:r>
                <a:rPr sz="1350" i="1" spc="-10" dirty="0">
                  <a:latin typeface="Arial"/>
                  <a:cs typeface="Arial"/>
                </a:rPr>
                <a:t>Tripsacum</a:t>
              </a:r>
              <a:r>
                <a:rPr sz="1350" i="1" spc="-80" dirty="0">
                  <a:latin typeface="Arial"/>
                  <a:cs typeface="Arial"/>
                </a:rPr>
                <a:t> </a:t>
              </a:r>
              <a:r>
                <a:rPr sz="1350" spc="-20" dirty="0">
                  <a:latin typeface="Arial"/>
                  <a:cs typeface="Arial"/>
                </a:rPr>
                <a:t>2022</a:t>
              </a:r>
              <a:endParaRPr sz="1350">
                <a:latin typeface="Arial"/>
                <a:cs typeface="Arial"/>
              </a:endParaRPr>
            </a:p>
          </p:txBody>
        </p:sp>
        <p:sp>
          <p:nvSpPr>
            <p:cNvPr id="33" name="object 33"/>
            <p:cNvSpPr txBox="1"/>
            <p:nvPr/>
          </p:nvSpPr>
          <p:spPr>
            <a:xfrm>
              <a:off x="739965" y="175247"/>
              <a:ext cx="1557655" cy="230504"/>
            </a:xfrm>
            <a:prstGeom prst="rect">
              <a:avLst/>
            </a:prstGeom>
          </p:spPr>
          <p:txBody>
            <a:bodyPr vert="horz" wrap="square" lIns="0" tIns="12065" rIns="0" bIns="0" rtlCol="0">
              <a:spAutoFit/>
            </a:bodyPr>
            <a:lstStyle/>
            <a:p>
              <a:pPr marL="12700">
                <a:lnSpc>
                  <a:spcPct val="100000"/>
                </a:lnSpc>
                <a:spcBef>
                  <a:spcPts val="95"/>
                </a:spcBef>
              </a:pPr>
              <a:r>
                <a:rPr sz="1350" dirty="0">
                  <a:latin typeface="Arial"/>
                  <a:cs typeface="Arial"/>
                </a:rPr>
                <a:t>n</a:t>
              </a:r>
              <a:r>
                <a:rPr sz="1350" spc="-25" dirty="0">
                  <a:latin typeface="Arial"/>
                  <a:cs typeface="Arial"/>
                </a:rPr>
                <a:t> </a:t>
              </a:r>
              <a:r>
                <a:rPr sz="1350" dirty="0">
                  <a:latin typeface="Arial"/>
                  <a:cs typeface="Arial"/>
                </a:rPr>
                <a:t>=</a:t>
              </a:r>
              <a:r>
                <a:rPr sz="1350" spc="-20" dirty="0">
                  <a:latin typeface="Arial"/>
                  <a:cs typeface="Arial"/>
                </a:rPr>
                <a:t> </a:t>
              </a:r>
              <a:r>
                <a:rPr sz="1350" dirty="0">
                  <a:latin typeface="Arial"/>
                  <a:cs typeface="Arial"/>
                </a:rPr>
                <a:t>745</a:t>
              </a:r>
              <a:r>
                <a:rPr sz="1350" spc="-20" dirty="0">
                  <a:latin typeface="Arial"/>
                  <a:cs typeface="Arial"/>
                </a:rPr>
                <a:t> </a:t>
              </a:r>
              <a:r>
                <a:rPr sz="1350" spc="-10" dirty="0">
                  <a:latin typeface="Arial"/>
                  <a:cs typeface="Arial"/>
                </a:rPr>
                <a:t>orthogroups</a:t>
              </a:r>
              <a:endParaRPr sz="1350" dirty="0">
                <a:latin typeface="Arial"/>
                <a:cs typeface="Arial"/>
              </a:endParaRPr>
            </a:p>
          </p:txBody>
        </p:sp>
        <p:sp>
          <p:nvSpPr>
            <p:cNvPr id="34" name="object 34"/>
            <p:cNvSpPr/>
            <p:nvPr/>
          </p:nvSpPr>
          <p:spPr>
            <a:xfrm>
              <a:off x="7308627" y="572830"/>
              <a:ext cx="55244" cy="55244"/>
            </a:xfrm>
            <a:custGeom>
              <a:avLst/>
              <a:gdLst/>
              <a:ahLst/>
              <a:cxnLst/>
              <a:rect l="l" t="t" r="r" b="b"/>
              <a:pathLst>
                <a:path w="55245" h="55245">
                  <a:moveTo>
                    <a:pt x="27343" y="0"/>
                  </a:moveTo>
                  <a:lnTo>
                    <a:pt x="16716" y="2155"/>
                  </a:lnTo>
                  <a:lnTo>
                    <a:pt x="8023" y="8020"/>
                  </a:lnTo>
                  <a:lnTo>
                    <a:pt x="2154" y="16694"/>
                  </a:lnTo>
                  <a:lnTo>
                    <a:pt x="0" y="27279"/>
                  </a:lnTo>
                  <a:lnTo>
                    <a:pt x="2154" y="37915"/>
                  </a:lnTo>
                  <a:lnTo>
                    <a:pt x="8023" y="46616"/>
                  </a:lnTo>
                  <a:lnTo>
                    <a:pt x="16716" y="52491"/>
                  </a:lnTo>
                  <a:lnTo>
                    <a:pt x="27343" y="54648"/>
                  </a:lnTo>
                  <a:lnTo>
                    <a:pt x="37922" y="52491"/>
                  </a:lnTo>
                  <a:lnTo>
                    <a:pt x="46597" y="46616"/>
                  </a:lnTo>
                  <a:lnTo>
                    <a:pt x="52465" y="37915"/>
                  </a:lnTo>
                  <a:lnTo>
                    <a:pt x="54622" y="27279"/>
                  </a:lnTo>
                  <a:lnTo>
                    <a:pt x="52465" y="16694"/>
                  </a:lnTo>
                  <a:lnTo>
                    <a:pt x="46597" y="8020"/>
                  </a:lnTo>
                  <a:lnTo>
                    <a:pt x="37922" y="2155"/>
                  </a:lnTo>
                  <a:lnTo>
                    <a:pt x="27343" y="0"/>
                  </a:lnTo>
                  <a:close/>
                </a:path>
              </a:pathLst>
            </a:custGeom>
            <a:solidFill>
              <a:srgbClr val="88CCEE"/>
            </a:solidFill>
          </p:spPr>
          <p:txBody>
            <a:bodyPr wrap="square" lIns="0" tIns="0" rIns="0" bIns="0" rtlCol="0"/>
            <a:lstStyle/>
            <a:p>
              <a:endParaRPr/>
            </a:p>
          </p:txBody>
        </p:sp>
        <p:grpSp>
          <p:nvGrpSpPr>
            <p:cNvPr id="35" name="object 35"/>
            <p:cNvGrpSpPr/>
            <p:nvPr/>
          </p:nvGrpSpPr>
          <p:grpSpPr>
            <a:xfrm>
              <a:off x="8182216" y="1757401"/>
              <a:ext cx="408940" cy="321945"/>
              <a:chOff x="8182216" y="1757401"/>
              <a:chExt cx="408940" cy="321945"/>
            </a:xfrm>
          </p:grpSpPr>
          <p:sp>
            <p:nvSpPr>
              <p:cNvPr id="36" name="object 36"/>
              <p:cNvSpPr/>
              <p:nvPr/>
            </p:nvSpPr>
            <p:spPr>
              <a:xfrm>
                <a:off x="8182216" y="1843887"/>
                <a:ext cx="408940" cy="154305"/>
              </a:xfrm>
              <a:custGeom>
                <a:avLst/>
                <a:gdLst/>
                <a:ahLst/>
                <a:cxnLst/>
                <a:rect l="l" t="t" r="r" b="b"/>
                <a:pathLst>
                  <a:path w="408940" h="154305">
                    <a:moveTo>
                      <a:pt x="54597" y="27368"/>
                    </a:moveTo>
                    <a:lnTo>
                      <a:pt x="52451" y="16738"/>
                    </a:lnTo>
                    <a:lnTo>
                      <a:pt x="46609" y="8039"/>
                    </a:lnTo>
                    <a:lnTo>
                      <a:pt x="37947" y="2159"/>
                    </a:lnTo>
                    <a:lnTo>
                      <a:pt x="27343" y="0"/>
                    </a:lnTo>
                    <a:lnTo>
                      <a:pt x="16713" y="2159"/>
                    </a:lnTo>
                    <a:lnTo>
                      <a:pt x="8013" y="8039"/>
                    </a:lnTo>
                    <a:lnTo>
                      <a:pt x="2146" y="16738"/>
                    </a:lnTo>
                    <a:lnTo>
                      <a:pt x="0" y="27368"/>
                    </a:lnTo>
                    <a:lnTo>
                      <a:pt x="2146" y="37960"/>
                    </a:lnTo>
                    <a:lnTo>
                      <a:pt x="8013" y="46634"/>
                    </a:lnTo>
                    <a:lnTo>
                      <a:pt x="16713" y="52501"/>
                    </a:lnTo>
                    <a:lnTo>
                      <a:pt x="27343" y="54648"/>
                    </a:lnTo>
                    <a:lnTo>
                      <a:pt x="37947" y="52501"/>
                    </a:lnTo>
                    <a:lnTo>
                      <a:pt x="46609" y="46634"/>
                    </a:lnTo>
                    <a:lnTo>
                      <a:pt x="52451" y="37960"/>
                    </a:lnTo>
                    <a:lnTo>
                      <a:pt x="54597" y="27368"/>
                    </a:lnTo>
                    <a:close/>
                  </a:path>
                  <a:path w="408940" h="154305">
                    <a:moveTo>
                      <a:pt x="260299" y="52539"/>
                    </a:moveTo>
                    <a:lnTo>
                      <a:pt x="258140" y="41948"/>
                    </a:lnTo>
                    <a:lnTo>
                      <a:pt x="252272" y="33274"/>
                    </a:lnTo>
                    <a:lnTo>
                      <a:pt x="243586" y="27406"/>
                    </a:lnTo>
                    <a:lnTo>
                      <a:pt x="232956" y="25260"/>
                    </a:lnTo>
                    <a:lnTo>
                      <a:pt x="222377" y="27406"/>
                    </a:lnTo>
                    <a:lnTo>
                      <a:pt x="213715" y="33274"/>
                    </a:lnTo>
                    <a:lnTo>
                      <a:pt x="207860" y="41948"/>
                    </a:lnTo>
                    <a:lnTo>
                      <a:pt x="205701" y="52539"/>
                    </a:lnTo>
                    <a:lnTo>
                      <a:pt x="207860" y="63169"/>
                    </a:lnTo>
                    <a:lnTo>
                      <a:pt x="213715" y="71869"/>
                    </a:lnTo>
                    <a:lnTo>
                      <a:pt x="222377" y="77749"/>
                    </a:lnTo>
                    <a:lnTo>
                      <a:pt x="232956" y="79908"/>
                    </a:lnTo>
                    <a:lnTo>
                      <a:pt x="243586" y="77749"/>
                    </a:lnTo>
                    <a:lnTo>
                      <a:pt x="252272" y="71869"/>
                    </a:lnTo>
                    <a:lnTo>
                      <a:pt x="258140" y="63169"/>
                    </a:lnTo>
                    <a:lnTo>
                      <a:pt x="260299" y="52539"/>
                    </a:lnTo>
                    <a:close/>
                  </a:path>
                  <a:path w="408940" h="154305">
                    <a:moveTo>
                      <a:pt x="317284" y="109232"/>
                    </a:moveTo>
                    <a:lnTo>
                      <a:pt x="315125" y="98615"/>
                    </a:lnTo>
                    <a:lnTo>
                      <a:pt x="309257" y="89941"/>
                    </a:lnTo>
                    <a:lnTo>
                      <a:pt x="300545" y="84099"/>
                    </a:lnTo>
                    <a:lnTo>
                      <a:pt x="289915" y="81953"/>
                    </a:lnTo>
                    <a:lnTo>
                      <a:pt x="279349" y="84099"/>
                    </a:lnTo>
                    <a:lnTo>
                      <a:pt x="270675" y="89941"/>
                    </a:lnTo>
                    <a:lnTo>
                      <a:pt x="264820" y="98615"/>
                    </a:lnTo>
                    <a:lnTo>
                      <a:pt x="262661" y="109232"/>
                    </a:lnTo>
                    <a:lnTo>
                      <a:pt x="262801" y="109969"/>
                    </a:lnTo>
                    <a:lnTo>
                      <a:pt x="258800" y="115912"/>
                    </a:lnTo>
                    <a:lnTo>
                      <a:pt x="256654" y="126542"/>
                    </a:lnTo>
                    <a:lnTo>
                      <a:pt x="258800" y="137121"/>
                    </a:lnTo>
                    <a:lnTo>
                      <a:pt x="264655" y="145796"/>
                    </a:lnTo>
                    <a:lnTo>
                      <a:pt x="273329" y="151663"/>
                    </a:lnTo>
                    <a:lnTo>
                      <a:pt x="283908" y="153822"/>
                    </a:lnTo>
                    <a:lnTo>
                      <a:pt x="294525" y="151663"/>
                    </a:lnTo>
                    <a:lnTo>
                      <a:pt x="303225" y="145796"/>
                    </a:lnTo>
                    <a:lnTo>
                      <a:pt x="309092" y="137121"/>
                    </a:lnTo>
                    <a:lnTo>
                      <a:pt x="311251" y="126542"/>
                    </a:lnTo>
                    <a:lnTo>
                      <a:pt x="311099" y="125831"/>
                    </a:lnTo>
                    <a:lnTo>
                      <a:pt x="315125" y="119862"/>
                    </a:lnTo>
                    <a:lnTo>
                      <a:pt x="317284" y="109232"/>
                    </a:lnTo>
                    <a:close/>
                  </a:path>
                  <a:path w="408940" h="154305">
                    <a:moveTo>
                      <a:pt x="408597" y="97078"/>
                    </a:moveTo>
                    <a:lnTo>
                      <a:pt x="406438" y="86448"/>
                    </a:lnTo>
                    <a:lnTo>
                      <a:pt x="400583" y="77736"/>
                    </a:lnTo>
                    <a:lnTo>
                      <a:pt x="391922" y="71869"/>
                    </a:lnTo>
                    <a:lnTo>
                      <a:pt x="381342" y="69710"/>
                    </a:lnTo>
                    <a:lnTo>
                      <a:pt x="370789" y="71856"/>
                    </a:lnTo>
                    <a:lnTo>
                      <a:pt x="370408" y="69964"/>
                    </a:lnTo>
                    <a:lnTo>
                      <a:pt x="364540" y="61264"/>
                    </a:lnTo>
                    <a:lnTo>
                      <a:pt x="355841" y="55397"/>
                    </a:lnTo>
                    <a:lnTo>
                      <a:pt x="345224" y="53238"/>
                    </a:lnTo>
                    <a:lnTo>
                      <a:pt x="334645" y="55397"/>
                    </a:lnTo>
                    <a:lnTo>
                      <a:pt x="325970" y="61264"/>
                    </a:lnTo>
                    <a:lnTo>
                      <a:pt x="320116" y="69964"/>
                    </a:lnTo>
                    <a:lnTo>
                      <a:pt x="317969" y="80606"/>
                    </a:lnTo>
                    <a:lnTo>
                      <a:pt x="320116" y="91236"/>
                    </a:lnTo>
                    <a:lnTo>
                      <a:pt x="325970" y="99936"/>
                    </a:lnTo>
                    <a:lnTo>
                      <a:pt x="334645" y="105816"/>
                    </a:lnTo>
                    <a:lnTo>
                      <a:pt x="345224" y="107975"/>
                    </a:lnTo>
                    <a:lnTo>
                      <a:pt x="355777" y="105829"/>
                    </a:lnTo>
                    <a:lnTo>
                      <a:pt x="356158" y="107657"/>
                    </a:lnTo>
                    <a:lnTo>
                      <a:pt x="362026" y="116332"/>
                    </a:lnTo>
                    <a:lnTo>
                      <a:pt x="370713" y="122199"/>
                    </a:lnTo>
                    <a:lnTo>
                      <a:pt x="381342" y="124358"/>
                    </a:lnTo>
                    <a:lnTo>
                      <a:pt x="391922" y="122199"/>
                    </a:lnTo>
                    <a:lnTo>
                      <a:pt x="400583" y="116332"/>
                    </a:lnTo>
                    <a:lnTo>
                      <a:pt x="406438" y="107657"/>
                    </a:lnTo>
                    <a:lnTo>
                      <a:pt x="408597" y="97078"/>
                    </a:lnTo>
                    <a:close/>
                  </a:path>
                </a:pathLst>
              </a:custGeom>
              <a:solidFill>
                <a:srgbClr val="88CCEE"/>
              </a:solidFill>
            </p:spPr>
            <p:txBody>
              <a:bodyPr wrap="square" lIns="0" tIns="0" rIns="0" bIns="0" rtlCol="0"/>
              <a:lstStyle/>
              <a:p>
                <a:endParaRPr/>
              </a:p>
            </p:txBody>
          </p:sp>
          <p:sp>
            <p:nvSpPr>
              <p:cNvPr id="37" name="object 37"/>
              <p:cNvSpPr/>
              <p:nvPr/>
            </p:nvSpPr>
            <p:spPr>
              <a:xfrm>
                <a:off x="8283663" y="1798735"/>
                <a:ext cx="54610" cy="55244"/>
              </a:xfrm>
              <a:custGeom>
                <a:avLst/>
                <a:gdLst/>
                <a:ahLst/>
                <a:cxnLst/>
                <a:rect l="l" t="t" r="r" b="b"/>
                <a:pathLst>
                  <a:path w="54609" h="55244">
                    <a:moveTo>
                      <a:pt x="27254" y="0"/>
                    </a:moveTo>
                    <a:lnTo>
                      <a:pt x="16678" y="2155"/>
                    </a:lnTo>
                    <a:lnTo>
                      <a:pt x="8012" y="8020"/>
                    </a:lnTo>
                    <a:lnTo>
                      <a:pt x="2152" y="16694"/>
                    </a:lnTo>
                    <a:lnTo>
                      <a:pt x="0" y="27279"/>
                    </a:lnTo>
                    <a:lnTo>
                      <a:pt x="2152" y="37910"/>
                    </a:lnTo>
                    <a:lnTo>
                      <a:pt x="8012" y="46612"/>
                    </a:lnTo>
                    <a:lnTo>
                      <a:pt x="16678" y="52489"/>
                    </a:lnTo>
                    <a:lnTo>
                      <a:pt x="27254" y="54648"/>
                    </a:lnTo>
                    <a:lnTo>
                      <a:pt x="37880" y="52489"/>
                    </a:lnTo>
                    <a:lnTo>
                      <a:pt x="46574" y="46612"/>
                    </a:lnTo>
                    <a:lnTo>
                      <a:pt x="52443" y="37910"/>
                    </a:lnTo>
                    <a:lnTo>
                      <a:pt x="54597" y="27279"/>
                    </a:lnTo>
                    <a:lnTo>
                      <a:pt x="52443" y="16694"/>
                    </a:lnTo>
                    <a:lnTo>
                      <a:pt x="46574" y="8020"/>
                    </a:lnTo>
                    <a:lnTo>
                      <a:pt x="37880" y="2155"/>
                    </a:lnTo>
                    <a:lnTo>
                      <a:pt x="27254" y="0"/>
                    </a:lnTo>
                    <a:close/>
                  </a:path>
                </a:pathLst>
              </a:custGeom>
              <a:solidFill>
                <a:srgbClr val="CC6677"/>
              </a:solidFill>
            </p:spPr>
            <p:txBody>
              <a:bodyPr wrap="square" lIns="0" tIns="0" rIns="0" bIns="0" rtlCol="0"/>
              <a:lstStyle/>
              <a:p>
                <a:endParaRPr/>
              </a:p>
            </p:txBody>
          </p:sp>
          <p:sp>
            <p:nvSpPr>
              <p:cNvPr id="38" name="object 38"/>
              <p:cNvSpPr/>
              <p:nvPr/>
            </p:nvSpPr>
            <p:spPr>
              <a:xfrm>
                <a:off x="8237448" y="1757413"/>
                <a:ext cx="288290" cy="321945"/>
              </a:xfrm>
              <a:custGeom>
                <a:avLst/>
                <a:gdLst/>
                <a:ahLst/>
                <a:cxnLst/>
                <a:rect l="l" t="t" r="r" b="b"/>
                <a:pathLst>
                  <a:path w="288290" h="321944">
                    <a:moveTo>
                      <a:pt x="54597" y="27368"/>
                    </a:moveTo>
                    <a:lnTo>
                      <a:pt x="52438" y="16725"/>
                    </a:lnTo>
                    <a:lnTo>
                      <a:pt x="46583" y="8026"/>
                    </a:lnTo>
                    <a:lnTo>
                      <a:pt x="37922" y="2146"/>
                    </a:lnTo>
                    <a:lnTo>
                      <a:pt x="27343" y="0"/>
                    </a:lnTo>
                    <a:lnTo>
                      <a:pt x="16713" y="2146"/>
                    </a:lnTo>
                    <a:lnTo>
                      <a:pt x="8026" y="8026"/>
                    </a:lnTo>
                    <a:lnTo>
                      <a:pt x="2146" y="16725"/>
                    </a:lnTo>
                    <a:lnTo>
                      <a:pt x="0" y="27368"/>
                    </a:lnTo>
                    <a:lnTo>
                      <a:pt x="2146" y="37947"/>
                    </a:lnTo>
                    <a:lnTo>
                      <a:pt x="8026" y="46621"/>
                    </a:lnTo>
                    <a:lnTo>
                      <a:pt x="16713" y="52489"/>
                    </a:lnTo>
                    <a:lnTo>
                      <a:pt x="27343" y="54648"/>
                    </a:lnTo>
                    <a:lnTo>
                      <a:pt x="37922" y="52489"/>
                    </a:lnTo>
                    <a:lnTo>
                      <a:pt x="46583" y="46621"/>
                    </a:lnTo>
                    <a:lnTo>
                      <a:pt x="52438" y="37947"/>
                    </a:lnTo>
                    <a:lnTo>
                      <a:pt x="54597" y="27368"/>
                    </a:lnTo>
                    <a:close/>
                  </a:path>
                  <a:path w="288290" h="321944">
                    <a:moveTo>
                      <a:pt x="150215" y="79298"/>
                    </a:moveTo>
                    <a:lnTo>
                      <a:pt x="148056" y="68719"/>
                    </a:lnTo>
                    <a:lnTo>
                      <a:pt x="142189" y="60045"/>
                    </a:lnTo>
                    <a:lnTo>
                      <a:pt x="133502" y="54178"/>
                    </a:lnTo>
                    <a:lnTo>
                      <a:pt x="122872" y="52019"/>
                    </a:lnTo>
                    <a:lnTo>
                      <a:pt x="112293" y="54178"/>
                    </a:lnTo>
                    <a:lnTo>
                      <a:pt x="103632" y="60045"/>
                    </a:lnTo>
                    <a:lnTo>
                      <a:pt x="97777" y="68719"/>
                    </a:lnTo>
                    <a:lnTo>
                      <a:pt x="95618" y="79298"/>
                    </a:lnTo>
                    <a:lnTo>
                      <a:pt x="97777" y="89941"/>
                    </a:lnTo>
                    <a:lnTo>
                      <a:pt x="103632" y="98640"/>
                    </a:lnTo>
                    <a:lnTo>
                      <a:pt x="112293" y="104521"/>
                    </a:lnTo>
                    <a:lnTo>
                      <a:pt x="122872" y="106667"/>
                    </a:lnTo>
                    <a:lnTo>
                      <a:pt x="133502" y="104521"/>
                    </a:lnTo>
                    <a:lnTo>
                      <a:pt x="142189" y="98640"/>
                    </a:lnTo>
                    <a:lnTo>
                      <a:pt x="148056" y="89941"/>
                    </a:lnTo>
                    <a:lnTo>
                      <a:pt x="150215" y="79298"/>
                    </a:lnTo>
                    <a:close/>
                  </a:path>
                  <a:path w="288290" h="321944">
                    <a:moveTo>
                      <a:pt x="287896" y="294563"/>
                    </a:moveTo>
                    <a:lnTo>
                      <a:pt x="285737" y="283933"/>
                    </a:lnTo>
                    <a:lnTo>
                      <a:pt x="279869" y="275234"/>
                    </a:lnTo>
                    <a:lnTo>
                      <a:pt x="271170" y="269354"/>
                    </a:lnTo>
                    <a:lnTo>
                      <a:pt x="260553" y="267195"/>
                    </a:lnTo>
                    <a:lnTo>
                      <a:pt x="249974" y="269354"/>
                    </a:lnTo>
                    <a:lnTo>
                      <a:pt x="241300" y="275234"/>
                    </a:lnTo>
                    <a:lnTo>
                      <a:pt x="235445" y="283933"/>
                    </a:lnTo>
                    <a:lnTo>
                      <a:pt x="233299" y="294563"/>
                    </a:lnTo>
                    <a:lnTo>
                      <a:pt x="235445" y="305155"/>
                    </a:lnTo>
                    <a:lnTo>
                      <a:pt x="241300" y="313829"/>
                    </a:lnTo>
                    <a:lnTo>
                      <a:pt x="249974" y="319697"/>
                    </a:lnTo>
                    <a:lnTo>
                      <a:pt x="260553" y="321843"/>
                    </a:lnTo>
                    <a:lnTo>
                      <a:pt x="271170" y="319697"/>
                    </a:lnTo>
                    <a:lnTo>
                      <a:pt x="279869" y="313829"/>
                    </a:lnTo>
                    <a:lnTo>
                      <a:pt x="285737" y="305155"/>
                    </a:lnTo>
                    <a:lnTo>
                      <a:pt x="287896" y="294563"/>
                    </a:lnTo>
                    <a:close/>
                  </a:path>
                </a:pathLst>
              </a:custGeom>
              <a:solidFill>
                <a:srgbClr val="88CCEE"/>
              </a:solidFill>
            </p:spPr>
            <p:txBody>
              <a:bodyPr wrap="square" lIns="0" tIns="0" rIns="0" bIns="0" rtlCol="0"/>
              <a:lstStyle/>
              <a:p>
                <a:endParaRPr/>
              </a:p>
            </p:txBody>
          </p:sp>
        </p:grpSp>
        <p:sp>
          <p:nvSpPr>
            <p:cNvPr id="39" name="object 39"/>
            <p:cNvSpPr/>
            <p:nvPr/>
          </p:nvSpPr>
          <p:spPr>
            <a:xfrm>
              <a:off x="7527073" y="1000629"/>
              <a:ext cx="54610" cy="55244"/>
            </a:xfrm>
            <a:custGeom>
              <a:avLst/>
              <a:gdLst/>
              <a:ahLst/>
              <a:cxnLst/>
              <a:rect l="l" t="t" r="r" b="b"/>
              <a:pathLst>
                <a:path w="54609" h="55244">
                  <a:moveTo>
                    <a:pt x="27254" y="0"/>
                  </a:moveTo>
                  <a:lnTo>
                    <a:pt x="16678" y="2158"/>
                  </a:lnTo>
                  <a:lnTo>
                    <a:pt x="8012" y="8035"/>
                  </a:lnTo>
                  <a:lnTo>
                    <a:pt x="2152" y="16737"/>
                  </a:lnTo>
                  <a:lnTo>
                    <a:pt x="0" y="27368"/>
                  </a:lnTo>
                  <a:lnTo>
                    <a:pt x="2152" y="37953"/>
                  </a:lnTo>
                  <a:lnTo>
                    <a:pt x="8012" y="46628"/>
                  </a:lnTo>
                  <a:lnTo>
                    <a:pt x="16678" y="52493"/>
                  </a:lnTo>
                  <a:lnTo>
                    <a:pt x="27254" y="54648"/>
                  </a:lnTo>
                  <a:lnTo>
                    <a:pt x="37880" y="52493"/>
                  </a:lnTo>
                  <a:lnTo>
                    <a:pt x="46574" y="46628"/>
                  </a:lnTo>
                  <a:lnTo>
                    <a:pt x="52443" y="37953"/>
                  </a:lnTo>
                  <a:lnTo>
                    <a:pt x="54597" y="27368"/>
                  </a:lnTo>
                  <a:lnTo>
                    <a:pt x="52443" y="16737"/>
                  </a:lnTo>
                  <a:lnTo>
                    <a:pt x="46574" y="8035"/>
                  </a:lnTo>
                  <a:lnTo>
                    <a:pt x="37880" y="2158"/>
                  </a:lnTo>
                  <a:lnTo>
                    <a:pt x="27254" y="0"/>
                  </a:lnTo>
                  <a:close/>
                </a:path>
              </a:pathLst>
            </a:custGeom>
            <a:solidFill>
              <a:srgbClr val="88CCEE"/>
            </a:solidFill>
          </p:spPr>
          <p:txBody>
            <a:bodyPr wrap="square" lIns="0" tIns="0" rIns="0" bIns="0" rtlCol="0"/>
            <a:lstStyle/>
            <a:p>
              <a:endParaRPr/>
            </a:p>
          </p:txBody>
        </p:sp>
        <p:sp>
          <p:nvSpPr>
            <p:cNvPr id="40" name="object 40"/>
            <p:cNvSpPr/>
            <p:nvPr/>
          </p:nvSpPr>
          <p:spPr>
            <a:xfrm>
              <a:off x="8908532" y="2246530"/>
              <a:ext cx="54610" cy="55244"/>
            </a:xfrm>
            <a:custGeom>
              <a:avLst/>
              <a:gdLst/>
              <a:ahLst/>
              <a:cxnLst/>
              <a:rect l="l" t="t" r="r" b="b"/>
              <a:pathLst>
                <a:path w="54609" h="55244">
                  <a:moveTo>
                    <a:pt x="27343" y="0"/>
                  </a:moveTo>
                  <a:lnTo>
                    <a:pt x="16716" y="2155"/>
                  </a:lnTo>
                  <a:lnTo>
                    <a:pt x="8023" y="8020"/>
                  </a:lnTo>
                  <a:lnTo>
                    <a:pt x="2154" y="16694"/>
                  </a:lnTo>
                  <a:lnTo>
                    <a:pt x="0" y="27279"/>
                  </a:lnTo>
                  <a:lnTo>
                    <a:pt x="2154" y="37915"/>
                  </a:lnTo>
                  <a:lnTo>
                    <a:pt x="8023" y="46616"/>
                  </a:lnTo>
                  <a:lnTo>
                    <a:pt x="16716" y="52491"/>
                  </a:lnTo>
                  <a:lnTo>
                    <a:pt x="27343" y="54648"/>
                  </a:lnTo>
                  <a:lnTo>
                    <a:pt x="37918" y="52491"/>
                  </a:lnTo>
                  <a:lnTo>
                    <a:pt x="46585" y="46616"/>
                  </a:lnTo>
                  <a:lnTo>
                    <a:pt x="52444" y="37915"/>
                  </a:lnTo>
                  <a:lnTo>
                    <a:pt x="54597" y="27279"/>
                  </a:lnTo>
                  <a:lnTo>
                    <a:pt x="52444" y="16694"/>
                  </a:lnTo>
                  <a:lnTo>
                    <a:pt x="46585" y="8020"/>
                  </a:lnTo>
                  <a:lnTo>
                    <a:pt x="37918" y="2155"/>
                  </a:lnTo>
                  <a:lnTo>
                    <a:pt x="27343" y="0"/>
                  </a:lnTo>
                  <a:close/>
                </a:path>
              </a:pathLst>
            </a:custGeom>
            <a:solidFill>
              <a:srgbClr val="88CCEE"/>
            </a:solidFill>
          </p:spPr>
          <p:txBody>
            <a:bodyPr wrap="square" lIns="0" tIns="0" rIns="0" bIns="0" rtlCol="0"/>
            <a:lstStyle/>
            <a:p>
              <a:endParaRPr/>
            </a:p>
          </p:txBody>
        </p:sp>
        <p:sp>
          <p:nvSpPr>
            <p:cNvPr id="41" name="object 41"/>
            <p:cNvSpPr/>
            <p:nvPr/>
          </p:nvSpPr>
          <p:spPr>
            <a:xfrm>
              <a:off x="7790322" y="621263"/>
              <a:ext cx="54610" cy="55244"/>
            </a:xfrm>
            <a:custGeom>
              <a:avLst/>
              <a:gdLst/>
              <a:ahLst/>
              <a:cxnLst/>
              <a:rect l="l" t="t" r="r" b="b"/>
              <a:pathLst>
                <a:path w="54609" h="55245">
                  <a:moveTo>
                    <a:pt x="27343" y="0"/>
                  </a:moveTo>
                  <a:lnTo>
                    <a:pt x="16716" y="2155"/>
                  </a:lnTo>
                  <a:lnTo>
                    <a:pt x="8023" y="8020"/>
                  </a:lnTo>
                  <a:lnTo>
                    <a:pt x="2154" y="16694"/>
                  </a:lnTo>
                  <a:lnTo>
                    <a:pt x="0" y="27279"/>
                  </a:lnTo>
                  <a:lnTo>
                    <a:pt x="2154" y="37915"/>
                  </a:lnTo>
                  <a:lnTo>
                    <a:pt x="8023" y="46616"/>
                  </a:lnTo>
                  <a:lnTo>
                    <a:pt x="16716" y="52491"/>
                  </a:lnTo>
                  <a:lnTo>
                    <a:pt x="27343" y="54648"/>
                  </a:lnTo>
                  <a:lnTo>
                    <a:pt x="37918" y="52491"/>
                  </a:lnTo>
                  <a:lnTo>
                    <a:pt x="46585" y="46616"/>
                  </a:lnTo>
                  <a:lnTo>
                    <a:pt x="52444" y="37915"/>
                  </a:lnTo>
                  <a:lnTo>
                    <a:pt x="54597" y="27279"/>
                  </a:lnTo>
                  <a:lnTo>
                    <a:pt x="52444" y="16694"/>
                  </a:lnTo>
                  <a:lnTo>
                    <a:pt x="46585" y="8020"/>
                  </a:lnTo>
                  <a:lnTo>
                    <a:pt x="37918" y="2155"/>
                  </a:lnTo>
                  <a:lnTo>
                    <a:pt x="27343" y="0"/>
                  </a:lnTo>
                  <a:close/>
                </a:path>
              </a:pathLst>
            </a:custGeom>
            <a:solidFill>
              <a:srgbClr val="CC6677"/>
            </a:solidFill>
          </p:spPr>
          <p:txBody>
            <a:bodyPr wrap="square" lIns="0" tIns="0" rIns="0" bIns="0" rtlCol="0"/>
            <a:lstStyle/>
            <a:p>
              <a:endParaRPr/>
            </a:p>
          </p:txBody>
        </p:sp>
        <p:sp>
          <p:nvSpPr>
            <p:cNvPr id="42" name="object 42"/>
            <p:cNvSpPr/>
            <p:nvPr/>
          </p:nvSpPr>
          <p:spPr>
            <a:xfrm>
              <a:off x="8134660" y="1215124"/>
              <a:ext cx="54610" cy="55244"/>
            </a:xfrm>
            <a:custGeom>
              <a:avLst/>
              <a:gdLst/>
              <a:ahLst/>
              <a:cxnLst/>
              <a:rect l="l" t="t" r="r" b="b"/>
              <a:pathLst>
                <a:path w="54609" h="55244">
                  <a:moveTo>
                    <a:pt x="27254" y="0"/>
                  </a:moveTo>
                  <a:lnTo>
                    <a:pt x="16678" y="2155"/>
                  </a:lnTo>
                  <a:lnTo>
                    <a:pt x="8012" y="8020"/>
                  </a:lnTo>
                  <a:lnTo>
                    <a:pt x="2152" y="16694"/>
                  </a:lnTo>
                  <a:lnTo>
                    <a:pt x="0" y="27279"/>
                  </a:lnTo>
                  <a:lnTo>
                    <a:pt x="2152" y="37915"/>
                  </a:lnTo>
                  <a:lnTo>
                    <a:pt x="8012" y="46616"/>
                  </a:lnTo>
                  <a:lnTo>
                    <a:pt x="16678" y="52491"/>
                  </a:lnTo>
                  <a:lnTo>
                    <a:pt x="27254" y="54648"/>
                  </a:lnTo>
                  <a:lnTo>
                    <a:pt x="37880" y="52491"/>
                  </a:lnTo>
                  <a:lnTo>
                    <a:pt x="46574" y="46616"/>
                  </a:lnTo>
                  <a:lnTo>
                    <a:pt x="52443" y="37915"/>
                  </a:lnTo>
                  <a:lnTo>
                    <a:pt x="54597" y="27279"/>
                  </a:lnTo>
                  <a:lnTo>
                    <a:pt x="52443" y="16694"/>
                  </a:lnTo>
                  <a:lnTo>
                    <a:pt x="46574" y="8020"/>
                  </a:lnTo>
                  <a:lnTo>
                    <a:pt x="37880" y="2155"/>
                  </a:lnTo>
                  <a:lnTo>
                    <a:pt x="27254" y="0"/>
                  </a:lnTo>
                  <a:close/>
                </a:path>
              </a:pathLst>
            </a:custGeom>
            <a:solidFill>
              <a:srgbClr val="CC6677"/>
            </a:solidFill>
          </p:spPr>
          <p:txBody>
            <a:bodyPr wrap="square" lIns="0" tIns="0" rIns="0" bIns="0" rtlCol="0"/>
            <a:lstStyle/>
            <a:p>
              <a:endParaRPr/>
            </a:p>
          </p:txBody>
        </p:sp>
        <p:sp>
          <p:nvSpPr>
            <p:cNvPr id="43" name="object 43"/>
            <p:cNvSpPr/>
            <p:nvPr/>
          </p:nvSpPr>
          <p:spPr>
            <a:xfrm>
              <a:off x="7461853" y="522531"/>
              <a:ext cx="54610" cy="55244"/>
            </a:xfrm>
            <a:custGeom>
              <a:avLst/>
              <a:gdLst/>
              <a:ahLst/>
              <a:cxnLst/>
              <a:rect l="l" t="t" r="r" b="b"/>
              <a:pathLst>
                <a:path w="54609" h="55245">
                  <a:moveTo>
                    <a:pt x="27343" y="0"/>
                  </a:moveTo>
                  <a:lnTo>
                    <a:pt x="16716" y="2156"/>
                  </a:lnTo>
                  <a:lnTo>
                    <a:pt x="8023" y="8031"/>
                  </a:lnTo>
                  <a:lnTo>
                    <a:pt x="2154" y="16732"/>
                  </a:lnTo>
                  <a:lnTo>
                    <a:pt x="0" y="27368"/>
                  </a:lnTo>
                  <a:lnTo>
                    <a:pt x="2154" y="37953"/>
                  </a:lnTo>
                  <a:lnTo>
                    <a:pt x="8023" y="46628"/>
                  </a:lnTo>
                  <a:lnTo>
                    <a:pt x="16716" y="52493"/>
                  </a:lnTo>
                  <a:lnTo>
                    <a:pt x="27343" y="54648"/>
                  </a:lnTo>
                  <a:lnTo>
                    <a:pt x="37950" y="52493"/>
                  </a:lnTo>
                  <a:lnTo>
                    <a:pt x="46613" y="46628"/>
                  </a:lnTo>
                  <a:lnTo>
                    <a:pt x="52455" y="37953"/>
                  </a:lnTo>
                  <a:lnTo>
                    <a:pt x="54597" y="27368"/>
                  </a:lnTo>
                  <a:lnTo>
                    <a:pt x="52455" y="16732"/>
                  </a:lnTo>
                  <a:lnTo>
                    <a:pt x="46613" y="8031"/>
                  </a:lnTo>
                  <a:lnTo>
                    <a:pt x="37950" y="2156"/>
                  </a:lnTo>
                  <a:lnTo>
                    <a:pt x="27343" y="0"/>
                  </a:lnTo>
                  <a:close/>
                </a:path>
              </a:pathLst>
            </a:custGeom>
            <a:solidFill>
              <a:srgbClr val="CC6677"/>
            </a:solidFill>
          </p:spPr>
          <p:txBody>
            <a:bodyPr wrap="square" lIns="0" tIns="0" rIns="0" bIns="0" rtlCol="0"/>
            <a:lstStyle/>
            <a:p>
              <a:endParaRPr/>
            </a:p>
          </p:txBody>
        </p:sp>
        <p:grpSp>
          <p:nvGrpSpPr>
            <p:cNvPr id="44" name="object 44"/>
            <p:cNvGrpSpPr/>
            <p:nvPr/>
          </p:nvGrpSpPr>
          <p:grpSpPr>
            <a:xfrm>
              <a:off x="7067651" y="752528"/>
              <a:ext cx="127000" cy="138430"/>
              <a:chOff x="7067651" y="752528"/>
              <a:chExt cx="127000" cy="138430"/>
            </a:xfrm>
          </p:grpSpPr>
          <p:sp>
            <p:nvSpPr>
              <p:cNvPr id="45" name="object 45"/>
              <p:cNvSpPr/>
              <p:nvPr/>
            </p:nvSpPr>
            <p:spPr>
              <a:xfrm>
                <a:off x="7067651" y="836118"/>
                <a:ext cx="54610" cy="55244"/>
              </a:xfrm>
              <a:custGeom>
                <a:avLst/>
                <a:gdLst/>
                <a:ahLst/>
                <a:cxnLst/>
                <a:rect l="l" t="t" r="r" b="b"/>
                <a:pathLst>
                  <a:path w="54609" h="55244">
                    <a:moveTo>
                      <a:pt x="27343" y="0"/>
                    </a:moveTo>
                    <a:lnTo>
                      <a:pt x="16716" y="2156"/>
                    </a:lnTo>
                    <a:lnTo>
                      <a:pt x="8023" y="8031"/>
                    </a:lnTo>
                    <a:lnTo>
                      <a:pt x="2154" y="16732"/>
                    </a:lnTo>
                    <a:lnTo>
                      <a:pt x="0" y="27368"/>
                    </a:lnTo>
                    <a:lnTo>
                      <a:pt x="2154" y="37953"/>
                    </a:lnTo>
                    <a:lnTo>
                      <a:pt x="8023" y="46628"/>
                    </a:lnTo>
                    <a:lnTo>
                      <a:pt x="16716" y="52493"/>
                    </a:lnTo>
                    <a:lnTo>
                      <a:pt x="27343" y="54648"/>
                    </a:lnTo>
                    <a:lnTo>
                      <a:pt x="37918" y="52493"/>
                    </a:lnTo>
                    <a:lnTo>
                      <a:pt x="46585" y="46628"/>
                    </a:lnTo>
                    <a:lnTo>
                      <a:pt x="52444" y="37953"/>
                    </a:lnTo>
                    <a:lnTo>
                      <a:pt x="54597" y="27368"/>
                    </a:lnTo>
                    <a:lnTo>
                      <a:pt x="52444" y="16732"/>
                    </a:lnTo>
                    <a:lnTo>
                      <a:pt x="46585" y="8031"/>
                    </a:lnTo>
                    <a:lnTo>
                      <a:pt x="37918" y="2156"/>
                    </a:lnTo>
                    <a:lnTo>
                      <a:pt x="27343" y="0"/>
                    </a:lnTo>
                    <a:close/>
                  </a:path>
                </a:pathLst>
              </a:custGeom>
              <a:solidFill>
                <a:srgbClr val="CC6677"/>
              </a:solidFill>
            </p:spPr>
            <p:txBody>
              <a:bodyPr wrap="square" lIns="0" tIns="0" rIns="0" bIns="0" rtlCol="0"/>
              <a:lstStyle/>
              <a:p>
                <a:endParaRPr/>
              </a:p>
            </p:txBody>
          </p:sp>
          <p:sp>
            <p:nvSpPr>
              <p:cNvPr id="46" name="object 46"/>
              <p:cNvSpPr/>
              <p:nvPr/>
            </p:nvSpPr>
            <p:spPr>
              <a:xfrm>
                <a:off x="7139978" y="752528"/>
                <a:ext cx="54610" cy="55244"/>
              </a:xfrm>
              <a:custGeom>
                <a:avLst/>
                <a:gdLst/>
                <a:ahLst/>
                <a:cxnLst/>
                <a:rect l="l" t="t" r="r" b="b"/>
                <a:pathLst>
                  <a:path w="54609" h="55245">
                    <a:moveTo>
                      <a:pt x="27254" y="0"/>
                    </a:moveTo>
                    <a:lnTo>
                      <a:pt x="16678" y="2155"/>
                    </a:lnTo>
                    <a:lnTo>
                      <a:pt x="8012" y="8020"/>
                    </a:lnTo>
                    <a:lnTo>
                      <a:pt x="2152" y="16694"/>
                    </a:lnTo>
                    <a:lnTo>
                      <a:pt x="0" y="27279"/>
                    </a:lnTo>
                    <a:lnTo>
                      <a:pt x="2152" y="37915"/>
                    </a:lnTo>
                    <a:lnTo>
                      <a:pt x="8012" y="46616"/>
                    </a:lnTo>
                    <a:lnTo>
                      <a:pt x="16678" y="52491"/>
                    </a:lnTo>
                    <a:lnTo>
                      <a:pt x="27254" y="54648"/>
                    </a:lnTo>
                    <a:lnTo>
                      <a:pt x="37880" y="52491"/>
                    </a:lnTo>
                    <a:lnTo>
                      <a:pt x="46574" y="46616"/>
                    </a:lnTo>
                    <a:lnTo>
                      <a:pt x="52443" y="37915"/>
                    </a:lnTo>
                    <a:lnTo>
                      <a:pt x="54597" y="27279"/>
                    </a:lnTo>
                    <a:lnTo>
                      <a:pt x="52443" y="16694"/>
                    </a:lnTo>
                    <a:lnTo>
                      <a:pt x="46574" y="8020"/>
                    </a:lnTo>
                    <a:lnTo>
                      <a:pt x="37880" y="2155"/>
                    </a:lnTo>
                    <a:lnTo>
                      <a:pt x="27254" y="0"/>
                    </a:lnTo>
                    <a:close/>
                  </a:path>
                </a:pathLst>
              </a:custGeom>
              <a:solidFill>
                <a:srgbClr val="88CCEE"/>
              </a:solidFill>
            </p:spPr>
            <p:txBody>
              <a:bodyPr wrap="square" lIns="0" tIns="0" rIns="0" bIns="0" rtlCol="0"/>
              <a:lstStyle/>
              <a:p>
                <a:endParaRPr/>
              </a:p>
            </p:txBody>
          </p:sp>
        </p:grpSp>
        <p:sp>
          <p:nvSpPr>
            <p:cNvPr id="47" name="object 47"/>
            <p:cNvSpPr/>
            <p:nvPr/>
          </p:nvSpPr>
          <p:spPr>
            <a:xfrm>
              <a:off x="6483761" y="1492643"/>
              <a:ext cx="73660" cy="64135"/>
            </a:xfrm>
            <a:custGeom>
              <a:avLst/>
              <a:gdLst/>
              <a:ahLst/>
              <a:cxnLst/>
              <a:rect l="l" t="t" r="r" b="b"/>
              <a:pathLst>
                <a:path w="73659" h="64134">
                  <a:moveTo>
                    <a:pt x="36791" y="0"/>
                  </a:moveTo>
                  <a:lnTo>
                    <a:pt x="0" y="63728"/>
                  </a:lnTo>
                  <a:lnTo>
                    <a:pt x="73583" y="63728"/>
                  </a:lnTo>
                  <a:lnTo>
                    <a:pt x="36791" y="0"/>
                  </a:lnTo>
                  <a:close/>
                </a:path>
              </a:pathLst>
            </a:custGeom>
            <a:solidFill>
              <a:srgbClr val="88CCEE"/>
            </a:solidFill>
          </p:spPr>
          <p:txBody>
            <a:bodyPr wrap="square" lIns="0" tIns="0" rIns="0" bIns="0" rtlCol="0"/>
            <a:lstStyle/>
            <a:p>
              <a:endParaRPr/>
            </a:p>
          </p:txBody>
        </p:sp>
        <p:sp>
          <p:nvSpPr>
            <p:cNvPr id="48" name="object 48"/>
            <p:cNvSpPr/>
            <p:nvPr/>
          </p:nvSpPr>
          <p:spPr>
            <a:xfrm>
              <a:off x="7241824" y="3192482"/>
              <a:ext cx="73660" cy="64135"/>
            </a:xfrm>
            <a:custGeom>
              <a:avLst/>
              <a:gdLst/>
              <a:ahLst/>
              <a:cxnLst/>
              <a:rect l="l" t="t" r="r" b="b"/>
              <a:pathLst>
                <a:path w="73659" h="64135">
                  <a:moveTo>
                    <a:pt x="36791" y="0"/>
                  </a:moveTo>
                  <a:lnTo>
                    <a:pt x="0" y="63728"/>
                  </a:lnTo>
                  <a:lnTo>
                    <a:pt x="73583" y="63728"/>
                  </a:lnTo>
                  <a:lnTo>
                    <a:pt x="36791" y="0"/>
                  </a:lnTo>
                  <a:close/>
                </a:path>
              </a:pathLst>
            </a:custGeom>
            <a:solidFill>
              <a:srgbClr val="88CCEE"/>
            </a:solidFill>
          </p:spPr>
          <p:txBody>
            <a:bodyPr wrap="square" lIns="0" tIns="0" rIns="0" bIns="0" rtlCol="0"/>
            <a:lstStyle/>
            <a:p>
              <a:endParaRPr/>
            </a:p>
          </p:txBody>
        </p:sp>
        <p:sp>
          <p:nvSpPr>
            <p:cNvPr id="49" name="object 49"/>
            <p:cNvSpPr/>
            <p:nvPr/>
          </p:nvSpPr>
          <p:spPr>
            <a:xfrm>
              <a:off x="6778372" y="2513418"/>
              <a:ext cx="73660" cy="64135"/>
            </a:xfrm>
            <a:custGeom>
              <a:avLst/>
              <a:gdLst/>
              <a:ahLst/>
              <a:cxnLst/>
              <a:rect l="l" t="t" r="r" b="b"/>
              <a:pathLst>
                <a:path w="73659" h="64135">
                  <a:moveTo>
                    <a:pt x="36791" y="0"/>
                  </a:moveTo>
                  <a:lnTo>
                    <a:pt x="0" y="63728"/>
                  </a:lnTo>
                  <a:lnTo>
                    <a:pt x="73583" y="63728"/>
                  </a:lnTo>
                  <a:lnTo>
                    <a:pt x="36791" y="0"/>
                  </a:lnTo>
                  <a:close/>
                </a:path>
              </a:pathLst>
            </a:custGeom>
            <a:solidFill>
              <a:srgbClr val="88CCEE"/>
            </a:solidFill>
          </p:spPr>
          <p:txBody>
            <a:bodyPr wrap="square" lIns="0" tIns="0" rIns="0" bIns="0" rtlCol="0"/>
            <a:lstStyle/>
            <a:p>
              <a:endParaRPr/>
            </a:p>
          </p:txBody>
        </p:sp>
        <p:sp>
          <p:nvSpPr>
            <p:cNvPr id="50" name="object 50"/>
            <p:cNvSpPr/>
            <p:nvPr/>
          </p:nvSpPr>
          <p:spPr>
            <a:xfrm>
              <a:off x="6319015" y="2167352"/>
              <a:ext cx="73660" cy="64135"/>
            </a:xfrm>
            <a:custGeom>
              <a:avLst/>
              <a:gdLst/>
              <a:ahLst/>
              <a:cxnLst/>
              <a:rect l="l" t="t" r="r" b="b"/>
              <a:pathLst>
                <a:path w="73660" h="64135">
                  <a:moveTo>
                    <a:pt x="36791" y="0"/>
                  </a:moveTo>
                  <a:lnTo>
                    <a:pt x="0" y="63728"/>
                  </a:lnTo>
                  <a:lnTo>
                    <a:pt x="73583" y="63728"/>
                  </a:lnTo>
                  <a:lnTo>
                    <a:pt x="36791" y="0"/>
                  </a:lnTo>
                  <a:close/>
                </a:path>
              </a:pathLst>
            </a:custGeom>
            <a:solidFill>
              <a:srgbClr val="88CCEE"/>
            </a:solidFill>
          </p:spPr>
          <p:txBody>
            <a:bodyPr wrap="square" lIns="0" tIns="0" rIns="0" bIns="0" rtlCol="0"/>
            <a:lstStyle/>
            <a:p>
              <a:endParaRPr/>
            </a:p>
          </p:txBody>
        </p:sp>
        <p:grpSp>
          <p:nvGrpSpPr>
            <p:cNvPr id="51" name="object 51"/>
            <p:cNvGrpSpPr/>
            <p:nvPr/>
          </p:nvGrpSpPr>
          <p:grpSpPr>
            <a:xfrm>
              <a:off x="5870545" y="1291295"/>
              <a:ext cx="906780" cy="973455"/>
              <a:chOff x="5870545" y="1291295"/>
              <a:chExt cx="906780" cy="973455"/>
            </a:xfrm>
          </p:grpSpPr>
          <p:sp>
            <p:nvSpPr>
              <p:cNvPr id="52" name="object 52"/>
              <p:cNvSpPr/>
              <p:nvPr/>
            </p:nvSpPr>
            <p:spPr>
              <a:xfrm>
                <a:off x="6114263" y="1742173"/>
                <a:ext cx="663575" cy="522605"/>
              </a:xfrm>
              <a:custGeom>
                <a:avLst/>
                <a:gdLst/>
                <a:ahLst/>
                <a:cxnLst/>
                <a:rect l="l" t="t" r="r" b="b"/>
                <a:pathLst>
                  <a:path w="663575" h="522605">
                    <a:moveTo>
                      <a:pt x="73583" y="63804"/>
                    </a:moveTo>
                    <a:lnTo>
                      <a:pt x="36791" y="0"/>
                    </a:lnTo>
                    <a:lnTo>
                      <a:pt x="0" y="63804"/>
                    </a:lnTo>
                    <a:lnTo>
                      <a:pt x="73583" y="63804"/>
                    </a:lnTo>
                    <a:close/>
                  </a:path>
                  <a:path w="663575" h="522605">
                    <a:moveTo>
                      <a:pt x="365379" y="115824"/>
                    </a:moveTo>
                    <a:lnTo>
                      <a:pt x="328587" y="52019"/>
                    </a:lnTo>
                    <a:lnTo>
                      <a:pt x="291795" y="115824"/>
                    </a:lnTo>
                    <a:lnTo>
                      <a:pt x="365379" y="115824"/>
                    </a:lnTo>
                    <a:close/>
                  </a:path>
                  <a:path w="663575" h="522605">
                    <a:moveTo>
                      <a:pt x="662990" y="522427"/>
                    </a:moveTo>
                    <a:lnTo>
                      <a:pt x="626198" y="458622"/>
                    </a:lnTo>
                    <a:lnTo>
                      <a:pt x="589483" y="522427"/>
                    </a:lnTo>
                    <a:lnTo>
                      <a:pt x="662990" y="522427"/>
                    </a:lnTo>
                    <a:close/>
                  </a:path>
                </a:pathLst>
              </a:custGeom>
              <a:solidFill>
                <a:srgbClr val="CC6677"/>
              </a:solidFill>
            </p:spPr>
            <p:txBody>
              <a:bodyPr wrap="square" lIns="0" tIns="0" rIns="0" bIns="0" rtlCol="0"/>
              <a:lstStyle/>
              <a:p>
                <a:endParaRPr/>
              </a:p>
            </p:txBody>
          </p:sp>
          <p:sp>
            <p:nvSpPr>
              <p:cNvPr id="53" name="object 53"/>
              <p:cNvSpPr/>
              <p:nvPr/>
            </p:nvSpPr>
            <p:spPr>
              <a:xfrm>
                <a:off x="5870537" y="1291297"/>
                <a:ext cx="871855" cy="808355"/>
              </a:xfrm>
              <a:custGeom>
                <a:avLst/>
                <a:gdLst/>
                <a:ahLst/>
                <a:cxnLst/>
                <a:rect l="l" t="t" r="r" b="b"/>
                <a:pathLst>
                  <a:path w="871854" h="808355">
                    <a:moveTo>
                      <a:pt x="73507" y="129971"/>
                    </a:moveTo>
                    <a:lnTo>
                      <a:pt x="36715" y="66243"/>
                    </a:lnTo>
                    <a:lnTo>
                      <a:pt x="0" y="129971"/>
                    </a:lnTo>
                    <a:lnTo>
                      <a:pt x="73507" y="129971"/>
                    </a:lnTo>
                    <a:close/>
                  </a:path>
                  <a:path w="871854" h="808355">
                    <a:moveTo>
                      <a:pt x="143598" y="63728"/>
                    </a:moveTo>
                    <a:lnTo>
                      <a:pt x="106807" y="0"/>
                    </a:lnTo>
                    <a:lnTo>
                      <a:pt x="70091" y="63728"/>
                    </a:lnTo>
                    <a:lnTo>
                      <a:pt x="143598" y="63728"/>
                    </a:lnTo>
                    <a:close/>
                  </a:path>
                  <a:path w="871854" h="808355">
                    <a:moveTo>
                      <a:pt x="160947" y="214414"/>
                    </a:moveTo>
                    <a:lnTo>
                      <a:pt x="124155" y="150609"/>
                    </a:lnTo>
                    <a:lnTo>
                      <a:pt x="87439" y="214414"/>
                    </a:lnTo>
                    <a:lnTo>
                      <a:pt x="160947" y="214414"/>
                    </a:lnTo>
                    <a:close/>
                  </a:path>
                  <a:path w="871854" h="808355">
                    <a:moveTo>
                      <a:pt x="228523" y="319849"/>
                    </a:moveTo>
                    <a:lnTo>
                      <a:pt x="191731" y="256120"/>
                    </a:lnTo>
                    <a:lnTo>
                      <a:pt x="155016" y="319849"/>
                    </a:lnTo>
                    <a:lnTo>
                      <a:pt x="228523" y="319849"/>
                    </a:lnTo>
                    <a:close/>
                  </a:path>
                  <a:path w="871854" h="808355">
                    <a:moveTo>
                      <a:pt x="351358" y="201536"/>
                    </a:moveTo>
                    <a:lnTo>
                      <a:pt x="314566" y="137807"/>
                    </a:lnTo>
                    <a:lnTo>
                      <a:pt x="277850" y="201536"/>
                    </a:lnTo>
                    <a:lnTo>
                      <a:pt x="351358" y="201536"/>
                    </a:lnTo>
                    <a:close/>
                  </a:path>
                  <a:path w="871854" h="808355">
                    <a:moveTo>
                      <a:pt x="386245" y="356755"/>
                    </a:moveTo>
                    <a:lnTo>
                      <a:pt x="349453" y="292950"/>
                    </a:lnTo>
                    <a:lnTo>
                      <a:pt x="312661" y="356755"/>
                    </a:lnTo>
                    <a:lnTo>
                      <a:pt x="386245" y="356755"/>
                    </a:lnTo>
                    <a:close/>
                  </a:path>
                  <a:path w="871854" h="808355">
                    <a:moveTo>
                      <a:pt x="489597" y="527354"/>
                    </a:moveTo>
                    <a:lnTo>
                      <a:pt x="452805" y="463626"/>
                    </a:lnTo>
                    <a:lnTo>
                      <a:pt x="416090" y="527354"/>
                    </a:lnTo>
                    <a:lnTo>
                      <a:pt x="489597" y="527354"/>
                    </a:lnTo>
                    <a:close/>
                  </a:path>
                  <a:path w="871854" h="808355">
                    <a:moveTo>
                      <a:pt x="532803" y="468160"/>
                    </a:moveTo>
                    <a:lnTo>
                      <a:pt x="496011" y="404355"/>
                    </a:lnTo>
                    <a:lnTo>
                      <a:pt x="459295" y="468160"/>
                    </a:lnTo>
                    <a:lnTo>
                      <a:pt x="532803" y="468160"/>
                    </a:lnTo>
                    <a:close/>
                  </a:path>
                  <a:path w="871854" h="808355">
                    <a:moveTo>
                      <a:pt x="657555" y="553237"/>
                    </a:moveTo>
                    <a:lnTo>
                      <a:pt x="620763" y="489432"/>
                    </a:lnTo>
                    <a:lnTo>
                      <a:pt x="583971" y="553237"/>
                    </a:lnTo>
                    <a:lnTo>
                      <a:pt x="657555" y="553237"/>
                    </a:lnTo>
                    <a:close/>
                  </a:path>
                  <a:path w="871854" h="808355">
                    <a:moveTo>
                      <a:pt x="702805" y="445477"/>
                    </a:moveTo>
                    <a:lnTo>
                      <a:pt x="666089" y="381749"/>
                    </a:lnTo>
                    <a:lnTo>
                      <a:pt x="629297" y="445477"/>
                    </a:lnTo>
                    <a:lnTo>
                      <a:pt x="702805" y="445477"/>
                    </a:lnTo>
                    <a:close/>
                  </a:path>
                  <a:path w="871854" h="808355">
                    <a:moveTo>
                      <a:pt x="800912" y="807821"/>
                    </a:moveTo>
                    <a:lnTo>
                      <a:pt x="764120" y="744093"/>
                    </a:lnTo>
                    <a:lnTo>
                      <a:pt x="727405" y="807821"/>
                    </a:lnTo>
                    <a:lnTo>
                      <a:pt x="800912" y="807821"/>
                    </a:lnTo>
                    <a:close/>
                  </a:path>
                  <a:path w="871854" h="808355">
                    <a:moveTo>
                      <a:pt x="871829" y="696671"/>
                    </a:moveTo>
                    <a:lnTo>
                      <a:pt x="835037" y="632866"/>
                    </a:lnTo>
                    <a:lnTo>
                      <a:pt x="798322" y="696671"/>
                    </a:lnTo>
                    <a:lnTo>
                      <a:pt x="871829" y="696671"/>
                    </a:lnTo>
                    <a:close/>
                  </a:path>
                </a:pathLst>
              </a:custGeom>
              <a:solidFill>
                <a:srgbClr val="88CCEE"/>
              </a:solidFill>
            </p:spPr>
            <p:txBody>
              <a:bodyPr wrap="square" lIns="0" tIns="0" rIns="0" bIns="0" rtlCol="0"/>
              <a:lstStyle/>
              <a:p>
                <a:endParaRPr/>
              </a:p>
            </p:txBody>
          </p:sp>
          <p:sp>
            <p:nvSpPr>
              <p:cNvPr id="54" name="object 54"/>
              <p:cNvSpPr/>
              <p:nvPr/>
            </p:nvSpPr>
            <p:spPr>
              <a:xfrm>
                <a:off x="5930328" y="1337551"/>
                <a:ext cx="361950" cy="614045"/>
              </a:xfrm>
              <a:custGeom>
                <a:avLst/>
                <a:gdLst/>
                <a:ahLst/>
                <a:cxnLst/>
                <a:rect l="l" t="t" r="r" b="b"/>
                <a:pathLst>
                  <a:path w="361950" h="614044">
                    <a:moveTo>
                      <a:pt x="86499" y="94348"/>
                    </a:moveTo>
                    <a:lnTo>
                      <a:pt x="68821" y="63728"/>
                    </a:lnTo>
                    <a:lnTo>
                      <a:pt x="73507" y="63728"/>
                    </a:lnTo>
                    <a:lnTo>
                      <a:pt x="36791" y="0"/>
                    </a:lnTo>
                    <a:lnTo>
                      <a:pt x="0" y="63728"/>
                    </a:lnTo>
                    <a:lnTo>
                      <a:pt x="30581" y="63728"/>
                    </a:lnTo>
                    <a:lnTo>
                      <a:pt x="12915" y="94348"/>
                    </a:lnTo>
                    <a:lnTo>
                      <a:pt x="86499" y="94348"/>
                    </a:lnTo>
                    <a:close/>
                  </a:path>
                  <a:path w="361950" h="614044">
                    <a:moveTo>
                      <a:pt x="317042" y="260210"/>
                    </a:moveTo>
                    <a:lnTo>
                      <a:pt x="280250" y="196481"/>
                    </a:lnTo>
                    <a:lnTo>
                      <a:pt x="243459" y="260210"/>
                    </a:lnTo>
                    <a:lnTo>
                      <a:pt x="317042" y="260210"/>
                    </a:lnTo>
                    <a:close/>
                  </a:path>
                  <a:path w="361950" h="614044">
                    <a:moveTo>
                      <a:pt x="361645" y="613524"/>
                    </a:moveTo>
                    <a:lnTo>
                      <a:pt x="349415" y="592315"/>
                    </a:lnTo>
                    <a:lnTo>
                      <a:pt x="353263" y="592315"/>
                    </a:lnTo>
                    <a:lnTo>
                      <a:pt x="316471" y="528586"/>
                    </a:lnTo>
                    <a:lnTo>
                      <a:pt x="279679" y="592315"/>
                    </a:lnTo>
                    <a:lnTo>
                      <a:pt x="300380" y="592315"/>
                    </a:lnTo>
                    <a:lnTo>
                      <a:pt x="288137" y="613524"/>
                    </a:lnTo>
                    <a:lnTo>
                      <a:pt x="361645" y="613524"/>
                    </a:lnTo>
                    <a:close/>
                  </a:path>
                </a:pathLst>
              </a:custGeom>
              <a:solidFill>
                <a:srgbClr val="CC6677"/>
              </a:solidFill>
            </p:spPr>
            <p:txBody>
              <a:bodyPr wrap="square" lIns="0" tIns="0" rIns="0" bIns="0" rtlCol="0"/>
              <a:lstStyle/>
              <a:p>
                <a:endParaRPr/>
              </a:p>
            </p:txBody>
          </p:sp>
          <p:sp>
            <p:nvSpPr>
              <p:cNvPr id="55" name="object 55"/>
              <p:cNvSpPr/>
              <p:nvPr/>
            </p:nvSpPr>
            <p:spPr>
              <a:xfrm>
                <a:off x="6566129" y="1857870"/>
                <a:ext cx="189230" cy="319405"/>
              </a:xfrm>
              <a:custGeom>
                <a:avLst/>
                <a:gdLst/>
                <a:ahLst/>
                <a:cxnLst/>
                <a:rect l="l" t="t" r="r" b="b"/>
                <a:pathLst>
                  <a:path w="189229" h="319405">
                    <a:moveTo>
                      <a:pt x="73583" y="63728"/>
                    </a:moveTo>
                    <a:lnTo>
                      <a:pt x="36791" y="0"/>
                    </a:lnTo>
                    <a:lnTo>
                      <a:pt x="0" y="63728"/>
                    </a:lnTo>
                    <a:lnTo>
                      <a:pt x="73583" y="63728"/>
                    </a:lnTo>
                    <a:close/>
                  </a:path>
                  <a:path w="189229" h="319405">
                    <a:moveTo>
                      <a:pt x="97332" y="319405"/>
                    </a:moveTo>
                    <a:lnTo>
                      <a:pt x="60540" y="255600"/>
                    </a:lnTo>
                    <a:lnTo>
                      <a:pt x="23749" y="319405"/>
                    </a:lnTo>
                    <a:lnTo>
                      <a:pt x="97332" y="319405"/>
                    </a:lnTo>
                    <a:close/>
                  </a:path>
                  <a:path w="189229" h="319405">
                    <a:moveTo>
                      <a:pt x="189179" y="159194"/>
                    </a:moveTo>
                    <a:lnTo>
                      <a:pt x="152387" y="95389"/>
                    </a:lnTo>
                    <a:lnTo>
                      <a:pt x="115595" y="159194"/>
                    </a:lnTo>
                    <a:lnTo>
                      <a:pt x="189179" y="159194"/>
                    </a:lnTo>
                    <a:close/>
                  </a:path>
                </a:pathLst>
              </a:custGeom>
              <a:solidFill>
                <a:srgbClr val="88CCEE"/>
              </a:solidFill>
            </p:spPr>
            <p:txBody>
              <a:bodyPr wrap="square" lIns="0" tIns="0" rIns="0" bIns="0" rtlCol="0"/>
              <a:lstStyle/>
              <a:p>
                <a:endParaRPr/>
              </a:p>
            </p:txBody>
          </p:sp>
          <p:sp>
            <p:nvSpPr>
              <p:cNvPr id="56" name="object 56"/>
              <p:cNvSpPr/>
              <p:nvPr/>
            </p:nvSpPr>
            <p:spPr>
              <a:xfrm>
                <a:off x="6082843" y="1525447"/>
                <a:ext cx="291465" cy="272415"/>
              </a:xfrm>
              <a:custGeom>
                <a:avLst/>
                <a:gdLst/>
                <a:ahLst/>
                <a:cxnLst/>
                <a:rect l="l" t="t" r="r" b="b"/>
                <a:pathLst>
                  <a:path w="291464" h="272414">
                    <a:moveTo>
                      <a:pt x="73507" y="63804"/>
                    </a:moveTo>
                    <a:lnTo>
                      <a:pt x="36791" y="0"/>
                    </a:lnTo>
                    <a:lnTo>
                      <a:pt x="0" y="63804"/>
                    </a:lnTo>
                    <a:lnTo>
                      <a:pt x="73507" y="63804"/>
                    </a:lnTo>
                    <a:close/>
                  </a:path>
                  <a:path w="291464" h="272414">
                    <a:moveTo>
                      <a:pt x="100838" y="207111"/>
                    </a:moveTo>
                    <a:lnTo>
                      <a:pt x="64046" y="143306"/>
                    </a:lnTo>
                    <a:lnTo>
                      <a:pt x="27254" y="207111"/>
                    </a:lnTo>
                    <a:lnTo>
                      <a:pt x="100838" y="207111"/>
                    </a:lnTo>
                    <a:close/>
                  </a:path>
                  <a:path w="291464" h="272414">
                    <a:moveTo>
                      <a:pt x="291185" y="272313"/>
                    </a:moveTo>
                    <a:lnTo>
                      <a:pt x="254393" y="208584"/>
                    </a:lnTo>
                    <a:lnTo>
                      <a:pt x="217678" y="272313"/>
                    </a:lnTo>
                    <a:lnTo>
                      <a:pt x="291185" y="272313"/>
                    </a:lnTo>
                    <a:close/>
                  </a:path>
                </a:pathLst>
              </a:custGeom>
              <a:solidFill>
                <a:srgbClr val="CC6677"/>
              </a:solidFill>
            </p:spPr>
            <p:txBody>
              <a:bodyPr wrap="square" lIns="0" tIns="0" rIns="0" bIns="0" rtlCol="0"/>
              <a:lstStyle/>
              <a:p>
                <a:endParaRPr/>
              </a:p>
            </p:txBody>
          </p:sp>
        </p:grpSp>
        <p:sp>
          <p:nvSpPr>
            <p:cNvPr id="57" name="object 57"/>
            <p:cNvSpPr/>
            <p:nvPr/>
          </p:nvSpPr>
          <p:spPr>
            <a:xfrm>
              <a:off x="5926481" y="1837358"/>
              <a:ext cx="73660" cy="64135"/>
            </a:xfrm>
            <a:custGeom>
              <a:avLst/>
              <a:gdLst/>
              <a:ahLst/>
              <a:cxnLst/>
              <a:rect l="l" t="t" r="r" b="b"/>
              <a:pathLst>
                <a:path w="73660" h="64135">
                  <a:moveTo>
                    <a:pt x="36791" y="0"/>
                  </a:moveTo>
                  <a:lnTo>
                    <a:pt x="0" y="63804"/>
                  </a:lnTo>
                  <a:lnTo>
                    <a:pt x="73583" y="63804"/>
                  </a:lnTo>
                  <a:lnTo>
                    <a:pt x="36791" y="0"/>
                  </a:lnTo>
                  <a:close/>
                </a:path>
              </a:pathLst>
            </a:custGeom>
            <a:solidFill>
              <a:srgbClr val="CC6677"/>
            </a:solidFill>
          </p:spPr>
          <p:txBody>
            <a:bodyPr wrap="square" lIns="0" tIns="0" rIns="0" bIns="0" rtlCol="0"/>
            <a:lstStyle/>
            <a:p>
              <a:endParaRPr/>
            </a:p>
          </p:txBody>
        </p:sp>
        <p:sp>
          <p:nvSpPr>
            <p:cNvPr id="58" name="object 58"/>
            <p:cNvSpPr/>
            <p:nvPr/>
          </p:nvSpPr>
          <p:spPr>
            <a:xfrm>
              <a:off x="7846835" y="1548814"/>
              <a:ext cx="54610" cy="55244"/>
            </a:xfrm>
            <a:custGeom>
              <a:avLst/>
              <a:gdLst/>
              <a:ahLst/>
              <a:cxnLst/>
              <a:rect l="l" t="t" r="r" b="b"/>
              <a:pathLst>
                <a:path w="54609" h="55244">
                  <a:moveTo>
                    <a:pt x="27343" y="0"/>
                  </a:moveTo>
                  <a:lnTo>
                    <a:pt x="16716" y="2158"/>
                  </a:lnTo>
                  <a:lnTo>
                    <a:pt x="8023" y="8035"/>
                  </a:lnTo>
                  <a:lnTo>
                    <a:pt x="2154" y="16737"/>
                  </a:lnTo>
                  <a:lnTo>
                    <a:pt x="0" y="27368"/>
                  </a:lnTo>
                  <a:lnTo>
                    <a:pt x="2154" y="37953"/>
                  </a:lnTo>
                  <a:lnTo>
                    <a:pt x="8023" y="46628"/>
                  </a:lnTo>
                  <a:lnTo>
                    <a:pt x="16716" y="52493"/>
                  </a:lnTo>
                  <a:lnTo>
                    <a:pt x="27343" y="54648"/>
                  </a:lnTo>
                  <a:lnTo>
                    <a:pt x="37918" y="52493"/>
                  </a:lnTo>
                  <a:lnTo>
                    <a:pt x="46585" y="46628"/>
                  </a:lnTo>
                  <a:lnTo>
                    <a:pt x="52444" y="37953"/>
                  </a:lnTo>
                  <a:lnTo>
                    <a:pt x="54597" y="27368"/>
                  </a:lnTo>
                  <a:lnTo>
                    <a:pt x="52444" y="16737"/>
                  </a:lnTo>
                  <a:lnTo>
                    <a:pt x="46585" y="8035"/>
                  </a:lnTo>
                  <a:lnTo>
                    <a:pt x="37918" y="2158"/>
                  </a:lnTo>
                  <a:lnTo>
                    <a:pt x="27343" y="0"/>
                  </a:lnTo>
                  <a:close/>
                </a:path>
              </a:pathLst>
            </a:custGeom>
            <a:solidFill>
              <a:srgbClr val="88CCEE"/>
            </a:solidFill>
          </p:spPr>
          <p:txBody>
            <a:bodyPr wrap="square" lIns="0" tIns="0" rIns="0" bIns="0" rtlCol="0"/>
            <a:lstStyle/>
            <a:p>
              <a:endParaRPr/>
            </a:p>
          </p:txBody>
        </p:sp>
        <p:sp>
          <p:nvSpPr>
            <p:cNvPr id="59" name="object 59"/>
            <p:cNvSpPr/>
            <p:nvPr/>
          </p:nvSpPr>
          <p:spPr>
            <a:xfrm>
              <a:off x="7900022" y="1431719"/>
              <a:ext cx="55244" cy="55244"/>
            </a:xfrm>
            <a:custGeom>
              <a:avLst/>
              <a:gdLst/>
              <a:ahLst/>
              <a:cxnLst/>
              <a:rect l="l" t="t" r="r" b="b"/>
              <a:pathLst>
                <a:path w="55245" h="55244">
                  <a:moveTo>
                    <a:pt x="27343" y="0"/>
                  </a:moveTo>
                  <a:lnTo>
                    <a:pt x="16716" y="2155"/>
                  </a:lnTo>
                  <a:lnTo>
                    <a:pt x="8023" y="8020"/>
                  </a:lnTo>
                  <a:lnTo>
                    <a:pt x="2154" y="16694"/>
                  </a:lnTo>
                  <a:lnTo>
                    <a:pt x="0" y="27279"/>
                  </a:lnTo>
                  <a:lnTo>
                    <a:pt x="2154" y="37910"/>
                  </a:lnTo>
                  <a:lnTo>
                    <a:pt x="8023" y="46612"/>
                  </a:lnTo>
                  <a:lnTo>
                    <a:pt x="16716" y="52489"/>
                  </a:lnTo>
                  <a:lnTo>
                    <a:pt x="27343" y="54648"/>
                  </a:lnTo>
                  <a:lnTo>
                    <a:pt x="37922" y="52489"/>
                  </a:lnTo>
                  <a:lnTo>
                    <a:pt x="46597" y="46612"/>
                  </a:lnTo>
                  <a:lnTo>
                    <a:pt x="52465" y="37910"/>
                  </a:lnTo>
                  <a:lnTo>
                    <a:pt x="54622" y="27279"/>
                  </a:lnTo>
                  <a:lnTo>
                    <a:pt x="52465" y="16694"/>
                  </a:lnTo>
                  <a:lnTo>
                    <a:pt x="46597" y="8020"/>
                  </a:lnTo>
                  <a:lnTo>
                    <a:pt x="37922" y="2155"/>
                  </a:lnTo>
                  <a:lnTo>
                    <a:pt x="27343" y="0"/>
                  </a:lnTo>
                  <a:close/>
                </a:path>
              </a:pathLst>
            </a:custGeom>
            <a:solidFill>
              <a:srgbClr val="88CCEE"/>
            </a:solidFill>
          </p:spPr>
          <p:txBody>
            <a:bodyPr wrap="square" lIns="0" tIns="0" rIns="0" bIns="0" rtlCol="0"/>
            <a:lstStyle/>
            <a:p>
              <a:endParaRPr/>
            </a:p>
          </p:txBody>
        </p:sp>
        <p:sp>
          <p:nvSpPr>
            <p:cNvPr id="60" name="object 60"/>
            <p:cNvSpPr/>
            <p:nvPr/>
          </p:nvSpPr>
          <p:spPr>
            <a:xfrm>
              <a:off x="8025214" y="1479818"/>
              <a:ext cx="54610" cy="55244"/>
            </a:xfrm>
            <a:custGeom>
              <a:avLst/>
              <a:gdLst/>
              <a:ahLst/>
              <a:cxnLst/>
              <a:rect l="l" t="t" r="r" b="b"/>
              <a:pathLst>
                <a:path w="54609" h="55244">
                  <a:moveTo>
                    <a:pt x="27254" y="0"/>
                  </a:moveTo>
                  <a:lnTo>
                    <a:pt x="16678" y="2156"/>
                  </a:lnTo>
                  <a:lnTo>
                    <a:pt x="8012" y="8031"/>
                  </a:lnTo>
                  <a:lnTo>
                    <a:pt x="2152" y="16732"/>
                  </a:lnTo>
                  <a:lnTo>
                    <a:pt x="0" y="27368"/>
                  </a:lnTo>
                  <a:lnTo>
                    <a:pt x="2152" y="37953"/>
                  </a:lnTo>
                  <a:lnTo>
                    <a:pt x="8012" y="46628"/>
                  </a:lnTo>
                  <a:lnTo>
                    <a:pt x="16678" y="52493"/>
                  </a:lnTo>
                  <a:lnTo>
                    <a:pt x="27254" y="54648"/>
                  </a:lnTo>
                  <a:lnTo>
                    <a:pt x="37880" y="52493"/>
                  </a:lnTo>
                  <a:lnTo>
                    <a:pt x="46574" y="46628"/>
                  </a:lnTo>
                  <a:lnTo>
                    <a:pt x="52443" y="37953"/>
                  </a:lnTo>
                  <a:lnTo>
                    <a:pt x="54597" y="27368"/>
                  </a:lnTo>
                  <a:lnTo>
                    <a:pt x="52443" y="16732"/>
                  </a:lnTo>
                  <a:lnTo>
                    <a:pt x="46574" y="8031"/>
                  </a:lnTo>
                  <a:lnTo>
                    <a:pt x="37880" y="2156"/>
                  </a:lnTo>
                  <a:lnTo>
                    <a:pt x="27254" y="0"/>
                  </a:lnTo>
                  <a:close/>
                </a:path>
              </a:pathLst>
            </a:custGeom>
            <a:solidFill>
              <a:srgbClr val="88CCEE"/>
            </a:solidFill>
          </p:spPr>
          <p:txBody>
            <a:bodyPr wrap="square" lIns="0" tIns="0" rIns="0" bIns="0" rtlCol="0"/>
            <a:lstStyle/>
            <a:p>
              <a:endParaRPr/>
            </a:p>
          </p:txBody>
        </p:sp>
        <p:grpSp>
          <p:nvGrpSpPr>
            <p:cNvPr id="61" name="object 61"/>
            <p:cNvGrpSpPr/>
            <p:nvPr/>
          </p:nvGrpSpPr>
          <p:grpSpPr>
            <a:xfrm>
              <a:off x="8148808" y="1522816"/>
              <a:ext cx="203835" cy="169545"/>
              <a:chOff x="8148808" y="1522816"/>
              <a:chExt cx="203835" cy="169545"/>
            </a:xfrm>
          </p:grpSpPr>
          <p:sp>
            <p:nvSpPr>
              <p:cNvPr id="62" name="object 62"/>
              <p:cNvSpPr/>
              <p:nvPr/>
            </p:nvSpPr>
            <p:spPr>
              <a:xfrm>
                <a:off x="8148808" y="1636847"/>
                <a:ext cx="54610" cy="55244"/>
              </a:xfrm>
              <a:custGeom>
                <a:avLst/>
                <a:gdLst/>
                <a:ahLst/>
                <a:cxnLst/>
                <a:rect l="l" t="t" r="r" b="b"/>
                <a:pathLst>
                  <a:path w="54609" h="55244">
                    <a:moveTo>
                      <a:pt x="27254" y="0"/>
                    </a:moveTo>
                    <a:lnTo>
                      <a:pt x="16678" y="2155"/>
                    </a:lnTo>
                    <a:lnTo>
                      <a:pt x="8012" y="8020"/>
                    </a:lnTo>
                    <a:lnTo>
                      <a:pt x="2152" y="16694"/>
                    </a:lnTo>
                    <a:lnTo>
                      <a:pt x="0" y="27279"/>
                    </a:lnTo>
                    <a:lnTo>
                      <a:pt x="2152" y="37915"/>
                    </a:lnTo>
                    <a:lnTo>
                      <a:pt x="8012" y="46616"/>
                    </a:lnTo>
                    <a:lnTo>
                      <a:pt x="16678" y="52491"/>
                    </a:lnTo>
                    <a:lnTo>
                      <a:pt x="27254" y="54648"/>
                    </a:lnTo>
                    <a:lnTo>
                      <a:pt x="37880" y="52491"/>
                    </a:lnTo>
                    <a:lnTo>
                      <a:pt x="46574" y="46616"/>
                    </a:lnTo>
                    <a:lnTo>
                      <a:pt x="52443" y="37915"/>
                    </a:lnTo>
                    <a:lnTo>
                      <a:pt x="54597" y="27279"/>
                    </a:lnTo>
                    <a:lnTo>
                      <a:pt x="52443" y="16694"/>
                    </a:lnTo>
                    <a:lnTo>
                      <a:pt x="46574" y="8020"/>
                    </a:lnTo>
                    <a:lnTo>
                      <a:pt x="37880" y="2155"/>
                    </a:lnTo>
                    <a:lnTo>
                      <a:pt x="27254" y="0"/>
                    </a:lnTo>
                    <a:close/>
                  </a:path>
                </a:pathLst>
              </a:custGeom>
              <a:solidFill>
                <a:srgbClr val="88CCEE"/>
              </a:solidFill>
            </p:spPr>
            <p:txBody>
              <a:bodyPr wrap="square" lIns="0" tIns="0" rIns="0" bIns="0" rtlCol="0"/>
              <a:lstStyle/>
              <a:p>
                <a:endParaRPr/>
              </a:p>
            </p:txBody>
          </p:sp>
          <p:sp>
            <p:nvSpPr>
              <p:cNvPr id="63" name="object 63"/>
              <p:cNvSpPr/>
              <p:nvPr/>
            </p:nvSpPr>
            <p:spPr>
              <a:xfrm>
                <a:off x="8151813" y="1522818"/>
                <a:ext cx="200660" cy="169545"/>
              </a:xfrm>
              <a:custGeom>
                <a:avLst/>
                <a:gdLst/>
                <a:ahLst/>
                <a:cxnLst/>
                <a:rect l="l" t="t" r="r" b="b"/>
                <a:pathLst>
                  <a:path w="200659" h="169544">
                    <a:moveTo>
                      <a:pt x="127114" y="115887"/>
                    </a:moveTo>
                    <a:lnTo>
                      <a:pt x="124955" y="105295"/>
                    </a:lnTo>
                    <a:lnTo>
                      <a:pt x="119087" y="96621"/>
                    </a:lnTo>
                    <a:lnTo>
                      <a:pt x="110388" y="90754"/>
                    </a:lnTo>
                    <a:lnTo>
                      <a:pt x="99771" y="88607"/>
                    </a:lnTo>
                    <a:lnTo>
                      <a:pt x="89192" y="90754"/>
                    </a:lnTo>
                    <a:lnTo>
                      <a:pt x="80530" y="96621"/>
                    </a:lnTo>
                    <a:lnTo>
                      <a:pt x="74663" y="105295"/>
                    </a:lnTo>
                    <a:lnTo>
                      <a:pt x="72694" y="114973"/>
                    </a:lnTo>
                    <a:lnTo>
                      <a:pt x="63817" y="116763"/>
                    </a:lnTo>
                    <a:lnTo>
                      <a:pt x="55130" y="122631"/>
                    </a:lnTo>
                    <a:lnTo>
                      <a:pt x="51803" y="127558"/>
                    </a:lnTo>
                    <a:lnTo>
                      <a:pt x="46583" y="119811"/>
                    </a:lnTo>
                    <a:lnTo>
                      <a:pt x="37909" y="113944"/>
                    </a:lnTo>
                    <a:lnTo>
                      <a:pt x="27343" y="111798"/>
                    </a:lnTo>
                    <a:lnTo>
                      <a:pt x="16713" y="113944"/>
                    </a:lnTo>
                    <a:lnTo>
                      <a:pt x="8013" y="119811"/>
                    </a:lnTo>
                    <a:lnTo>
                      <a:pt x="2146" y="128485"/>
                    </a:lnTo>
                    <a:lnTo>
                      <a:pt x="0" y="139077"/>
                    </a:lnTo>
                    <a:lnTo>
                      <a:pt x="2146" y="149707"/>
                    </a:lnTo>
                    <a:lnTo>
                      <a:pt x="8013" y="158407"/>
                    </a:lnTo>
                    <a:lnTo>
                      <a:pt x="16713" y="164287"/>
                    </a:lnTo>
                    <a:lnTo>
                      <a:pt x="27343" y="166446"/>
                    </a:lnTo>
                    <a:lnTo>
                      <a:pt x="37909" y="164287"/>
                    </a:lnTo>
                    <a:lnTo>
                      <a:pt x="46583" y="158407"/>
                    </a:lnTo>
                    <a:lnTo>
                      <a:pt x="49898" y="153479"/>
                    </a:lnTo>
                    <a:lnTo>
                      <a:pt x="55130" y="161226"/>
                    </a:lnTo>
                    <a:lnTo>
                      <a:pt x="63817" y="167106"/>
                    </a:lnTo>
                    <a:lnTo>
                      <a:pt x="74447" y="169265"/>
                    </a:lnTo>
                    <a:lnTo>
                      <a:pt x="85026" y="167106"/>
                    </a:lnTo>
                    <a:lnTo>
                      <a:pt x="93687" y="161226"/>
                    </a:lnTo>
                    <a:lnTo>
                      <a:pt x="99542" y="152527"/>
                    </a:lnTo>
                    <a:lnTo>
                      <a:pt x="101485" y="142913"/>
                    </a:lnTo>
                    <a:lnTo>
                      <a:pt x="110388" y="141097"/>
                    </a:lnTo>
                    <a:lnTo>
                      <a:pt x="119087" y="135216"/>
                    </a:lnTo>
                    <a:lnTo>
                      <a:pt x="124955" y="126517"/>
                    </a:lnTo>
                    <a:lnTo>
                      <a:pt x="127114" y="115887"/>
                    </a:lnTo>
                    <a:close/>
                  </a:path>
                  <a:path w="200659" h="169544">
                    <a:moveTo>
                      <a:pt x="144259" y="27279"/>
                    </a:moveTo>
                    <a:lnTo>
                      <a:pt x="142113" y="16700"/>
                    </a:lnTo>
                    <a:lnTo>
                      <a:pt x="136245" y="8026"/>
                    </a:lnTo>
                    <a:lnTo>
                      <a:pt x="127584" y="2159"/>
                    </a:lnTo>
                    <a:lnTo>
                      <a:pt x="117005" y="0"/>
                    </a:lnTo>
                    <a:lnTo>
                      <a:pt x="106387" y="2159"/>
                    </a:lnTo>
                    <a:lnTo>
                      <a:pt x="97688" y="8026"/>
                    </a:lnTo>
                    <a:lnTo>
                      <a:pt x="91821" y="16700"/>
                    </a:lnTo>
                    <a:lnTo>
                      <a:pt x="89662" y="27279"/>
                    </a:lnTo>
                    <a:lnTo>
                      <a:pt x="91821" y="37922"/>
                    </a:lnTo>
                    <a:lnTo>
                      <a:pt x="97688" y="46621"/>
                    </a:lnTo>
                    <a:lnTo>
                      <a:pt x="106387" y="52501"/>
                    </a:lnTo>
                    <a:lnTo>
                      <a:pt x="117005" y="54648"/>
                    </a:lnTo>
                    <a:lnTo>
                      <a:pt x="127584" y="52501"/>
                    </a:lnTo>
                    <a:lnTo>
                      <a:pt x="136245" y="46621"/>
                    </a:lnTo>
                    <a:lnTo>
                      <a:pt x="142113" y="37922"/>
                    </a:lnTo>
                    <a:lnTo>
                      <a:pt x="144259" y="27279"/>
                    </a:lnTo>
                    <a:close/>
                  </a:path>
                  <a:path w="200659" h="169544">
                    <a:moveTo>
                      <a:pt x="200329" y="121513"/>
                    </a:moveTo>
                    <a:lnTo>
                      <a:pt x="198183" y="110934"/>
                    </a:lnTo>
                    <a:lnTo>
                      <a:pt x="192316" y="102260"/>
                    </a:lnTo>
                    <a:lnTo>
                      <a:pt x="183654" y="96393"/>
                    </a:lnTo>
                    <a:lnTo>
                      <a:pt x="173075" y="94234"/>
                    </a:lnTo>
                    <a:lnTo>
                      <a:pt x="162445" y="96393"/>
                    </a:lnTo>
                    <a:lnTo>
                      <a:pt x="153758" y="102260"/>
                    </a:lnTo>
                    <a:lnTo>
                      <a:pt x="147891" y="110934"/>
                    </a:lnTo>
                    <a:lnTo>
                      <a:pt x="145732" y="121513"/>
                    </a:lnTo>
                    <a:lnTo>
                      <a:pt x="147891" y="132156"/>
                    </a:lnTo>
                    <a:lnTo>
                      <a:pt x="153758" y="140855"/>
                    </a:lnTo>
                    <a:lnTo>
                      <a:pt x="162445" y="146735"/>
                    </a:lnTo>
                    <a:lnTo>
                      <a:pt x="173075" y="148882"/>
                    </a:lnTo>
                    <a:lnTo>
                      <a:pt x="183654" y="146735"/>
                    </a:lnTo>
                    <a:lnTo>
                      <a:pt x="192316" y="140855"/>
                    </a:lnTo>
                    <a:lnTo>
                      <a:pt x="198183" y="132156"/>
                    </a:lnTo>
                    <a:lnTo>
                      <a:pt x="200329" y="121513"/>
                    </a:lnTo>
                    <a:close/>
                  </a:path>
                </a:pathLst>
              </a:custGeom>
              <a:solidFill>
                <a:srgbClr val="CC6677"/>
              </a:solidFill>
            </p:spPr>
            <p:txBody>
              <a:bodyPr wrap="square" lIns="0" tIns="0" rIns="0" bIns="0" rtlCol="0"/>
              <a:lstStyle/>
              <a:p>
                <a:endParaRPr/>
              </a:p>
            </p:txBody>
          </p:sp>
        </p:grpSp>
        <p:sp>
          <p:nvSpPr>
            <p:cNvPr id="64" name="object 64"/>
            <p:cNvSpPr/>
            <p:nvPr/>
          </p:nvSpPr>
          <p:spPr>
            <a:xfrm>
              <a:off x="7959930" y="1800143"/>
              <a:ext cx="54610" cy="55244"/>
            </a:xfrm>
            <a:custGeom>
              <a:avLst/>
              <a:gdLst/>
              <a:ahLst/>
              <a:cxnLst/>
              <a:rect l="l" t="t" r="r" b="b"/>
              <a:pathLst>
                <a:path w="54609" h="55244">
                  <a:moveTo>
                    <a:pt x="27254" y="0"/>
                  </a:moveTo>
                  <a:lnTo>
                    <a:pt x="16678" y="2155"/>
                  </a:lnTo>
                  <a:lnTo>
                    <a:pt x="8012" y="8020"/>
                  </a:lnTo>
                  <a:lnTo>
                    <a:pt x="2152" y="16694"/>
                  </a:lnTo>
                  <a:lnTo>
                    <a:pt x="0" y="27279"/>
                  </a:lnTo>
                  <a:lnTo>
                    <a:pt x="2152" y="37915"/>
                  </a:lnTo>
                  <a:lnTo>
                    <a:pt x="8012" y="46616"/>
                  </a:lnTo>
                  <a:lnTo>
                    <a:pt x="16678" y="52491"/>
                  </a:lnTo>
                  <a:lnTo>
                    <a:pt x="27254" y="54648"/>
                  </a:lnTo>
                  <a:lnTo>
                    <a:pt x="37880" y="52491"/>
                  </a:lnTo>
                  <a:lnTo>
                    <a:pt x="46574" y="46616"/>
                  </a:lnTo>
                  <a:lnTo>
                    <a:pt x="52443" y="37915"/>
                  </a:lnTo>
                  <a:lnTo>
                    <a:pt x="54597" y="27279"/>
                  </a:lnTo>
                  <a:lnTo>
                    <a:pt x="52443" y="16694"/>
                  </a:lnTo>
                  <a:lnTo>
                    <a:pt x="46574" y="8020"/>
                  </a:lnTo>
                  <a:lnTo>
                    <a:pt x="37880" y="2155"/>
                  </a:lnTo>
                  <a:lnTo>
                    <a:pt x="27254" y="0"/>
                  </a:lnTo>
                  <a:close/>
                </a:path>
              </a:pathLst>
            </a:custGeom>
            <a:solidFill>
              <a:srgbClr val="88CCEE"/>
            </a:solidFill>
          </p:spPr>
          <p:txBody>
            <a:bodyPr wrap="square" lIns="0" tIns="0" rIns="0" bIns="0" rtlCol="0"/>
            <a:lstStyle/>
            <a:p>
              <a:endParaRPr/>
            </a:p>
          </p:txBody>
        </p:sp>
        <p:grpSp>
          <p:nvGrpSpPr>
            <p:cNvPr id="65" name="object 65"/>
            <p:cNvGrpSpPr/>
            <p:nvPr/>
          </p:nvGrpSpPr>
          <p:grpSpPr>
            <a:xfrm>
              <a:off x="7879670" y="1232792"/>
              <a:ext cx="55880" cy="60325"/>
              <a:chOff x="7879670" y="1232792"/>
              <a:chExt cx="55880" cy="60325"/>
            </a:xfrm>
          </p:grpSpPr>
          <p:sp>
            <p:nvSpPr>
              <p:cNvPr id="66" name="object 66"/>
              <p:cNvSpPr/>
              <p:nvPr/>
            </p:nvSpPr>
            <p:spPr>
              <a:xfrm>
                <a:off x="7880885" y="1232792"/>
                <a:ext cx="54610" cy="55244"/>
              </a:xfrm>
              <a:custGeom>
                <a:avLst/>
                <a:gdLst/>
                <a:ahLst/>
                <a:cxnLst/>
                <a:rect l="l" t="t" r="r" b="b"/>
                <a:pathLst>
                  <a:path w="54609" h="55244">
                    <a:moveTo>
                      <a:pt x="27343" y="0"/>
                    </a:moveTo>
                    <a:lnTo>
                      <a:pt x="16716" y="2156"/>
                    </a:lnTo>
                    <a:lnTo>
                      <a:pt x="8023" y="8031"/>
                    </a:lnTo>
                    <a:lnTo>
                      <a:pt x="2154" y="16732"/>
                    </a:lnTo>
                    <a:lnTo>
                      <a:pt x="0" y="27368"/>
                    </a:lnTo>
                    <a:lnTo>
                      <a:pt x="2154" y="37953"/>
                    </a:lnTo>
                    <a:lnTo>
                      <a:pt x="8023" y="46628"/>
                    </a:lnTo>
                    <a:lnTo>
                      <a:pt x="16716" y="52493"/>
                    </a:lnTo>
                    <a:lnTo>
                      <a:pt x="27343" y="54648"/>
                    </a:lnTo>
                    <a:lnTo>
                      <a:pt x="37918" y="52493"/>
                    </a:lnTo>
                    <a:lnTo>
                      <a:pt x="46585" y="46628"/>
                    </a:lnTo>
                    <a:lnTo>
                      <a:pt x="52444" y="37953"/>
                    </a:lnTo>
                    <a:lnTo>
                      <a:pt x="54597" y="27368"/>
                    </a:lnTo>
                    <a:lnTo>
                      <a:pt x="52444" y="16732"/>
                    </a:lnTo>
                    <a:lnTo>
                      <a:pt x="46585" y="8031"/>
                    </a:lnTo>
                    <a:lnTo>
                      <a:pt x="37918" y="2156"/>
                    </a:lnTo>
                    <a:lnTo>
                      <a:pt x="27343" y="0"/>
                    </a:lnTo>
                    <a:close/>
                  </a:path>
                </a:pathLst>
              </a:custGeom>
              <a:solidFill>
                <a:srgbClr val="88CCEE"/>
              </a:solidFill>
            </p:spPr>
            <p:txBody>
              <a:bodyPr wrap="square" lIns="0" tIns="0" rIns="0" bIns="0" rtlCol="0"/>
              <a:lstStyle/>
              <a:p>
                <a:endParaRPr/>
              </a:p>
            </p:txBody>
          </p:sp>
          <p:sp>
            <p:nvSpPr>
              <p:cNvPr id="67" name="object 67"/>
              <p:cNvSpPr/>
              <p:nvPr/>
            </p:nvSpPr>
            <p:spPr>
              <a:xfrm>
                <a:off x="7879670" y="1238441"/>
                <a:ext cx="54610" cy="55244"/>
              </a:xfrm>
              <a:custGeom>
                <a:avLst/>
                <a:gdLst/>
                <a:ahLst/>
                <a:cxnLst/>
                <a:rect l="l" t="t" r="r" b="b"/>
                <a:pathLst>
                  <a:path w="54609" h="55244">
                    <a:moveTo>
                      <a:pt x="27343" y="0"/>
                    </a:moveTo>
                    <a:lnTo>
                      <a:pt x="16716" y="2155"/>
                    </a:lnTo>
                    <a:lnTo>
                      <a:pt x="8023" y="8020"/>
                    </a:lnTo>
                    <a:lnTo>
                      <a:pt x="2154" y="16694"/>
                    </a:lnTo>
                    <a:lnTo>
                      <a:pt x="0" y="27279"/>
                    </a:lnTo>
                    <a:lnTo>
                      <a:pt x="2154" y="37915"/>
                    </a:lnTo>
                    <a:lnTo>
                      <a:pt x="8023" y="46616"/>
                    </a:lnTo>
                    <a:lnTo>
                      <a:pt x="16716" y="52491"/>
                    </a:lnTo>
                    <a:lnTo>
                      <a:pt x="27343" y="54648"/>
                    </a:lnTo>
                    <a:lnTo>
                      <a:pt x="37918" y="52491"/>
                    </a:lnTo>
                    <a:lnTo>
                      <a:pt x="46585" y="46616"/>
                    </a:lnTo>
                    <a:lnTo>
                      <a:pt x="52444" y="37915"/>
                    </a:lnTo>
                    <a:lnTo>
                      <a:pt x="54597" y="27279"/>
                    </a:lnTo>
                    <a:lnTo>
                      <a:pt x="52444" y="16694"/>
                    </a:lnTo>
                    <a:lnTo>
                      <a:pt x="46585" y="8020"/>
                    </a:lnTo>
                    <a:lnTo>
                      <a:pt x="37918" y="2155"/>
                    </a:lnTo>
                    <a:lnTo>
                      <a:pt x="27343" y="0"/>
                    </a:lnTo>
                    <a:close/>
                  </a:path>
                </a:pathLst>
              </a:custGeom>
              <a:solidFill>
                <a:srgbClr val="CC6677"/>
              </a:solidFill>
            </p:spPr>
            <p:txBody>
              <a:bodyPr wrap="square" lIns="0" tIns="0" rIns="0" bIns="0" rtlCol="0"/>
              <a:lstStyle/>
              <a:p>
                <a:endParaRPr/>
              </a:p>
            </p:txBody>
          </p:sp>
        </p:grpSp>
        <p:sp>
          <p:nvSpPr>
            <p:cNvPr id="68" name="object 68"/>
            <p:cNvSpPr/>
            <p:nvPr/>
          </p:nvSpPr>
          <p:spPr>
            <a:xfrm>
              <a:off x="6403950" y="2007708"/>
              <a:ext cx="73660" cy="64135"/>
            </a:xfrm>
            <a:custGeom>
              <a:avLst/>
              <a:gdLst/>
              <a:ahLst/>
              <a:cxnLst/>
              <a:rect l="l" t="t" r="r" b="b"/>
              <a:pathLst>
                <a:path w="73660" h="64135">
                  <a:moveTo>
                    <a:pt x="36791" y="0"/>
                  </a:moveTo>
                  <a:lnTo>
                    <a:pt x="0" y="63728"/>
                  </a:lnTo>
                  <a:lnTo>
                    <a:pt x="73583" y="63728"/>
                  </a:lnTo>
                  <a:lnTo>
                    <a:pt x="36791" y="0"/>
                  </a:lnTo>
                  <a:close/>
                </a:path>
              </a:pathLst>
            </a:custGeom>
            <a:solidFill>
              <a:srgbClr val="CC6677"/>
            </a:solidFill>
          </p:spPr>
          <p:txBody>
            <a:bodyPr wrap="square" lIns="0" tIns="0" rIns="0" bIns="0" rtlCol="0"/>
            <a:lstStyle/>
            <a:p>
              <a:endParaRPr/>
            </a:p>
          </p:txBody>
        </p:sp>
        <p:sp>
          <p:nvSpPr>
            <p:cNvPr id="69" name="object 69"/>
            <p:cNvSpPr/>
            <p:nvPr/>
          </p:nvSpPr>
          <p:spPr>
            <a:xfrm>
              <a:off x="7422554" y="652194"/>
              <a:ext cx="54610" cy="55244"/>
            </a:xfrm>
            <a:custGeom>
              <a:avLst/>
              <a:gdLst/>
              <a:ahLst/>
              <a:cxnLst/>
              <a:rect l="l" t="t" r="r" b="b"/>
              <a:pathLst>
                <a:path w="54609" h="55245">
                  <a:moveTo>
                    <a:pt x="27254" y="0"/>
                  </a:moveTo>
                  <a:lnTo>
                    <a:pt x="16678" y="2156"/>
                  </a:lnTo>
                  <a:lnTo>
                    <a:pt x="8012" y="8031"/>
                  </a:lnTo>
                  <a:lnTo>
                    <a:pt x="2152" y="16732"/>
                  </a:lnTo>
                  <a:lnTo>
                    <a:pt x="0" y="27368"/>
                  </a:lnTo>
                  <a:lnTo>
                    <a:pt x="2152" y="37953"/>
                  </a:lnTo>
                  <a:lnTo>
                    <a:pt x="8012" y="46628"/>
                  </a:lnTo>
                  <a:lnTo>
                    <a:pt x="16678" y="52493"/>
                  </a:lnTo>
                  <a:lnTo>
                    <a:pt x="27254" y="54648"/>
                  </a:lnTo>
                  <a:lnTo>
                    <a:pt x="37880" y="52493"/>
                  </a:lnTo>
                  <a:lnTo>
                    <a:pt x="46574" y="46628"/>
                  </a:lnTo>
                  <a:lnTo>
                    <a:pt x="52443" y="37953"/>
                  </a:lnTo>
                  <a:lnTo>
                    <a:pt x="54597" y="27368"/>
                  </a:lnTo>
                  <a:lnTo>
                    <a:pt x="52443" y="16732"/>
                  </a:lnTo>
                  <a:lnTo>
                    <a:pt x="46574" y="8031"/>
                  </a:lnTo>
                  <a:lnTo>
                    <a:pt x="37880" y="2156"/>
                  </a:lnTo>
                  <a:lnTo>
                    <a:pt x="27254" y="0"/>
                  </a:lnTo>
                  <a:close/>
                </a:path>
              </a:pathLst>
            </a:custGeom>
            <a:solidFill>
              <a:srgbClr val="CC6677"/>
            </a:solidFill>
          </p:spPr>
          <p:txBody>
            <a:bodyPr wrap="square" lIns="0" tIns="0" rIns="0" bIns="0" rtlCol="0"/>
            <a:lstStyle/>
            <a:p>
              <a:endParaRPr/>
            </a:p>
          </p:txBody>
        </p:sp>
        <p:sp>
          <p:nvSpPr>
            <p:cNvPr id="70" name="object 70"/>
            <p:cNvSpPr/>
            <p:nvPr/>
          </p:nvSpPr>
          <p:spPr>
            <a:xfrm>
              <a:off x="6964414" y="689874"/>
              <a:ext cx="54610" cy="55244"/>
            </a:xfrm>
            <a:custGeom>
              <a:avLst/>
              <a:gdLst/>
              <a:ahLst/>
              <a:cxnLst/>
              <a:rect l="l" t="t" r="r" b="b"/>
              <a:pathLst>
                <a:path w="54609" h="55245">
                  <a:moveTo>
                    <a:pt x="27254" y="0"/>
                  </a:moveTo>
                  <a:lnTo>
                    <a:pt x="16678" y="2155"/>
                  </a:lnTo>
                  <a:lnTo>
                    <a:pt x="8012" y="8020"/>
                  </a:lnTo>
                  <a:lnTo>
                    <a:pt x="2152" y="16694"/>
                  </a:lnTo>
                  <a:lnTo>
                    <a:pt x="0" y="27279"/>
                  </a:lnTo>
                  <a:lnTo>
                    <a:pt x="2152" y="37910"/>
                  </a:lnTo>
                  <a:lnTo>
                    <a:pt x="8012" y="46612"/>
                  </a:lnTo>
                  <a:lnTo>
                    <a:pt x="16678" y="52489"/>
                  </a:lnTo>
                  <a:lnTo>
                    <a:pt x="27254" y="54648"/>
                  </a:lnTo>
                  <a:lnTo>
                    <a:pt x="37880" y="52489"/>
                  </a:lnTo>
                  <a:lnTo>
                    <a:pt x="46574" y="46612"/>
                  </a:lnTo>
                  <a:lnTo>
                    <a:pt x="52443" y="37910"/>
                  </a:lnTo>
                  <a:lnTo>
                    <a:pt x="54597" y="27279"/>
                  </a:lnTo>
                  <a:lnTo>
                    <a:pt x="52443" y="16694"/>
                  </a:lnTo>
                  <a:lnTo>
                    <a:pt x="46574" y="8020"/>
                  </a:lnTo>
                  <a:lnTo>
                    <a:pt x="37880" y="2155"/>
                  </a:lnTo>
                  <a:lnTo>
                    <a:pt x="27254" y="0"/>
                  </a:lnTo>
                  <a:close/>
                </a:path>
              </a:pathLst>
            </a:custGeom>
            <a:solidFill>
              <a:srgbClr val="CC6677"/>
            </a:solidFill>
          </p:spPr>
          <p:txBody>
            <a:bodyPr wrap="square" lIns="0" tIns="0" rIns="0" bIns="0" rtlCol="0"/>
            <a:lstStyle/>
            <a:p>
              <a:endParaRPr/>
            </a:p>
          </p:txBody>
        </p:sp>
        <p:grpSp>
          <p:nvGrpSpPr>
            <p:cNvPr id="71" name="object 71"/>
            <p:cNvGrpSpPr/>
            <p:nvPr/>
          </p:nvGrpSpPr>
          <p:grpSpPr>
            <a:xfrm>
              <a:off x="5724672" y="406791"/>
              <a:ext cx="3376295" cy="2992120"/>
              <a:chOff x="5724672" y="406791"/>
              <a:chExt cx="3376295" cy="2992120"/>
            </a:xfrm>
          </p:grpSpPr>
          <p:sp>
            <p:nvSpPr>
              <p:cNvPr id="72" name="object 72"/>
              <p:cNvSpPr/>
              <p:nvPr/>
            </p:nvSpPr>
            <p:spPr>
              <a:xfrm>
                <a:off x="5755900" y="415681"/>
                <a:ext cx="0" cy="2952115"/>
              </a:xfrm>
              <a:custGeom>
                <a:avLst/>
                <a:gdLst/>
                <a:ahLst/>
                <a:cxnLst/>
                <a:rect l="l" t="t" r="r" b="b"/>
                <a:pathLst>
                  <a:path h="2952115">
                    <a:moveTo>
                      <a:pt x="0" y="2951685"/>
                    </a:moveTo>
                    <a:lnTo>
                      <a:pt x="0" y="0"/>
                    </a:lnTo>
                  </a:path>
                </a:pathLst>
              </a:custGeom>
              <a:ln w="17707">
                <a:solidFill>
                  <a:srgbClr val="000000"/>
                </a:solidFill>
              </a:ln>
            </p:spPr>
            <p:txBody>
              <a:bodyPr wrap="square" lIns="0" tIns="0" rIns="0" bIns="0" rtlCol="0"/>
              <a:lstStyle/>
              <a:p>
                <a:endParaRPr/>
              </a:p>
            </p:txBody>
          </p:sp>
          <p:sp>
            <p:nvSpPr>
              <p:cNvPr id="73" name="object 73"/>
              <p:cNvSpPr/>
              <p:nvPr/>
            </p:nvSpPr>
            <p:spPr>
              <a:xfrm>
                <a:off x="5733562" y="2830459"/>
                <a:ext cx="22860" cy="0"/>
              </a:xfrm>
              <a:custGeom>
                <a:avLst/>
                <a:gdLst/>
                <a:ahLst/>
                <a:cxnLst/>
                <a:rect l="l" t="t" r="r" b="b"/>
                <a:pathLst>
                  <a:path w="22860">
                    <a:moveTo>
                      <a:pt x="0" y="0"/>
                    </a:moveTo>
                    <a:lnTo>
                      <a:pt x="22333" y="0"/>
                    </a:lnTo>
                  </a:path>
                </a:pathLst>
              </a:custGeom>
              <a:ln w="17723">
                <a:solidFill>
                  <a:srgbClr val="333333"/>
                </a:solidFill>
              </a:ln>
            </p:spPr>
            <p:txBody>
              <a:bodyPr wrap="square" lIns="0" tIns="0" rIns="0" bIns="0" rtlCol="0"/>
              <a:lstStyle/>
              <a:p>
                <a:endParaRPr/>
              </a:p>
            </p:txBody>
          </p:sp>
          <p:sp>
            <p:nvSpPr>
              <p:cNvPr id="74" name="object 74"/>
              <p:cNvSpPr/>
              <p:nvPr/>
            </p:nvSpPr>
            <p:spPr>
              <a:xfrm>
                <a:off x="5733562" y="2241594"/>
                <a:ext cx="22860" cy="0"/>
              </a:xfrm>
              <a:custGeom>
                <a:avLst/>
                <a:gdLst/>
                <a:ahLst/>
                <a:cxnLst/>
                <a:rect l="l" t="t" r="r" b="b"/>
                <a:pathLst>
                  <a:path w="22860">
                    <a:moveTo>
                      <a:pt x="0" y="0"/>
                    </a:moveTo>
                    <a:lnTo>
                      <a:pt x="22333" y="0"/>
                    </a:lnTo>
                  </a:path>
                </a:pathLst>
              </a:custGeom>
              <a:ln w="17723">
                <a:solidFill>
                  <a:srgbClr val="333333"/>
                </a:solidFill>
              </a:ln>
            </p:spPr>
            <p:txBody>
              <a:bodyPr wrap="square" lIns="0" tIns="0" rIns="0" bIns="0" rtlCol="0"/>
              <a:lstStyle/>
              <a:p>
                <a:endParaRPr/>
              </a:p>
            </p:txBody>
          </p:sp>
          <p:sp>
            <p:nvSpPr>
              <p:cNvPr id="75" name="object 75"/>
              <p:cNvSpPr/>
              <p:nvPr/>
            </p:nvSpPr>
            <p:spPr>
              <a:xfrm>
                <a:off x="5733562" y="1652666"/>
                <a:ext cx="22860" cy="0"/>
              </a:xfrm>
              <a:custGeom>
                <a:avLst/>
                <a:gdLst/>
                <a:ahLst/>
                <a:cxnLst/>
                <a:rect l="l" t="t" r="r" b="b"/>
                <a:pathLst>
                  <a:path w="22860">
                    <a:moveTo>
                      <a:pt x="0" y="0"/>
                    </a:moveTo>
                    <a:lnTo>
                      <a:pt x="22333" y="0"/>
                    </a:lnTo>
                  </a:path>
                </a:pathLst>
              </a:custGeom>
              <a:ln w="17723">
                <a:solidFill>
                  <a:srgbClr val="333333"/>
                </a:solidFill>
              </a:ln>
            </p:spPr>
            <p:txBody>
              <a:bodyPr wrap="square" lIns="0" tIns="0" rIns="0" bIns="0" rtlCol="0"/>
              <a:lstStyle/>
              <a:p>
                <a:endParaRPr/>
              </a:p>
            </p:txBody>
          </p:sp>
          <p:sp>
            <p:nvSpPr>
              <p:cNvPr id="76" name="object 76"/>
              <p:cNvSpPr/>
              <p:nvPr/>
            </p:nvSpPr>
            <p:spPr>
              <a:xfrm>
                <a:off x="5733562" y="1063802"/>
                <a:ext cx="22860" cy="0"/>
              </a:xfrm>
              <a:custGeom>
                <a:avLst/>
                <a:gdLst/>
                <a:ahLst/>
                <a:cxnLst/>
                <a:rect l="l" t="t" r="r" b="b"/>
                <a:pathLst>
                  <a:path w="22860">
                    <a:moveTo>
                      <a:pt x="0" y="0"/>
                    </a:moveTo>
                    <a:lnTo>
                      <a:pt x="22333" y="0"/>
                    </a:lnTo>
                  </a:path>
                </a:pathLst>
              </a:custGeom>
              <a:ln w="17723">
                <a:solidFill>
                  <a:srgbClr val="333333"/>
                </a:solidFill>
              </a:ln>
            </p:spPr>
            <p:txBody>
              <a:bodyPr wrap="square" lIns="0" tIns="0" rIns="0" bIns="0" rtlCol="0"/>
              <a:lstStyle/>
              <a:p>
                <a:endParaRPr/>
              </a:p>
            </p:txBody>
          </p:sp>
          <p:sp>
            <p:nvSpPr>
              <p:cNvPr id="77" name="object 77"/>
              <p:cNvSpPr/>
              <p:nvPr/>
            </p:nvSpPr>
            <p:spPr>
              <a:xfrm>
                <a:off x="5733562" y="474874"/>
                <a:ext cx="22860" cy="0"/>
              </a:xfrm>
              <a:custGeom>
                <a:avLst/>
                <a:gdLst/>
                <a:ahLst/>
                <a:cxnLst/>
                <a:rect l="l" t="t" r="r" b="b"/>
                <a:pathLst>
                  <a:path w="22860">
                    <a:moveTo>
                      <a:pt x="0" y="0"/>
                    </a:moveTo>
                    <a:lnTo>
                      <a:pt x="22333" y="0"/>
                    </a:lnTo>
                  </a:path>
                </a:pathLst>
              </a:custGeom>
              <a:ln w="17723">
                <a:solidFill>
                  <a:srgbClr val="333333"/>
                </a:solidFill>
              </a:ln>
            </p:spPr>
            <p:txBody>
              <a:bodyPr wrap="square" lIns="0" tIns="0" rIns="0" bIns="0" rtlCol="0"/>
              <a:lstStyle/>
              <a:p>
                <a:endParaRPr/>
              </a:p>
            </p:txBody>
          </p:sp>
          <p:sp>
            <p:nvSpPr>
              <p:cNvPr id="78" name="object 78"/>
              <p:cNvSpPr/>
              <p:nvPr/>
            </p:nvSpPr>
            <p:spPr>
              <a:xfrm>
                <a:off x="5760087" y="3367366"/>
                <a:ext cx="3331845" cy="0"/>
              </a:xfrm>
              <a:custGeom>
                <a:avLst/>
                <a:gdLst/>
                <a:ahLst/>
                <a:cxnLst/>
                <a:rect l="l" t="t" r="r" b="b"/>
                <a:pathLst>
                  <a:path w="3331845">
                    <a:moveTo>
                      <a:pt x="0" y="0"/>
                    </a:moveTo>
                    <a:lnTo>
                      <a:pt x="3331405" y="0"/>
                    </a:lnTo>
                  </a:path>
                </a:pathLst>
              </a:custGeom>
              <a:ln w="17723">
                <a:solidFill>
                  <a:srgbClr val="000000"/>
                </a:solidFill>
              </a:ln>
            </p:spPr>
            <p:txBody>
              <a:bodyPr wrap="square" lIns="0" tIns="0" rIns="0" bIns="0" rtlCol="0"/>
              <a:lstStyle/>
              <a:p>
                <a:endParaRPr/>
              </a:p>
            </p:txBody>
          </p:sp>
          <p:sp>
            <p:nvSpPr>
              <p:cNvPr id="79" name="object 79"/>
              <p:cNvSpPr/>
              <p:nvPr/>
            </p:nvSpPr>
            <p:spPr>
              <a:xfrm>
                <a:off x="6364193" y="3367367"/>
                <a:ext cx="0" cy="22860"/>
              </a:xfrm>
              <a:custGeom>
                <a:avLst/>
                <a:gdLst/>
                <a:ahLst/>
                <a:cxnLst/>
                <a:rect l="l" t="t" r="r" b="b"/>
                <a:pathLst>
                  <a:path h="22860">
                    <a:moveTo>
                      <a:pt x="0" y="22294"/>
                    </a:moveTo>
                    <a:lnTo>
                      <a:pt x="0" y="0"/>
                    </a:lnTo>
                  </a:path>
                </a:pathLst>
              </a:custGeom>
              <a:ln w="17707">
                <a:solidFill>
                  <a:srgbClr val="333333"/>
                </a:solidFill>
              </a:ln>
            </p:spPr>
            <p:txBody>
              <a:bodyPr wrap="square" lIns="0" tIns="0" rIns="0" bIns="0" rtlCol="0"/>
              <a:lstStyle/>
              <a:p>
                <a:endParaRPr/>
              </a:p>
            </p:txBody>
          </p:sp>
          <p:sp>
            <p:nvSpPr>
              <p:cNvPr id="80" name="object 80"/>
              <p:cNvSpPr/>
              <p:nvPr/>
            </p:nvSpPr>
            <p:spPr>
              <a:xfrm>
                <a:off x="7195219" y="3367367"/>
                <a:ext cx="0" cy="22860"/>
              </a:xfrm>
              <a:custGeom>
                <a:avLst/>
                <a:gdLst/>
                <a:ahLst/>
                <a:cxnLst/>
                <a:rect l="l" t="t" r="r" b="b"/>
                <a:pathLst>
                  <a:path h="22860">
                    <a:moveTo>
                      <a:pt x="0" y="22294"/>
                    </a:moveTo>
                    <a:lnTo>
                      <a:pt x="0" y="0"/>
                    </a:lnTo>
                  </a:path>
                </a:pathLst>
              </a:custGeom>
              <a:ln w="17707">
                <a:solidFill>
                  <a:srgbClr val="333333"/>
                </a:solidFill>
              </a:ln>
            </p:spPr>
            <p:txBody>
              <a:bodyPr wrap="square" lIns="0" tIns="0" rIns="0" bIns="0" rtlCol="0"/>
              <a:lstStyle/>
              <a:p>
                <a:endParaRPr/>
              </a:p>
            </p:txBody>
          </p:sp>
          <p:sp>
            <p:nvSpPr>
              <p:cNvPr id="81" name="object 81"/>
              <p:cNvSpPr/>
              <p:nvPr/>
            </p:nvSpPr>
            <p:spPr>
              <a:xfrm>
                <a:off x="8026309" y="3367367"/>
                <a:ext cx="0" cy="22860"/>
              </a:xfrm>
              <a:custGeom>
                <a:avLst/>
                <a:gdLst/>
                <a:ahLst/>
                <a:cxnLst/>
                <a:rect l="l" t="t" r="r" b="b"/>
                <a:pathLst>
                  <a:path h="22860">
                    <a:moveTo>
                      <a:pt x="0" y="22294"/>
                    </a:moveTo>
                    <a:lnTo>
                      <a:pt x="0" y="0"/>
                    </a:lnTo>
                  </a:path>
                </a:pathLst>
              </a:custGeom>
              <a:ln w="17707">
                <a:solidFill>
                  <a:srgbClr val="333333"/>
                </a:solidFill>
              </a:ln>
            </p:spPr>
            <p:txBody>
              <a:bodyPr wrap="square" lIns="0" tIns="0" rIns="0" bIns="0" rtlCol="0"/>
              <a:lstStyle/>
              <a:p>
                <a:endParaRPr/>
              </a:p>
            </p:txBody>
          </p:sp>
          <p:sp>
            <p:nvSpPr>
              <p:cNvPr id="82" name="object 82"/>
              <p:cNvSpPr/>
              <p:nvPr/>
            </p:nvSpPr>
            <p:spPr>
              <a:xfrm>
                <a:off x="8857399" y="3367367"/>
                <a:ext cx="0" cy="22860"/>
              </a:xfrm>
              <a:custGeom>
                <a:avLst/>
                <a:gdLst/>
                <a:ahLst/>
                <a:cxnLst/>
                <a:rect l="l" t="t" r="r" b="b"/>
                <a:pathLst>
                  <a:path h="22860">
                    <a:moveTo>
                      <a:pt x="0" y="22294"/>
                    </a:moveTo>
                    <a:lnTo>
                      <a:pt x="0" y="0"/>
                    </a:lnTo>
                  </a:path>
                </a:pathLst>
              </a:custGeom>
              <a:ln w="17707">
                <a:solidFill>
                  <a:srgbClr val="333333"/>
                </a:solidFill>
              </a:ln>
            </p:spPr>
            <p:txBody>
              <a:bodyPr wrap="square" lIns="0" tIns="0" rIns="0" bIns="0" rtlCol="0"/>
              <a:lstStyle/>
              <a:p>
                <a:endParaRPr/>
              </a:p>
            </p:txBody>
          </p:sp>
        </p:grpSp>
        <p:sp>
          <p:nvSpPr>
            <p:cNvPr id="83" name="object 83"/>
            <p:cNvSpPr txBox="1"/>
            <p:nvPr/>
          </p:nvSpPr>
          <p:spPr>
            <a:xfrm>
              <a:off x="5454275" y="2716433"/>
              <a:ext cx="266700" cy="196215"/>
            </a:xfrm>
            <a:prstGeom prst="rect">
              <a:avLst/>
            </a:prstGeom>
          </p:spPr>
          <p:txBody>
            <a:bodyPr vert="horz" wrap="square" lIns="0" tIns="15240" rIns="0" bIns="0" rtlCol="0">
              <a:spAutoFit/>
            </a:bodyPr>
            <a:lstStyle/>
            <a:p>
              <a:pPr marL="12700">
                <a:lnSpc>
                  <a:spcPct val="100000"/>
                </a:lnSpc>
                <a:spcBef>
                  <a:spcPts val="120"/>
                </a:spcBef>
              </a:pPr>
              <a:r>
                <a:rPr sz="1100" spc="-25" dirty="0">
                  <a:solidFill>
                    <a:srgbClr val="4D4D4D"/>
                  </a:solidFill>
                  <a:latin typeface="Arial"/>
                  <a:cs typeface="Arial"/>
                </a:rPr>
                <a:t>−40</a:t>
              </a:r>
              <a:endParaRPr sz="1100">
                <a:latin typeface="Arial"/>
                <a:cs typeface="Arial"/>
              </a:endParaRPr>
            </a:p>
          </p:txBody>
        </p:sp>
        <p:sp>
          <p:nvSpPr>
            <p:cNvPr id="84" name="object 84"/>
            <p:cNvSpPr txBox="1"/>
            <p:nvPr/>
          </p:nvSpPr>
          <p:spPr>
            <a:xfrm>
              <a:off x="5454275" y="2127665"/>
              <a:ext cx="266700" cy="196215"/>
            </a:xfrm>
            <a:prstGeom prst="rect">
              <a:avLst/>
            </a:prstGeom>
          </p:spPr>
          <p:txBody>
            <a:bodyPr vert="horz" wrap="square" lIns="0" tIns="15240" rIns="0" bIns="0" rtlCol="0">
              <a:spAutoFit/>
            </a:bodyPr>
            <a:lstStyle/>
            <a:p>
              <a:pPr marL="12700">
                <a:lnSpc>
                  <a:spcPct val="100000"/>
                </a:lnSpc>
                <a:spcBef>
                  <a:spcPts val="120"/>
                </a:spcBef>
              </a:pPr>
              <a:r>
                <a:rPr sz="1100" spc="-25" dirty="0">
                  <a:solidFill>
                    <a:srgbClr val="4D4D4D"/>
                  </a:solidFill>
                  <a:latin typeface="Arial"/>
                  <a:cs typeface="Arial"/>
                </a:rPr>
                <a:t>−20</a:t>
              </a:r>
              <a:endParaRPr sz="1100" dirty="0">
                <a:latin typeface="Arial"/>
                <a:cs typeface="Arial"/>
              </a:endParaRPr>
            </a:p>
          </p:txBody>
        </p:sp>
        <p:sp>
          <p:nvSpPr>
            <p:cNvPr id="85" name="object 85"/>
            <p:cNvSpPr txBox="1"/>
            <p:nvPr/>
          </p:nvSpPr>
          <p:spPr>
            <a:xfrm>
              <a:off x="5616328" y="1538755"/>
              <a:ext cx="104775" cy="196215"/>
            </a:xfrm>
            <a:prstGeom prst="rect">
              <a:avLst/>
            </a:prstGeom>
          </p:spPr>
          <p:txBody>
            <a:bodyPr vert="horz" wrap="square" lIns="0" tIns="15240" rIns="0" bIns="0" rtlCol="0">
              <a:spAutoFit/>
            </a:bodyPr>
            <a:lstStyle/>
            <a:p>
              <a:pPr marL="12700">
                <a:lnSpc>
                  <a:spcPct val="100000"/>
                </a:lnSpc>
                <a:spcBef>
                  <a:spcPts val="120"/>
                </a:spcBef>
              </a:pPr>
              <a:r>
                <a:rPr sz="1100" spc="-50" dirty="0">
                  <a:solidFill>
                    <a:srgbClr val="4D4D4D"/>
                  </a:solidFill>
                  <a:latin typeface="Arial"/>
                  <a:cs typeface="Arial"/>
                </a:rPr>
                <a:t>0</a:t>
              </a:r>
              <a:endParaRPr sz="1100">
                <a:latin typeface="Arial"/>
                <a:cs typeface="Arial"/>
              </a:endParaRPr>
            </a:p>
          </p:txBody>
        </p:sp>
        <p:sp>
          <p:nvSpPr>
            <p:cNvPr id="86" name="object 86"/>
            <p:cNvSpPr txBox="1"/>
            <p:nvPr/>
          </p:nvSpPr>
          <p:spPr>
            <a:xfrm>
              <a:off x="5537292" y="949845"/>
              <a:ext cx="183515" cy="196215"/>
            </a:xfrm>
            <a:prstGeom prst="rect">
              <a:avLst/>
            </a:prstGeom>
          </p:spPr>
          <p:txBody>
            <a:bodyPr vert="horz" wrap="square" lIns="0" tIns="15240" rIns="0" bIns="0" rtlCol="0">
              <a:spAutoFit/>
            </a:bodyPr>
            <a:lstStyle/>
            <a:p>
              <a:pPr marL="12700">
                <a:lnSpc>
                  <a:spcPct val="100000"/>
                </a:lnSpc>
                <a:spcBef>
                  <a:spcPts val="120"/>
                </a:spcBef>
              </a:pPr>
              <a:r>
                <a:rPr sz="1100" spc="-25" dirty="0">
                  <a:solidFill>
                    <a:srgbClr val="4D4D4D"/>
                  </a:solidFill>
                  <a:latin typeface="Arial"/>
                  <a:cs typeface="Arial"/>
                </a:rPr>
                <a:t>20</a:t>
              </a:r>
              <a:endParaRPr sz="1100">
                <a:latin typeface="Arial"/>
                <a:cs typeface="Arial"/>
              </a:endParaRPr>
            </a:p>
          </p:txBody>
        </p:sp>
        <p:sp>
          <p:nvSpPr>
            <p:cNvPr id="87" name="object 87"/>
            <p:cNvSpPr txBox="1"/>
            <p:nvPr/>
          </p:nvSpPr>
          <p:spPr>
            <a:xfrm>
              <a:off x="5537292" y="360935"/>
              <a:ext cx="183515" cy="196215"/>
            </a:xfrm>
            <a:prstGeom prst="rect">
              <a:avLst/>
            </a:prstGeom>
          </p:spPr>
          <p:txBody>
            <a:bodyPr vert="horz" wrap="square" lIns="0" tIns="15240" rIns="0" bIns="0" rtlCol="0">
              <a:spAutoFit/>
            </a:bodyPr>
            <a:lstStyle/>
            <a:p>
              <a:pPr marL="12700">
                <a:lnSpc>
                  <a:spcPct val="100000"/>
                </a:lnSpc>
                <a:spcBef>
                  <a:spcPts val="120"/>
                </a:spcBef>
              </a:pPr>
              <a:r>
                <a:rPr sz="1100" spc="-25" dirty="0">
                  <a:solidFill>
                    <a:srgbClr val="4D4D4D"/>
                  </a:solidFill>
                  <a:latin typeface="Arial"/>
                  <a:cs typeface="Arial"/>
                </a:rPr>
                <a:t>40</a:t>
              </a:r>
              <a:endParaRPr sz="1100">
                <a:latin typeface="Arial"/>
                <a:cs typeface="Arial"/>
              </a:endParaRPr>
            </a:p>
          </p:txBody>
        </p:sp>
        <p:sp>
          <p:nvSpPr>
            <p:cNvPr id="88" name="object 88"/>
            <p:cNvSpPr txBox="1"/>
            <p:nvPr/>
          </p:nvSpPr>
          <p:spPr>
            <a:xfrm>
              <a:off x="6219311" y="3375699"/>
              <a:ext cx="266700" cy="196215"/>
            </a:xfrm>
            <a:prstGeom prst="rect">
              <a:avLst/>
            </a:prstGeom>
          </p:spPr>
          <p:txBody>
            <a:bodyPr vert="horz" wrap="square" lIns="0" tIns="15240" rIns="0" bIns="0" rtlCol="0">
              <a:spAutoFit/>
            </a:bodyPr>
            <a:lstStyle/>
            <a:p>
              <a:pPr marL="12700">
                <a:lnSpc>
                  <a:spcPct val="100000"/>
                </a:lnSpc>
                <a:spcBef>
                  <a:spcPts val="120"/>
                </a:spcBef>
              </a:pPr>
              <a:r>
                <a:rPr sz="1100" spc="-25" dirty="0">
                  <a:solidFill>
                    <a:srgbClr val="4D4D4D"/>
                  </a:solidFill>
                  <a:latin typeface="Arial"/>
                  <a:cs typeface="Arial"/>
                </a:rPr>
                <a:t>−20</a:t>
              </a:r>
              <a:endParaRPr sz="1100">
                <a:latin typeface="Arial"/>
                <a:cs typeface="Arial"/>
              </a:endParaRPr>
            </a:p>
          </p:txBody>
        </p:sp>
        <p:sp>
          <p:nvSpPr>
            <p:cNvPr id="89" name="object 89"/>
            <p:cNvSpPr txBox="1"/>
            <p:nvPr/>
          </p:nvSpPr>
          <p:spPr>
            <a:xfrm>
              <a:off x="8761541" y="3375699"/>
              <a:ext cx="183515" cy="196215"/>
            </a:xfrm>
            <a:prstGeom prst="rect">
              <a:avLst/>
            </a:prstGeom>
          </p:spPr>
          <p:txBody>
            <a:bodyPr vert="horz" wrap="square" lIns="0" tIns="15240" rIns="0" bIns="0" rtlCol="0">
              <a:spAutoFit/>
            </a:bodyPr>
            <a:lstStyle/>
            <a:p>
              <a:pPr marL="12700">
                <a:lnSpc>
                  <a:spcPct val="100000"/>
                </a:lnSpc>
                <a:spcBef>
                  <a:spcPts val="120"/>
                </a:spcBef>
              </a:pPr>
              <a:r>
                <a:rPr sz="1100" spc="-25" dirty="0">
                  <a:solidFill>
                    <a:srgbClr val="4D4D4D"/>
                  </a:solidFill>
                  <a:latin typeface="Arial"/>
                  <a:cs typeface="Arial"/>
                </a:rPr>
                <a:t>40</a:t>
              </a:r>
              <a:endParaRPr sz="1100">
                <a:latin typeface="Arial"/>
                <a:cs typeface="Arial"/>
              </a:endParaRPr>
            </a:p>
          </p:txBody>
        </p:sp>
        <p:sp>
          <p:nvSpPr>
            <p:cNvPr id="90" name="object 90"/>
            <p:cNvSpPr txBox="1"/>
            <p:nvPr/>
          </p:nvSpPr>
          <p:spPr>
            <a:xfrm>
              <a:off x="6578755" y="3335271"/>
              <a:ext cx="1694180" cy="490220"/>
            </a:xfrm>
            <a:prstGeom prst="rect">
              <a:avLst/>
            </a:prstGeom>
          </p:spPr>
          <p:txBody>
            <a:bodyPr vert="horz" wrap="square" lIns="0" tIns="55244" rIns="0" bIns="0" rtlCol="0">
              <a:spAutoFit/>
            </a:bodyPr>
            <a:lstStyle/>
            <a:p>
              <a:pPr marL="581025">
                <a:lnSpc>
                  <a:spcPct val="100000"/>
                </a:lnSpc>
                <a:spcBef>
                  <a:spcPts val="434"/>
                </a:spcBef>
                <a:tabLst>
                  <a:tab pos="1363980" algn="l"/>
                </a:tabLst>
              </a:pPr>
              <a:r>
                <a:rPr sz="1100" spc="-50" dirty="0">
                  <a:solidFill>
                    <a:srgbClr val="4D4D4D"/>
                  </a:solidFill>
                  <a:latin typeface="Arial"/>
                  <a:cs typeface="Arial"/>
                </a:rPr>
                <a:t>0</a:t>
              </a:r>
              <a:r>
                <a:rPr sz="1100" dirty="0">
                  <a:solidFill>
                    <a:srgbClr val="4D4D4D"/>
                  </a:solidFill>
                  <a:latin typeface="Arial"/>
                  <a:cs typeface="Arial"/>
                </a:rPr>
                <a:t>	</a:t>
              </a:r>
              <a:r>
                <a:rPr sz="1100" spc="-25" dirty="0">
                  <a:solidFill>
                    <a:srgbClr val="4D4D4D"/>
                  </a:solidFill>
                  <a:latin typeface="Arial"/>
                  <a:cs typeface="Arial"/>
                </a:rPr>
                <a:t>20</a:t>
              </a:r>
              <a:endParaRPr sz="1100">
                <a:latin typeface="Arial"/>
                <a:cs typeface="Arial"/>
              </a:endParaRPr>
            </a:p>
            <a:p>
              <a:pPr marL="12700">
                <a:lnSpc>
                  <a:spcPct val="100000"/>
                </a:lnSpc>
                <a:spcBef>
                  <a:spcPts val="384"/>
                </a:spcBef>
              </a:pPr>
              <a:r>
                <a:rPr sz="1350" dirty="0">
                  <a:latin typeface="Arial"/>
                  <a:cs typeface="Arial"/>
                </a:rPr>
                <a:t>PC1</a:t>
              </a:r>
              <a:r>
                <a:rPr sz="1350" spc="-60" dirty="0">
                  <a:latin typeface="Arial"/>
                  <a:cs typeface="Arial"/>
                </a:rPr>
                <a:t> </a:t>
              </a:r>
              <a:r>
                <a:rPr sz="1350" dirty="0">
                  <a:latin typeface="Arial"/>
                  <a:cs typeface="Arial"/>
                </a:rPr>
                <a:t>(26.4%</a:t>
              </a:r>
              <a:r>
                <a:rPr sz="1350" spc="-55" dirty="0">
                  <a:latin typeface="Arial"/>
                  <a:cs typeface="Arial"/>
                </a:rPr>
                <a:t> </a:t>
              </a:r>
              <a:r>
                <a:rPr sz="1350" spc="-10" dirty="0">
                  <a:latin typeface="Arial"/>
                  <a:cs typeface="Arial"/>
                </a:rPr>
                <a:t>variance)</a:t>
              </a:r>
              <a:endParaRPr sz="1350">
                <a:latin typeface="Arial"/>
                <a:cs typeface="Arial"/>
              </a:endParaRPr>
            </a:p>
          </p:txBody>
        </p:sp>
        <p:sp>
          <p:nvSpPr>
            <p:cNvPr id="91" name="object 91"/>
            <p:cNvSpPr txBox="1"/>
            <p:nvPr/>
          </p:nvSpPr>
          <p:spPr>
            <a:xfrm>
              <a:off x="5199056" y="884428"/>
              <a:ext cx="216535" cy="1695450"/>
            </a:xfrm>
            <a:prstGeom prst="rect">
              <a:avLst/>
            </a:prstGeom>
          </p:spPr>
          <p:txBody>
            <a:bodyPr vert="vert270" wrap="square" lIns="0" tIns="0" rIns="0" bIns="0" rtlCol="0">
              <a:spAutoFit/>
            </a:bodyPr>
            <a:lstStyle/>
            <a:p>
              <a:pPr marL="12700">
                <a:lnSpc>
                  <a:spcPts val="1585"/>
                </a:lnSpc>
              </a:pPr>
              <a:r>
                <a:rPr sz="1350" dirty="0">
                  <a:latin typeface="Arial"/>
                  <a:cs typeface="Arial"/>
                </a:rPr>
                <a:t>PC2</a:t>
              </a:r>
              <a:r>
                <a:rPr sz="1350" spc="-60" dirty="0">
                  <a:latin typeface="Arial"/>
                  <a:cs typeface="Arial"/>
                </a:rPr>
                <a:t> </a:t>
              </a:r>
              <a:r>
                <a:rPr sz="1350" dirty="0">
                  <a:latin typeface="Arial"/>
                  <a:cs typeface="Arial"/>
                </a:rPr>
                <a:t>(13.5%</a:t>
              </a:r>
              <a:r>
                <a:rPr sz="1350" spc="-55" dirty="0">
                  <a:latin typeface="Arial"/>
                  <a:cs typeface="Arial"/>
                </a:rPr>
                <a:t> </a:t>
              </a:r>
              <a:r>
                <a:rPr sz="1350" spc="-10" dirty="0">
                  <a:latin typeface="Arial"/>
                  <a:cs typeface="Arial"/>
                </a:rPr>
                <a:t>variance)</a:t>
              </a:r>
              <a:endParaRPr sz="1350">
                <a:latin typeface="Arial"/>
                <a:cs typeface="Arial"/>
              </a:endParaRPr>
            </a:p>
          </p:txBody>
        </p:sp>
        <p:grpSp>
          <p:nvGrpSpPr>
            <p:cNvPr id="92" name="object 92"/>
            <p:cNvGrpSpPr/>
            <p:nvPr/>
          </p:nvGrpSpPr>
          <p:grpSpPr>
            <a:xfrm>
              <a:off x="8921202" y="639183"/>
              <a:ext cx="86995" cy="1026160"/>
              <a:chOff x="8921202" y="639183"/>
              <a:chExt cx="86995" cy="1026160"/>
            </a:xfrm>
          </p:grpSpPr>
          <p:pic>
            <p:nvPicPr>
              <p:cNvPr id="93" name="object 93"/>
              <p:cNvPicPr/>
              <p:nvPr/>
            </p:nvPicPr>
            <p:blipFill>
              <a:blip r:embed="rId8" cstate="print"/>
              <a:stretch>
                <a:fillRect/>
              </a:stretch>
            </p:blipFill>
            <p:spPr>
              <a:xfrm>
                <a:off x="8931018" y="639183"/>
                <a:ext cx="75120" cy="75184"/>
              </a:xfrm>
              <a:prstGeom prst="rect">
                <a:avLst/>
              </a:prstGeom>
            </p:spPr>
          </p:pic>
          <p:pic>
            <p:nvPicPr>
              <p:cNvPr id="94" name="object 94"/>
              <p:cNvPicPr/>
              <p:nvPr/>
            </p:nvPicPr>
            <p:blipFill>
              <a:blip r:embed="rId9" cstate="print"/>
              <a:stretch>
                <a:fillRect/>
              </a:stretch>
            </p:blipFill>
            <p:spPr>
              <a:xfrm>
                <a:off x="8932319" y="853869"/>
                <a:ext cx="75056" cy="75145"/>
              </a:xfrm>
              <a:prstGeom prst="rect">
                <a:avLst/>
              </a:prstGeom>
            </p:spPr>
          </p:pic>
          <p:pic>
            <p:nvPicPr>
              <p:cNvPr id="95" name="object 95"/>
              <p:cNvPicPr/>
              <p:nvPr/>
            </p:nvPicPr>
            <p:blipFill>
              <a:blip r:embed="rId10" cstate="print"/>
              <a:stretch>
                <a:fillRect/>
              </a:stretch>
            </p:blipFill>
            <p:spPr>
              <a:xfrm>
                <a:off x="8926944" y="1359974"/>
                <a:ext cx="75056" cy="75145"/>
              </a:xfrm>
              <a:prstGeom prst="rect">
                <a:avLst/>
              </a:prstGeom>
            </p:spPr>
          </p:pic>
          <p:sp>
            <p:nvSpPr>
              <p:cNvPr id="96" name="object 96"/>
              <p:cNvSpPr/>
              <p:nvPr/>
            </p:nvSpPr>
            <p:spPr>
              <a:xfrm>
                <a:off x="8921202" y="1589615"/>
                <a:ext cx="86995" cy="75565"/>
              </a:xfrm>
              <a:custGeom>
                <a:avLst/>
                <a:gdLst/>
                <a:ahLst/>
                <a:cxnLst/>
                <a:rect l="l" t="t" r="r" b="b"/>
                <a:pathLst>
                  <a:path w="86995" h="75564">
                    <a:moveTo>
                      <a:pt x="43230" y="0"/>
                    </a:moveTo>
                    <a:lnTo>
                      <a:pt x="0" y="75120"/>
                    </a:lnTo>
                    <a:lnTo>
                      <a:pt x="86537" y="75120"/>
                    </a:lnTo>
                    <a:lnTo>
                      <a:pt x="43230" y="0"/>
                    </a:lnTo>
                    <a:close/>
                  </a:path>
                </a:pathLst>
              </a:custGeom>
              <a:solidFill>
                <a:srgbClr val="000000"/>
              </a:solidFill>
            </p:spPr>
            <p:txBody>
              <a:bodyPr wrap="square" lIns="0" tIns="0" rIns="0" bIns="0" rtlCol="0"/>
              <a:lstStyle/>
              <a:p>
                <a:endParaRPr/>
              </a:p>
            </p:txBody>
          </p:sp>
        </p:grpSp>
        <p:sp>
          <p:nvSpPr>
            <p:cNvPr id="97" name="object 97"/>
            <p:cNvSpPr txBox="1"/>
            <p:nvPr/>
          </p:nvSpPr>
          <p:spPr>
            <a:xfrm>
              <a:off x="8908594" y="274736"/>
              <a:ext cx="819150" cy="1449705"/>
            </a:xfrm>
            <a:prstGeom prst="rect">
              <a:avLst/>
            </a:prstGeom>
          </p:spPr>
          <p:txBody>
            <a:bodyPr vert="horz" wrap="square" lIns="0" tIns="18415" rIns="0" bIns="0" rtlCol="0">
              <a:spAutoFit/>
            </a:bodyPr>
            <a:lstStyle/>
            <a:p>
              <a:pPr marL="166370" marR="146685" indent="-143510">
                <a:lnSpc>
                  <a:spcPct val="113599"/>
                </a:lnSpc>
                <a:spcBef>
                  <a:spcPts val="145"/>
                </a:spcBef>
              </a:pPr>
              <a:r>
                <a:rPr sz="1350" b="1" spc="-10" dirty="0">
                  <a:latin typeface="Arial"/>
                  <a:cs typeface="Arial"/>
                </a:rPr>
                <a:t>Hybrid </a:t>
              </a:r>
              <a:r>
                <a:rPr sz="1350" spc="-20" dirty="0">
                  <a:latin typeface="Arial"/>
                  <a:cs typeface="Arial"/>
                </a:rPr>
                <a:t>Td×Td </a:t>
              </a:r>
              <a:r>
                <a:rPr sz="1350" spc="-10" dirty="0">
                  <a:latin typeface="Arial"/>
                  <a:cs typeface="Arial"/>
                </a:rPr>
                <a:t>Td×Tf</a:t>
              </a:r>
              <a:endParaRPr sz="1350">
                <a:latin typeface="Arial"/>
                <a:cs typeface="Arial"/>
              </a:endParaRPr>
            </a:p>
            <a:p>
              <a:pPr marL="161290" marR="5080" indent="-149225">
                <a:lnSpc>
                  <a:spcPct val="113100"/>
                </a:lnSpc>
                <a:spcBef>
                  <a:spcPts val="150"/>
                </a:spcBef>
              </a:pPr>
              <a:r>
                <a:rPr sz="1350" b="1" spc="-10" dirty="0">
                  <a:latin typeface="Arial"/>
                  <a:cs typeface="Arial"/>
                </a:rPr>
                <a:t>Season </a:t>
              </a:r>
              <a:r>
                <a:rPr sz="1350" spc="-10" dirty="0">
                  <a:latin typeface="Arial"/>
                  <a:cs typeface="Arial"/>
                </a:rPr>
                <a:t>Summer Winter</a:t>
              </a:r>
              <a:endParaRPr sz="1350">
                <a:latin typeface="Arial"/>
                <a:cs typeface="Arial"/>
              </a:endParaRPr>
            </a:p>
          </p:txBody>
        </p:sp>
        <p:sp>
          <p:nvSpPr>
            <p:cNvPr id="98" name="object 98"/>
            <p:cNvSpPr txBox="1"/>
            <p:nvPr/>
          </p:nvSpPr>
          <p:spPr>
            <a:xfrm>
              <a:off x="5880596" y="172845"/>
              <a:ext cx="1396365" cy="230504"/>
            </a:xfrm>
            <a:prstGeom prst="rect">
              <a:avLst/>
            </a:prstGeom>
          </p:spPr>
          <p:txBody>
            <a:bodyPr vert="horz" wrap="square" lIns="0" tIns="12065" rIns="0" bIns="0" rtlCol="0">
              <a:spAutoFit/>
            </a:bodyPr>
            <a:lstStyle/>
            <a:p>
              <a:pPr marL="12700">
                <a:lnSpc>
                  <a:spcPct val="100000"/>
                </a:lnSpc>
                <a:spcBef>
                  <a:spcPts val="95"/>
                </a:spcBef>
              </a:pPr>
              <a:r>
                <a:rPr sz="1350" dirty="0">
                  <a:latin typeface="Arial"/>
                  <a:cs typeface="Arial"/>
                </a:rPr>
                <a:t>n</a:t>
              </a:r>
              <a:r>
                <a:rPr sz="1350" spc="-30" dirty="0">
                  <a:latin typeface="Arial"/>
                  <a:cs typeface="Arial"/>
                </a:rPr>
                <a:t> </a:t>
              </a:r>
              <a:r>
                <a:rPr sz="1350" dirty="0">
                  <a:latin typeface="Arial"/>
                  <a:cs typeface="Arial"/>
                </a:rPr>
                <a:t>=</a:t>
              </a:r>
              <a:r>
                <a:rPr sz="1350" spc="-30" dirty="0">
                  <a:latin typeface="Arial"/>
                  <a:cs typeface="Arial"/>
                </a:rPr>
                <a:t> </a:t>
              </a:r>
              <a:r>
                <a:rPr sz="1350" dirty="0">
                  <a:latin typeface="Arial"/>
                  <a:cs typeface="Arial"/>
                </a:rPr>
                <a:t>1,889</a:t>
              </a:r>
              <a:r>
                <a:rPr sz="1350" spc="-25" dirty="0">
                  <a:latin typeface="Arial"/>
                  <a:cs typeface="Arial"/>
                </a:rPr>
                <a:t> </a:t>
              </a:r>
              <a:r>
                <a:rPr sz="1350" spc="-10" dirty="0">
                  <a:latin typeface="Arial"/>
                  <a:cs typeface="Arial"/>
                </a:rPr>
                <a:t>proteins</a:t>
              </a:r>
              <a:endParaRPr sz="1350">
                <a:latin typeface="Arial"/>
                <a:cs typeface="Arial"/>
              </a:endParaRPr>
            </a:p>
          </p:txBody>
        </p:sp>
        <p:grpSp>
          <p:nvGrpSpPr>
            <p:cNvPr id="99" name="object 99"/>
            <p:cNvGrpSpPr/>
            <p:nvPr/>
          </p:nvGrpSpPr>
          <p:grpSpPr>
            <a:xfrm>
              <a:off x="730779" y="519733"/>
              <a:ext cx="3222625" cy="2772410"/>
              <a:chOff x="730779" y="519733"/>
              <a:chExt cx="3222625" cy="2772410"/>
            </a:xfrm>
          </p:grpSpPr>
          <p:sp>
            <p:nvSpPr>
              <p:cNvPr id="100" name="object 100"/>
              <p:cNvSpPr/>
              <p:nvPr/>
            </p:nvSpPr>
            <p:spPr>
              <a:xfrm>
                <a:off x="2779229" y="2997606"/>
                <a:ext cx="327025" cy="145415"/>
              </a:xfrm>
              <a:custGeom>
                <a:avLst/>
                <a:gdLst/>
                <a:ahLst/>
                <a:cxnLst/>
                <a:rect l="l" t="t" r="r" b="b"/>
                <a:pathLst>
                  <a:path w="327025" h="145414">
                    <a:moveTo>
                      <a:pt x="124968" y="127038"/>
                    </a:moveTo>
                    <a:lnTo>
                      <a:pt x="89001" y="64452"/>
                    </a:lnTo>
                    <a:lnTo>
                      <a:pt x="95059" y="64452"/>
                    </a:lnTo>
                    <a:lnTo>
                      <a:pt x="57950" y="0"/>
                    </a:lnTo>
                    <a:lnTo>
                      <a:pt x="20840" y="64452"/>
                    </a:lnTo>
                    <a:lnTo>
                      <a:pt x="86855" y="64452"/>
                    </a:lnTo>
                    <a:lnTo>
                      <a:pt x="57365" y="115671"/>
                    </a:lnTo>
                    <a:lnTo>
                      <a:pt x="37109" y="80391"/>
                    </a:lnTo>
                    <a:lnTo>
                      <a:pt x="0" y="144843"/>
                    </a:lnTo>
                    <a:lnTo>
                      <a:pt x="74142" y="144843"/>
                    </a:lnTo>
                    <a:lnTo>
                      <a:pt x="63906" y="127038"/>
                    </a:lnTo>
                    <a:lnTo>
                      <a:pt x="124968" y="127038"/>
                    </a:lnTo>
                    <a:close/>
                  </a:path>
                  <a:path w="327025" h="145414">
                    <a:moveTo>
                      <a:pt x="270967" y="57683"/>
                    </a:moveTo>
                    <a:lnTo>
                      <a:pt x="268795" y="46939"/>
                    </a:lnTo>
                    <a:lnTo>
                      <a:pt x="262864" y="38138"/>
                    </a:lnTo>
                    <a:lnTo>
                      <a:pt x="254101" y="32181"/>
                    </a:lnTo>
                    <a:lnTo>
                      <a:pt x="243382" y="29997"/>
                    </a:lnTo>
                    <a:lnTo>
                      <a:pt x="232727" y="32181"/>
                    </a:lnTo>
                    <a:lnTo>
                      <a:pt x="228066" y="35356"/>
                    </a:lnTo>
                    <a:lnTo>
                      <a:pt x="225475" y="33578"/>
                    </a:lnTo>
                    <a:lnTo>
                      <a:pt x="214807" y="31394"/>
                    </a:lnTo>
                    <a:lnTo>
                      <a:pt x="204101" y="33578"/>
                    </a:lnTo>
                    <a:lnTo>
                      <a:pt x="195326" y="39535"/>
                    </a:lnTo>
                    <a:lnTo>
                      <a:pt x="189407" y="48336"/>
                    </a:lnTo>
                    <a:lnTo>
                      <a:pt x="187236" y="59080"/>
                    </a:lnTo>
                    <a:lnTo>
                      <a:pt x="189407" y="69799"/>
                    </a:lnTo>
                    <a:lnTo>
                      <a:pt x="195326" y="78574"/>
                    </a:lnTo>
                    <a:lnTo>
                      <a:pt x="204101" y="84505"/>
                    </a:lnTo>
                    <a:lnTo>
                      <a:pt x="214807" y="86677"/>
                    </a:lnTo>
                    <a:lnTo>
                      <a:pt x="225475" y="84505"/>
                    </a:lnTo>
                    <a:lnTo>
                      <a:pt x="230124" y="81356"/>
                    </a:lnTo>
                    <a:lnTo>
                      <a:pt x="232727" y="83121"/>
                    </a:lnTo>
                    <a:lnTo>
                      <a:pt x="243382" y="85293"/>
                    </a:lnTo>
                    <a:lnTo>
                      <a:pt x="254101" y="83121"/>
                    </a:lnTo>
                    <a:lnTo>
                      <a:pt x="262864" y="77177"/>
                    </a:lnTo>
                    <a:lnTo>
                      <a:pt x="268795" y="68402"/>
                    </a:lnTo>
                    <a:lnTo>
                      <a:pt x="270967" y="57683"/>
                    </a:lnTo>
                    <a:close/>
                  </a:path>
                  <a:path w="327025" h="145414">
                    <a:moveTo>
                      <a:pt x="326517" y="60248"/>
                    </a:moveTo>
                    <a:lnTo>
                      <a:pt x="324332" y="49504"/>
                    </a:lnTo>
                    <a:lnTo>
                      <a:pt x="318414" y="40703"/>
                    </a:lnTo>
                    <a:lnTo>
                      <a:pt x="309638" y="34747"/>
                    </a:lnTo>
                    <a:lnTo>
                      <a:pt x="298932" y="32562"/>
                    </a:lnTo>
                    <a:lnTo>
                      <a:pt x="288264" y="34747"/>
                    </a:lnTo>
                    <a:lnTo>
                      <a:pt x="279527" y="40703"/>
                    </a:lnTo>
                    <a:lnTo>
                      <a:pt x="273608" y="49504"/>
                    </a:lnTo>
                    <a:lnTo>
                      <a:pt x="271437" y="60248"/>
                    </a:lnTo>
                    <a:lnTo>
                      <a:pt x="273608" y="70954"/>
                    </a:lnTo>
                    <a:lnTo>
                      <a:pt x="279527" y="79730"/>
                    </a:lnTo>
                    <a:lnTo>
                      <a:pt x="288264" y="85674"/>
                    </a:lnTo>
                    <a:lnTo>
                      <a:pt x="298932" y="87845"/>
                    </a:lnTo>
                    <a:lnTo>
                      <a:pt x="309638" y="85674"/>
                    </a:lnTo>
                    <a:lnTo>
                      <a:pt x="318414" y="79730"/>
                    </a:lnTo>
                    <a:lnTo>
                      <a:pt x="324332" y="70954"/>
                    </a:lnTo>
                    <a:lnTo>
                      <a:pt x="326517" y="60248"/>
                    </a:lnTo>
                    <a:close/>
                  </a:path>
                </a:pathLst>
              </a:custGeom>
              <a:solidFill>
                <a:srgbClr val="332288"/>
              </a:solidFill>
            </p:spPr>
            <p:txBody>
              <a:bodyPr wrap="square" lIns="0" tIns="0" rIns="0" bIns="0" rtlCol="0"/>
              <a:lstStyle/>
              <a:p>
                <a:endParaRPr/>
              </a:p>
            </p:txBody>
          </p:sp>
          <p:sp>
            <p:nvSpPr>
              <p:cNvPr id="101" name="object 101"/>
              <p:cNvSpPr/>
              <p:nvPr/>
            </p:nvSpPr>
            <p:spPr>
              <a:xfrm>
                <a:off x="2392870" y="657885"/>
                <a:ext cx="152400" cy="73025"/>
              </a:xfrm>
              <a:custGeom>
                <a:avLst/>
                <a:gdLst/>
                <a:ahLst/>
                <a:cxnLst/>
                <a:rect l="l" t="t" r="r" b="b"/>
                <a:pathLst>
                  <a:path w="152400" h="73025">
                    <a:moveTo>
                      <a:pt x="55079" y="44780"/>
                    </a:moveTo>
                    <a:lnTo>
                      <a:pt x="52908" y="34061"/>
                    </a:lnTo>
                    <a:lnTo>
                      <a:pt x="46977" y="25285"/>
                    </a:lnTo>
                    <a:lnTo>
                      <a:pt x="38214" y="19342"/>
                    </a:lnTo>
                    <a:lnTo>
                      <a:pt x="27495" y="17170"/>
                    </a:lnTo>
                    <a:lnTo>
                      <a:pt x="16840" y="19342"/>
                    </a:lnTo>
                    <a:lnTo>
                      <a:pt x="8089" y="25285"/>
                    </a:lnTo>
                    <a:lnTo>
                      <a:pt x="2184" y="34061"/>
                    </a:lnTo>
                    <a:lnTo>
                      <a:pt x="0" y="44780"/>
                    </a:lnTo>
                    <a:lnTo>
                      <a:pt x="2184" y="55524"/>
                    </a:lnTo>
                    <a:lnTo>
                      <a:pt x="8089" y="64325"/>
                    </a:lnTo>
                    <a:lnTo>
                      <a:pt x="16840" y="70281"/>
                    </a:lnTo>
                    <a:lnTo>
                      <a:pt x="27495" y="72466"/>
                    </a:lnTo>
                    <a:lnTo>
                      <a:pt x="38214" y="70281"/>
                    </a:lnTo>
                    <a:lnTo>
                      <a:pt x="46977" y="64325"/>
                    </a:lnTo>
                    <a:lnTo>
                      <a:pt x="52908" y="55524"/>
                    </a:lnTo>
                    <a:lnTo>
                      <a:pt x="55079" y="44780"/>
                    </a:lnTo>
                    <a:close/>
                  </a:path>
                  <a:path w="152400" h="73025">
                    <a:moveTo>
                      <a:pt x="152222" y="64452"/>
                    </a:moveTo>
                    <a:lnTo>
                      <a:pt x="115112" y="0"/>
                    </a:lnTo>
                    <a:lnTo>
                      <a:pt x="78003" y="64452"/>
                    </a:lnTo>
                    <a:lnTo>
                      <a:pt x="152222" y="64452"/>
                    </a:lnTo>
                    <a:close/>
                  </a:path>
                </a:pathLst>
              </a:custGeom>
              <a:solidFill>
                <a:srgbClr val="AA4499"/>
              </a:solidFill>
            </p:spPr>
            <p:txBody>
              <a:bodyPr wrap="square" lIns="0" tIns="0" rIns="0" bIns="0" rtlCol="0"/>
              <a:lstStyle/>
              <a:p>
                <a:endParaRPr/>
              </a:p>
            </p:txBody>
          </p:sp>
          <p:sp>
            <p:nvSpPr>
              <p:cNvPr id="102" name="object 102"/>
              <p:cNvSpPr/>
              <p:nvPr/>
            </p:nvSpPr>
            <p:spPr>
              <a:xfrm>
                <a:off x="1281353" y="2385110"/>
                <a:ext cx="275590" cy="252095"/>
              </a:xfrm>
              <a:custGeom>
                <a:avLst/>
                <a:gdLst/>
                <a:ahLst/>
                <a:cxnLst/>
                <a:rect l="l" t="t" r="r" b="b"/>
                <a:pathLst>
                  <a:path w="275590" h="252094">
                    <a:moveTo>
                      <a:pt x="119608" y="131152"/>
                    </a:moveTo>
                    <a:lnTo>
                      <a:pt x="82499" y="66700"/>
                    </a:lnTo>
                    <a:lnTo>
                      <a:pt x="73177" y="82931"/>
                    </a:lnTo>
                    <a:lnTo>
                      <a:pt x="62585" y="64528"/>
                    </a:lnTo>
                    <a:lnTo>
                      <a:pt x="115887" y="64528"/>
                    </a:lnTo>
                    <a:lnTo>
                      <a:pt x="78778" y="0"/>
                    </a:lnTo>
                    <a:lnTo>
                      <a:pt x="52158" y="46393"/>
                    </a:lnTo>
                    <a:lnTo>
                      <a:pt x="37109" y="20205"/>
                    </a:lnTo>
                    <a:lnTo>
                      <a:pt x="0" y="84734"/>
                    </a:lnTo>
                    <a:lnTo>
                      <a:pt x="72136" y="84734"/>
                    </a:lnTo>
                    <a:lnTo>
                      <a:pt x="45466" y="131152"/>
                    </a:lnTo>
                    <a:lnTo>
                      <a:pt x="119608" y="131152"/>
                    </a:lnTo>
                    <a:close/>
                  </a:path>
                  <a:path w="275590" h="252094">
                    <a:moveTo>
                      <a:pt x="188861" y="196367"/>
                    </a:moveTo>
                    <a:lnTo>
                      <a:pt x="186690" y="185610"/>
                    </a:lnTo>
                    <a:lnTo>
                      <a:pt x="180771" y="176809"/>
                    </a:lnTo>
                    <a:lnTo>
                      <a:pt x="172021" y="170865"/>
                    </a:lnTo>
                    <a:lnTo>
                      <a:pt x="161366" y="168681"/>
                    </a:lnTo>
                    <a:lnTo>
                      <a:pt x="150647" y="170865"/>
                    </a:lnTo>
                    <a:lnTo>
                      <a:pt x="141884" y="176809"/>
                    </a:lnTo>
                    <a:lnTo>
                      <a:pt x="135953" y="185610"/>
                    </a:lnTo>
                    <a:lnTo>
                      <a:pt x="133781" y="196367"/>
                    </a:lnTo>
                    <a:lnTo>
                      <a:pt x="135445" y="204622"/>
                    </a:lnTo>
                    <a:lnTo>
                      <a:pt x="129832" y="212940"/>
                    </a:lnTo>
                    <a:lnTo>
                      <a:pt x="127660" y="223647"/>
                    </a:lnTo>
                    <a:lnTo>
                      <a:pt x="129832" y="234403"/>
                    </a:lnTo>
                    <a:lnTo>
                      <a:pt x="135763" y="243205"/>
                    </a:lnTo>
                    <a:lnTo>
                      <a:pt x="144526" y="249148"/>
                    </a:lnTo>
                    <a:lnTo>
                      <a:pt x="155232" y="251333"/>
                    </a:lnTo>
                    <a:lnTo>
                      <a:pt x="165900" y="249148"/>
                    </a:lnTo>
                    <a:lnTo>
                      <a:pt x="174650" y="243205"/>
                    </a:lnTo>
                    <a:lnTo>
                      <a:pt x="180568" y="234403"/>
                    </a:lnTo>
                    <a:lnTo>
                      <a:pt x="182740" y="223647"/>
                    </a:lnTo>
                    <a:lnTo>
                      <a:pt x="181063" y="215430"/>
                    </a:lnTo>
                    <a:lnTo>
                      <a:pt x="186690" y="207073"/>
                    </a:lnTo>
                    <a:lnTo>
                      <a:pt x="188861" y="196367"/>
                    </a:lnTo>
                    <a:close/>
                  </a:path>
                  <a:path w="275590" h="252094">
                    <a:moveTo>
                      <a:pt x="275463" y="223964"/>
                    </a:moveTo>
                    <a:lnTo>
                      <a:pt x="273278" y="213258"/>
                    </a:lnTo>
                    <a:lnTo>
                      <a:pt x="267373" y="204482"/>
                    </a:lnTo>
                    <a:lnTo>
                      <a:pt x="258622" y="198551"/>
                    </a:lnTo>
                    <a:lnTo>
                      <a:pt x="247967" y="196367"/>
                    </a:lnTo>
                    <a:lnTo>
                      <a:pt x="237248" y="198551"/>
                    </a:lnTo>
                    <a:lnTo>
                      <a:pt x="228485" y="204482"/>
                    </a:lnTo>
                    <a:lnTo>
                      <a:pt x="222554" y="213258"/>
                    </a:lnTo>
                    <a:lnTo>
                      <a:pt x="220383" y="223964"/>
                    </a:lnTo>
                    <a:lnTo>
                      <a:pt x="222554" y="234708"/>
                    </a:lnTo>
                    <a:lnTo>
                      <a:pt x="228485" y="243522"/>
                    </a:lnTo>
                    <a:lnTo>
                      <a:pt x="237248" y="249466"/>
                    </a:lnTo>
                    <a:lnTo>
                      <a:pt x="247967" y="251650"/>
                    </a:lnTo>
                    <a:lnTo>
                      <a:pt x="258622" y="249466"/>
                    </a:lnTo>
                    <a:lnTo>
                      <a:pt x="267373" y="243522"/>
                    </a:lnTo>
                    <a:lnTo>
                      <a:pt x="273278" y="234708"/>
                    </a:lnTo>
                    <a:lnTo>
                      <a:pt x="275463" y="223964"/>
                    </a:lnTo>
                    <a:close/>
                  </a:path>
                </a:pathLst>
              </a:custGeom>
              <a:solidFill>
                <a:srgbClr val="CC6677"/>
              </a:solidFill>
            </p:spPr>
            <p:txBody>
              <a:bodyPr wrap="square" lIns="0" tIns="0" rIns="0" bIns="0" rtlCol="0"/>
              <a:lstStyle/>
              <a:p>
                <a:endParaRPr/>
              </a:p>
            </p:txBody>
          </p:sp>
          <p:sp>
            <p:nvSpPr>
              <p:cNvPr id="103" name="object 103"/>
              <p:cNvSpPr/>
              <p:nvPr/>
            </p:nvSpPr>
            <p:spPr>
              <a:xfrm>
                <a:off x="2352903" y="836294"/>
                <a:ext cx="218440" cy="83820"/>
              </a:xfrm>
              <a:custGeom>
                <a:avLst/>
                <a:gdLst/>
                <a:ahLst/>
                <a:cxnLst/>
                <a:rect l="l" t="t" r="r" b="b"/>
                <a:pathLst>
                  <a:path w="218439" h="83819">
                    <a:moveTo>
                      <a:pt x="74218" y="64528"/>
                    </a:moveTo>
                    <a:lnTo>
                      <a:pt x="37109" y="0"/>
                    </a:lnTo>
                    <a:lnTo>
                      <a:pt x="0" y="64528"/>
                    </a:lnTo>
                    <a:lnTo>
                      <a:pt x="74218" y="64528"/>
                    </a:lnTo>
                    <a:close/>
                  </a:path>
                  <a:path w="218439" h="83819">
                    <a:moveTo>
                      <a:pt x="217906" y="55892"/>
                    </a:moveTo>
                    <a:lnTo>
                      <a:pt x="215722" y="45148"/>
                    </a:lnTo>
                    <a:lnTo>
                      <a:pt x="209804" y="36347"/>
                    </a:lnTo>
                    <a:lnTo>
                      <a:pt x="201028" y="30391"/>
                    </a:lnTo>
                    <a:lnTo>
                      <a:pt x="190322" y="28206"/>
                    </a:lnTo>
                    <a:lnTo>
                      <a:pt x="179654" y="30391"/>
                    </a:lnTo>
                    <a:lnTo>
                      <a:pt x="170916" y="36347"/>
                    </a:lnTo>
                    <a:lnTo>
                      <a:pt x="164998" y="45148"/>
                    </a:lnTo>
                    <a:lnTo>
                      <a:pt x="162826" y="55892"/>
                    </a:lnTo>
                    <a:lnTo>
                      <a:pt x="164998" y="66598"/>
                    </a:lnTo>
                    <a:lnTo>
                      <a:pt x="170916" y="75374"/>
                    </a:lnTo>
                    <a:lnTo>
                      <a:pt x="179654" y="81318"/>
                    </a:lnTo>
                    <a:lnTo>
                      <a:pt x="190322" y="83489"/>
                    </a:lnTo>
                    <a:lnTo>
                      <a:pt x="201028" y="81318"/>
                    </a:lnTo>
                    <a:lnTo>
                      <a:pt x="209804" y="75374"/>
                    </a:lnTo>
                    <a:lnTo>
                      <a:pt x="215722" y="66598"/>
                    </a:lnTo>
                    <a:lnTo>
                      <a:pt x="217906" y="55892"/>
                    </a:lnTo>
                    <a:close/>
                  </a:path>
                </a:pathLst>
              </a:custGeom>
              <a:solidFill>
                <a:srgbClr val="AA4499"/>
              </a:solidFill>
            </p:spPr>
            <p:txBody>
              <a:bodyPr wrap="square" lIns="0" tIns="0" rIns="0" bIns="0" rtlCol="0"/>
              <a:lstStyle/>
              <a:p>
                <a:endParaRPr/>
              </a:p>
            </p:txBody>
          </p:sp>
          <p:sp>
            <p:nvSpPr>
              <p:cNvPr id="104" name="object 104"/>
              <p:cNvSpPr/>
              <p:nvPr/>
            </p:nvSpPr>
            <p:spPr>
              <a:xfrm>
                <a:off x="1187399" y="2424671"/>
                <a:ext cx="356870" cy="281940"/>
              </a:xfrm>
              <a:custGeom>
                <a:avLst/>
                <a:gdLst/>
                <a:ahLst/>
                <a:cxnLst/>
                <a:rect l="l" t="t" r="r" b="b"/>
                <a:pathLst>
                  <a:path w="356869" h="281939">
                    <a:moveTo>
                      <a:pt x="74218" y="64452"/>
                    </a:moveTo>
                    <a:lnTo>
                      <a:pt x="37109" y="0"/>
                    </a:lnTo>
                    <a:lnTo>
                      <a:pt x="0" y="64452"/>
                    </a:lnTo>
                    <a:lnTo>
                      <a:pt x="74218" y="64452"/>
                    </a:lnTo>
                    <a:close/>
                  </a:path>
                  <a:path w="356869" h="281939">
                    <a:moveTo>
                      <a:pt x="154076" y="146164"/>
                    </a:moveTo>
                    <a:lnTo>
                      <a:pt x="116967" y="81711"/>
                    </a:lnTo>
                    <a:lnTo>
                      <a:pt x="79857" y="146164"/>
                    </a:lnTo>
                    <a:lnTo>
                      <a:pt x="154076" y="146164"/>
                    </a:lnTo>
                    <a:close/>
                  </a:path>
                  <a:path w="356869" h="281939">
                    <a:moveTo>
                      <a:pt x="227431" y="97967"/>
                    </a:moveTo>
                    <a:lnTo>
                      <a:pt x="190322" y="33515"/>
                    </a:lnTo>
                    <a:lnTo>
                      <a:pt x="153289" y="97967"/>
                    </a:lnTo>
                    <a:lnTo>
                      <a:pt x="227431" y="97967"/>
                    </a:lnTo>
                    <a:close/>
                  </a:path>
                  <a:path w="356869" h="281939">
                    <a:moveTo>
                      <a:pt x="263448" y="217754"/>
                    </a:moveTo>
                    <a:lnTo>
                      <a:pt x="261277" y="206997"/>
                    </a:lnTo>
                    <a:lnTo>
                      <a:pt x="255358" y="198196"/>
                    </a:lnTo>
                    <a:lnTo>
                      <a:pt x="246621" y="192252"/>
                    </a:lnTo>
                    <a:lnTo>
                      <a:pt x="235953" y="190068"/>
                    </a:lnTo>
                    <a:lnTo>
                      <a:pt x="225247" y="192252"/>
                    </a:lnTo>
                    <a:lnTo>
                      <a:pt x="216471" y="198196"/>
                    </a:lnTo>
                    <a:lnTo>
                      <a:pt x="210540" y="206997"/>
                    </a:lnTo>
                    <a:lnTo>
                      <a:pt x="208368" y="217754"/>
                    </a:lnTo>
                    <a:lnTo>
                      <a:pt x="210540" y="228460"/>
                    </a:lnTo>
                    <a:lnTo>
                      <a:pt x="216471" y="237236"/>
                    </a:lnTo>
                    <a:lnTo>
                      <a:pt x="225247" y="243166"/>
                    </a:lnTo>
                    <a:lnTo>
                      <a:pt x="235953" y="245351"/>
                    </a:lnTo>
                    <a:lnTo>
                      <a:pt x="246621" y="243166"/>
                    </a:lnTo>
                    <a:lnTo>
                      <a:pt x="255358" y="237236"/>
                    </a:lnTo>
                    <a:lnTo>
                      <a:pt x="261277" y="228460"/>
                    </a:lnTo>
                    <a:lnTo>
                      <a:pt x="263448" y="217754"/>
                    </a:lnTo>
                    <a:close/>
                  </a:path>
                  <a:path w="356869" h="281939">
                    <a:moveTo>
                      <a:pt x="356400" y="239369"/>
                    </a:moveTo>
                    <a:lnTo>
                      <a:pt x="354228" y="228612"/>
                    </a:lnTo>
                    <a:lnTo>
                      <a:pt x="348297" y="219811"/>
                    </a:lnTo>
                    <a:lnTo>
                      <a:pt x="339534" y="213868"/>
                    </a:lnTo>
                    <a:lnTo>
                      <a:pt x="328815" y="211683"/>
                    </a:lnTo>
                    <a:lnTo>
                      <a:pt x="318160" y="213868"/>
                    </a:lnTo>
                    <a:lnTo>
                      <a:pt x="309410" y="219811"/>
                    </a:lnTo>
                    <a:lnTo>
                      <a:pt x="303491" y="228612"/>
                    </a:lnTo>
                    <a:lnTo>
                      <a:pt x="302298" y="234480"/>
                    </a:lnTo>
                    <a:lnTo>
                      <a:pt x="302056" y="234645"/>
                    </a:lnTo>
                    <a:lnTo>
                      <a:pt x="296138" y="243420"/>
                    </a:lnTo>
                    <a:lnTo>
                      <a:pt x="293966" y="254139"/>
                    </a:lnTo>
                    <a:lnTo>
                      <a:pt x="296138" y="264883"/>
                    </a:lnTo>
                    <a:lnTo>
                      <a:pt x="302056" y="273685"/>
                    </a:lnTo>
                    <a:lnTo>
                      <a:pt x="310794" y="279641"/>
                    </a:lnTo>
                    <a:lnTo>
                      <a:pt x="321462" y="281825"/>
                    </a:lnTo>
                    <a:lnTo>
                      <a:pt x="332168" y="279641"/>
                    </a:lnTo>
                    <a:lnTo>
                      <a:pt x="340944" y="273685"/>
                    </a:lnTo>
                    <a:lnTo>
                      <a:pt x="346862" y="264883"/>
                    </a:lnTo>
                    <a:lnTo>
                      <a:pt x="348043" y="259016"/>
                    </a:lnTo>
                    <a:lnTo>
                      <a:pt x="348297" y="258851"/>
                    </a:lnTo>
                    <a:lnTo>
                      <a:pt x="354228" y="250075"/>
                    </a:lnTo>
                    <a:lnTo>
                      <a:pt x="356400" y="239369"/>
                    </a:lnTo>
                    <a:close/>
                  </a:path>
                </a:pathLst>
              </a:custGeom>
              <a:solidFill>
                <a:srgbClr val="CC6677"/>
              </a:solidFill>
            </p:spPr>
            <p:txBody>
              <a:bodyPr wrap="square" lIns="0" tIns="0" rIns="0" bIns="0" rtlCol="0"/>
              <a:lstStyle/>
              <a:p>
                <a:endParaRPr/>
              </a:p>
            </p:txBody>
          </p:sp>
          <p:sp>
            <p:nvSpPr>
              <p:cNvPr id="105" name="object 105"/>
              <p:cNvSpPr/>
              <p:nvPr/>
            </p:nvSpPr>
            <p:spPr>
              <a:xfrm>
                <a:off x="2395270" y="668451"/>
                <a:ext cx="168275" cy="116839"/>
              </a:xfrm>
              <a:custGeom>
                <a:avLst/>
                <a:gdLst/>
                <a:ahLst/>
                <a:cxnLst/>
                <a:rect l="l" t="t" r="r" b="b"/>
                <a:pathLst>
                  <a:path w="168275" h="116840">
                    <a:moveTo>
                      <a:pt x="74218" y="64528"/>
                    </a:moveTo>
                    <a:lnTo>
                      <a:pt x="37109" y="0"/>
                    </a:lnTo>
                    <a:lnTo>
                      <a:pt x="0" y="64528"/>
                    </a:lnTo>
                    <a:lnTo>
                      <a:pt x="74218" y="64528"/>
                    </a:lnTo>
                    <a:close/>
                  </a:path>
                  <a:path w="168275" h="116840">
                    <a:moveTo>
                      <a:pt x="168021" y="88861"/>
                    </a:moveTo>
                    <a:lnTo>
                      <a:pt x="165849" y="78143"/>
                    </a:lnTo>
                    <a:lnTo>
                      <a:pt x="159918" y="69367"/>
                    </a:lnTo>
                    <a:lnTo>
                      <a:pt x="151155" y="63436"/>
                    </a:lnTo>
                    <a:lnTo>
                      <a:pt x="140436" y="61252"/>
                    </a:lnTo>
                    <a:lnTo>
                      <a:pt x="129781" y="63436"/>
                    </a:lnTo>
                    <a:lnTo>
                      <a:pt x="121031" y="69367"/>
                    </a:lnTo>
                    <a:lnTo>
                      <a:pt x="115112" y="78143"/>
                    </a:lnTo>
                    <a:lnTo>
                      <a:pt x="112941" y="88861"/>
                    </a:lnTo>
                    <a:lnTo>
                      <a:pt x="115112" y="99606"/>
                    </a:lnTo>
                    <a:lnTo>
                      <a:pt x="121031" y="108419"/>
                    </a:lnTo>
                    <a:lnTo>
                      <a:pt x="129781" y="114363"/>
                    </a:lnTo>
                    <a:lnTo>
                      <a:pt x="140436" y="116547"/>
                    </a:lnTo>
                    <a:lnTo>
                      <a:pt x="151155" y="114363"/>
                    </a:lnTo>
                    <a:lnTo>
                      <a:pt x="159918" y="108419"/>
                    </a:lnTo>
                    <a:lnTo>
                      <a:pt x="165849" y="99606"/>
                    </a:lnTo>
                    <a:lnTo>
                      <a:pt x="168021" y="88861"/>
                    </a:lnTo>
                    <a:close/>
                  </a:path>
                </a:pathLst>
              </a:custGeom>
              <a:solidFill>
                <a:srgbClr val="AA4499"/>
              </a:solidFill>
            </p:spPr>
            <p:txBody>
              <a:bodyPr wrap="square" lIns="0" tIns="0" rIns="0" bIns="0" rtlCol="0"/>
              <a:lstStyle/>
              <a:p>
                <a:endParaRPr/>
              </a:p>
            </p:txBody>
          </p:sp>
          <p:sp>
            <p:nvSpPr>
              <p:cNvPr id="106" name="object 106"/>
              <p:cNvSpPr/>
              <p:nvPr/>
            </p:nvSpPr>
            <p:spPr>
              <a:xfrm>
                <a:off x="815200" y="2038387"/>
                <a:ext cx="671195" cy="726440"/>
              </a:xfrm>
              <a:custGeom>
                <a:avLst/>
                <a:gdLst/>
                <a:ahLst/>
                <a:cxnLst/>
                <a:rect l="l" t="t" r="r" b="b"/>
                <a:pathLst>
                  <a:path w="671194" h="726439">
                    <a:moveTo>
                      <a:pt x="86766" y="64528"/>
                    </a:moveTo>
                    <a:lnTo>
                      <a:pt x="49657" y="0"/>
                    </a:lnTo>
                    <a:lnTo>
                      <a:pt x="12547" y="64528"/>
                    </a:lnTo>
                    <a:lnTo>
                      <a:pt x="86766" y="64528"/>
                    </a:lnTo>
                    <a:close/>
                  </a:path>
                  <a:path w="671194" h="726439">
                    <a:moveTo>
                      <a:pt x="105905" y="455168"/>
                    </a:moveTo>
                    <a:lnTo>
                      <a:pt x="68795" y="390715"/>
                    </a:lnTo>
                    <a:lnTo>
                      <a:pt x="42799" y="435851"/>
                    </a:lnTo>
                    <a:lnTo>
                      <a:pt x="37109" y="425932"/>
                    </a:lnTo>
                    <a:lnTo>
                      <a:pt x="0" y="490461"/>
                    </a:lnTo>
                    <a:lnTo>
                      <a:pt x="74218" y="490461"/>
                    </a:lnTo>
                    <a:lnTo>
                      <a:pt x="70637" y="484238"/>
                    </a:lnTo>
                    <a:lnTo>
                      <a:pt x="104038" y="484238"/>
                    </a:lnTo>
                    <a:lnTo>
                      <a:pt x="87312" y="455168"/>
                    </a:lnTo>
                    <a:lnTo>
                      <a:pt x="105905" y="455168"/>
                    </a:lnTo>
                    <a:close/>
                  </a:path>
                  <a:path w="671194" h="726439">
                    <a:moveTo>
                      <a:pt x="204736" y="628294"/>
                    </a:moveTo>
                    <a:lnTo>
                      <a:pt x="202565" y="617588"/>
                    </a:lnTo>
                    <a:lnTo>
                      <a:pt x="199948" y="613727"/>
                    </a:lnTo>
                    <a:lnTo>
                      <a:pt x="200787" y="609638"/>
                    </a:lnTo>
                    <a:lnTo>
                      <a:pt x="198615" y="598881"/>
                    </a:lnTo>
                    <a:lnTo>
                      <a:pt x="192684" y="590080"/>
                    </a:lnTo>
                    <a:lnTo>
                      <a:pt x="183921" y="584136"/>
                    </a:lnTo>
                    <a:lnTo>
                      <a:pt x="173202" y="581952"/>
                    </a:lnTo>
                    <a:lnTo>
                      <a:pt x="162547" y="584136"/>
                    </a:lnTo>
                    <a:lnTo>
                      <a:pt x="153797" y="590080"/>
                    </a:lnTo>
                    <a:lnTo>
                      <a:pt x="147878" y="598881"/>
                    </a:lnTo>
                    <a:lnTo>
                      <a:pt x="145707" y="609638"/>
                    </a:lnTo>
                    <a:lnTo>
                      <a:pt x="147878" y="620344"/>
                    </a:lnTo>
                    <a:lnTo>
                      <a:pt x="150482" y="624217"/>
                    </a:lnTo>
                    <a:lnTo>
                      <a:pt x="149656" y="628294"/>
                    </a:lnTo>
                    <a:lnTo>
                      <a:pt x="151841" y="639038"/>
                    </a:lnTo>
                    <a:lnTo>
                      <a:pt x="157759" y="647839"/>
                    </a:lnTo>
                    <a:lnTo>
                      <a:pt x="166535" y="653796"/>
                    </a:lnTo>
                    <a:lnTo>
                      <a:pt x="177241" y="655980"/>
                    </a:lnTo>
                    <a:lnTo>
                      <a:pt x="187909" y="653796"/>
                    </a:lnTo>
                    <a:lnTo>
                      <a:pt x="196646" y="647839"/>
                    </a:lnTo>
                    <a:lnTo>
                      <a:pt x="202565" y="639038"/>
                    </a:lnTo>
                    <a:lnTo>
                      <a:pt x="204736" y="628294"/>
                    </a:lnTo>
                    <a:close/>
                  </a:path>
                  <a:path w="671194" h="726439">
                    <a:moveTo>
                      <a:pt x="212483" y="698334"/>
                    </a:moveTo>
                    <a:lnTo>
                      <a:pt x="210312" y="687628"/>
                    </a:lnTo>
                    <a:lnTo>
                      <a:pt x="204381" y="678853"/>
                    </a:lnTo>
                    <a:lnTo>
                      <a:pt x="195618" y="672922"/>
                    </a:lnTo>
                    <a:lnTo>
                      <a:pt x="184912" y="670737"/>
                    </a:lnTo>
                    <a:lnTo>
                      <a:pt x="174205" y="672922"/>
                    </a:lnTo>
                    <a:lnTo>
                      <a:pt x="165430" y="678853"/>
                    </a:lnTo>
                    <a:lnTo>
                      <a:pt x="159512" y="687628"/>
                    </a:lnTo>
                    <a:lnTo>
                      <a:pt x="157327" y="698334"/>
                    </a:lnTo>
                    <a:lnTo>
                      <a:pt x="159512" y="709079"/>
                    </a:lnTo>
                    <a:lnTo>
                      <a:pt x="165430" y="717892"/>
                    </a:lnTo>
                    <a:lnTo>
                      <a:pt x="174205" y="723836"/>
                    </a:lnTo>
                    <a:lnTo>
                      <a:pt x="184912" y="726020"/>
                    </a:lnTo>
                    <a:lnTo>
                      <a:pt x="195618" y="723836"/>
                    </a:lnTo>
                    <a:lnTo>
                      <a:pt x="204381" y="717892"/>
                    </a:lnTo>
                    <a:lnTo>
                      <a:pt x="210312" y="709079"/>
                    </a:lnTo>
                    <a:lnTo>
                      <a:pt x="212483" y="698334"/>
                    </a:lnTo>
                    <a:close/>
                  </a:path>
                  <a:path w="671194" h="726439">
                    <a:moveTo>
                      <a:pt x="518756" y="243179"/>
                    </a:moveTo>
                    <a:lnTo>
                      <a:pt x="481647" y="178727"/>
                    </a:lnTo>
                    <a:lnTo>
                      <a:pt x="466572" y="204901"/>
                    </a:lnTo>
                    <a:lnTo>
                      <a:pt x="437426" y="154152"/>
                    </a:lnTo>
                    <a:lnTo>
                      <a:pt x="400316" y="218605"/>
                    </a:lnTo>
                    <a:lnTo>
                      <a:pt x="458685" y="218605"/>
                    </a:lnTo>
                    <a:lnTo>
                      <a:pt x="444538" y="243179"/>
                    </a:lnTo>
                    <a:lnTo>
                      <a:pt x="518756" y="243179"/>
                    </a:lnTo>
                    <a:close/>
                  </a:path>
                  <a:path w="671194" h="726439">
                    <a:moveTo>
                      <a:pt x="657491" y="413346"/>
                    </a:moveTo>
                    <a:lnTo>
                      <a:pt x="655320" y="402628"/>
                    </a:lnTo>
                    <a:lnTo>
                      <a:pt x="649401" y="393852"/>
                    </a:lnTo>
                    <a:lnTo>
                      <a:pt x="640651" y="387908"/>
                    </a:lnTo>
                    <a:lnTo>
                      <a:pt x="629996" y="385737"/>
                    </a:lnTo>
                    <a:lnTo>
                      <a:pt x="619277" y="387908"/>
                    </a:lnTo>
                    <a:lnTo>
                      <a:pt x="610514" y="393852"/>
                    </a:lnTo>
                    <a:lnTo>
                      <a:pt x="604583" y="402628"/>
                    </a:lnTo>
                    <a:lnTo>
                      <a:pt x="602411" y="413346"/>
                    </a:lnTo>
                    <a:lnTo>
                      <a:pt x="604583" y="424091"/>
                    </a:lnTo>
                    <a:lnTo>
                      <a:pt x="610514" y="432892"/>
                    </a:lnTo>
                    <a:lnTo>
                      <a:pt x="619277" y="438848"/>
                    </a:lnTo>
                    <a:lnTo>
                      <a:pt x="629996" y="441032"/>
                    </a:lnTo>
                    <a:lnTo>
                      <a:pt x="640651" y="438848"/>
                    </a:lnTo>
                    <a:lnTo>
                      <a:pt x="649401" y="432892"/>
                    </a:lnTo>
                    <a:lnTo>
                      <a:pt x="655320" y="424091"/>
                    </a:lnTo>
                    <a:lnTo>
                      <a:pt x="657491" y="413346"/>
                    </a:lnTo>
                    <a:close/>
                  </a:path>
                  <a:path w="671194" h="726439">
                    <a:moveTo>
                      <a:pt x="670890" y="485089"/>
                    </a:moveTo>
                    <a:lnTo>
                      <a:pt x="668718" y="474345"/>
                    </a:lnTo>
                    <a:lnTo>
                      <a:pt x="662800" y="465543"/>
                    </a:lnTo>
                    <a:lnTo>
                      <a:pt x="654050" y="459587"/>
                    </a:lnTo>
                    <a:lnTo>
                      <a:pt x="643382" y="457403"/>
                    </a:lnTo>
                    <a:lnTo>
                      <a:pt x="632675" y="459587"/>
                    </a:lnTo>
                    <a:lnTo>
                      <a:pt x="631050" y="460692"/>
                    </a:lnTo>
                    <a:lnTo>
                      <a:pt x="628065" y="458673"/>
                    </a:lnTo>
                    <a:lnTo>
                      <a:pt x="617359" y="456488"/>
                    </a:lnTo>
                    <a:lnTo>
                      <a:pt x="606691" y="458673"/>
                    </a:lnTo>
                    <a:lnTo>
                      <a:pt x="597954" y="464604"/>
                    </a:lnTo>
                    <a:lnTo>
                      <a:pt x="592035" y="473379"/>
                    </a:lnTo>
                    <a:lnTo>
                      <a:pt x="589864" y="484085"/>
                    </a:lnTo>
                    <a:lnTo>
                      <a:pt x="592035" y="494830"/>
                    </a:lnTo>
                    <a:lnTo>
                      <a:pt x="597954" y="503643"/>
                    </a:lnTo>
                    <a:lnTo>
                      <a:pt x="606691" y="509587"/>
                    </a:lnTo>
                    <a:lnTo>
                      <a:pt x="617359" y="511771"/>
                    </a:lnTo>
                    <a:lnTo>
                      <a:pt x="628065" y="509587"/>
                    </a:lnTo>
                    <a:lnTo>
                      <a:pt x="629678" y="508495"/>
                    </a:lnTo>
                    <a:lnTo>
                      <a:pt x="632675" y="510514"/>
                    </a:lnTo>
                    <a:lnTo>
                      <a:pt x="643382" y="512686"/>
                    </a:lnTo>
                    <a:lnTo>
                      <a:pt x="654050" y="510514"/>
                    </a:lnTo>
                    <a:lnTo>
                      <a:pt x="662800" y="504583"/>
                    </a:lnTo>
                    <a:lnTo>
                      <a:pt x="668718" y="495808"/>
                    </a:lnTo>
                    <a:lnTo>
                      <a:pt x="670890" y="485089"/>
                    </a:lnTo>
                    <a:close/>
                  </a:path>
                </a:pathLst>
              </a:custGeom>
              <a:solidFill>
                <a:srgbClr val="CC6677"/>
              </a:solidFill>
            </p:spPr>
            <p:txBody>
              <a:bodyPr wrap="square" lIns="0" tIns="0" rIns="0" bIns="0" rtlCol="0"/>
              <a:lstStyle/>
              <a:p>
                <a:endParaRPr/>
              </a:p>
            </p:txBody>
          </p:sp>
          <p:sp>
            <p:nvSpPr>
              <p:cNvPr id="107" name="object 107"/>
              <p:cNvSpPr/>
              <p:nvPr/>
            </p:nvSpPr>
            <p:spPr>
              <a:xfrm>
                <a:off x="2335619" y="613028"/>
                <a:ext cx="220345" cy="328295"/>
              </a:xfrm>
              <a:custGeom>
                <a:avLst/>
                <a:gdLst/>
                <a:ahLst/>
                <a:cxnLst/>
                <a:rect l="l" t="t" r="r" b="b"/>
                <a:pathLst>
                  <a:path w="220344" h="328294">
                    <a:moveTo>
                      <a:pt x="74218" y="64452"/>
                    </a:moveTo>
                    <a:lnTo>
                      <a:pt x="37109" y="0"/>
                    </a:lnTo>
                    <a:lnTo>
                      <a:pt x="0" y="64452"/>
                    </a:lnTo>
                    <a:lnTo>
                      <a:pt x="74218" y="64452"/>
                    </a:lnTo>
                    <a:close/>
                  </a:path>
                  <a:path w="220344" h="328294">
                    <a:moveTo>
                      <a:pt x="220319" y="300456"/>
                    </a:moveTo>
                    <a:lnTo>
                      <a:pt x="218135" y="289712"/>
                    </a:lnTo>
                    <a:lnTo>
                      <a:pt x="212217" y="280911"/>
                    </a:lnTo>
                    <a:lnTo>
                      <a:pt x="203479" y="274955"/>
                    </a:lnTo>
                    <a:lnTo>
                      <a:pt x="192811" y="272770"/>
                    </a:lnTo>
                    <a:lnTo>
                      <a:pt x="182105" y="274955"/>
                    </a:lnTo>
                    <a:lnTo>
                      <a:pt x="173329" y="280911"/>
                    </a:lnTo>
                    <a:lnTo>
                      <a:pt x="167411" y="289712"/>
                    </a:lnTo>
                    <a:lnTo>
                      <a:pt x="165239" y="300456"/>
                    </a:lnTo>
                    <a:lnTo>
                      <a:pt x="167411" y="311175"/>
                    </a:lnTo>
                    <a:lnTo>
                      <a:pt x="173329" y="319951"/>
                    </a:lnTo>
                    <a:lnTo>
                      <a:pt x="182105" y="325894"/>
                    </a:lnTo>
                    <a:lnTo>
                      <a:pt x="192811" y="328066"/>
                    </a:lnTo>
                    <a:lnTo>
                      <a:pt x="203479" y="325894"/>
                    </a:lnTo>
                    <a:lnTo>
                      <a:pt x="212217" y="319951"/>
                    </a:lnTo>
                    <a:lnTo>
                      <a:pt x="218135" y="311175"/>
                    </a:lnTo>
                    <a:lnTo>
                      <a:pt x="220319" y="300456"/>
                    </a:lnTo>
                    <a:close/>
                  </a:path>
                </a:pathLst>
              </a:custGeom>
              <a:solidFill>
                <a:srgbClr val="AA4499"/>
              </a:solidFill>
            </p:spPr>
            <p:txBody>
              <a:bodyPr wrap="square" lIns="0" tIns="0" rIns="0" bIns="0" rtlCol="0"/>
              <a:lstStyle/>
              <a:p>
                <a:endParaRPr/>
              </a:p>
            </p:txBody>
          </p:sp>
          <p:sp>
            <p:nvSpPr>
              <p:cNvPr id="108" name="object 108"/>
              <p:cNvSpPr/>
              <p:nvPr/>
            </p:nvSpPr>
            <p:spPr>
              <a:xfrm>
                <a:off x="733323" y="2100427"/>
                <a:ext cx="728980" cy="577850"/>
              </a:xfrm>
              <a:custGeom>
                <a:avLst/>
                <a:gdLst/>
                <a:ahLst/>
                <a:cxnLst/>
                <a:rect l="l" t="t" r="r" b="b"/>
                <a:pathLst>
                  <a:path w="728980" h="577850">
                    <a:moveTo>
                      <a:pt x="77012" y="366382"/>
                    </a:moveTo>
                    <a:lnTo>
                      <a:pt x="69634" y="353555"/>
                    </a:lnTo>
                    <a:lnTo>
                      <a:pt x="74142" y="353555"/>
                    </a:lnTo>
                    <a:lnTo>
                      <a:pt x="63677" y="335368"/>
                    </a:lnTo>
                    <a:lnTo>
                      <a:pt x="76009" y="335368"/>
                    </a:lnTo>
                    <a:lnTo>
                      <a:pt x="38900" y="270840"/>
                    </a:lnTo>
                    <a:lnTo>
                      <a:pt x="1866" y="335368"/>
                    </a:lnTo>
                    <a:lnTo>
                      <a:pt x="10426" y="335368"/>
                    </a:lnTo>
                    <a:lnTo>
                      <a:pt x="0" y="353555"/>
                    </a:lnTo>
                    <a:lnTo>
                      <a:pt x="10160" y="353555"/>
                    </a:lnTo>
                    <a:lnTo>
                      <a:pt x="2794" y="366382"/>
                    </a:lnTo>
                    <a:lnTo>
                      <a:pt x="77012" y="366382"/>
                    </a:lnTo>
                    <a:close/>
                  </a:path>
                  <a:path w="728980" h="577850">
                    <a:moveTo>
                      <a:pt x="266712" y="549694"/>
                    </a:moveTo>
                    <a:lnTo>
                      <a:pt x="264528" y="538937"/>
                    </a:lnTo>
                    <a:lnTo>
                      <a:pt x="258610" y="530136"/>
                    </a:lnTo>
                    <a:lnTo>
                      <a:pt x="249847" y="524192"/>
                    </a:lnTo>
                    <a:lnTo>
                      <a:pt x="244487" y="523100"/>
                    </a:lnTo>
                    <a:lnTo>
                      <a:pt x="244005" y="520712"/>
                    </a:lnTo>
                    <a:lnTo>
                      <a:pt x="238086" y="511937"/>
                    </a:lnTo>
                    <a:lnTo>
                      <a:pt x="229311" y="506006"/>
                    </a:lnTo>
                    <a:lnTo>
                      <a:pt x="218605" y="503821"/>
                    </a:lnTo>
                    <a:lnTo>
                      <a:pt x="207937" y="506006"/>
                    </a:lnTo>
                    <a:lnTo>
                      <a:pt x="203454" y="509041"/>
                    </a:lnTo>
                    <a:lnTo>
                      <a:pt x="199097" y="506082"/>
                    </a:lnTo>
                    <a:lnTo>
                      <a:pt x="188391" y="503897"/>
                    </a:lnTo>
                    <a:lnTo>
                      <a:pt x="177685" y="506082"/>
                    </a:lnTo>
                    <a:lnTo>
                      <a:pt x="168948" y="512025"/>
                    </a:lnTo>
                    <a:lnTo>
                      <a:pt x="163055" y="520827"/>
                    </a:lnTo>
                    <a:lnTo>
                      <a:pt x="160896" y="531583"/>
                    </a:lnTo>
                    <a:lnTo>
                      <a:pt x="163055" y="542290"/>
                    </a:lnTo>
                    <a:lnTo>
                      <a:pt x="168948" y="551065"/>
                    </a:lnTo>
                    <a:lnTo>
                      <a:pt x="177685" y="556996"/>
                    </a:lnTo>
                    <a:lnTo>
                      <a:pt x="188391" y="559181"/>
                    </a:lnTo>
                    <a:lnTo>
                      <a:pt x="199097" y="556996"/>
                    </a:lnTo>
                    <a:lnTo>
                      <a:pt x="203581" y="553974"/>
                    </a:lnTo>
                    <a:lnTo>
                      <a:pt x="207937" y="556920"/>
                    </a:lnTo>
                    <a:lnTo>
                      <a:pt x="213233" y="558012"/>
                    </a:lnTo>
                    <a:lnTo>
                      <a:pt x="213728" y="560400"/>
                    </a:lnTo>
                    <a:lnTo>
                      <a:pt x="219659" y="569188"/>
                    </a:lnTo>
                    <a:lnTo>
                      <a:pt x="228422" y="575119"/>
                    </a:lnTo>
                    <a:lnTo>
                      <a:pt x="239141" y="577303"/>
                    </a:lnTo>
                    <a:lnTo>
                      <a:pt x="249847" y="575119"/>
                    </a:lnTo>
                    <a:lnTo>
                      <a:pt x="258610" y="569188"/>
                    </a:lnTo>
                    <a:lnTo>
                      <a:pt x="264528" y="560400"/>
                    </a:lnTo>
                    <a:lnTo>
                      <a:pt x="266712" y="549694"/>
                    </a:lnTo>
                    <a:close/>
                  </a:path>
                  <a:path w="728980" h="577850">
                    <a:moveTo>
                      <a:pt x="465239" y="64452"/>
                    </a:moveTo>
                    <a:lnTo>
                      <a:pt x="428129" y="0"/>
                    </a:lnTo>
                    <a:lnTo>
                      <a:pt x="391020" y="64452"/>
                    </a:lnTo>
                    <a:lnTo>
                      <a:pt x="465239" y="64452"/>
                    </a:lnTo>
                    <a:close/>
                  </a:path>
                  <a:path w="728980" h="577850">
                    <a:moveTo>
                      <a:pt x="578180" y="134340"/>
                    </a:moveTo>
                    <a:lnTo>
                      <a:pt x="546023" y="78435"/>
                    </a:lnTo>
                    <a:lnTo>
                      <a:pt x="560438" y="78435"/>
                    </a:lnTo>
                    <a:lnTo>
                      <a:pt x="523328" y="13982"/>
                    </a:lnTo>
                    <a:lnTo>
                      <a:pt x="486219" y="78435"/>
                    </a:lnTo>
                    <a:lnTo>
                      <a:pt x="536105" y="78435"/>
                    </a:lnTo>
                    <a:lnTo>
                      <a:pt x="503961" y="134340"/>
                    </a:lnTo>
                    <a:lnTo>
                      <a:pt x="578180" y="134340"/>
                    </a:lnTo>
                    <a:close/>
                  </a:path>
                  <a:path w="728980" h="577850">
                    <a:moveTo>
                      <a:pt x="674306" y="64135"/>
                    </a:moveTo>
                    <a:lnTo>
                      <a:pt x="672134" y="53378"/>
                    </a:lnTo>
                    <a:lnTo>
                      <a:pt x="666216" y="44577"/>
                    </a:lnTo>
                    <a:lnTo>
                      <a:pt x="657466" y="38633"/>
                    </a:lnTo>
                    <a:lnTo>
                      <a:pt x="646811" y="36449"/>
                    </a:lnTo>
                    <a:lnTo>
                      <a:pt x="636092" y="38633"/>
                    </a:lnTo>
                    <a:lnTo>
                      <a:pt x="627329" y="44577"/>
                    </a:lnTo>
                    <a:lnTo>
                      <a:pt x="621398" y="53378"/>
                    </a:lnTo>
                    <a:lnTo>
                      <a:pt x="619226" y="64135"/>
                    </a:lnTo>
                    <a:lnTo>
                      <a:pt x="621398" y="74841"/>
                    </a:lnTo>
                    <a:lnTo>
                      <a:pt x="627329" y="83629"/>
                    </a:lnTo>
                    <a:lnTo>
                      <a:pt x="636092" y="89560"/>
                    </a:lnTo>
                    <a:lnTo>
                      <a:pt x="646811" y="91744"/>
                    </a:lnTo>
                    <a:lnTo>
                      <a:pt x="657466" y="89560"/>
                    </a:lnTo>
                    <a:lnTo>
                      <a:pt x="666216" y="83629"/>
                    </a:lnTo>
                    <a:lnTo>
                      <a:pt x="672134" y="74841"/>
                    </a:lnTo>
                    <a:lnTo>
                      <a:pt x="674306" y="64135"/>
                    </a:lnTo>
                    <a:close/>
                  </a:path>
                  <a:path w="728980" h="577850">
                    <a:moveTo>
                      <a:pt x="726516" y="377418"/>
                    </a:moveTo>
                    <a:lnTo>
                      <a:pt x="724331" y="366712"/>
                    </a:lnTo>
                    <a:lnTo>
                      <a:pt x="718426" y="357936"/>
                    </a:lnTo>
                    <a:lnTo>
                      <a:pt x="709676" y="352005"/>
                    </a:lnTo>
                    <a:lnTo>
                      <a:pt x="699020" y="349821"/>
                    </a:lnTo>
                    <a:lnTo>
                      <a:pt x="688301" y="352005"/>
                    </a:lnTo>
                    <a:lnTo>
                      <a:pt x="679526" y="357936"/>
                    </a:lnTo>
                    <a:lnTo>
                      <a:pt x="673608" y="366712"/>
                    </a:lnTo>
                    <a:lnTo>
                      <a:pt x="671436" y="377418"/>
                    </a:lnTo>
                    <a:lnTo>
                      <a:pt x="673608" y="388175"/>
                    </a:lnTo>
                    <a:lnTo>
                      <a:pt x="679526" y="396976"/>
                    </a:lnTo>
                    <a:lnTo>
                      <a:pt x="688301" y="402920"/>
                    </a:lnTo>
                    <a:lnTo>
                      <a:pt x="699020" y="405104"/>
                    </a:lnTo>
                    <a:lnTo>
                      <a:pt x="709676" y="402920"/>
                    </a:lnTo>
                    <a:lnTo>
                      <a:pt x="718426" y="396976"/>
                    </a:lnTo>
                    <a:lnTo>
                      <a:pt x="724331" y="388175"/>
                    </a:lnTo>
                    <a:lnTo>
                      <a:pt x="726516" y="377418"/>
                    </a:lnTo>
                    <a:close/>
                  </a:path>
                  <a:path w="728980" h="577850">
                    <a:moveTo>
                      <a:pt x="728522" y="230492"/>
                    </a:moveTo>
                    <a:lnTo>
                      <a:pt x="726351" y="219748"/>
                    </a:lnTo>
                    <a:lnTo>
                      <a:pt x="720432" y="210947"/>
                    </a:lnTo>
                    <a:lnTo>
                      <a:pt x="711695" y="204990"/>
                    </a:lnTo>
                    <a:lnTo>
                      <a:pt x="701027" y="202806"/>
                    </a:lnTo>
                    <a:lnTo>
                      <a:pt x="690321" y="204990"/>
                    </a:lnTo>
                    <a:lnTo>
                      <a:pt x="681545" y="210947"/>
                    </a:lnTo>
                    <a:lnTo>
                      <a:pt x="675627" y="219748"/>
                    </a:lnTo>
                    <a:lnTo>
                      <a:pt x="673442" y="230492"/>
                    </a:lnTo>
                    <a:lnTo>
                      <a:pt x="675627" y="241198"/>
                    </a:lnTo>
                    <a:lnTo>
                      <a:pt x="681545" y="249974"/>
                    </a:lnTo>
                    <a:lnTo>
                      <a:pt x="690321" y="255917"/>
                    </a:lnTo>
                    <a:lnTo>
                      <a:pt x="701027" y="258089"/>
                    </a:lnTo>
                    <a:lnTo>
                      <a:pt x="711695" y="255917"/>
                    </a:lnTo>
                    <a:lnTo>
                      <a:pt x="720432" y="249974"/>
                    </a:lnTo>
                    <a:lnTo>
                      <a:pt x="726351" y="241198"/>
                    </a:lnTo>
                    <a:lnTo>
                      <a:pt x="728522" y="230492"/>
                    </a:lnTo>
                    <a:close/>
                  </a:path>
                </a:pathLst>
              </a:custGeom>
              <a:solidFill>
                <a:srgbClr val="CC6677"/>
              </a:solidFill>
            </p:spPr>
            <p:txBody>
              <a:bodyPr wrap="square" lIns="0" tIns="0" rIns="0" bIns="0" rtlCol="0"/>
              <a:lstStyle/>
              <a:p>
                <a:endParaRPr/>
              </a:p>
            </p:txBody>
          </p:sp>
          <p:sp>
            <p:nvSpPr>
              <p:cNvPr id="109" name="object 109"/>
              <p:cNvSpPr/>
              <p:nvPr/>
            </p:nvSpPr>
            <p:spPr>
              <a:xfrm>
                <a:off x="2429662" y="519734"/>
                <a:ext cx="107950" cy="226060"/>
              </a:xfrm>
              <a:custGeom>
                <a:avLst/>
                <a:gdLst/>
                <a:ahLst/>
                <a:cxnLst/>
                <a:rect l="l" t="t" r="r" b="b"/>
                <a:pathLst>
                  <a:path w="107950" h="226059">
                    <a:moveTo>
                      <a:pt x="55079" y="198323"/>
                    </a:moveTo>
                    <a:lnTo>
                      <a:pt x="52908" y="187566"/>
                    </a:lnTo>
                    <a:lnTo>
                      <a:pt x="46977" y="178765"/>
                    </a:lnTo>
                    <a:lnTo>
                      <a:pt x="38214" y="172821"/>
                    </a:lnTo>
                    <a:lnTo>
                      <a:pt x="27495" y="170637"/>
                    </a:lnTo>
                    <a:lnTo>
                      <a:pt x="16840" y="172821"/>
                    </a:lnTo>
                    <a:lnTo>
                      <a:pt x="8089" y="178765"/>
                    </a:lnTo>
                    <a:lnTo>
                      <a:pt x="2184" y="187566"/>
                    </a:lnTo>
                    <a:lnTo>
                      <a:pt x="0" y="198323"/>
                    </a:lnTo>
                    <a:lnTo>
                      <a:pt x="2184" y="209029"/>
                    </a:lnTo>
                    <a:lnTo>
                      <a:pt x="8089" y="217805"/>
                    </a:lnTo>
                    <a:lnTo>
                      <a:pt x="16840" y="223735"/>
                    </a:lnTo>
                    <a:lnTo>
                      <a:pt x="27495" y="225920"/>
                    </a:lnTo>
                    <a:lnTo>
                      <a:pt x="38214" y="223735"/>
                    </a:lnTo>
                    <a:lnTo>
                      <a:pt x="46977" y="217805"/>
                    </a:lnTo>
                    <a:lnTo>
                      <a:pt x="52908" y="209029"/>
                    </a:lnTo>
                    <a:lnTo>
                      <a:pt x="55079" y="198323"/>
                    </a:lnTo>
                    <a:close/>
                  </a:path>
                  <a:path w="107950" h="226059">
                    <a:moveTo>
                      <a:pt x="107530" y="64528"/>
                    </a:moveTo>
                    <a:lnTo>
                      <a:pt x="70421" y="0"/>
                    </a:lnTo>
                    <a:lnTo>
                      <a:pt x="33388" y="64528"/>
                    </a:lnTo>
                    <a:lnTo>
                      <a:pt x="107530" y="64528"/>
                    </a:lnTo>
                    <a:close/>
                  </a:path>
                </a:pathLst>
              </a:custGeom>
              <a:solidFill>
                <a:srgbClr val="AA4499"/>
              </a:solidFill>
            </p:spPr>
            <p:txBody>
              <a:bodyPr wrap="square" lIns="0" tIns="0" rIns="0" bIns="0" rtlCol="0"/>
              <a:lstStyle/>
              <a:p>
                <a:endParaRPr/>
              </a:p>
            </p:txBody>
          </p:sp>
          <p:sp>
            <p:nvSpPr>
              <p:cNvPr id="110" name="object 110"/>
              <p:cNvSpPr/>
              <p:nvPr/>
            </p:nvSpPr>
            <p:spPr>
              <a:xfrm>
                <a:off x="787400" y="2350591"/>
                <a:ext cx="193040" cy="396240"/>
              </a:xfrm>
              <a:custGeom>
                <a:avLst/>
                <a:gdLst/>
                <a:ahLst/>
                <a:cxnLst/>
                <a:rect l="l" t="t" r="r" b="b"/>
                <a:pathLst>
                  <a:path w="193040" h="396239">
                    <a:moveTo>
                      <a:pt x="74218" y="64528"/>
                    </a:moveTo>
                    <a:lnTo>
                      <a:pt x="37109" y="0"/>
                    </a:lnTo>
                    <a:lnTo>
                      <a:pt x="0" y="64528"/>
                    </a:lnTo>
                    <a:lnTo>
                      <a:pt x="74218" y="64528"/>
                    </a:lnTo>
                    <a:close/>
                  </a:path>
                  <a:path w="193040" h="396239">
                    <a:moveTo>
                      <a:pt x="193040" y="368020"/>
                    </a:moveTo>
                    <a:lnTo>
                      <a:pt x="190855" y="357263"/>
                    </a:lnTo>
                    <a:lnTo>
                      <a:pt x="184937" y="348462"/>
                    </a:lnTo>
                    <a:lnTo>
                      <a:pt x="176161" y="342519"/>
                    </a:lnTo>
                    <a:lnTo>
                      <a:pt x="165455" y="340334"/>
                    </a:lnTo>
                    <a:lnTo>
                      <a:pt x="154787" y="342519"/>
                    </a:lnTo>
                    <a:lnTo>
                      <a:pt x="146050" y="348462"/>
                    </a:lnTo>
                    <a:lnTo>
                      <a:pt x="140131" y="357263"/>
                    </a:lnTo>
                    <a:lnTo>
                      <a:pt x="137960" y="368020"/>
                    </a:lnTo>
                    <a:lnTo>
                      <a:pt x="140131" y="378764"/>
                    </a:lnTo>
                    <a:lnTo>
                      <a:pt x="146050" y="387565"/>
                    </a:lnTo>
                    <a:lnTo>
                      <a:pt x="154787" y="393522"/>
                    </a:lnTo>
                    <a:lnTo>
                      <a:pt x="165455" y="395706"/>
                    </a:lnTo>
                    <a:lnTo>
                      <a:pt x="176161" y="393522"/>
                    </a:lnTo>
                    <a:lnTo>
                      <a:pt x="184937" y="387565"/>
                    </a:lnTo>
                    <a:lnTo>
                      <a:pt x="190855" y="378764"/>
                    </a:lnTo>
                    <a:lnTo>
                      <a:pt x="193040" y="368020"/>
                    </a:lnTo>
                    <a:close/>
                  </a:path>
                </a:pathLst>
              </a:custGeom>
              <a:solidFill>
                <a:srgbClr val="CC6677"/>
              </a:solidFill>
            </p:spPr>
            <p:txBody>
              <a:bodyPr wrap="square" lIns="0" tIns="0" rIns="0" bIns="0" rtlCol="0"/>
              <a:lstStyle/>
              <a:p>
                <a:endParaRPr/>
              </a:p>
            </p:txBody>
          </p:sp>
          <p:sp>
            <p:nvSpPr>
              <p:cNvPr id="111" name="object 111"/>
              <p:cNvSpPr/>
              <p:nvPr/>
            </p:nvSpPr>
            <p:spPr>
              <a:xfrm>
                <a:off x="2403640" y="655319"/>
                <a:ext cx="196215" cy="189865"/>
              </a:xfrm>
              <a:custGeom>
                <a:avLst/>
                <a:gdLst/>
                <a:ahLst/>
                <a:cxnLst/>
                <a:rect l="l" t="t" r="r" b="b"/>
                <a:pathLst>
                  <a:path w="196214" h="189865">
                    <a:moveTo>
                      <a:pt x="74142" y="64452"/>
                    </a:moveTo>
                    <a:lnTo>
                      <a:pt x="37109" y="0"/>
                    </a:lnTo>
                    <a:lnTo>
                      <a:pt x="0" y="64452"/>
                    </a:lnTo>
                    <a:lnTo>
                      <a:pt x="74142" y="64452"/>
                    </a:lnTo>
                    <a:close/>
                  </a:path>
                  <a:path w="196214" h="189865">
                    <a:moveTo>
                      <a:pt x="195745" y="162242"/>
                    </a:moveTo>
                    <a:lnTo>
                      <a:pt x="193573" y="151485"/>
                    </a:lnTo>
                    <a:lnTo>
                      <a:pt x="187655" y="142684"/>
                    </a:lnTo>
                    <a:lnTo>
                      <a:pt x="178904" y="136740"/>
                    </a:lnTo>
                    <a:lnTo>
                      <a:pt x="168236" y="134556"/>
                    </a:lnTo>
                    <a:lnTo>
                      <a:pt x="157530" y="136740"/>
                    </a:lnTo>
                    <a:lnTo>
                      <a:pt x="148767" y="142684"/>
                    </a:lnTo>
                    <a:lnTo>
                      <a:pt x="142836" y="151485"/>
                    </a:lnTo>
                    <a:lnTo>
                      <a:pt x="140665" y="162242"/>
                    </a:lnTo>
                    <a:lnTo>
                      <a:pt x="142836" y="172948"/>
                    </a:lnTo>
                    <a:lnTo>
                      <a:pt x="148767" y="181737"/>
                    </a:lnTo>
                    <a:lnTo>
                      <a:pt x="157530" y="187667"/>
                    </a:lnTo>
                    <a:lnTo>
                      <a:pt x="168236" y="189852"/>
                    </a:lnTo>
                    <a:lnTo>
                      <a:pt x="178904" y="187667"/>
                    </a:lnTo>
                    <a:lnTo>
                      <a:pt x="187655" y="181737"/>
                    </a:lnTo>
                    <a:lnTo>
                      <a:pt x="193573" y="172948"/>
                    </a:lnTo>
                    <a:lnTo>
                      <a:pt x="195745" y="162242"/>
                    </a:lnTo>
                    <a:close/>
                  </a:path>
                </a:pathLst>
              </a:custGeom>
              <a:solidFill>
                <a:srgbClr val="AA4499"/>
              </a:solidFill>
            </p:spPr>
            <p:txBody>
              <a:bodyPr wrap="square" lIns="0" tIns="0" rIns="0" bIns="0" rtlCol="0"/>
              <a:lstStyle/>
              <a:p>
                <a:endParaRPr/>
              </a:p>
            </p:txBody>
          </p:sp>
          <p:sp>
            <p:nvSpPr>
              <p:cNvPr id="112" name="object 112"/>
              <p:cNvSpPr/>
              <p:nvPr/>
            </p:nvSpPr>
            <p:spPr>
              <a:xfrm>
                <a:off x="790422" y="2428722"/>
                <a:ext cx="139065" cy="264160"/>
              </a:xfrm>
              <a:custGeom>
                <a:avLst/>
                <a:gdLst/>
                <a:ahLst/>
                <a:cxnLst/>
                <a:rect l="l" t="t" r="r" b="b"/>
                <a:pathLst>
                  <a:path w="139065" h="264160">
                    <a:moveTo>
                      <a:pt x="74142" y="64528"/>
                    </a:moveTo>
                    <a:lnTo>
                      <a:pt x="37109" y="0"/>
                    </a:lnTo>
                    <a:lnTo>
                      <a:pt x="0" y="64528"/>
                    </a:lnTo>
                    <a:lnTo>
                      <a:pt x="74142" y="64528"/>
                    </a:lnTo>
                    <a:close/>
                  </a:path>
                  <a:path w="139065" h="264160">
                    <a:moveTo>
                      <a:pt x="139052" y="236016"/>
                    </a:moveTo>
                    <a:lnTo>
                      <a:pt x="136867" y="225259"/>
                    </a:lnTo>
                    <a:lnTo>
                      <a:pt x="130962" y="216458"/>
                    </a:lnTo>
                    <a:lnTo>
                      <a:pt x="122212" y="210515"/>
                    </a:lnTo>
                    <a:lnTo>
                      <a:pt x="111556" y="208330"/>
                    </a:lnTo>
                    <a:lnTo>
                      <a:pt x="100838" y="210515"/>
                    </a:lnTo>
                    <a:lnTo>
                      <a:pt x="92062" y="216458"/>
                    </a:lnTo>
                    <a:lnTo>
                      <a:pt x="86144" y="225259"/>
                    </a:lnTo>
                    <a:lnTo>
                      <a:pt x="83972" y="236016"/>
                    </a:lnTo>
                    <a:lnTo>
                      <a:pt x="86144" y="246722"/>
                    </a:lnTo>
                    <a:lnTo>
                      <a:pt x="92062" y="255498"/>
                    </a:lnTo>
                    <a:lnTo>
                      <a:pt x="100838" y="261429"/>
                    </a:lnTo>
                    <a:lnTo>
                      <a:pt x="111556" y="263613"/>
                    </a:lnTo>
                    <a:lnTo>
                      <a:pt x="122212" y="261429"/>
                    </a:lnTo>
                    <a:lnTo>
                      <a:pt x="130962" y="255498"/>
                    </a:lnTo>
                    <a:lnTo>
                      <a:pt x="136867" y="246722"/>
                    </a:lnTo>
                    <a:lnTo>
                      <a:pt x="139052" y="236016"/>
                    </a:lnTo>
                    <a:close/>
                  </a:path>
                </a:pathLst>
              </a:custGeom>
              <a:solidFill>
                <a:srgbClr val="CC6677"/>
              </a:solidFill>
            </p:spPr>
            <p:txBody>
              <a:bodyPr wrap="square" lIns="0" tIns="0" rIns="0" bIns="0" rtlCol="0"/>
              <a:lstStyle/>
              <a:p>
                <a:endParaRPr/>
              </a:p>
            </p:txBody>
          </p:sp>
          <p:sp>
            <p:nvSpPr>
              <p:cNvPr id="113" name="object 113"/>
              <p:cNvSpPr/>
              <p:nvPr/>
            </p:nvSpPr>
            <p:spPr>
              <a:xfrm>
                <a:off x="2486825" y="633082"/>
                <a:ext cx="74295" cy="97155"/>
              </a:xfrm>
              <a:custGeom>
                <a:avLst/>
                <a:gdLst/>
                <a:ahLst/>
                <a:cxnLst/>
                <a:rect l="l" t="t" r="r" b="b"/>
                <a:pathLst>
                  <a:path w="74294" h="97154">
                    <a:moveTo>
                      <a:pt x="74218" y="64528"/>
                    </a:moveTo>
                    <a:lnTo>
                      <a:pt x="37109" y="0"/>
                    </a:lnTo>
                    <a:lnTo>
                      <a:pt x="0" y="64528"/>
                    </a:lnTo>
                    <a:lnTo>
                      <a:pt x="14554" y="64528"/>
                    </a:lnTo>
                    <a:lnTo>
                      <a:pt x="13639" y="69037"/>
                    </a:lnTo>
                    <a:lnTo>
                      <a:pt x="15811" y="79781"/>
                    </a:lnTo>
                    <a:lnTo>
                      <a:pt x="21729" y="88582"/>
                    </a:lnTo>
                    <a:lnTo>
                      <a:pt x="30480" y="94538"/>
                    </a:lnTo>
                    <a:lnTo>
                      <a:pt x="41135" y="96723"/>
                    </a:lnTo>
                    <a:lnTo>
                      <a:pt x="51854" y="94538"/>
                    </a:lnTo>
                    <a:lnTo>
                      <a:pt x="60617" y="88582"/>
                    </a:lnTo>
                    <a:lnTo>
                      <a:pt x="66548" y="79781"/>
                    </a:lnTo>
                    <a:lnTo>
                      <a:pt x="68719" y="69037"/>
                    </a:lnTo>
                    <a:lnTo>
                      <a:pt x="67792" y="64528"/>
                    </a:lnTo>
                    <a:lnTo>
                      <a:pt x="74218" y="64528"/>
                    </a:lnTo>
                    <a:close/>
                  </a:path>
                </a:pathLst>
              </a:custGeom>
              <a:solidFill>
                <a:srgbClr val="AA4499"/>
              </a:solidFill>
            </p:spPr>
            <p:txBody>
              <a:bodyPr wrap="square" lIns="0" tIns="0" rIns="0" bIns="0" rtlCol="0"/>
              <a:lstStyle/>
              <a:p>
                <a:endParaRPr/>
              </a:p>
            </p:txBody>
          </p:sp>
          <p:sp>
            <p:nvSpPr>
              <p:cNvPr id="114" name="object 114"/>
              <p:cNvSpPr/>
              <p:nvPr/>
            </p:nvSpPr>
            <p:spPr>
              <a:xfrm>
                <a:off x="730770" y="2279840"/>
                <a:ext cx="217170" cy="287655"/>
              </a:xfrm>
              <a:custGeom>
                <a:avLst/>
                <a:gdLst/>
                <a:ahLst/>
                <a:cxnLst/>
                <a:rect l="l" t="t" r="r" b="b"/>
                <a:pathLst>
                  <a:path w="217169" h="287655">
                    <a:moveTo>
                      <a:pt x="74218" y="64452"/>
                    </a:moveTo>
                    <a:lnTo>
                      <a:pt x="37109" y="0"/>
                    </a:lnTo>
                    <a:lnTo>
                      <a:pt x="0" y="64452"/>
                    </a:lnTo>
                    <a:lnTo>
                      <a:pt x="74218" y="64452"/>
                    </a:lnTo>
                    <a:close/>
                  </a:path>
                  <a:path w="217169" h="287655">
                    <a:moveTo>
                      <a:pt x="216585" y="259892"/>
                    </a:moveTo>
                    <a:lnTo>
                      <a:pt x="214414" y="249135"/>
                    </a:lnTo>
                    <a:lnTo>
                      <a:pt x="208495" y="240334"/>
                    </a:lnTo>
                    <a:lnTo>
                      <a:pt x="199720" y="234391"/>
                    </a:lnTo>
                    <a:lnTo>
                      <a:pt x="189001" y="232206"/>
                    </a:lnTo>
                    <a:lnTo>
                      <a:pt x="178346" y="234391"/>
                    </a:lnTo>
                    <a:lnTo>
                      <a:pt x="169595" y="240334"/>
                    </a:lnTo>
                    <a:lnTo>
                      <a:pt x="163690" y="249135"/>
                    </a:lnTo>
                    <a:lnTo>
                      <a:pt x="161505" y="259892"/>
                    </a:lnTo>
                    <a:lnTo>
                      <a:pt x="163690" y="270624"/>
                    </a:lnTo>
                    <a:lnTo>
                      <a:pt x="169595" y="279400"/>
                    </a:lnTo>
                    <a:lnTo>
                      <a:pt x="178346" y="285330"/>
                    </a:lnTo>
                    <a:lnTo>
                      <a:pt x="189001" y="287502"/>
                    </a:lnTo>
                    <a:lnTo>
                      <a:pt x="199720" y="285330"/>
                    </a:lnTo>
                    <a:lnTo>
                      <a:pt x="208495" y="279400"/>
                    </a:lnTo>
                    <a:lnTo>
                      <a:pt x="214414" y="270624"/>
                    </a:lnTo>
                    <a:lnTo>
                      <a:pt x="216585" y="259892"/>
                    </a:lnTo>
                    <a:close/>
                  </a:path>
                </a:pathLst>
              </a:custGeom>
              <a:solidFill>
                <a:srgbClr val="CC6677"/>
              </a:solidFill>
            </p:spPr>
            <p:txBody>
              <a:bodyPr wrap="square" lIns="0" tIns="0" rIns="0" bIns="0" rtlCol="0"/>
              <a:lstStyle/>
              <a:p>
                <a:endParaRPr/>
              </a:p>
            </p:txBody>
          </p:sp>
          <p:sp>
            <p:nvSpPr>
              <p:cNvPr id="115" name="object 115"/>
              <p:cNvSpPr/>
              <p:nvPr/>
            </p:nvSpPr>
            <p:spPr>
              <a:xfrm>
                <a:off x="2314397" y="616445"/>
                <a:ext cx="193675" cy="78740"/>
              </a:xfrm>
              <a:custGeom>
                <a:avLst/>
                <a:gdLst/>
                <a:ahLst/>
                <a:cxnLst/>
                <a:rect l="l" t="t" r="r" b="b"/>
                <a:pathLst>
                  <a:path w="193675" h="78740">
                    <a:moveTo>
                      <a:pt x="74218" y="64452"/>
                    </a:moveTo>
                    <a:lnTo>
                      <a:pt x="37109" y="0"/>
                    </a:lnTo>
                    <a:lnTo>
                      <a:pt x="0" y="64452"/>
                    </a:lnTo>
                    <a:lnTo>
                      <a:pt x="74218" y="64452"/>
                    </a:lnTo>
                    <a:close/>
                  </a:path>
                  <a:path w="193675" h="78740">
                    <a:moveTo>
                      <a:pt x="193128" y="50927"/>
                    </a:moveTo>
                    <a:lnTo>
                      <a:pt x="190944" y="40208"/>
                    </a:lnTo>
                    <a:lnTo>
                      <a:pt x="185026" y="31432"/>
                    </a:lnTo>
                    <a:lnTo>
                      <a:pt x="176250" y="25501"/>
                    </a:lnTo>
                    <a:lnTo>
                      <a:pt x="165544" y="23329"/>
                    </a:lnTo>
                    <a:lnTo>
                      <a:pt x="154876" y="25501"/>
                    </a:lnTo>
                    <a:lnTo>
                      <a:pt x="146138" y="31432"/>
                    </a:lnTo>
                    <a:lnTo>
                      <a:pt x="140220" y="40208"/>
                    </a:lnTo>
                    <a:lnTo>
                      <a:pt x="138049" y="50927"/>
                    </a:lnTo>
                    <a:lnTo>
                      <a:pt x="140220" y="61671"/>
                    </a:lnTo>
                    <a:lnTo>
                      <a:pt x="146138" y="70472"/>
                    </a:lnTo>
                    <a:lnTo>
                      <a:pt x="154876" y="76428"/>
                    </a:lnTo>
                    <a:lnTo>
                      <a:pt x="165544" y="78613"/>
                    </a:lnTo>
                    <a:lnTo>
                      <a:pt x="176250" y="76428"/>
                    </a:lnTo>
                    <a:lnTo>
                      <a:pt x="185026" y="70472"/>
                    </a:lnTo>
                    <a:lnTo>
                      <a:pt x="190944" y="61671"/>
                    </a:lnTo>
                    <a:lnTo>
                      <a:pt x="193128" y="50927"/>
                    </a:lnTo>
                    <a:close/>
                  </a:path>
                </a:pathLst>
              </a:custGeom>
              <a:solidFill>
                <a:srgbClr val="AA4499"/>
              </a:solidFill>
            </p:spPr>
            <p:txBody>
              <a:bodyPr wrap="square" lIns="0" tIns="0" rIns="0" bIns="0" rtlCol="0"/>
              <a:lstStyle/>
              <a:p>
                <a:endParaRPr/>
              </a:p>
            </p:txBody>
          </p:sp>
          <p:sp>
            <p:nvSpPr>
              <p:cNvPr id="116" name="object 116"/>
              <p:cNvSpPr/>
              <p:nvPr/>
            </p:nvSpPr>
            <p:spPr>
              <a:xfrm>
                <a:off x="773607" y="2382456"/>
                <a:ext cx="267335" cy="328295"/>
              </a:xfrm>
              <a:custGeom>
                <a:avLst/>
                <a:gdLst/>
                <a:ahLst/>
                <a:cxnLst/>
                <a:rect l="l" t="t" r="r" b="b"/>
                <a:pathLst>
                  <a:path w="267334" h="328294">
                    <a:moveTo>
                      <a:pt x="111010" y="77203"/>
                    </a:moveTo>
                    <a:lnTo>
                      <a:pt x="73901" y="12750"/>
                    </a:lnTo>
                    <a:lnTo>
                      <a:pt x="61823" y="33756"/>
                    </a:lnTo>
                    <a:lnTo>
                      <a:pt x="47104" y="8166"/>
                    </a:lnTo>
                    <a:lnTo>
                      <a:pt x="43370" y="14643"/>
                    </a:lnTo>
                    <a:lnTo>
                      <a:pt x="37109" y="3733"/>
                    </a:lnTo>
                    <a:lnTo>
                      <a:pt x="0" y="68262"/>
                    </a:lnTo>
                    <a:lnTo>
                      <a:pt x="12496" y="68262"/>
                    </a:lnTo>
                    <a:lnTo>
                      <a:pt x="9994" y="72618"/>
                    </a:lnTo>
                    <a:lnTo>
                      <a:pt x="39497" y="72618"/>
                    </a:lnTo>
                    <a:lnTo>
                      <a:pt x="36868" y="77203"/>
                    </a:lnTo>
                    <a:lnTo>
                      <a:pt x="111010" y="77203"/>
                    </a:lnTo>
                    <a:close/>
                  </a:path>
                  <a:path w="267334" h="328294">
                    <a:moveTo>
                      <a:pt x="210159" y="30556"/>
                    </a:moveTo>
                    <a:lnTo>
                      <a:pt x="207987" y="19850"/>
                    </a:lnTo>
                    <a:lnTo>
                      <a:pt x="202057" y="11061"/>
                    </a:lnTo>
                    <a:lnTo>
                      <a:pt x="193294" y="5130"/>
                    </a:lnTo>
                    <a:lnTo>
                      <a:pt x="182587" y="2946"/>
                    </a:lnTo>
                    <a:lnTo>
                      <a:pt x="171869" y="5130"/>
                    </a:lnTo>
                    <a:lnTo>
                      <a:pt x="163106" y="11061"/>
                    </a:lnTo>
                    <a:lnTo>
                      <a:pt x="157175" y="19850"/>
                    </a:lnTo>
                    <a:lnTo>
                      <a:pt x="155003" y="30556"/>
                    </a:lnTo>
                    <a:lnTo>
                      <a:pt x="157175" y="41313"/>
                    </a:lnTo>
                    <a:lnTo>
                      <a:pt x="163106" y="50114"/>
                    </a:lnTo>
                    <a:lnTo>
                      <a:pt x="171869" y="56057"/>
                    </a:lnTo>
                    <a:lnTo>
                      <a:pt x="182587" y="58242"/>
                    </a:lnTo>
                    <a:lnTo>
                      <a:pt x="193294" y="56057"/>
                    </a:lnTo>
                    <a:lnTo>
                      <a:pt x="202057" y="50114"/>
                    </a:lnTo>
                    <a:lnTo>
                      <a:pt x="207987" y="41313"/>
                    </a:lnTo>
                    <a:lnTo>
                      <a:pt x="210159" y="30556"/>
                    </a:lnTo>
                    <a:close/>
                  </a:path>
                  <a:path w="267334" h="328294">
                    <a:moveTo>
                      <a:pt x="262597" y="300469"/>
                    </a:moveTo>
                    <a:lnTo>
                      <a:pt x="260426" y="289763"/>
                    </a:lnTo>
                    <a:lnTo>
                      <a:pt x="254508" y="280987"/>
                    </a:lnTo>
                    <a:lnTo>
                      <a:pt x="245770" y="275056"/>
                    </a:lnTo>
                    <a:lnTo>
                      <a:pt x="235102" y="272872"/>
                    </a:lnTo>
                    <a:lnTo>
                      <a:pt x="224396" y="275056"/>
                    </a:lnTo>
                    <a:lnTo>
                      <a:pt x="215620" y="280987"/>
                    </a:lnTo>
                    <a:lnTo>
                      <a:pt x="209702" y="289763"/>
                    </a:lnTo>
                    <a:lnTo>
                      <a:pt x="207518" y="300469"/>
                    </a:lnTo>
                    <a:lnTo>
                      <a:pt x="209702" y="311226"/>
                    </a:lnTo>
                    <a:lnTo>
                      <a:pt x="215620" y="320027"/>
                    </a:lnTo>
                    <a:lnTo>
                      <a:pt x="224396" y="325970"/>
                    </a:lnTo>
                    <a:lnTo>
                      <a:pt x="235102" y="328155"/>
                    </a:lnTo>
                    <a:lnTo>
                      <a:pt x="245770" y="325970"/>
                    </a:lnTo>
                    <a:lnTo>
                      <a:pt x="254508" y="320027"/>
                    </a:lnTo>
                    <a:lnTo>
                      <a:pt x="260426" y="311226"/>
                    </a:lnTo>
                    <a:lnTo>
                      <a:pt x="262597" y="300469"/>
                    </a:lnTo>
                    <a:close/>
                  </a:path>
                  <a:path w="267334" h="328294">
                    <a:moveTo>
                      <a:pt x="266941" y="27686"/>
                    </a:moveTo>
                    <a:lnTo>
                      <a:pt x="264756" y="16929"/>
                    </a:lnTo>
                    <a:lnTo>
                      <a:pt x="258838" y="8128"/>
                    </a:lnTo>
                    <a:lnTo>
                      <a:pt x="250075" y="2184"/>
                    </a:lnTo>
                    <a:lnTo>
                      <a:pt x="239369" y="0"/>
                    </a:lnTo>
                    <a:lnTo>
                      <a:pt x="228650" y="2184"/>
                    </a:lnTo>
                    <a:lnTo>
                      <a:pt x="219875" y="8128"/>
                    </a:lnTo>
                    <a:lnTo>
                      <a:pt x="213956" y="16929"/>
                    </a:lnTo>
                    <a:lnTo>
                      <a:pt x="211785" y="27686"/>
                    </a:lnTo>
                    <a:lnTo>
                      <a:pt x="213956" y="38392"/>
                    </a:lnTo>
                    <a:lnTo>
                      <a:pt x="219875" y="47167"/>
                    </a:lnTo>
                    <a:lnTo>
                      <a:pt x="228650" y="53098"/>
                    </a:lnTo>
                    <a:lnTo>
                      <a:pt x="239369" y="55283"/>
                    </a:lnTo>
                    <a:lnTo>
                      <a:pt x="250075" y="53098"/>
                    </a:lnTo>
                    <a:lnTo>
                      <a:pt x="258838" y="47167"/>
                    </a:lnTo>
                    <a:lnTo>
                      <a:pt x="264756" y="38392"/>
                    </a:lnTo>
                    <a:lnTo>
                      <a:pt x="266941" y="27686"/>
                    </a:lnTo>
                    <a:close/>
                  </a:path>
                </a:pathLst>
              </a:custGeom>
              <a:solidFill>
                <a:srgbClr val="CC6677"/>
              </a:solidFill>
            </p:spPr>
            <p:txBody>
              <a:bodyPr wrap="square" lIns="0" tIns="0" rIns="0" bIns="0" rtlCol="0"/>
              <a:lstStyle/>
              <a:p>
                <a:endParaRPr/>
              </a:p>
            </p:txBody>
          </p:sp>
          <p:sp>
            <p:nvSpPr>
              <p:cNvPr id="117" name="object 117"/>
              <p:cNvSpPr/>
              <p:nvPr/>
            </p:nvSpPr>
            <p:spPr>
              <a:xfrm>
                <a:off x="3765791" y="2787929"/>
                <a:ext cx="187960" cy="346710"/>
              </a:xfrm>
              <a:custGeom>
                <a:avLst/>
                <a:gdLst/>
                <a:ahLst/>
                <a:cxnLst/>
                <a:rect l="l" t="t" r="r" b="b"/>
                <a:pathLst>
                  <a:path w="187960" h="346710">
                    <a:moveTo>
                      <a:pt x="86144" y="64528"/>
                    </a:moveTo>
                    <a:lnTo>
                      <a:pt x="49110" y="0"/>
                    </a:lnTo>
                    <a:lnTo>
                      <a:pt x="37185" y="20726"/>
                    </a:lnTo>
                    <a:lnTo>
                      <a:pt x="37033" y="20447"/>
                    </a:lnTo>
                    <a:lnTo>
                      <a:pt x="0" y="84899"/>
                    </a:lnTo>
                    <a:lnTo>
                      <a:pt x="28562" y="84899"/>
                    </a:lnTo>
                    <a:lnTo>
                      <a:pt x="1473" y="132016"/>
                    </a:lnTo>
                    <a:lnTo>
                      <a:pt x="75692" y="132016"/>
                    </a:lnTo>
                    <a:lnTo>
                      <a:pt x="48590" y="84899"/>
                    </a:lnTo>
                    <a:lnTo>
                      <a:pt x="74142" y="84899"/>
                    </a:lnTo>
                    <a:lnTo>
                      <a:pt x="62407" y="64528"/>
                    </a:lnTo>
                    <a:lnTo>
                      <a:pt x="86144" y="64528"/>
                    </a:lnTo>
                    <a:close/>
                  </a:path>
                  <a:path w="187960" h="346710">
                    <a:moveTo>
                      <a:pt x="136182" y="318884"/>
                    </a:moveTo>
                    <a:lnTo>
                      <a:pt x="134010" y="308140"/>
                    </a:lnTo>
                    <a:lnTo>
                      <a:pt x="128079" y="299339"/>
                    </a:lnTo>
                    <a:lnTo>
                      <a:pt x="119303" y="293395"/>
                    </a:lnTo>
                    <a:lnTo>
                      <a:pt x="108597" y="291198"/>
                    </a:lnTo>
                    <a:lnTo>
                      <a:pt x="97929" y="293395"/>
                    </a:lnTo>
                    <a:lnTo>
                      <a:pt x="89192" y="299339"/>
                    </a:lnTo>
                    <a:lnTo>
                      <a:pt x="83273" y="308140"/>
                    </a:lnTo>
                    <a:lnTo>
                      <a:pt x="81102" y="318884"/>
                    </a:lnTo>
                    <a:lnTo>
                      <a:pt x="83273" y="329641"/>
                    </a:lnTo>
                    <a:lnTo>
                      <a:pt x="89192" y="338442"/>
                    </a:lnTo>
                    <a:lnTo>
                      <a:pt x="97929" y="344385"/>
                    </a:lnTo>
                    <a:lnTo>
                      <a:pt x="108597" y="346570"/>
                    </a:lnTo>
                    <a:lnTo>
                      <a:pt x="119303" y="344385"/>
                    </a:lnTo>
                    <a:lnTo>
                      <a:pt x="128079" y="338442"/>
                    </a:lnTo>
                    <a:lnTo>
                      <a:pt x="134010" y="329641"/>
                    </a:lnTo>
                    <a:lnTo>
                      <a:pt x="136182" y="318884"/>
                    </a:lnTo>
                    <a:close/>
                  </a:path>
                  <a:path w="187960" h="346710">
                    <a:moveTo>
                      <a:pt x="184823" y="274040"/>
                    </a:moveTo>
                    <a:lnTo>
                      <a:pt x="182651" y="263283"/>
                    </a:lnTo>
                    <a:lnTo>
                      <a:pt x="176720" y="254482"/>
                    </a:lnTo>
                    <a:lnTo>
                      <a:pt x="167957" y="248539"/>
                    </a:lnTo>
                    <a:lnTo>
                      <a:pt x="157238" y="246354"/>
                    </a:lnTo>
                    <a:lnTo>
                      <a:pt x="146583" y="248539"/>
                    </a:lnTo>
                    <a:lnTo>
                      <a:pt x="137833" y="254482"/>
                    </a:lnTo>
                    <a:lnTo>
                      <a:pt x="131927" y="263283"/>
                    </a:lnTo>
                    <a:lnTo>
                      <a:pt x="129743" y="274040"/>
                    </a:lnTo>
                    <a:lnTo>
                      <a:pt x="131927" y="284746"/>
                    </a:lnTo>
                    <a:lnTo>
                      <a:pt x="137833" y="293522"/>
                    </a:lnTo>
                    <a:lnTo>
                      <a:pt x="146583" y="299453"/>
                    </a:lnTo>
                    <a:lnTo>
                      <a:pt x="157238" y="301637"/>
                    </a:lnTo>
                    <a:lnTo>
                      <a:pt x="167957" y="299453"/>
                    </a:lnTo>
                    <a:lnTo>
                      <a:pt x="176720" y="293522"/>
                    </a:lnTo>
                    <a:lnTo>
                      <a:pt x="182651" y="284746"/>
                    </a:lnTo>
                    <a:lnTo>
                      <a:pt x="184823" y="274040"/>
                    </a:lnTo>
                    <a:close/>
                  </a:path>
                  <a:path w="187960" h="346710">
                    <a:moveTo>
                      <a:pt x="187540" y="203454"/>
                    </a:moveTo>
                    <a:lnTo>
                      <a:pt x="185356" y="192697"/>
                    </a:lnTo>
                    <a:lnTo>
                      <a:pt x="179438" y="183896"/>
                    </a:lnTo>
                    <a:lnTo>
                      <a:pt x="170662" y="177952"/>
                    </a:lnTo>
                    <a:lnTo>
                      <a:pt x="159956" y="175768"/>
                    </a:lnTo>
                    <a:lnTo>
                      <a:pt x="149288" y="177952"/>
                    </a:lnTo>
                    <a:lnTo>
                      <a:pt x="140550" y="183896"/>
                    </a:lnTo>
                    <a:lnTo>
                      <a:pt x="134632" y="192697"/>
                    </a:lnTo>
                    <a:lnTo>
                      <a:pt x="132461" y="203454"/>
                    </a:lnTo>
                    <a:lnTo>
                      <a:pt x="134632" y="214160"/>
                    </a:lnTo>
                    <a:lnTo>
                      <a:pt x="140550" y="222935"/>
                    </a:lnTo>
                    <a:lnTo>
                      <a:pt x="149288" y="228866"/>
                    </a:lnTo>
                    <a:lnTo>
                      <a:pt x="159956" y="231051"/>
                    </a:lnTo>
                    <a:lnTo>
                      <a:pt x="170662" y="228866"/>
                    </a:lnTo>
                    <a:lnTo>
                      <a:pt x="179438" y="222935"/>
                    </a:lnTo>
                    <a:lnTo>
                      <a:pt x="185356" y="214160"/>
                    </a:lnTo>
                    <a:lnTo>
                      <a:pt x="187540" y="203454"/>
                    </a:lnTo>
                    <a:close/>
                  </a:path>
                </a:pathLst>
              </a:custGeom>
              <a:solidFill>
                <a:srgbClr val="DDCC77"/>
              </a:solidFill>
            </p:spPr>
            <p:txBody>
              <a:bodyPr wrap="square" lIns="0" tIns="0" rIns="0" bIns="0" rtlCol="0"/>
              <a:lstStyle/>
              <a:p>
                <a:endParaRPr/>
              </a:p>
            </p:txBody>
          </p:sp>
          <p:sp>
            <p:nvSpPr>
              <p:cNvPr id="118" name="object 118"/>
              <p:cNvSpPr/>
              <p:nvPr/>
            </p:nvSpPr>
            <p:spPr>
              <a:xfrm>
                <a:off x="2715869" y="3006864"/>
                <a:ext cx="248285" cy="285115"/>
              </a:xfrm>
              <a:custGeom>
                <a:avLst/>
                <a:gdLst/>
                <a:ahLst/>
                <a:cxnLst/>
                <a:rect l="l" t="t" r="r" b="b"/>
                <a:pathLst>
                  <a:path w="248285" h="285114">
                    <a:moveTo>
                      <a:pt x="118452" y="64452"/>
                    </a:moveTo>
                    <a:lnTo>
                      <a:pt x="81343" y="0"/>
                    </a:lnTo>
                    <a:lnTo>
                      <a:pt x="57111" y="42087"/>
                    </a:lnTo>
                    <a:lnTo>
                      <a:pt x="37109" y="7226"/>
                    </a:lnTo>
                    <a:lnTo>
                      <a:pt x="0" y="71755"/>
                    </a:lnTo>
                    <a:lnTo>
                      <a:pt x="52590" y="71755"/>
                    </a:lnTo>
                    <a:lnTo>
                      <a:pt x="34785" y="102692"/>
                    </a:lnTo>
                    <a:lnTo>
                      <a:pt x="109004" y="102692"/>
                    </a:lnTo>
                    <a:lnTo>
                      <a:pt x="86982" y="64452"/>
                    </a:lnTo>
                    <a:lnTo>
                      <a:pt x="118452" y="64452"/>
                    </a:lnTo>
                    <a:close/>
                  </a:path>
                  <a:path w="248285" h="285114">
                    <a:moveTo>
                      <a:pt x="248196" y="257073"/>
                    </a:moveTo>
                    <a:lnTo>
                      <a:pt x="246024" y="246367"/>
                    </a:lnTo>
                    <a:lnTo>
                      <a:pt x="240093" y="237591"/>
                    </a:lnTo>
                    <a:lnTo>
                      <a:pt x="233527" y="233159"/>
                    </a:lnTo>
                    <a:lnTo>
                      <a:pt x="231495" y="230136"/>
                    </a:lnTo>
                    <a:lnTo>
                      <a:pt x="222732" y="224205"/>
                    </a:lnTo>
                    <a:lnTo>
                      <a:pt x="217360" y="223113"/>
                    </a:lnTo>
                    <a:lnTo>
                      <a:pt x="220002" y="219202"/>
                    </a:lnTo>
                    <a:lnTo>
                      <a:pt x="222173" y="208495"/>
                    </a:lnTo>
                    <a:lnTo>
                      <a:pt x="220002" y="197739"/>
                    </a:lnTo>
                    <a:lnTo>
                      <a:pt x="214083" y="188937"/>
                    </a:lnTo>
                    <a:lnTo>
                      <a:pt x="205333" y="182994"/>
                    </a:lnTo>
                    <a:lnTo>
                      <a:pt x="194678" y="180809"/>
                    </a:lnTo>
                    <a:lnTo>
                      <a:pt x="183959" y="182994"/>
                    </a:lnTo>
                    <a:lnTo>
                      <a:pt x="175196" y="188937"/>
                    </a:lnTo>
                    <a:lnTo>
                      <a:pt x="169265" y="197739"/>
                    </a:lnTo>
                    <a:lnTo>
                      <a:pt x="167093" y="208495"/>
                    </a:lnTo>
                    <a:lnTo>
                      <a:pt x="169265" y="219202"/>
                    </a:lnTo>
                    <a:lnTo>
                      <a:pt x="175196" y="227977"/>
                    </a:lnTo>
                    <a:lnTo>
                      <a:pt x="183959" y="233908"/>
                    </a:lnTo>
                    <a:lnTo>
                      <a:pt x="189318" y="235013"/>
                    </a:lnTo>
                    <a:lnTo>
                      <a:pt x="186690" y="238912"/>
                    </a:lnTo>
                    <a:lnTo>
                      <a:pt x="184518" y="249618"/>
                    </a:lnTo>
                    <a:lnTo>
                      <a:pt x="186690" y="260362"/>
                    </a:lnTo>
                    <a:lnTo>
                      <a:pt x="192608" y="269176"/>
                    </a:lnTo>
                    <a:lnTo>
                      <a:pt x="199199" y="273659"/>
                    </a:lnTo>
                    <a:lnTo>
                      <a:pt x="201206" y="276631"/>
                    </a:lnTo>
                    <a:lnTo>
                      <a:pt x="209956" y="282575"/>
                    </a:lnTo>
                    <a:lnTo>
                      <a:pt x="220611" y="284759"/>
                    </a:lnTo>
                    <a:lnTo>
                      <a:pt x="231330" y="282575"/>
                    </a:lnTo>
                    <a:lnTo>
                      <a:pt x="240093" y="276631"/>
                    </a:lnTo>
                    <a:lnTo>
                      <a:pt x="246024" y="267830"/>
                    </a:lnTo>
                    <a:lnTo>
                      <a:pt x="248196" y="257073"/>
                    </a:lnTo>
                    <a:close/>
                  </a:path>
                </a:pathLst>
              </a:custGeom>
              <a:solidFill>
                <a:srgbClr val="117733"/>
              </a:solidFill>
            </p:spPr>
            <p:txBody>
              <a:bodyPr wrap="square" lIns="0" tIns="0" rIns="0" bIns="0" rtlCol="0"/>
              <a:lstStyle/>
              <a:p>
                <a:endParaRPr/>
              </a:p>
            </p:txBody>
          </p:sp>
          <p:sp>
            <p:nvSpPr>
              <p:cNvPr id="119" name="object 119"/>
              <p:cNvSpPr/>
              <p:nvPr/>
            </p:nvSpPr>
            <p:spPr>
              <a:xfrm>
                <a:off x="3111004" y="2658820"/>
                <a:ext cx="267335" cy="312420"/>
              </a:xfrm>
              <a:custGeom>
                <a:avLst/>
                <a:gdLst/>
                <a:ahLst/>
                <a:cxnLst/>
                <a:rect l="l" t="t" r="r" b="b"/>
                <a:pathLst>
                  <a:path w="267335" h="312419">
                    <a:moveTo>
                      <a:pt x="74218" y="75958"/>
                    </a:moveTo>
                    <a:lnTo>
                      <a:pt x="37109" y="11430"/>
                    </a:lnTo>
                    <a:lnTo>
                      <a:pt x="0" y="75958"/>
                    </a:lnTo>
                    <a:lnTo>
                      <a:pt x="74218" y="75958"/>
                    </a:lnTo>
                    <a:close/>
                  </a:path>
                  <a:path w="267335" h="312419">
                    <a:moveTo>
                      <a:pt x="144627" y="64452"/>
                    </a:moveTo>
                    <a:lnTo>
                      <a:pt x="107518" y="0"/>
                    </a:lnTo>
                    <a:lnTo>
                      <a:pt x="70408" y="64452"/>
                    </a:lnTo>
                    <a:lnTo>
                      <a:pt x="144627" y="64452"/>
                    </a:lnTo>
                    <a:close/>
                  </a:path>
                  <a:path w="267335" h="312419">
                    <a:moveTo>
                      <a:pt x="245097" y="284683"/>
                    </a:moveTo>
                    <a:lnTo>
                      <a:pt x="242925" y="273939"/>
                    </a:lnTo>
                    <a:lnTo>
                      <a:pt x="237007" y="265137"/>
                    </a:lnTo>
                    <a:lnTo>
                      <a:pt x="228257" y="259181"/>
                    </a:lnTo>
                    <a:lnTo>
                      <a:pt x="217601" y="256997"/>
                    </a:lnTo>
                    <a:lnTo>
                      <a:pt x="206883" y="259181"/>
                    </a:lnTo>
                    <a:lnTo>
                      <a:pt x="198120" y="265137"/>
                    </a:lnTo>
                    <a:lnTo>
                      <a:pt x="192189" y="273939"/>
                    </a:lnTo>
                    <a:lnTo>
                      <a:pt x="190017" y="284683"/>
                    </a:lnTo>
                    <a:lnTo>
                      <a:pt x="192189" y="295402"/>
                    </a:lnTo>
                    <a:lnTo>
                      <a:pt x="198120" y="304177"/>
                    </a:lnTo>
                    <a:lnTo>
                      <a:pt x="206883" y="310108"/>
                    </a:lnTo>
                    <a:lnTo>
                      <a:pt x="217601" y="312280"/>
                    </a:lnTo>
                    <a:lnTo>
                      <a:pt x="228257" y="310108"/>
                    </a:lnTo>
                    <a:lnTo>
                      <a:pt x="237007" y="304177"/>
                    </a:lnTo>
                    <a:lnTo>
                      <a:pt x="242925" y="295402"/>
                    </a:lnTo>
                    <a:lnTo>
                      <a:pt x="245097" y="284683"/>
                    </a:lnTo>
                    <a:close/>
                  </a:path>
                  <a:path w="267335" h="312419">
                    <a:moveTo>
                      <a:pt x="267169" y="229412"/>
                    </a:moveTo>
                    <a:lnTo>
                      <a:pt x="264998" y="218668"/>
                    </a:lnTo>
                    <a:lnTo>
                      <a:pt x="259067" y="209867"/>
                    </a:lnTo>
                    <a:lnTo>
                      <a:pt x="250304" y="203911"/>
                    </a:lnTo>
                    <a:lnTo>
                      <a:pt x="239585" y="201726"/>
                    </a:lnTo>
                    <a:lnTo>
                      <a:pt x="228930" y="203911"/>
                    </a:lnTo>
                    <a:lnTo>
                      <a:pt x="220179" y="209867"/>
                    </a:lnTo>
                    <a:lnTo>
                      <a:pt x="214274" y="218668"/>
                    </a:lnTo>
                    <a:lnTo>
                      <a:pt x="212090" y="229412"/>
                    </a:lnTo>
                    <a:lnTo>
                      <a:pt x="214274" y="240118"/>
                    </a:lnTo>
                    <a:lnTo>
                      <a:pt x="220179" y="248894"/>
                    </a:lnTo>
                    <a:lnTo>
                      <a:pt x="228930" y="254838"/>
                    </a:lnTo>
                    <a:lnTo>
                      <a:pt x="239585" y="257009"/>
                    </a:lnTo>
                    <a:lnTo>
                      <a:pt x="250304" y="254838"/>
                    </a:lnTo>
                    <a:lnTo>
                      <a:pt x="259067" y="248894"/>
                    </a:lnTo>
                    <a:lnTo>
                      <a:pt x="264998" y="240118"/>
                    </a:lnTo>
                    <a:lnTo>
                      <a:pt x="267169" y="229412"/>
                    </a:lnTo>
                    <a:close/>
                  </a:path>
                </a:pathLst>
              </a:custGeom>
              <a:solidFill>
                <a:srgbClr val="88CCEE"/>
              </a:solidFill>
            </p:spPr>
            <p:txBody>
              <a:bodyPr wrap="square" lIns="0" tIns="0" rIns="0" bIns="0" rtlCol="0"/>
              <a:lstStyle/>
              <a:p>
                <a:endParaRPr/>
              </a:p>
            </p:txBody>
          </p:sp>
        </p:grpSp>
      </p:grpSp>
      <p:sp>
        <p:nvSpPr>
          <p:cNvPr id="121" name="object 121"/>
          <p:cNvSpPr txBox="1"/>
          <p:nvPr/>
        </p:nvSpPr>
        <p:spPr>
          <a:xfrm>
            <a:off x="54609" y="5803961"/>
            <a:ext cx="9774359" cy="1090042"/>
          </a:xfrm>
          <a:prstGeom prst="rect">
            <a:avLst/>
          </a:prstGeom>
        </p:spPr>
        <p:txBody>
          <a:bodyPr vert="horz" wrap="square" lIns="0" tIns="12700" rIns="0" bIns="0" rtlCol="0">
            <a:spAutoFit/>
          </a:bodyPr>
          <a:lstStyle/>
          <a:p>
            <a:pPr marR="5080" algn="just">
              <a:lnSpc>
                <a:spcPts val="1435"/>
              </a:lnSpc>
              <a:spcBef>
                <a:spcPts val="100"/>
              </a:spcBef>
            </a:pPr>
            <a:r>
              <a:rPr lang="en-US" sz="1200" b="1" dirty="0">
                <a:latin typeface="Times New Roman"/>
                <a:cs typeface="Times New Roman"/>
              </a:rPr>
              <a:t>Fig. S1.</a:t>
            </a:r>
            <a:r>
              <a:rPr lang="en-US" sz="1200" b="1" spc="459" dirty="0">
                <a:latin typeface="Times New Roman"/>
                <a:cs typeface="Times New Roman"/>
              </a:rPr>
              <a:t> </a:t>
            </a:r>
            <a:r>
              <a:rPr lang="en-US" sz="1200" b="1" dirty="0">
                <a:latin typeface="Times New Roman"/>
                <a:cs typeface="Times New Roman"/>
              </a:rPr>
              <a:t>Principal</a:t>
            </a:r>
            <a:r>
              <a:rPr lang="en-US" sz="1200" b="1" spc="455" dirty="0">
                <a:latin typeface="Times New Roman"/>
                <a:cs typeface="Times New Roman"/>
              </a:rPr>
              <a:t> </a:t>
            </a:r>
            <a:r>
              <a:rPr lang="en-US" sz="1200" b="1" dirty="0">
                <a:latin typeface="Times New Roman"/>
                <a:cs typeface="Times New Roman"/>
              </a:rPr>
              <a:t>component</a:t>
            </a:r>
            <a:r>
              <a:rPr lang="en-US" sz="1200" b="1" spc="455" dirty="0">
                <a:latin typeface="Times New Roman"/>
                <a:cs typeface="Times New Roman"/>
              </a:rPr>
              <a:t> </a:t>
            </a:r>
            <a:r>
              <a:rPr lang="en-US" sz="1200" b="1" dirty="0">
                <a:latin typeface="Times New Roman"/>
                <a:cs typeface="Times New Roman"/>
              </a:rPr>
              <a:t>analysis</a:t>
            </a:r>
            <a:r>
              <a:rPr lang="en-US" sz="1200" b="1" spc="459" dirty="0">
                <a:latin typeface="Times New Roman"/>
                <a:cs typeface="Times New Roman"/>
              </a:rPr>
              <a:t> </a:t>
            </a:r>
            <a:r>
              <a:rPr lang="en-US" sz="1200" b="1" dirty="0">
                <a:latin typeface="Times New Roman"/>
                <a:cs typeface="Times New Roman"/>
              </a:rPr>
              <a:t>(PCA)</a:t>
            </a:r>
            <a:r>
              <a:rPr lang="en-US" sz="1200" b="1" spc="455" dirty="0">
                <a:latin typeface="Times New Roman"/>
                <a:cs typeface="Times New Roman"/>
              </a:rPr>
              <a:t> </a:t>
            </a:r>
            <a:r>
              <a:rPr lang="en-US" sz="1200" b="1" spc="-25" dirty="0">
                <a:latin typeface="Times New Roman"/>
                <a:cs typeface="Times New Roman"/>
              </a:rPr>
              <a:t>of</a:t>
            </a:r>
            <a:r>
              <a:rPr lang="en-US" sz="1200" dirty="0">
                <a:latin typeface="Times New Roman"/>
                <a:cs typeface="Times New Roman"/>
              </a:rPr>
              <a:t> </a:t>
            </a:r>
            <a:r>
              <a:rPr sz="1200" b="1" spc="-10" dirty="0">
                <a:latin typeface="Times New Roman"/>
                <a:cs typeface="Times New Roman"/>
              </a:rPr>
              <a:t>log-</a:t>
            </a:r>
            <a:r>
              <a:rPr sz="1200" b="1" dirty="0">
                <a:latin typeface="Times New Roman"/>
                <a:cs typeface="Times New Roman"/>
              </a:rPr>
              <a:t>transformed</a:t>
            </a:r>
            <a:r>
              <a:rPr sz="1200" b="1" spc="440" dirty="0">
                <a:latin typeface="Times New Roman"/>
                <a:cs typeface="Times New Roman"/>
              </a:rPr>
              <a:t> </a:t>
            </a:r>
            <a:r>
              <a:rPr sz="1200" b="1" dirty="0">
                <a:latin typeface="Times New Roman"/>
                <a:cs typeface="Times New Roman"/>
              </a:rPr>
              <a:t>protein</a:t>
            </a:r>
            <a:r>
              <a:rPr sz="1200" b="1" spc="445" dirty="0">
                <a:latin typeface="Times New Roman"/>
                <a:cs typeface="Times New Roman"/>
              </a:rPr>
              <a:t> </a:t>
            </a:r>
            <a:r>
              <a:rPr sz="1200" b="1" dirty="0">
                <a:latin typeface="Times New Roman"/>
                <a:cs typeface="Times New Roman"/>
              </a:rPr>
              <a:t>abundance</a:t>
            </a:r>
            <a:r>
              <a:rPr sz="1200" b="1" spc="440" dirty="0">
                <a:latin typeface="Times New Roman"/>
                <a:cs typeface="Times New Roman"/>
              </a:rPr>
              <a:t> </a:t>
            </a:r>
            <a:r>
              <a:rPr sz="1200" b="1" dirty="0">
                <a:latin typeface="Times New Roman"/>
                <a:cs typeface="Times New Roman"/>
              </a:rPr>
              <a:t>data.</a:t>
            </a:r>
            <a:r>
              <a:rPr sz="1200" b="1" spc="445" dirty="0">
                <a:latin typeface="Times New Roman"/>
                <a:cs typeface="Times New Roman"/>
              </a:rPr>
              <a:t> </a:t>
            </a:r>
            <a:r>
              <a:rPr sz="1200" b="1" dirty="0">
                <a:latin typeface="Times New Roman"/>
                <a:cs typeface="Times New Roman"/>
              </a:rPr>
              <a:t>(A)</a:t>
            </a:r>
            <a:r>
              <a:rPr sz="1200" b="1" spc="440" dirty="0">
                <a:latin typeface="Times New Roman"/>
                <a:cs typeface="Times New Roman"/>
              </a:rPr>
              <a:t> </a:t>
            </a:r>
            <a:r>
              <a:rPr sz="1200" dirty="0">
                <a:latin typeface="Times New Roman"/>
                <a:cs typeface="Times New Roman"/>
              </a:rPr>
              <a:t>PCA</a:t>
            </a:r>
            <a:r>
              <a:rPr sz="1200" spc="440" dirty="0">
                <a:latin typeface="Times New Roman"/>
                <a:cs typeface="Times New Roman"/>
              </a:rPr>
              <a:t> </a:t>
            </a:r>
            <a:r>
              <a:rPr sz="1200" spc="-25" dirty="0">
                <a:latin typeface="Times New Roman"/>
                <a:cs typeface="Times New Roman"/>
              </a:rPr>
              <a:t>of</a:t>
            </a:r>
            <a:r>
              <a:rPr lang="en-US" sz="1200" spc="-25" dirty="0">
                <a:latin typeface="Times New Roman"/>
                <a:cs typeface="Times New Roman"/>
              </a:rPr>
              <a:t> </a:t>
            </a:r>
            <a:r>
              <a:rPr sz="1200" dirty="0">
                <a:latin typeface="Times New Roman"/>
                <a:cs typeface="Times New Roman"/>
              </a:rPr>
              <a:t>745</a:t>
            </a:r>
            <a:r>
              <a:rPr sz="1200" spc="100" dirty="0">
                <a:latin typeface="Times New Roman"/>
                <a:cs typeface="Times New Roman"/>
              </a:rPr>
              <a:t> </a:t>
            </a:r>
            <a:r>
              <a:rPr sz="1200" dirty="0">
                <a:latin typeface="Times New Roman"/>
                <a:cs typeface="Times New Roman"/>
              </a:rPr>
              <a:t>orthogroups</a:t>
            </a:r>
            <a:r>
              <a:rPr sz="1200" spc="140" dirty="0">
                <a:latin typeface="Times New Roman"/>
                <a:cs typeface="Times New Roman"/>
              </a:rPr>
              <a:t>  </a:t>
            </a:r>
            <a:r>
              <a:rPr sz="1200" dirty="0">
                <a:latin typeface="Times New Roman"/>
                <a:cs typeface="Times New Roman"/>
              </a:rPr>
              <a:t>from</a:t>
            </a:r>
            <a:r>
              <a:rPr sz="1200" spc="145" dirty="0">
                <a:latin typeface="Times New Roman"/>
                <a:cs typeface="Times New Roman"/>
              </a:rPr>
              <a:t>  </a:t>
            </a:r>
            <a:r>
              <a:rPr sz="1200" dirty="0">
                <a:latin typeface="Times New Roman"/>
                <a:cs typeface="Times New Roman"/>
              </a:rPr>
              <a:t>five</a:t>
            </a:r>
            <a:r>
              <a:rPr sz="1200" spc="135" dirty="0">
                <a:latin typeface="Times New Roman"/>
                <a:cs typeface="Times New Roman"/>
              </a:rPr>
              <a:t>  </a:t>
            </a:r>
            <a:r>
              <a:rPr sz="1200" dirty="0">
                <a:latin typeface="Times New Roman"/>
                <a:cs typeface="Times New Roman"/>
              </a:rPr>
              <a:t>species</a:t>
            </a:r>
            <a:r>
              <a:rPr sz="1200" spc="145" dirty="0">
                <a:latin typeface="Times New Roman"/>
                <a:cs typeface="Times New Roman"/>
              </a:rPr>
              <a:t>  </a:t>
            </a:r>
            <a:r>
              <a:rPr lang="en-US" sz="1200" i="1" dirty="0">
                <a:latin typeface="Times New Roman"/>
                <a:cs typeface="Times New Roman"/>
              </a:rPr>
              <a:t>Tripsacum dactyloides and T. floridanum hybrids </a:t>
            </a:r>
            <a:r>
              <a:rPr sz="1200" spc="-10" dirty="0">
                <a:latin typeface="Times New Roman"/>
                <a:cs typeface="Times New Roman"/>
              </a:rPr>
              <a:t>(Td-</a:t>
            </a:r>
            <a:r>
              <a:rPr sz="1200" dirty="0">
                <a:latin typeface="Times New Roman"/>
                <a:cs typeface="Times New Roman"/>
              </a:rPr>
              <a:t>2019,</a:t>
            </a:r>
            <a:r>
              <a:rPr sz="1200" spc="145" dirty="0">
                <a:latin typeface="Times New Roman"/>
                <a:cs typeface="Times New Roman"/>
              </a:rPr>
              <a:t> </a:t>
            </a:r>
            <a:r>
              <a:rPr sz="1200" spc="-10" dirty="0">
                <a:latin typeface="Times New Roman"/>
                <a:cs typeface="Times New Roman"/>
              </a:rPr>
              <a:t>Td-</a:t>
            </a:r>
            <a:r>
              <a:rPr sz="1200" dirty="0">
                <a:latin typeface="Times New Roman"/>
                <a:cs typeface="Times New Roman"/>
              </a:rPr>
              <a:t>2022),</a:t>
            </a:r>
            <a:r>
              <a:rPr sz="1200" spc="145" dirty="0">
                <a:latin typeface="Times New Roman"/>
                <a:cs typeface="Times New Roman"/>
              </a:rPr>
              <a:t> </a:t>
            </a:r>
            <a:r>
              <a:rPr sz="1200" i="1" dirty="0">
                <a:latin typeface="Times New Roman"/>
                <a:cs typeface="Times New Roman"/>
              </a:rPr>
              <a:t>A</a:t>
            </a:r>
            <a:r>
              <a:rPr lang="en-US" sz="1200" i="1" dirty="0">
                <a:latin typeface="Times New Roman"/>
                <a:cs typeface="Times New Roman"/>
              </a:rPr>
              <a:t>ndropogon</a:t>
            </a:r>
            <a:r>
              <a:rPr sz="1200" i="1" spc="-25" dirty="0">
                <a:latin typeface="Times New Roman"/>
                <a:cs typeface="Times New Roman"/>
              </a:rPr>
              <a:t> </a:t>
            </a:r>
            <a:r>
              <a:rPr sz="1200" i="1" dirty="0">
                <a:latin typeface="Times New Roman"/>
                <a:cs typeface="Times New Roman"/>
              </a:rPr>
              <a:t>gerardii</a:t>
            </a:r>
            <a:r>
              <a:rPr lang="en-US" sz="1200" i="1" dirty="0">
                <a:latin typeface="Times New Roman"/>
                <a:cs typeface="Times New Roman"/>
              </a:rPr>
              <a:t> </a:t>
            </a:r>
            <a:r>
              <a:rPr sz="1200" dirty="0">
                <a:latin typeface="Times New Roman"/>
                <a:cs typeface="Times New Roman"/>
              </a:rPr>
              <a:t>(Ag),</a:t>
            </a:r>
            <a:r>
              <a:rPr sz="1200" spc="140" dirty="0">
                <a:latin typeface="Times New Roman"/>
                <a:cs typeface="Times New Roman"/>
              </a:rPr>
              <a:t> </a:t>
            </a:r>
            <a:r>
              <a:rPr lang="en-US" sz="1200" i="1" dirty="0">
                <a:latin typeface="Times New Roman"/>
                <a:cs typeface="Times New Roman"/>
              </a:rPr>
              <a:t>Miscanthus </a:t>
            </a:r>
            <a:r>
              <a:rPr lang="en-US" sz="1200" spc="140" dirty="0">
                <a:latin typeface="Times New Roman"/>
                <a:cs typeface="Times New Roman"/>
              </a:rPr>
              <a:t>× </a:t>
            </a:r>
            <a:r>
              <a:rPr lang="en-US" sz="1200" i="1" dirty="0">
                <a:latin typeface="Times New Roman"/>
                <a:cs typeface="Times New Roman"/>
              </a:rPr>
              <a:t>giganteus </a:t>
            </a:r>
            <a:r>
              <a:rPr sz="1200" dirty="0">
                <a:latin typeface="Times New Roman"/>
                <a:cs typeface="Times New Roman"/>
              </a:rPr>
              <a:t>(Mg),</a:t>
            </a:r>
            <a:r>
              <a:rPr sz="1200" spc="145" dirty="0">
                <a:latin typeface="Times New Roman"/>
                <a:cs typeface="Times New Roman"/>
              </a:rPr>
              <a:t>  </a:t>
            </a:r>
            <a:r>
              <a:rPr sz="1200" i="1" dirty="0">
                <a:latin typeface="Times New Roman"/>
                <a:cs typeface="Times New Roman"/>
              </a:rPr>
              <a:t>P</a:t>
            </a:r>
            <a:r>
              <a:rPr lang="en-US" sz="1200" i="1" dirty="0">
                <a:latin typeface="Times New Roman"/>
                <a:cs typeface="Times New Roman"/>
              </a:rPr>
              <a:t>anicum</a:t>
            </a:r>
            <a:r>
              <a:rPr sz="1200" i="1" spc="285" dirty="0">
                <a:latin typeface="Times New Roman"/>
                <a:cs typeface="Times New Roman"/>
              </a:rPr>
              <a:t> </a:t>
            </a:r>
            <a:r>
              <a:rPr sz="1200" i="1" dirty="0">
                <a:latin typeface="Times New Roman"/>
                <a:cs typeface="Times New Roman"/>
              </a:rPr>
              <a:t>virgatum</a:t>
            </a:r>
            <a:r>
              <a:rPr sz="1200" i="1" spc="450" dirty="0">
                <a:latin typeface="Times New Roman"/>
                <a:cs typeface="Times New Roman"/>
              </a:rPr>
              <a:t> </a:t>
            </a:r>
            <a:r>
              <a:rPr sz="1200" spc="-10" dirty="0">
                <a:latin typeface="Times New Roman"/>
                <a:cs typeface="Times New Roman"/>
              </a:rPr>
              <a:t>(</a:t>
            </a:r>
            <a:r>
              <a:rPr sz="1200" spc="-10" dirty="0" err="1">
                <a:latin typeface="Times New Roman"/>
                <a:cs typeface="Times New Roman"/>
              </a:rPr>
              <a:t>Pv</a:t>
            </a:r>
            <a:r>
              <a:rPr sz="1200" spc="-10" dirty="0">
                <a:latin typeface="Times New Roman"/>
                <a:cs typeface="Times New Roman"/>
              </a:rPr>
              <a:t>),</a:t>
            </a:r>
            <a:r>
              <a:rPr lang="en-US" sz="1200" spc="-10" dirty="0">
                <a:latin typeface="Times New Roman"/>
                <a:cs typeface="Times New Roman"/>
              </a:rPr>
              <a:t> </a:t>
            </a:r>
            <a:r>
              <a:rPr lang="en-US" sz="1200" dirty="0">
                <a:latin typeface="Times New Roman"/>
                <a:cs typeface="Times New Roman"/>
              </a:rPr>
              <a:t>and</a:t>
            </a:r>
            <a:r>
              <a:rPr lang="en-US" sz="1200" spc="455" dirty="0">
                <a:latin typeface="Times New Roman"/>
                <a:cs typeface="Times New Roman"/>
              </a:rPr>
              <a:t> </a:t>
            </a:r>
            <a:r>
              <a:rPr lang="en-US" sz="1200" i="1" dirty="0">
                <a:latin typeface="Times New Roman"/>
                <a:cs typeface="Times New Roman"/>
              </a:rPr>
              <a:t>Sorghastrum</a:t>
            </a:r>
            <a:r>
              <a:rPr lang="en-US" sz="1200" i="1" spc="270" dirty="0">
                <a:latin typeface="Times New Roman"/>
                <a:cs typeface="Times New Roman"/>
              </a:rPr>
              <a:t> </a:t>
            </a:r>
            <a:r>
              <a:rPr lang="en-US" sz="1200" i="1" dirty="0">
                <a:latin typeface="Times New Roman"/>
                <a:cs typeface="Times New Roman"/>
              </a:rPr>
              <a:t>nutans</a:t>
            </a:r>
            <a:r>
              <a:rPr lang="en-US" sz="1200" i="1" spc="475" dirty="0">
                <a:latin typeface="Times New Roman"/>
                <a:cs typeface="Times New Roman"/>
              </a:rPr>
              <a:t> </a:t>
            </a:r>
            <a:r>
              <a:rPr lang="en-US" sz="1200" dirty="0">
                <a:latin typeface="Times New Roman"/>
                <a:cs typeface="Times New Roman"/>
              </a:rPr>
              <a:t>(Sn).</a:t>
            </a:r>
            <a:r>
              <a:rPr lang="en-US" sz="1200" spc="480" dirty="0">
                <a:latin typeface="Times New Roman"/>
                <a:cs typeface="Times New Roman"/>
              </a:rPr>
              <a:t> </a:t>
            </a:r>
            <a:r>
              <a:rPr lang="en-US" sz="1200" b="1" dirty="0">
                <a:latin typeface="Times New Roman"/>
                <a:cs typeface="Times New Roman"/>
              </a:rPr>
              <a:t>(B)</a:t>
            </a:r>
            <a:r>
              <a:rPr lang="en-US" sz="1200" b="1" spc="475" dirty="0">
                <a:latin typeface="Times New Roman"/>
                <a:cs typeface="Times New Roman"/>
              </a:rPr>
              <a:t> </a:t>
            </a:r>
            <a:r>
              <a:rPr lang="en-US" sz="1200" dirty="0">
                <a:latin typeface="Times New Roman"/>
                <a:cs typeface="Times New Roman"/>
              </a:rPr>
              <a:t>PCA</a:t>
            </a:r>
            <a:r>
              <a:rPr lang="en-US" sz="1200" spc="470" dirty="0">
                <a:latin typeface="Times New Roman"/>
                <a:cs typeface="Times New Roman"/>
              </a:rPr>
              <a:t> </a:t>
            </a:r>
            <a:r>
              <a:rPr lang="en-US" sz="1200" dirty="0">
                <a:latin typeface="Times New Roman"/>
                <a:cs typeface="Times New Roman"/>
              </a:rPr>
              <a:t>of</a:t>
            </a:r>
            <a:r>
              <a:rPr lang="en-US" sz="1200" spc="470" dirty="0">
                <a:latin typeface="Times New Roman"/>
                <a:cs typeface="Times New Roman"/>
              </a:rPr>
              <a:t> </a:t>
            </a:r>
            <a:r>
              <a:rPr lang="en-US" sz="1200" dirty="0">
                <a:latin typeface="Times New Roman"/>
                <a:cs typeface="Times New Roman"/>
              </a:rPr>
              <a:t>1,889</a:t>
            </a:r>
            <a:r>
              <a:rPr lang="en-US" sz="1200" spc="470" dirty="0">
                <a:latin typeface="Times New Roman"/>
                <a:cs typeface="Times New Roman"/>
              </a:rPr>
              <a:t> </a:t>
            </a:r>
            <a:r>
              <a:rPr lang="en-US" sz="1200" dirty="0">
                <a:latin typeface="Times New Roman"/>
                <a:cs typeface="Times New Roman"/>
              </a:rPr>
              <a:t>proteins</a:t>
            </a:r>
            <a:r>
              <a:rPr lang="en-US" sz="1200" spc="475" dirty="0">
                <a:latin typeface="Times New Roman"/>
                <a:cs typeface="Times New Roman"/>
              </a:rPr>
              <a:t> </a:t>
            </a:r>
            <a:r>
              <a:rPr lang="en-US" sz="1200" dirty="0">
                <a:latin typeface="Times New Roman"/>
                <a:cs typeface="Times New Roman"/>
              </a:rPr>
              <a:t>from</a:t>
            </a:r>
            <a:r>
              <a:rPr lang="en-US" sz="1200" spc="475" dirty="0">
                <a:latin typeface="Times New Roman"/>
                <a:cs typeface="Times New Roman"/>
              </a:rPr>
              <a:t> </a:t>
            </a:r>
            <a:r>
              <a:rPr lang="en-US" sz="1200" i="1" dirty="0">
                <a:latin typeface="Times New Roman"/>
                <a:cs typeface="Times New Roman"/>
              </a:rPr>
              <a:t>Tripsacum</a:t>
            </a:r>
            <a:r>
              <a:rPr lang="en-US" sz="1200" i="1" spc="475" dirty="0">
                <a:latin typeface="Times New Roman"/>
                <a:cs typeface="Times New Roman"/>
              </a:rPr>
              <a:t> </a:t>
            </a:r>
            <a:r>
              <a:rPr lang="en-US" sz="1200" dirty="0">
                <a:latin typeface="Times New Roman"/>
                <a:cs typeface="Times New Roman"/>
              </a:rPr>
              <a:t>hybrids.</a:t>
            </a:r>
            <a:r>
              <a:rPr lang="en-US" sz="1200" spc="470" dirty="0">
                <a:latin typeface="Times New Roman"/>
                <a:cs typeface="Times New Roman"/>
              </a:rPr>
              <a:t> </a:t>
            </a:r>
            <a:r>
              <a:rPr lang="en-US" sz="1200" dirty="0">
                <a:latin typeface="Times New Roman"/>
                <a:cs typeface="Times New Roman"/>
              </a:rPr>
              <a:t>Points</a:t>
            </a:r>
            <a:r>
              <a:rPr lang="en-US" sz="1200" spc="475" dirty="0">
                <a:latin typeface="Times New Roman"/>
                <a:cs typeface="Times New Roman"/>
              </a:rPr>
              <a:t> </a:t>
            </a:r>
            <a:r>
              <a:rPr lang="en-US" sz="1200" dirty="0">
                <a:latin typeface="Times New Roman"/>
                <a:cs typeface="Times New Roman"/>
              </a:rPr>
              <a:t>are</a:t>
            </a:r>
            <a:r>
              <a:rPr lang="en-US" sz="1200" spc="475" dirty="0">
                <a:latin typeface="Times New Roman"/>
                <a:cs typeface="Times New Roman"/>
              </a:rPr>
              <a:t> </a:t>
            </a:r>
            <a:r>
              <a:rPr lang="en-US" sz="1200" dirty="0">
                <a:latin typeface="Times New Roman"/>
                <a:cs typeface="Times New Roman"/>
              </a:rPr>
              <a:t>colored</a:t>
            </a:r>
            <a:r>
              <a:rPr lang="en-US" sz="1200" spc="480" dirty="0">
                <a:latin typeface="Times New Roman"/>
                <a:cs typeface="Times New Roman"/>
              </a:rPr>
              <a:t> </a:t>
            </a:r>
            <a:r>
              <a:rPr lang="en-US" sz="1200" dirty="0">
                <a:latin typeface="Times New Roman"/>
                <a:cs typeface="Times New Roman"/>
              </a:rPr>
              <a:t>by</a:t>
            </a:r>
            <a:r>
              <a:rPr lang="en-US" sz="1200" spc="470" dirty="0">
                <a:latin typeface="Times New Roman"/>
                <a:cs typeface="Times New Roman"/>
              </a:rPr>
              <a:t> </a:t>
            </a:r>
            <a:r>
              <a:rPr lang="en-US" sz="1200" dirty="0">
                <a:latin typeface="Times New Roman"/>
                <a:cs typeface="Times New Roman"/>
              </a:rPr>
              <a:t>hybrid</a:t>
            </a:r>
            <a:r>
              <a:rPr lang="en-US" sz="1200" spc="475" dirty="0">
                <a:latin typeface="Times New Roman"/>
                <a:cs typeface="Times New Roman"/>
              </a:rPr>
              <a:t> </a:t>
            </a:r>
            <a:r>
              <a:rPr lang="en-US" sz="1200" spc="-10" dirty="0">
                <a:latin typeface="Times New Roman"/>
                <a:cs typeface="Times New Roman"/>
              </a:rPr>
              <a:t>type–</a:t>
            </a:r>
            <a:r>
              <a:rPr lang="en-US" sz="1200" dirty="0">
                <a:latin typeface="Times New Roman"/>
                <a:cs typeface="Times New Roman"/>
              </a:rPr>
              <a:t>intraspecific</a:t>
            </a:r>
            <a:r>
              <a:rPr lang="en-US" sz="1200" spc="305" dirty="0">
                <a:latin typeface="Times New Roman"/>
                <a:cs typeface="Times New Roman"/>
              </a:rPr>
              <a:t> </a:t>
            </a:r>
            <a:r>
              <a:rPr lang="en-US" sz="1200" i="1" spc="-25" dirty="0">
                <a:latin typeface="Times New Roman"/>
                <a:cs typeface="Times New Roman"/>
              </a:rPr>
              <a:t>T. </a:t>
            </a:r>
            <a:r>
              <a:rPr lang="en-US" sz="1200" i="1" dirty="0">
                <a:latin typeface="Times New Roman"/>
                <a:cs typeface="Times New Roman"/>
              </a:rPr>
              <a:t>dactyloides</a:t>
            </a:r>
            <a:r>
              <a:rPr lang="en-US" sz="1200" i="1" spc="165" dirty="0">
                <a:latin typeface="Times New Roman"/>
                <a:cs typeface="Times New Roman"/>
              </a:rPr>
              <a:t> </a:t>
            </a:r>
            <a:r>
              <a:rPr lang="en-US" sz="1200" dirty="0">
                <a:latin typeface="Times New Roman"/>
                <a:cs typeface="Times New Roman"/>
              </a:rPr>
              <a:t>hybrids</a:t>
            </a:r>
            <a:r>
              <a:rPr lang="en-US" sz="1200" spc="165" dirty="0">
                <a:latin typeface="Times New Roman"/>
                <a:cs typeface="Times New Roman"/>
              </a:rPr>
              <a:t> </a:t>
            </a:r>
            <a:r>
              <a:rPr lang="en-US" sz="1200" dirty="0">
                <a:latin typeface="Times New Roman"/>
                <a:cs typeface="Times New Roman"/>
              </a:rPr>
              <a:t>(Td</a:t>
            </a:r>
            <a:r>
              <a:rPr lang="en-US" sz="1200" spc="160" dirty="0">
                <a:latin typeface="Times New Roman"/>
                <a:cs typeface="Times New Roman"/>
              </a:rPr>
              <a:t> </a:t>
            </a:r>
            <a:r>
              <a:rPr lang="en-US" sz="1200" dirty="0">
                <a:latin typeface="Times New Roman"/>
                <a:cs typeface="Times New Roman"/>
              </a:rPr>
              <a:t>×</a:t>
            </a:r>
            <a:r>
              <a:rPr lang="en-US" sz="1200" spc="165" dirty="0">
                <a:latin typeface="Times New Roman"/>
                <a:cs typeface="Times New Roman"/>
              </a:rPr>
              <a:t> </a:t>
            </a:r>
            <a:r>
              <a:rPr lang="en-US" sz="1200" dirty="0">
                <a:latin typeface="Times New Roman"/>
                <a:cs typeface="Times New Roman"/>
              </a:rPr>
              <a:t>Td)</a:t>
            </a:r>
            <a:r>
              <a:rPr lang="en-US" sz="1200" spc="160" dirty="0">
                <a:latin typeface="Times New Roman"/>
                <a:cs typeface="Times New Roman"/>
              </a:rPr>
              <a:t> </a:t>
            </a:r>
            <a:r>
              <a:rPr lang="en-US" sz="1200" dirty="0">
                <a:latin typeface="Times New Roman"/>
                <a:cs typeface="Times New Roman"/>
              </a:rPr>
              <a:t>and</a:t>
            </a:r>
            <a:r>
              <a:rPr lang="en-US" sz="1200" spc="160" dirty="0">
                <a:latin typeface="Times New Roman"/>
                <a:cs typeface="Times New Roman"/>
              </a:rPr>
              <a:t> </a:t>
            </a:r>
            <a:r>
              <a:rPr lang="en-US" sz="1200" dirty="0">
                <a:latin typeface="Times New Roman"/>
                <a:cs typeface="Times New Roman"/>
              </a:rPr>
              <a:t>interspecific</a:t>
            </a:r>
            <a:r>
              <a:rPr lang="en-US" sz="1200" spc="160" dirty="0">
                <a:latin typeface="Times New Roman"/>
                <a:cs typeface="Times New Roman"/>
              </a:rPr>
              <a:t> </a:t>
            </a:r>
            <a:r>
              <a:rPr lang="en-US" sz="1200" i="1" dirty="0">
                <a:latin typeface="Times New Roman"/>
                <a:cs typeface="Times New Roman"/>
              </a:rPr>
              <a:t>T.</a:t>
            </a:r>
            <a:r>
              <a:rPr lang="en-US" sz="1200" i="1" spc="165" dirty="0">
                <a:latin typeface="Times New Roman"/>
                <a:cs typeface="Times New Roman"/>
              </a:rPr>
              <a:t> </a:t>
            </a:r>
            <a:r>
              <a:rPr lang="en-US" sz="1200" i="1" dirty="0">
                <a:latin typeface="Times New Roman"/>
                <a:cs typeface="Times New Roman"/>
              </a:rPr>
              <a:t>dactyloides</a:t>
            </a:r>
            <a:r>
              <a:rPr lang="en-US" sz="1200" i="1" spc="165" dirty="0">
                <a:latin typeface="Times New Roman"/>
                <a:cs typeface="Times New Roman"/>
              </a:rPr>
              <a:t> </a:t>
            </a:r>
            <a:r>
              <a:rPr lang="en-US" sz="1200" dirty="0">
                <a:latin typeface="Times New Roman"/>
                <a:cs typeface="Times New Roman"/>
              </a:rPr>
              <a:t>×</a:t>
            </a:r>
            <a:r>
              <a:rPr lang="en-US" sz="1200" spc="160" dirty="0">
                <a:latin typeface="Times New Roman"/>
                <a:cs typeface="Times New Roman"/>
              </a:rPr>
              <a:t> </a:t>
            </a:r>
            <a:r>
              <a:rPr lang="en-US" sz="1200" i="1" dirty="0">
                <a:latin typeface="Times New Roman"/>
                <a:cs typeface="Times New Roman"/>
              </a:rPr>
              <a:t>T.</a:t>
            </a:r>
            <a:r>
              <a:rPr lang="en-US" sz="1200" i="1" spc="165" dirty="0">
                <a:latin typeface="Times New Roman"/>
                <a:cs typeface="Times New Roman"/>
              </a:rPr>
              <a:t> </a:t>
            </a:r>
            <a:r>
              <a:rPr lang="en-US" sz="1200" i="1" dirty="0">
                <a:latin typeface="Times New Roman"/>
                <a:cs typeface="Times New Roman"/>
              </a:rPr>
              <a:t>floridanum</a:t>
            </a:r>
            <a:r>
              <a:rPr lang="en-US" sz="1200" i="1" spc="160" dirty="0">
                <a:latin typeface="Times New Roman"/>
                <a:cs typeface="Times New Roman"/>
              </a:rPr>
              <a:t> </a:t>
            </a:r>
            <a:r>
              <a:rPr lang="en-US" sz="1200" dirty="0">
                <a:latin typeface="Times New Roman"/>
                <a:cs typeface="Times New Roman"/>
              </a:rPr>
              <a:t>hybrids</a:t>
            </a:r>
            <a:r>
              <a:rPr lang="en-US" sz="1200" spc="165" dirty="0">
                <a:latin typeface="Times New Roman"/>
                <a:cs typeface="Times New Roman"/>
              </a:rPr>
              <a:t> </a:t>
            </a:r>
            <a:r>
              <a:rPr lang="en-US" sz="1200" dirty="0">
                <a:latin typeface="Times New Roman"/>
                <a:cs typeface="Times New Roman"/>
              </a:rPr>
              <a:t>(Td</a:t>
            </a:r>
            <a:r>
              <a:rPr lang="en-US" sz="1200" spc="160" dirty="0">
                <a:latin typeface="Times New Roman"/>
                <a:cs typeface="Times New Roman"/>
              </a:rPr>
              <a:t> </a:t>
            </a:r>
            <a:r>
              <a:rPr lang="en-US" sz="1200" dirty="0">
                <a:latin typeface="Times New Roman"/>
                <a:cs typeface="Times New Roman"/>
              </a:rPr>
              <a:t>×</a:t>
            </a:r>
            <a:r>
              <a:rPr lang="en-US" sz="1200" spc="165" dirty="0">
                <a:latin typeface="Times New Roman"/>
                <a:cs typeface="Times New Roman"/>
              </a:rPr>
              <a:t> </a:t>
            </a:r>
            <a:r>
              <a:rPr lang="en-US" sz="1200" dirty="0" err="1">
                <a:latin typeface="Times New Roman"/>
                <a:cs typeface="Times New Roman"/>
              </a:rPr>
              <a:t>Tf</a:t>
            </a:r>
            <a:r>
              <a:rPr lang="en-US" sz="1200" dirty="0">
                <a:latin typeface="Times New Roman"/>
                <a:cs typeface="Times New Roman"/>
              </a:rPr>
              <a:t>).</a:t>
            </a:r>
            <a:r>
              <a:rPr lang="en-US" sz="1200" spc="160" dirty="0">
                <a:latin typeface="Times New Roman"/>
                <a:cs typeface="Times New Roman"/>
              </a:rPr>
              <a:t> </a:t>
            </a:r>
            <a:r>
              <a:rPr lang="en-US" sz="1200" dirty="0">
                <a:latin typeface="Times New Roman"/>
                <a:cs typeface="Times New Roman"/>
              </a:rPr>
              <a:t>Shapes</a:t>
            </a:r>
            <a:r>
              <a:rPr lang="en-US" sz="1200" spc="160" dirty="0">
                <a:latin typeface="Times New Roman"/>
                <a:cs typeface="Times New Roman"/>
              </a:rPr>
              <a:t> </a:t>
            </a:r>
            <a:r>
              <a:rPr lang="en-US" sz="1200" dirty="0">
                <a:latin typeface="Times New Roman"/>
                <a:cs typeface="Times New Roman"/>
              </a:rPr>
              <a:t>represent</a:t>
            </a:r>
            <a:r>
              <a:rPr lang="en-US" sz="1200" spc="165" dirty="0">
                <a:latin typeface="Times New Roman"/>
                <a:cs typeface="Times New Roman"/>
              </a:rPr>
              <a:t> </a:t>
            </a:r>
            <a:r>
              <a:rPr lang="en-US" sz="1200" dirty="0">
                <a:latin typeface="Times New Roman"/>
                <a:cs typeface="Times New Roman"/>
              </a:rPr>
              <a:t>season</a:t>
            </a:r>
            <a:r>
              <a:rPr lang="en-US" sz="1200" spc="160" dirty="0">
                <a:latin typeface="Times New Roman"/>
                <a:cs typeface="Times New Roman"/>
              </a:rPr>
              <a:t> </a:t>
            </a:r>
            <a:r>
              <a:rPr lang="en-US" sz="1200" dirty="0">
                <a:latin typeface="Times New Roman"/>
                <a:cs typeface="Times New Roman"/>
              </a:rPr>
              <a:t>(circle</a:t>
            </a:r>
            <a:r>
              <a:rPr lang="en-US" sz="1200" spc="160" dirty="0">
                <a:latin typeface="Times New Roman"/>
                <a:cs typeface="Times New Roman"/>
              </a:rPr>
              <a:t> </a:t>
            </a:r>
            <a:r>
              <a:rPr lang="en-US" sz="1200" spc="-50" dirty="0">
                <a:latin typeface="Times New Roman"/>
                <a:cs typeface="Times New Roman"/>
              </a:rPr>
              <a:t>= </a:t>
            </a:r>
            <a:r>
              <a:rPr lang="en-US" sz="1200" dirty="0">
                <a:latin typeface="Times New Roman"/>
                <a:cs typeface="Times New Roman"/>
              </a:rPr>
              <a:t>summer,</a:t>
            </a:r>
            <a:r>
              <a:rPr lang="en-US" sz="1200" spc="-25" dirty="0">
                <a:latin typeface="Times New Roman"/>
                <a:cs typeface="Times New Roman"/>
              </a:rPr>
              <a:t> </a:t>
            </a:r>
            <a:r>
              <a:rPr lang="en-US" sz="1200" dirty="0">
                <a:latin typeface="Times New Roman"/>
                <a:cs typeface="Times New Roman"/>
              </a:rPr>
              <a:t>triangle</a:t>
            </a:r>
            <a:r>
              <a:rPr lang="en-US" sz="1200" spc="-25" dirty="0">
                <a:latin typeface="Times New Roman"/>
                <a:cs typeface="Times New Roman"/>
              </a:rPr>
              <a:t> </a:t>
            </a:r>
            <a:r>
              <a:rPr lang="en-US" sz="1200" dirty="0">
                <a:latin typeface="Times New Roman"/>
                <a:cs typeface="Times New Roman"/>
              </a:rPr>
              <a:t>=</a:t>
            </a:r>
            <a:r>
              <a:rPr lang="en-US" sz="1200" spc="-25" dirty="0">
                <a:latin typeface="Times New Roman"/>
                <a:cs typeface="Times New Roman"/>
              </a:rPr>
              <a:t> </a:t>
            </a:r>
            <a:r>
              <a:rPr lang="en-US" sz="1200" dirty="0">
                <a:latin typeface="Times New Roman"/>
                <a:cs typeface="Times New Roman"/>
              </a:rPr>
              <a:t>winter).</a:t>
            </a:r>
            <a:r>
              <a:rPr lang="en-US" sz="1200" spc="-25" dirty="0">
                <a:latin typeface="Times New Roman"/>
                <a:cs typeface="Times New Roman"/>
              </a:rPr>
              <a:t> </a:t>
            </a:r>
            <a:r>
              <a:rPr lang="en-US" sz="1200" dirty="0">
                <a:latin typeface="Times New Roman"/>
                <a:cs typeface="Times New Roman"/>
              </a:rPr>
              <a:t>The</a:t>
            </a:r>
            <a:r>
              <a:rPr lang="en-US" sz="1200" spc="-25" dirty="0">
                <a:latin typeface="Times New Roman"/>
                <a:cs typeface="Times New Roman"/>
              </a:rPr>
              <a:t> </a:t>
            </a:r>
            <a:r>
              <a:rPr lang="en-US" sz="1200" dirty="0">
                <a:latin typeface="Times New Roman"/>
                <a:cs typeface="Times New Roman"/>
              </a:rPr>
              <a:t>percentage</a:t>
            </a:r>
            <a:r>
              <a:rPr lang="en-US" sz="1200" spc="-25" dirty="0">
                <a:latin typeface="Times New Roman"/>
                <a:cs typeface="Times New Roman"/>
              </a:rPr>
              <a:t> </a:t>
            </a:r>
            <a:r>
              <a:rPr lang="en-US" sz="1200" dirty="0">
                <a:latin typeface="Times New Roman"/>
                <a:cs typeface="Times New Roman"/>
              </a:rPr>
              <a:t>of</a:t>
            </a:r>
            <a:r>
              <a:rPr lang="en-US" sz="1200" spc="-25" dirty="0">
                <a:latin typeface="Times New Roman"/>
                <a:cs typeface="Times New Roman"/>
              </a:rPr>
              <a:t> </a:t>
            </a:r>
            <a:r>
              <a:rPr lang="en-US" sz="1200" dirty="0">
                <a:latin typeface="Times New Roman"/>
                <a:cs typeface="Times New Roman"/>
              </a:rPr>
              <a:t>total</a:t>
            </a:r>
            <a:r>
              <a:rPr lang="en-US" sz="1200" spc="-25" dirty="0">
                <a:latin typeface="Times New Roman"/>
                <a:cs typeface="Times New Roman"/>
              </a:rPr>
              <a:t> </a:t>
            </a:r>
            <a:r>
              <a:rPr lang="en-US" sz="1200" dirty="0">
                <a:latin typeface="Times New Roman"/>
                <a:cs typeface="Times New Roman"/>
              </a:rPr>
              <a:t>variance</a:t>
            </a:r>
            <a:r>
              <a:rPr lang="en-US" sz="1200" spc="-25" dirty="0">
                <a:latin typeface="Times New Roman"/>
                <a:cs typeface="Times New Roman"/>
              </a:rPr>
              <a:t> </a:t>
            </a:r>
            <a:r>
              <a:rPr lang="en-US" sz="1200" dirty="0">
                <a:latin typeface="Times New Roman"/>
                <a:cs typeface="Times New Roman"/>
              </a:rPr>
              <a:t>explained</a:t>
            </a:r>
            <a:r>
              <a:rPr lang="en-US" sz="1200" spc="-25" dirty="0">
                <a:latin typeface="Times New Roman"/>
                <a:cs typeface="Times New Roman"/>
              </a:rPr>
              <a:t> </a:t>
            </a:r>
            <a:r>
              <a:rPr lang="en-US" sz="1200" dirty="0">
                <a:latin typeface="Times New Roman"/>
                <a:cs typeface="Times New Roman"/>
              </a:rPr>
              <a:t>by</a:t>
            </a:r>
            <a:r>
              <a:rPr lang="en-US" sz="1200" spc="-25" dirty="0">
                <a:latin typeface="Times New Roman"/>
                <a:cs typeface="Times New Roman"/>
              </a:rPr>
              <a:t> </a:t>
            </a:r>
            <a:r>
              <a:rPr lang="en-US" sz="1200" dirty="0">
                <a:latin typeface="Times New Roman"/>
                <a:cs typeface="Times New Roman"/>
              </a:rPr>
              <a:t>each</a:t>
            </a:r>
            <a:r>
              <a:rPr lang="en-US" sz="1200" spc="-25" dirty="0">
                <a:latin typeface="Times New Roman"/>
                <a:cs typeface="Times New Roman"/>
              </a:rPr>
              <a:t> </a:t>
            </a:r>
            <a:r>
              <a:rPr lang="en-US" sz="1200" dirty="0">
                <a:latin typeface="Times New Roman"/>
                <a:cs typeface="Times New Roman"/>
              </a:rPr>
              <a:t>principal</a:t>
            </a:r>
            <a:r>
              <a:rPr lang="en-US" sz="1200" spc="-25" dirty="0">
                <a:latin typeface="Times New Roman"/>
                <a:cs typeface="Times New Roman"/>
              </a:rPr>
              <a:t> </a:t>
            </a:r>
            <a:r>
              <a:rPr lang="en-US" sz="1200" dirty="0">
                <a:latin typeface="Times New Roman"/>
                <a:cs typeface="Times New Roman"/>
              </a:rPr>
              <a:t>component</a:t>
            </a:r>
            <a:r>
              <a:rPr lang="en-US" sz="1200" spc="-25" dirty="0">
                <a:latin typeface="Times New Roman"/>
                <a:cs typeface="Times New Roman"/>
              </a:rPr>
              <a:t> </a:t>
            </a:r>
            <a:r>
              <a:rPr lang="en-US" sz="1200" dirty="0">
                <a:latin typeface="Times New Roman"/>
                <a:cs typeface="Times New Roman"/>
              </a:rPr>
              <a:t>is</a:t>
            </a:r>
            <a:r>
              <a:rPr lang="en-US" sz="1200" spc="-20" dirty="0">
                <a:latin typeface="Times New Roman"/>
                <a:cs typeface="Times New Roman"/>
              </a:rPr>
              <a:t> </a:t>
            </a:r>
            <a:r>
              <a:rPr lang="en-US" sz="1200" dirty="0">
                <a:latin typeface="Times New Roman"/>
                <a:cs typeface="Times New Roman"/>
              </a:rPr>
              <a:t>shown</a:t>
            </a:r>
            <a:r>
              <a:rPr lang="en-US" sz="1200" spc="-25" dirty="0">
                <a:latin typeface="Times New Roman"/>
                <a:cs typeface="Times New Roman"/>
              </a:rPr>
              <a:t> </a:t>
            </a:r>
            <a:r>
              <a:rPr lang="en-US" sz="1200" dirty="0">
                <a:latin typeface="Times New Roman"/>
                <a:cs typeface="Times New Roman"/>
              </a:rPr>
              <a:t>on</a:t>
            </a:r>
            <a:r>
              <a:rPr lang="en-US" sz="1200" spc="-25" dirty="0">
                <a:latin typeface="Times New Roman"/>
                <a:cs typeface="Times New Roman"/>
              </a:rPr>
              <a:t> </a:t>
            </a:r>
            <a:r>
              <a:rPr lang="en-US" sz="1200" dirty="0">
                <a:latin typeface="Times New Roman"/>
                <a:cs typeface="Times New Roman"/>
              </a:rPr>
              <a:t>the</a:t>
            </a:r>
            <a:r>
              <a:rPr lang="en-US" sz="1200" spc="-25" dirty="0">
                <a:latin typeface="Times New Roman"/>
                <a:cs typeface="Times New Roman"/>
              </a:rPr>
              <a:t> </a:t>
            </a:r>
            <a:r>
              <a:rPr lang="en-US" sz="1200" spc="-10" dirty="0">
                <a:latin typeface="Times New Roman"/>
                <a:cs typeface="Times New Roman"/>
              </a:rPr>
              <a:t>axes.</a:t>
            </a:r>
            <a:endParaRPr lang="en-US" sz="1200" dirty="0">
              <a:latin typeface="Times New Roman"/>
              <a:cs typeface="Times New Roman"/>
            </a:endParaRPr>
          </a:p>
          <a:p>
            <a:pPr marR="5080" algn="just">
              <a:lnSpc>
                <a:spcPts val="1435"/>
              </a:lnSpc>
            </a:pPr>
            <a:endParaRPr sz="12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175B270B-4AE4-CE14-64F7-24761B2ED590}"/>
              </a:ext>
            </a:extLst>
          </p:cNvPr>
          <p:cNvSpPr txBox="1"/>
          <p:nvPr/>
        </p:nvSpPr>
        <p:spPr>
          <a:xfrm>
            <a:off x="78739" y="5943600"/>
            <a:ext cx="9770110" cy="917559"/>
          </a:xfrm>
          <a:prstGeom prst="rect">
            <a:avLst/>
          </a:prstGeom>
        </p:spPr>
        <p:txBody>
          <a:bodyPr vert="horz" wrap="square" lIns="0" tIns="19685" rIns="0" bIns="0" rtlCol="0">
            <a:spAutoFit/>
          </a:bodyPr>
          <a:lstStyle/>
          <a:p>
            <a:pPr marL="12700" marR="5080" algn="just">
              <a:lnSpc>
                <a:spcPts val="1430"/>
              </a:lnSpc>
              <a:spcBef>
                <a:spcPts val="155"/>
              </a:spcBef>
            </a:pPr>
            <a:r>
              <a:rPr lang="en-US" sz="1200" b="1" dirty="0">
                <a:latin typeface="Times New Roman" panose="02020603050405020304" pitchFamily="18" charset="0"/>
                <a:cs typeface="Times New Roman" panose="02020603050405020304" pitchFamily="18" charset="0"/>
              </a:rPr>
              <a:t>Fig. </a:t>
            </a:r>
            <a:r>
              <a:rPr sz="1200" b="1" dirty="0">
                <a:latin typeface="Times New Roman" panose="02020603050405020304" pitchFamily="18" charset="0"/>
                <a:cs typeface="Times New Roman" panose="02020603050405020304" pitchFamily="18" charset="0"/>
              </a:rPr>
              <a:t>S2.</a:t>
            </a:r>
            <a:r>
              <a:rPr sz="1200" b="1" spc="17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Volcano plots showing differentially accumulated proteins (DAPs) in rhizomes of </a:t>
            </a:r>
            <a:r>
              <a:rPr lang="en-US" sz="1200" i="1" dirty="0">
                <a:latin typeface="Times New Roman"/>
                <a:cs typeface="Times New Roman"/>
              </a:rPr>
              <a:t>Tripsacum dactyloides and T. floridanum hybrids, Andropogon</a:t>
            </a:r>
            <a:r>
              <a:rPr lang="en-US" sz="1200" i="1" spc="-25" dirty="0">
                <a:latin typeface="Times New Roman"/>
                <a:cs typeface="Times New Roman"/>
              </a:rPr>
              <a:t> </a:t>
            </a:r>
            <a:r>
              <a:rPr lang="en-US" sz="1200" i="1" dirty="0">
                <a:latin typeface="Times New Roman"/>
                <a:cs typeface="Times New Roman"/>
              </a:rPr>
              <a:t>gerardii,</a:t>
            </a:r>
            <a:r>
              <a:rPr lang="en-US" sz="1200" spc="140" dirty="0">
                <a:latin typeface="Times New Roman"/>
                <a:cs typeface="Times New Roman"/>
              </a:rPr>
              <a:t> </a:t>
            </a:r>
            <a:r>
              <a:rPr lang="en-US" sz="1200" i="1" dirty="0">
                <a:latin typeface="Times New Roman"/>
                <a:cs typeface="Times New Roman"/>
              </a:rPr>
              <a:t>Miscanthus </a:t>
            </a:r>
            <a:r>
              <a:rPr lang="en-US" sz="1200" spc="140" dirty="0">
                <a:latin typeface="Times New Roman"/>
                <a:cs typeface="Times New Roman"/>
              </a:rPr>
              <a:t>× </a:t>
            </a:r>
            <a:r>
              <a:rPr lang="en-US" sz="1200" i="1" dirty="0">
                <a:latin typeface="Times New Roman"/>
                <a:cs typeface="Times New Roman"/>
              </a:rPr>
              <a:t>giganteus</a:t>
            </a:r>
            <a:r>
              <a:rPr lang="en-US" sz="1200" dirty="0">
                <a:latin typeface="Times New Roman"/>
                <a:cs typeface="Times New Roman"/>
              </a:rPr>
              <a:t>,</a:t>
            </a:r>
            <a:r>
              <a:rPr lang="en-US" sz="1200" spc="145" dirty="0">
                <a:latin typeface="Times New Roman"/>
                <a:cs typeface="Times New Roman"/>
              </a:rPr>
              <a:t> </a:t>
            </a:r>
            <a:r>
              <a:rPr lang="en-US" sz="1200" i="1" dirty="0">
                <a:latin typeface="Times New Roman"/>
                <a:cs typeface="Times New Roman"/>
              </a:rPr>
              <a:t>Panicum</a:t>
            </a:r>
            <a:r>
              <a:rPr lang="en-US" sz="1200" i="1" spc="285" dirty="0">
                <a:latin typeface="Times New Roman"/>
                <a:cs typeface="Times New Roman"/>
              </a:rPr>
              <a:t> </a:t>
            </a:r>
            <a:r>
              <a:rPr lang="en-US" sz="1200" i="1" dirty="0">
                <a:latin typeface="Times New Roman"/>
                <a:cs typeface="Times New Roman"/>
              </a:rPr>
              <a:t>virgatum</a:t>
            </a:r>
            <a:r>
              <a:rPr lang="en-US" sz="1200" spc="-10" dirty="0">
                <a:latin typeface="Times New Roman"/>
                <a:cs typeface="Times New Roman"/>
              </a:rPr>
              <a:t>, </a:t>
            </a:r>
            <a:r>
              <a:rPr lang="en-US" sz="1200" dirty="0">
                <a:latin typeface="Times New Roman"/>
                <a:cs typeface="Times New Roman"/>
              </a:rPr>
              <a:t>and</a:t>
            </a:r>
            <a:r>
              <a:rPr lang="en-US" sz="1200" spc="455" dirty="0">
                <a:latin typeface="Times New Roman"/>
                <a:cs typeface="Times New Roman"/>
              </a:rPr>
              <a:t> </a:t>
            </a:r>
            <a:r>
              <a:rPr lang="en-US" sz="1200" i="1" dirty="0">
                <a:latin typeface="Times New Roman"/>
                <a:cs typeface="Times New Roman"/>
              </a:rPr>
              <a:t>Sorghastrum</a:t>
            </a:r>
            <a:r>
              <a:rPr lang="en-US" sz="1200" i="1" spc="270" dirty="0">
                <a:latin typeface="Times New Roman"/>
                <a:cs typeface="Times New Roman"/>
              </a:rPr>
              <a:t> </a:t>
            </a:r>
            <a:r>
              <a:rPr lang="en-US" sz="1200" i="1" dirty="0">
                <a:latin typeface="Times New Roman"/>
                <a:cs typeface="Times New Roman"/>
              </a:rPr>
              <a:t>nutans</a:t>
            </a:r>
            <a:r>
              <a:rPr lang="en-US" sz="1200" i="1" spc="475" dirty="0">
                <a:latin typeface="Times New Roman"/>
                <a:cs typeface="Times New Roman"/>
              </a:rPr>
              <a:t> </a:t>
            </a:r>
            <a:r>
              <a:rPr lang="en-US" sz="1200" dirty="0">
                <a:latin typeface="Times New Roman" panose="02020603050405020304" pitchFamily="18" charset="0"/>
                <a:cs typeface="Times New Roman" panose="02020603050405020304" pitchFamily="18" charset="0"/>
              </a:rPr>
              <a:t>under winter vs. summer conditions, with total number of proteins identified listed. Proteins with significantly elevated (blue) and reduced (pink) abundance in winter relative to summer are highlighted, with non-significant proteins in gray. The y-axis represents the significance as –log</a:t>
            </a:r>
            <a:r>
              <a:rPr lang="en-US" sz="1200" baseline="-25000" dirty="0">
                <a:latin typeface="Times New Roman" panose="02020603050405020304" pitchFamily="18" charset="0"/>
                <a:cs typeface="Times New Roman" panose="02020603050405020304" pitchFamily="18" charset="0"/>
              </a:rPr>
              <a:t>10</a:t>
            </a:r>
            <a:r>
              <a:rPr lang="en-US" sz="1200" dirty="0">
                <a:latin typeface="Times New Roman" panose="02020603050405020304" pitchFamily="18" charset="0"/>
                <a:cs typeface="Times New Roman" panose="02020603050405020304" pitchFamily="18" charset="0"/>
              </a:rPr>
              <a:t>(p-value), and the x-axis shows the log</a:t>
            </a:r>
            <a:r>
              <a:rPr lang="en-US" sz="1200" baseline="-25000" dirty="0">
                <a:latin typeface="Times New Roman" panose="02020603050405020304" pitchFamily="18" charset="0"/>
                <a:cs typeface="Times New Roman" panose="02020603050405020304" pitchFamily="18" charset="0"/>
              </a:rPr>
              <a:t>2</a:t>
            </a:r>
            <a:r>
              <a:rPr lang="en-US" sz="1200" dirty="0">
                <a:latin typeface="Times New Roman" panose="02020603050405020304" pitchFamily="18" charset="0"/>
                <a:cs typeface="Times New Roman" panose="02020603050405020304" pitchFamily="18" charset="0"/>
              </a:rPr>
              <a:t> fold-change (log</a:t>
            </a:r>
            <a:r>
              <a:rPr lang="en-US" sz="1200" baseline="-25000" dirty="0">
                <a:latin typeface="Times New Roman" panose="02020603050405020304" pitchFamily="18" charset="0"/>
                <a:cs typeface="Times New Roman" panose="02020603050405020304" pitchFamily="18" charset="0"/>
              </a:rPr>
              <a:t>2</a:t>
            </a:r>
            <a:r>
              <a:rPr lang="en-US" sz="1200" dirty="0">
                <a:latin typeface="Times New Roman" panose="02020603050405020304" pitchFamily="18" charset="0"/>
                <a:cs typeface="Times New Roman" panose="02020603050405020304" pitchFamily="18" charset="0"/>
              </a:rPr>
              <a:t>FC) of the DAPs between winter and summer. </a:t>
            </a:r>
            <a:endParaRPr sz="12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498E95A-7A3A-C1AD-8631-2AAC3A449BAF}"/>
              </a:ext>
            </a:extLst>
          </p:cNvPr>
          <p:cNvPicPr>
            <a:picLocks noChangeAspect="1"/>
          </p:cNvPicPr>
          <p:nvPr/>
        </p:nvPicPr>
        <p:blipFill>
          <a:blip r:embed="rId2"/>
          <a:stretch>
            <a:fillRect/>
          </a:stretch>
        </p:blipFill>
        <p:spPr>
          <a:xfrm>
            <a:off x="314093" y="2209800"/>
            <a:ext cx="9277814" cy="2438400"/>
          </a:xfrm>
          <a:prstGeom prst="rect">
            <a:avLst/>
          </a:prstGeom>
        </p:spPr>
      </p:pic>
    </p:spTree>
    <p:extLst>
      <p:ext uri="{BB962C8B-B14F-4D97-AF65-F5344CB8AC3E}">
        <p14:creationId xmlns:p14="http://schemas.microsoft.com/office/powerpoint/2010/main" val="2979531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7BE168-4352-2FD0-FFC6-E4DB0F923971}"/>
              </a:ext>
            </a:extLst>
          </p:cNvPr>
          <p:cNvPicPr>
            <a:picLocks noChangeAspect="1"/>
          </p:cNvPicPr>
          <p:nvPr/>
        </p:nvPicPr>
        <p:blipFill>
          <a:blip r:embed="rId2"/>
          <a:stretch>
            <a:fillRect/>
          </a:stretch>
        </p:blipFill>
        <p:spPr>
          <a:xfrm>
            <a:off x="244812" y="1143000"/>
            <a:ext cx="9416376" cy="3657600"/>
          </a:xfrm>
          <a:prstGeom prst="rect">
            <a:avLst/>
          </a:prstGeom>
        </p:spPr>
      </p:pic>
      <p:sp>
        <p:nvSpPr>
          <p:cNvPr id="4" name="object 2">
            <a:extLst>
              <a:ext uri="{FF2B5EF4-FFF2-40B4-BE49-F238E27FC236}">
                <a16:creationId xmlns:a16="http://schemas.microsoft.com/office/drawing/2014/main" id="{2E327A7B-68BA-B258-FEBE-0C356B3FA440}"/>
              </a:ext>
            </a:extLst>
          </p:cNvPr>
          <p:cNvSpPr txBox="1"/>
          <p:nvPr/>
        </p:nvSpPr>
        <p:spPr>
          <a:xfrm>
            <a:off x="67945" y="5867400"/>
            <a:ext cx="9770110" cy="917559"/>
          </a:xfrm>
          <a:prstGeom prst="rect">
            <a:avLst/>
          </a:prstGeom>
        </p:spPr>
        <p:txBody>
          <a:bodyPr vert="horz" wrap="square" lIns="0" tIns="19685" rIns="0" bIns="0" rtlCol="0">
            <a:spAutoFit/>
          </a:bodyPr>
          <a:lstStyle/>
          <a:p>
            <a:pPr marL="12700" marR="5080" algn="just">
              <a:lnSpc>
                <a:spcPts val="1430"/>
              </a:lnSpc>
              <a:spcBef>
                <a:spcPts val="155"/>
              </a:spcBef>
            </a:pPr>
            <a:r>
              <a:rPr lang="en-US" sz="1200" b="1" dirty="0">
                <a:latin typeface="Times New Roman" panose="02020603050405020304" pitchFamily="18" charset="0"/>
                <a:cs typeface="Times New Roman" panose="02020603050405020304" pitchFamily="18" charset="0"/>
              </a:rPr>
              <a:t>Fig. </a:t>
            </a:r>
            <a:r>
              <a:rPr sz="1200" b="1" dirty="0">
                <a:latin typeface="Times New Roman" panose="02020603050405020304" pitchFamily="18" charset="0"/>
                <a:cs typeface="Times New Roman" panose="02020603050405020304" pitchFamily="18" charset="0"/>
              </a:rPr>
              <a:t>S</a:t>
            </a:r>
            <a:r>
              <a:rPr lang="en-US" sz="1200" b="1" dirty="0">
                <a:latin typeface="Times New Roman" panose="02020603050405020304" pitchFamily="18" charset="0"/>
                <a:cs typeface="Times New Roman" panose="02020603050405020304" pitchFamily="18" charset="0"/>
              </a:rPr>
              <a:t>3</a:t>
            </a:r>
            <a:r>
              <a:rPr sz="1200" b="1" dirty="0">
                <a:latin typeface="Times New Roman" panose="02020603050405020304" pitchFamily="18" charset="0"/>
                <a:cs typeface="Times New Roman" panose="02020603050405020304" pitchFamily="18" charset="0"/>
              </a:rPr>
              <a:t>.</a:t>
            </a:r>
            <a:r>
              <a:rPr sz="1200" b="1" spc="17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Orthogroup sharing of significantly DAPs among </a:t>
            </a:r>
            <a:r>
              <a:rPr lang="en-US" sz="1200" b="1" i="1" dirty="0">
                <a:latin typeface="Times New Roman"/>
                <a:cs typeface="Times New Roman"/>
              </a:rPr>
              <a:t>Tripsacum dactyloides and T. floridanum hybrids, Andropogon</a:t>
            </a:r>
            <a:r>
              <a:rPr lang="en-US" sz="1200" b="1" i="1" spc="-25" dirty="0">
                <a:latin typeface="Times New Roman"/>
                <a:cs typeface="Times New Roman"/>
              </a:rPr>
              <a:t> </a:t>
            </a:r>
            <a:r>
              <a:rPr lang="en-US" sz="1200" b="1" i="1" dirty="0">
                <a:latin typeface="Times New Roman"/>
                <a:cs typeface="Times New Roman"/>
              </a:rPr>
              <a:t>gerardii,</a:t>
            </a:r>
            <a:r>
              <a:rPr lang="en-US" sz="1200" b="1" spc="140" dirty="0">
                <a:latin typeface="Times New Roman"/>
                <a:cs typeface="Times New Roman"/>
              </a:rPr>
              <a:t> </a:t>
            </a:r>
            <a:r>
              <a:rPr lang="en-US" sz="1200" b="1" i="1" dirty="0">
                <a:latin typeface="Times New Roman"/>
                <a:cs typeface="Times New Roman"/>
              </a:rPr>
              <a:t>Miscanthus </a:t>
            </a:r>
            <a:r>
              <a:rPr lang="en-US" sz="1200" b="1" spc="140" dirty="0">
                <a:latin typeface="Times New Roman"/>
                <a:cs typeface="Times New Roman"/>
              </a:rPr>
              <a:t>× </a:t>
            </a:r>
            <a:r>
              <a:rPr lang="en-US" sz="1200" b="1" i="1" dirty="0">
                <a:latin typeface="Times New Roman"/>
                <a:cs typeface="Times New Roman"/>
              </a:rPr>
              <a:t>giganteus</a:t>
            </a:r>
            <a:r>
              <a:rPr lang="en-US" sz="1200" b="1" dirty="0">
                <a:latin typeface="Times New Roman"/>
                <a:cs typeface="Times New Roman"/>
              </a:rPr>
              <a:t>,</a:t>
            </a:r>
            <a:r>
              <a:rPr lang="en-US" sz="1200" b="1" spc="145" dirty="0">
                <a:latin typeface="Times New Roman"/>
                <a:cs typeface="Times New Roman"/>
              </a:rPr>
              <a:t> </a:t>
            </a:r>
            <a:r>
              <a:rPr lang="en-US" sz="1200" b="1" i="1" dirty="0">
                <a:latin typeface="Times New Roman"/>
                <a:cs typeface="Times New Roman"/>
              </a:rPr>
              <a:t>Panicum</a:t>
            </a:r>
            <a:r>
              <a:rPr lang="en-US" sz="1200" b="1" i="1" spc="285" dirty="0">
                <a:latin typeface="Times New Roman"/>
                <a:cs typeface="Times New Roman"/>
              </a:rPr>
              <a:t> </a:t>
            </a:r>
            <a:r>
              <a:rPr lang="en-US" sz="1200" b="1" i="1" dirty="0">
                <a:latin typeface="Times New Roman"/>
                <a:cs typeface="Times New Roman"/>
              </a:rPr>
              <a:t>virgatum</a:t>
            </a:r>
            <a:r>
              <a:rPr lang="en-US" sz="1200" b="1" spc="-10" dirty="0">
                <a:latin typeface="Times New Roman"/>
                <a:cs typeface="Times New Roman"/>
              </a:rPr>
              <a:t>, </a:t>
            </a:r>
            <a:r>
              <a:rPr lang="en-US" sz="1200" b="1" dirty="0">
                <a:latin typeface="Times New Roman"/>
                <a:cs typeface="Times New Roman"/>
              </a:rPr>
              <a:t>and</a:t>
            </a:r>
            <a:r>
              <a:rPr lang="en-US" sz="1200" b="1" spc="455" dirty="0">
                <a:latin typeface="Times New Roman"/>
                <a:cs typeface="Times New Roman"/>
              </a:rPr>
              <a:t> </a:t>
            </a:r>
            <a:r>
              <a:rPr lang="en-US" sz="1200" b="1" i="1" dirty="0">
                <a:latin typeface="Times New Roman"/>
                <a:cs typeface="Times New Roman"/>
              </a:rPr>
              <a:t>Sorghastrum</a:t>
            </a:r>
            <a:r>
              <a:rPr lang="en-US" sz="1200" b="1" i="1" spc="270" dirty="0">
                <a:latin typeface="Times New Roman"/>
                <a:cs typeface="Times New Roman"/>
              </a:rPr>
              <a:t> </a:t>
            </a:r>
            <a:r>
              <a:rPr lang="en-US" sz="1200" b="1" i="1" dirty="0">
                <a:latin typeface="Times New Roman"/>
                <a:cs typeface="Times New Roman"/>
              </a:rPr>
              <a:t>nutans</a:t>
            </a:r>
            <a:r>
              <a:rPr lang="en-US" sz="1200" b="1" dirty="0">
                <a:latin typeface="Times New Roman" panose="02020603050405020304" pitchFamily="18" charset="0"/>
                <a:cs typeface="Times New Roman" panose="02020603050405020304" pitchFamily="18" charset="0"/>
              </a:rPr>
              <a:t>. (A)</a:t>
            </a:r>
            <a:r>
              <a:rPr lang="en-US" sz="1200" dirty="0">
                <a:latin typeface="Times New Roman" panose="02020603050405020304" pitchFamily="18" charset="0"/>
                <a:cs typeface="Times New Roman" panose="02020603050405020304" pitchFamily="18" charset="0"/>
              </a:rPr>
              <a:t> Winter-elevated. </a:t>
            </a:r>
            <a:r>
              <a:rPr lang="en-US" sz="1200" b="1" dirty="0">
                <a:latin typeface="Times New Roman" panose="02020603050405020304" pitchFamily="18" charset="0"/>
                <a:cs typeface="Times New Roman" panose="02020603050405020304" pitchFamily="18" charset="0"/>
              </a:rPr>
              <a:t>(B)</a:t>
            </a:r>
            <a:r>
              <a:rPr lang="en-US" sz="1200" dirty="0">
                <a:latin typeface="Times New Roman" panose="02020603050405020304" pitchFamily="18" charset="0"/>
                <a:cs typeface="Times New Roman" panose="02020603050405020304" pitchFamily="18" charset="0"/>
              </a:rPr>
              <a:t> Winter-reduced. Set sizes (horizontal bars) indicate the total number of differentially abundant orthogroups identified per species. Intersection sizes (vertical bars) represent orthogroups unique to individual species or shared among multiple species. Bar shading indicates the number of species sharing each orthogroup: unique to one species (white), shared between two species (gray), or shared among more than two species (black). Dots below the plot illustrate species-specific orthogroup intersections.</a:t>
            </a:r>
            <a:endParaRPr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1013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5334000"/>
            <a:ext cx="9770110" cy="1497205"/>
          </a:xfrm>
          <a:prstGeom prst="rect">
            <a:avLst/>
          </a:prstGeom>
        </p:spPr>
        <p:txBody>
          <a:bodyPr vert="horz" wrap="square" lIns="0" tIns="19685" rIns="0" bIns="0" rtlCol="0">
            <a:spAutoFit/>
          </a:bodyPr>
          <a:lstStyle/>
          <a:p>
            <a:pPr algn="just">
              <a:spcAft>
                <a:spcPts val="800"/>
              </a:spcAft>
              <a:buNone/>
            </a:pPr>
            <a:r>
              <a:rPr lang="en-IL" sz="1200" b="1" kern="100" dirty="0">
                <a:effectLst/>
                <a:latin typeface="Times New Roman" panose="02020603050405020304" pitchFamily="18" charset="0"/>
                <a:ea typeface="Aptos" panose="020B0004020202020204" pitchFamily="34" charset="0"/>
                <a:cs typeface="Times New Roman" panose="02020603050405020304" pitchFamily="18" charset="0"/>
              </a:rPr>
              <a:t>Fig. S4 (A) </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Enriched biological processes (BP) of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Tripsacum dactyloides</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 and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T. floridanum</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 hybrids,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Andropogon gerardii</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Miscanthus</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giganteus</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Panicum virgatum</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 and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Sorghastrum nutans</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 rhizomes among differentially accumulated proteins (DAPs) in 475 winter-elevated and 609 winter-reduced proteins (proteins with unknown BP term were excluded). Dot size represents gene count per BP category, while dot color indicates the gene ratio (proportion of proteins annotated to each BP category). Only the top significantly enriched BP terms (lowest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P</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-values) are displayed for clarity. </a:t>
            </a:r>
            <a:r>
              <a:rPr lang="en-IL" sz="1200" b="1" kern="100" dirty="0">
                <a:effectLst/>
                <a:latin typeface="Times New Roman" panose="02020603050405020304" pitchFamily="18" charset="0"/>
                <a:ea typeface="Aptos" panose="020B0004020202020204" pitchFamily="34" charset="0"/>
                <a:cs typeface="Times New Roman" panose="02020603050405020304" pitchFamily="18" charset="0"/>
              </a:rPr>
              <a:t>(B) </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Mosaic plot of BP enriched among winter-elevated DAPs across five PACMAD grass species. The plot summarizes the distribution of functionally annotated proteins (n = 483 of 630; unannotated proteins were excluded) across 139 biological process (BP) terms. These terms were consolidated into broader functional categories to aid interpretability. Each bar shows the relative abundance of functional categories within a species, highlighting both conserved and species-specific patterns. A Chi-square test for independence (χ²[70]=97.5,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P</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=0.017) was performed to evaluate variation across species. Category labels are shown in the legend.</a:t>
            </a:r>
          </a:p>
        </p:txBody>
      </p:sp>
      <p:grpSp>
        <p:nvGrpSpPr>
          <p:cNvPr id="3" name="object 3"/>
          <p:cNvGrpSpPr/>
          <p:nvPr/>
        </p:nvGrpSpPr>
        <p:grpSpPr>
          <a:xfrm>
            <a:off x="6239970" y="150237"/>
            <a:ext cx="1111885" cy="2631440"/>
            <a:chOff x="6239970" y="150237"/>
            <a:chExt cx="1111885" cy="2631440"/>
          </a:xfrm>
        </p:grpSpPr>
        <p:sp>
          <p:nvSpPr>
            <p:cNvPr id="4" name="object 4"/>
            <p:cNvSpPr/>
            <p:nvPr/>
          </p:nvSpPr>
          <p:spPr>
            <a:xfrm>
              <a:off x="6531483" y="152799"/>
              <a:ext cx="0" cy="2616200"/>
            </a:xfrm>
            <a:custGeom>
              <a:avLst/>
              <a:gdLst/>
              <a:ahLst/>
              <a:cxnLst/>
              <a:rect l="l" t="t" r="r" b="b"/>
              <a:pathLst>
                <a:path h="2616200">
                  <a:moveTo>
                    <a:pt x="0" y="2615610"/>
                  </a:moveTo>
                  <a:lnTo>
                    <a:pt x="0" y="0"/>
                  </a:lnTo>
                </a:path>
              </a:pathLst>
            </a:custGeom>
            <a:ln w="3175">
              <a:solidFill>
                <a:srgbClr val="EBEBEB"/>
              </a:solidFill>
            </a:ln>
          </p:spPr>
          <p:txBody>
            <a:bodyPr wrap="square" lIns="0" tIns="0" rIns="0" bIns="0" rtlCol="0"/>
            <a:lstStyle/>
            <a:p>
              <a:endParaRPr/>
            </a:p>
          </p:txBody>
        </p:sp>
        <p:sp>
          <p:nvSpPr>
            <p:cNvPr id="5" name="object 5"/>
            <p:cNvSpPr/>
            <p:nvPr/>
          </p:nvSpPr>
          <p:spPr>
            <a:xfrm>
              <a:off x="6890582" y="152799"/>
              <a:ext cx="0" cy="2616200"/>
            </a:xfrm>
            <a:custGeom>
              <a:avLst/>
              <a:gdLst/>
              <a:ahLst/>
              <a:cxnLst/>
              <a:rect l="l" t="t" r="r" b="b"/>
              <a:pathLst>
                <a:path h="2616200">
                  <a:moveTo>
                    <a:pt x="0" y="2615610"/>
                  </a:moveTo>
                  <a:lnTo>
                    <a:pt x="0" y="0"/>
                  </a:lnTo>
                </a:path>
              </a:pathLst>
            </a:custGeom>
            <a:ln w="3175">
              <a:solidFill>
                <a:srgbClr val="EBEBEB"/>
              </a:solidFill>
            </a:ln>
          </p:spPr>
          <p:txBody>
            <a:bodyPr wrap="square" lIns="0" tIns="0" rIns="0" bIns="0" rtlCol="0"/>
            <a:lstStyle/>
            <a:p>
              <a:endParaRPr/>
            </a:p>
          </p:txBody>
        </p:sp>
        <p:sp>
          <p:nvSpPr>
            <p:cNvPr id="6" name="object 6"/>
            <p:cNvSpPr/>
            <p:nvPr/>
          </p:nvSpPr>
          <p:spPr>
            <a:xfrm>
              <a:off x="7249662" y="152799"/>
              <a:ext cx="0" cy="2616200"/>
            </a:xfrm>
            <a:custGeom>
              <a:avLst/>
              <a:gdLst/>
              <a:ahLst/>
              <a:cxnLst/>
              <a:rect l="l" t="t" r="r" b="b"/>
              <a:pathLst>
                <a:path h="2616200">
                  <a:moveTo>
                    <a:pt x="0" y="2615610"/>
                  </a:moveTo>
                  <a:lnTo>
                    <a:pt x="0" y="0"/>
                  </a:lnTo>
                </a:path>
              </a:pathLst>
            </a:custGeom>
            <a:ln w="3175">
              <a:solidFill>
                <a:srgbClr val="EBEBEB"/>
              </a:solidFill>
            </a:ln>
          </p:spPr>
          <p:txBody>
            <a:bodyPr wrap="square" lIns="0" tIns="0" rIns="0" bIns="0" rtlCol="0"/>
            <a:lstStyle/>
            <a:p>
              <a:endParaRPr/>
            </a:p>
          </p:txBody>
        </p:sp>
        <p:sp>
          <p:nvSpPr>
            <p:cNvPr id="7" name="object 7"/>
            <p:cNvSpPr/>
            <p:nvPr/>
          </p:nvSpPr>
          <p:spPr>
            <a:xfrm>
              <a:off x="6253026" y="2665168"/>
              <a:ext cx="1096645" cy="0"/>
            </a:xfrm>
            <a:custGeom>
              <a:avLst/>
              <a:gdLst/>
              <a:ahLst/>
              <a:cxnLst/>
              <a:rect l="l" t="t" r="r" b="b"/>
              <a:pathLst>
                <a:path w="1096645">
                  <a:moveTo>
                    <a:pt x="0" y="0"/>
                  </a:moveTo>
                  <a:lnTo>
                    <a:pt x="1096123" y="0"/>
                  </a:lnTo>
                </a:path>
              </a:pathLst>
            </a:custGeom>
            <a:ln w="5086">
              <a:solidFill>
                <a:srgbClr val="EBEBEB"/>
              </a:solidFill>
            </a:ln>
          </p:spPr>
          <p:txBody>
            <a:bodyPr wrap="square" lIns="0" tIns="0" rIns="0" bIns="0" rtlCol="0"/>
            <a:lstStyle/>
            <a:p>
              <a:endParaRPr/>
            </a:p>
          </p:txBody>
        </p:sp>
        <p:sp>
          <p:nvSpPr>
            <p:cNvPr id="8" name="object 8"/>
            <p:cNvSpPr/>
            <p:nvPr/>
          </p:nvSpPr>
          <p:spPr>
            <a:xfrm>
              <a:off x="6253026" y="2493080"/>
              <a:ext cx="1096645" cy="0"/>
            </a:xfrm>
            <a:custGeom>
              <a:avLst/>
              <a:gdLst/>
              <a:ahLst/>
              <a:cxnLst/>
              <a:rect l="l" t="t" r="r" b="b"/>
              <a:pathLst>
                <a:path w="1096645">
                  <a:moveTo>
                    <a:pt x="0" y="0"/>
                  </a:moveTo>
                  <a:lnTo>
                    <a:pt x="1096123" y="0"/>
                  </a:lnTo>
                </a:path>
              </a:pathLst>
            </a:custGeom>
            <a:ln w="5086">
              <a:solidFill>
                <a:srgbClr val="EBEBEB"/>
              </a:solidFill>
            </a:ln>
          </p:spPr>
          <p:txBody>
            <a:bodyPr wrap="square" lIns="0" tIns="0" rIns="0" bIns="0" rtlCol="0"/>
            <a:lstStyle/>
            <a:p>
              <a:endParaRPr/>
            </a:p>
          </p:txBody>
        </p:sp>
        <p:sp>
          <p:nvSpPr>
            <p:cNvPr id="9" name="object 9"/>
            <p:cNvSpPr/>
            <p:nvPr/>
          </p:nvSpPr>
          <p:spPr>
            <a:xfrm>
              <a:off x="6253026" y="2321011"/>
              <a:ext cx="1096645" cy="0"/>
            </a:xfrm>
            <a:custGeom>
              <a:avLst/>
              <a:gdLst/>
              <a:ahLst/>
              <a:cxnLst/>
              <a:rect l="l" t="t" r="r" b="b"/>
              <a:pathLst>
                <a:path w="1096645">
                  <a:moveTo>
                    <a:pt x="0" y="0"/>
                  </a:moveTo>
                  <a:lnTo>
                    <a:pt x="1096123" y="0"/>
                  </a:lnTo>
                </a:path>
              </a:pathLst>
            </a:custGeom>
            <a:ln w="5086">
              <a:solidFill>
                <a:srgbClr val="EBEBEB"/>
              </a:solidFill>
            </a:ln>
          </p:spPr>
          <p:txBody>
            <a:bodyPr wrap="square" lIns="0" tIns="0" rIns="0" bIns="0" rtlCol="0"/>
            <a:lstStyle/>
            <a:p>
              <a:endParaRPr/>
            </a:p>
          </p:txBody>
        </p:sp>
        <p:sp>
          <p:nvSpPr>
            <p:cNvPr id="10" name="object 10"/>
            <p:cNvSpPr/>
            <p:nvPr/>
          </p:nvSpPr>
          <p:spPr>
            <a:xfrm>
              <a:off x="6253026" y="2148942"/>
              <a:ext cx="1096645" cy="0"/>
            </a:xfrm>
            <a:custGeom>
              <a:avLst/>
              <a:gdLst/>
              <a:ahLst/>
              <a:cxnLst/>
              <a:rect l="l" t="t" r="r" b="b"/>
              <a:pathLst>
                <a:path w="1096645">
                  <a:moveTo>
                    <a:pt x="0" y="0"/>
                  </a:moveTo>
                  <a:lnTo>
                    <a:pt x="1096123" y="0"/>
                  </a:lnTo>
                </a:path>
              </a:pathLst>
            </a:custGeom>
            <a:ln w="5086">
              <a:solidFill>
                <a:srgbClr val="EBEBEB"/>
              </a:solidFill>
            </a:ln>
          </p:spPr>
          <p:txBody>
            <a:bodyPr wrap="square" lIns="0" tIns="0" rIns="0" bIns="0" rtlCol="0"/>
            <a:lstStyle/>
            <a:p>
              <a:endParaRPr/>
            </a:p>
          </p:txBody>
        </p:sp>
        <p:sp>
          <p:nvSpPr>
            <p:cNvPr id="11" name="object 11"/>
            <p:cNvSpPr/>
            <p:nvPr/>
          </p:nvSpPr>
          <p:spPr>
            <a:xfrm>
              <a:off x="6253026" y="1976854"/>
              <a:ext cx="1096645" cy="0"/>
            </a:xfrm>
            <a:custGeom>
              <a:avLst/>
              <a:gdLst/>
              <a:ahLst/>
              <a:cxnLst/>
              <a:rect l="l" t="t" r="r" b="b"/>
              <a:pathLst>
                <a:path w="1096645">
                  <a:moveTo>
                    <a:pt x="0" y="0"/>
                  </a:moveTo>
                  <a:lnTo>
                    <a:pt x="1096123" y="0"/>
                  </a:lnTo>
                </a:path>
              </a:pathLst>
            </a:custGeom>
            <a:ln w="5086">
              <a:solidFill>
                <a:srgbClr val="EBEBEB"/>
              </a:solidFill>
            </a:ln>
          </p:spPr>
          <p:txBody>
            <a:bodyPr wrap="square" lIns="0" tIns="0" rIns="0" bIns="0" rtlCol="0"/>
            <a:lstStyle/>
            <a:p>
              <a:endParaRPr/>
            </a:p>
          </p:txBody>
        </p:sp>
        <p:sp>
          <p:nvSpPr>
            <p:cNvPr id="12" name="object 12"/>
            <p:cNvSpPr/>
            <p:nvPr/>
          </p:nvSpPr>
          <p:spPr>
            <a:xfrm>
              <a:off x="6253026" y="1804785"/>
              <a:ext cx="1096645" cy="0"/>
            </a:xfrm>
            <a:custGeom>
              <a:avLst/>
              <a:gdLst/>
              <a:ahLst/>
              <a:cxnLst/>
              <a:rect l="l" t="t" r="r" b="b"/>
              <a:pathLst>
                <a:path w="1096645">
                  <a:moveTo>
                    <a:pt x="0" y="0"/>
                  </a:moveTo>
                  <a:lnTo>
                    <a:pt x="1096123" y="0"/>
                  </a:lnTo>
                </a:path>
              </a:pathLst>
            </a:custGeom>
            <a:ln w="5086">
              <a:solidFill>
                <a:srgbClr val="EBEBEB"/>
              </a:solidFill>
            </a:ln>
          </p:spPr>
          <p:txBody>
            <a:bodyPr wrap="square" lIns="0" tIns="0" rIns="0" bIns="0" rtlCol="0"/>
            <a:lstStyle/>
            <a:p>
              <a:endParaRPr/>
            </a:p>
          </p:txBody>
        </p:sp>
        <p:sp>
          <p:nvSpPr>
            <p:cNvPr id="13" name="object 13"/>
            <p:cNvSpPr/>
            <p:nvPr/>
          </p:nvSpPr>
          <p:spPr>
            <a:xfrm>
              <a:off x="6253026" y="1632695"/>
              <a:ext cx="1096645" cy="0"/>
            </a:xfrm>
            <a:custGeom>
              <a:avLst/>
              <a:gdLst/>
              <a:ahLst/>
              <a:cxnLst/>
              <a:rect l="l" t="t" r="r" b="b"/>
              <a:pathLst>
                <a:path w="1096645">
                  <a:moveTo>
                    <a:pt x="0" y="0"/>
                  </a:moveTo>
                  <a:lnTo>
                    <a:pt x="1096123" y="0"/>
                  </a:lnTo>
                </a:path>
              </a:pathLst>
            </a:custGeom>
            <a:ln w="5086">
              <a:solidFill>
                <a:srgbClr val="EBEBEB"/>
              </a:solidFill>
            </a:ln>
          </p:spPr>
          <p:txBody>
            <a:bodyPr wrap="square" lIns="0" tIns="0" rIns="0" bIns="0" rtlCol="0"/>
            <a:lstStyle/>
            <a:p>
              <a:endParaRPr/>
            </a:p>
          </p:txBody>
        </p:sp>
        <p:sp>
          <p:nvSpPr>
            <p:cNvPr id="14" name="object 14"/>
            <p:cNvSpPr/>
            <p:nvPr/>
          </p:nvSpPr>
          <p:spPr>
            <a:xfrm>
              <a:off x="6253026" y="1460627"/>
              <a:ext cx="1096645" cy="0"/>
            </a:xfrm>
            <a:custGeom>
              <a:avLst/>
              <a:gdLst/>
              <a:ahLst/>
              <a:cxnLst/>
              <a:rect l="l" t="t" r="r" b="b"/>
              <a:pathLst>
                <a:path w="1096645">
                  <a:moveTo>
                    <a:pt x="0" y="0"/>
                  </a:moveTo>
                  <a:lnTo>
                    <a:pt x="1096123" y="0"/>
                  </a:lnTo>
                </a:path>
              </a:pathLst>
            </a:custGeom>
            <a:ln w="5086">
              <a:solidFill>
                <a:srgbClr val="EBEBEB"/>
              </a:solidFill>
            </a:ln>
          </p:spPr>
          <p:txBody>
            <a:bodyPr wrap="square" lIns="0" tIns="0" rIns="0" bIns="0" rtlCol="0"/>
            <a:lstStyle/>
            <a:p>
              <a:endParaRPr/>
            </a:p>
          </p:txBody>
        </p:sp>
        <p:sp>
          <p:nvSpPr>
            <p:cNvPr id="15" name="object 15"/>
            <p:cNvSpPr/>
            <p:nvPr/>
          </p:nvSpPr>
          <p:spPr>
            <a:xfrm>
              <a:off x="6253026" y="1288538"/>
              <a:ext cx="1096645" cy="0"/>
            </a:xfrm>
            <a:custGeom>
              <a:avLst/>
              <a:gdLst/>
              <a:ahLst/>
              <a:cxnLst/>
              <a:rect l="l" t="t" r="r" b="b"/>
              <a:pathLst>
                <a:path w="1096645">
                  <a:moveTo>
                    <a:pt x="0" y="0"/>
                  </a:moveTo>
                  <a:lnTo>
                    <a:pt x="1096123" y="0"/>
                  </a:lnTo>
                </a:path>
              </a:pathLst>
            </a:custGeom>
            <a:ln w="5086">
              <a:solidFill>
                <a:srgbClr val="EBEBEB"/>
              </a:solidFill>
            </a:ln>
          </p:spPr>
          <p:txBody>
            <a:bodyPr wrap="square" lIns="0" tIns="0" rIns="0" bIns="0" rtlCol="0"/>
            <a:lstStyle/>
            <a:p>
              <a:endParaRPr/>
            </a:p>
          </p:txBody>
        </p:sp>
        <p:sp>
          <p:nvSpPr>
            <p:cNvPr id="16" name="object 16"/>
            <p:cNvSpPr/>
            <p:nvPr/>
          </p:nvSpPr>
          <p:spPr>
            <a:xfrm>
              <a:off x="6253026" y="1116469"/>
              <a:ext cx="1096645" cy="0"/>
            </a:xfrm>
            <a:custGeom>
              <a:avLst/>
              <a:gdLst/>
              <a:ahLst/>
              <a:cxnLst/>
              <a:rect l="l" t="t" r="r" b="b"/>
              <a:pathLst>
                <a:path w="1096645">
                  <a:moveTo>
                    <a:pt x="0" y="0"/>
                  </a:moveTo>
                  <a:lnTo>
                    <a:pt x="1096123" y="0"/>
                  </a:lnTo>
                </a:path>
              </a:pathLst>
            </a:custGeom>
            <a:ln w="5086">
              <a:solidFill>
                <a:srgbClr val="EBEBEB"/>
              </a:solidFill>
            </a:ln>
          </p:spPr>
          <p:txBody>
            <a:bodyPr wrap="square" lIns="0" tIns="0" rIns="0" bIns="0" rtlCol="0"/>
            <a:lstStyle/>
            <a:p>
              <a:endParaRPr/>
            </a:p>
          </p:txBody>
        </p:sp>
        <p:sp>
          <p:nvSpPr>
            <p:cNvPr id="17" name="object 17"/>
            <p:cNvSpPr/>
            <p:nvPr/>
          </p:nvSpPr>
          <p:spPr>
            <a:xfrm>
              <a:off x="6253026" y="944381"/>
              <a:ext cx="1096645" cy="0"/>
            </a:xfrm>
            <a:custGeom>
              <a:avLst/>
              <a:gdLst/>
              <a:ahLst/>
              <a:cxnLst/>
              <a:rect l="l" t="t" r="r" b="b"/>
              <a:pathLst>
                <a:path w="1096645">
                  <a:moveTo>
                    <a:pt x="0" y="0"/>
                  </a:moveTo>
                  <a:lnTo>
                    <a:pt x="1096123" y="0"/>
                  </a:lnTo>
                </a:path>
              </a:pathLst>
            </a:custGeom>
            <a:ln w="5086">
              <a:solidFill>
                <a:srgbClr val="EBEBEB"/>
              </a:solidFill>
            </a:ln>
          </p:spPr>
          <p:txBody>
            <a:bodyPr wrap="square" lIns="0" tIns="0" rIns="0" bIns="0" rtlCol="0"/>
            <a:lstStyle/>
            <a:p>
              <a:endParaRPr/>
            </a:p>
          </p:txBody>
        </p:sp>
        <p:sp>
          <p:nvSpPr>
            <p:cNvPr id="18" name="object 18"/>
            <p:cNvSpPr/>
            <p:nvPr/>
          </p:nvSpPr>
          <p:spPr>
            <a:xfrm>
              <a:off x="6253026" y="772311"/>
              <a:ext cx="1096645" cy="0"/>
            </a:xfrm>
            <a:custGeom>
              <a:avLst/>
              <a:gdLst/>
              <a:ahLst/>
              <a:cxnLst/>
              <a:rect l="l" t="t" r="r" b="b"/>
              <a:pathLst>
                <a:path w="1096645">
                  <a:moveTo>
                    <a:pt x="0" y="0"/>
                  </a:moveTo>
                  <a:lnTo>
                    <a:pt x="1096123" y="0"/>
                  </a:lnTo>
                </a:path>
              </a:pathLst>
            </a:custGeom>
            <a:ln w="5086">
              <a:solidFill>
                <a:srgbClr val="EBEBEB"/>
              </a:solidFill>
            </a:ln>
          </p:spPr>
          <p:txBody>
            <a:bodyPr wrap="square" lIns="0" tIns="0" rIns="0" bIns="0" rtlCol="0"/>
            <a:lstStyle/>
            <a:p>
              <a:endParaRPr/>
            </a:p>
          </p:txBody>
        </p:sp>
        <p:sp>
          <p:nvSpPr>
            <p:cNvPr id="19" name="object 19"/>
            <p:cNvSpPr/>
            <p:nvPr/>
          </p:nvSpPr>
          <p:spPr>
            <a:xfrm>
              <a:off x="6253026" y="600223"/>
              <a:ext cx="1096645" cy="0"/>
            </a:xfrm>
            <a:custGeom>
              <a:avLst/>
              <a:gdLst/>
              <a:ahLst/>
              <a:cxnLst/>
              <a:rect l="l" t="t" r="r" b="b"/>
              <a:pathLst>
                <a:path w="1096645">
                  <a:moveTo>
                    <a:pt x="0" y="0"/>
                  </a:moveTo>
                  <a:lnTo>
                    <a:pt x="1096123" y="0"/>
                  </a:lnTo>
                </a:path>
              </a:pathLst>
            </a:custGeom>
            <a:ln w="5086">
              <a:solidFill>
                <a:srgbClr val="EBEBEB"/>
              </a:solidFill>
            </a:ln>
          </p:spPr>
          <p:txBody>
            <a:bodyPr wrap="square" lIns="0" tIns="0" rIns="0" bIns="0" rtlCol="0"/>
            <a:lstStyle/>
            <a:p>
              <a:endParaRPr/>
            </a:p>
          </p:txBody>
        </p:sp>
        <p:sp>
          <p:nvSpPr>
            <p:cNvPr id="20" name="object 20"/>
            <p:cNvSpPr/>
            <p:nvPr/>
          </p:nvSpPr>
          <p:spPr>
            <a:xfrm>
              <a:off x="6253026" y="428154"/>
              <a:ext cx="1096645" cy="0"/>
            </a:xfrm>
            <a:custGeom>
              <a:avLst/>
              <a:gdLst/>
              <a:ahLst/>
              <a:cxnLst/>
              <a:rect l="l" t="t" r="r" b="b"/>
              <a:pathLst>
                <a:path w="1096645">
                  <a:moveTo>
                    <a:pt x="0" y="0"/>
                  </a:moveTo>
                  <a:lnTo>
                    <a:pt x="1096123" y="0"/>
                  </a:lnTo>
                </a:path>
              </a:pathLst>
            </a:custGeom>
            <a:ln w="5086">
              <a:solidFill>
                <a:srgbClr val="EBEBEB"/>
              </a:solidFill>
            </a:ln>
          </p:spPr>
          <p:txBody>
            <a:bodyPr wrap="square" lIns="0" tIns="0" rIns="0" bIns="0" rtlCol="0"/>
            <a:lstStyle/>
            <a:p>
              <a:endParaRPr/>
            </a:p>
          </p:txBody>
        </p:sp>
        <p:sp>
          <p:nvSpPr>
            <p:cNvPr id="21" name="object 21"/>
            <p:cNvSpPr/>
            <p:nvPr/>
          </p:nvSpPr>
          <p:spPr>
            <a:xfrm>
              <a:off x="6253026" y="256070"/>
              <a:ext cx="1096645" cy="0"/>
            </a:xfrm>
            <a:custGeom>
              <a:avLst/>
              <a:gdLst/>
              <a:ahLst/>
              <a:cxnLst/>
              <a:rect l="l" t="t" r="r" b="b"/>
              <a:pathLst>
                <a:path w="1096645">
                  <a:moveTo>
                    <a:pt x="0" y="0"/>
                  </a:moveTo>
                  <a:lnTo>
                    <a:pt x="1096123" y="0"/>
                  </a:lnTo>
                </a:path>
              </a:pathLst>
            </a:custGeom>
            <a:ln w="5086">
              <a:solidFill>
                <a:srgbClr val="EBEBEB"/>
              </a:solidFill>
            </a:ln>
          </p:spPr>
          <p:txBody>
            <a:bodyPr wrap="square" lIns="0" tIns="0" rIns="0" bIns="0" rtlCol="0"/>
            <a:lstStyle/>
            <a:p>
              <a:endParaRPr/>
            </a:p>
          </p:txBody>
        </p:sp>
        <p:sp>
          <p:nvSpPr>
            <p:cNvPr id="22" name="object 22"/>
            <p:cNvSpPr/>
            <p:nvPr/>
          </p:nvSpPr>
          <p:spPr>
            <a:xfrm>
              <a:off x="6351947" y="152799"/>
              <a:ext cx="0" cy="2616200"/>
            </a:xfrm>
            <a:custGeom>
              <a:avLst/>
              <a:gdLst/>
              <a:ahLst/>
              <a:cxnLst/>
              <a:rect l="l" t="t" r="r" b="b"/>
              <a:pathLst>
                <a:path h="2616200">
                  <a:moveTo>
                    <a:pt x="0" y="2615610"/>
                  </a:moveTo>
                  <a:lnTo>
                    <a:pt x="0" y="0"/>
                  </a:lnTo>
                </a:path>
              </a:pathLst>
            </a:custGeom>
            <a:ln w="5086">
              <a:solidFill>
                <a:srgbClr val="EBEBEB"/>
              </a:solidFill>
            </a:ln>
          </p:spPr>
          <p:txBody>
            <a:bodyPr wrap="square" lIns="0" tIns="0" rIns="0" bIns="0" rtlCol="0"/>
            <a:lstStyle/>
            <a:p>
              <a:endParaRPr/>
            </a:p>
          </p:txBody>
        </p:sp>
        <p:sp>
          <p:nvSpPr>
            <p:cNvPr id="23" name="object 23"/>
            <p:cNvSpPr/>
            <p:nvPr/>
          </p:nvSpPr>
          <p:spPr>
            <a:xfrm>
              <a:off x="6711040" y="152799"/>
              <a:ext cx="0" cy="2616200"/>
            </a:xfrm>
            <a:custGeom>
              <a:avLst/>
              <a:gdLst/>
              <a:ahLst/>
              <a:cxnLst/>
              <a:rect l="l" t="t" r="r" b="b"/>
              <a:pathLst>
                <a:path h="2616200">
                  <a:moveTo>
                    <a:pt x="0" y="2615610"/>
                  </a:moveTo>
                  <a:lnTo>
                    <a:pt x="0" y="0"/>
                  </a:lnTo>
                </a:path>
              </a:pathLst>
            </a:custGeom>
            <a:ln w="5086">
              <a:solidFill>
                <a:srgbClr val="EBEBEB"/>
              </a:solidFill>
            </a:ln>
          </p:spPr>
          <p:txBody>
            <a:bodyPr wrap="square" lIns="0" tIns="0" rIns="0" bIns="0" rtlCol="0"/>
            <a:lstStyle/>
            <a:p>
              <a:endParaRPr/>
            </a:p>
          </p:txBody>
        </p:sp>
        <p:sp>
          <p:nvSpPr>
            <p:cNvPr id="24" name="object 24"/>
            <p:cNvSpPr/>
            <p:nvPr/>
          </p:nvSpPr>
          <p:spPr>
            <a:xfrm>
              <a:off x="7070119" y="152799"/>
              <a:ext cx="0" cy="2616200"/>
            </a:xfrm>
            <a:custGeom>
              <a:avLst/>
              <a:gdLst/>
              <a:ahLst/>
              <a:cxnLst/>
              <a:rect l="l" t="t" r="r" b="b"/>
              <a:pathLst>
                <a:path h="2616200">
                  <a:moveTo>
                    <a:pt x="0" y="2615610"/>
                  </a:moveTo>
                  <a:lnTo>
                    <a:pt x="0" y="0"/>
                  </a:lnTo>
                </a:path>
              </a:pathLst>
            </a:custGeom>
            <a:ln w="5086">
              <a:solidFill>
                <a:srgbClr val="EBEBEB"/>
              </a:solidFill>
            </a:ln>
          </p:spPr>
          <p:txBody>
            <a:bodyPr wrap="square" lIns="0" tIns="0" rIns="0" bIns="0" rtlCol="0"/>
            <a:lstStyle/>
            <a:p>
              <a:endParaRPr/>
            </a:p>
          </p:txBody>
        </p:sp>
        <p:pic>
          <p:nvPicPr>
            <p:cNvPr id="25" name="object 25"/>
            <p:cNvPicPr/>
            <p:nvPr/>
          </p:nvPicPr>
          <p:blipFill>
            <a:blip r:embed="rId2" cstate="print"/>
            <a:stretch>
              <a:fillRect/>
            </a:stretch>
          </p:blipFill>
          <p:spPr>
            <a:xfrm>
              <a:off x="6268804" y="2631141"/>
              <a:ext cx="68090" cy="68060"/>
            </a:xfrm>
            <a:prstGeom prst="rect">
              <a:avLst/>
            </a:prstGeom>
          </p:spPr>
        </p:pic>
        <p:sp>
          <p:nvSpPr>
            <p:cNvPr id="26" name="object 26"/>
            <p:cNvSpPr/>
            <p:nvPr/>
          </p:nvSpPr>
          <p:spPr>
            <a:xfrm>
              <a:off x="6318644" y="2482912"/>
              <a:ext cx="20320" cy="20955"/>
            </a:xfrm>
            <a:custGeom>
              <a:avLst/>
              <a:gdLst/>
              <a:ahLst/>
              <a:cxnLst/>
              <a:rect l="l" t="t" r="r" b="b"/>
              <a:pathLst>
                <a:path w="20320" h="20955">
                  <a:moveTo>
                    <a:pt x="10155" y="0"/>
                  </a:moveTo>
                  <a:lnTo>
                    <a:pt x="3173" y="2541"/>
                  </a:lnTo>
                  <a:lnTo>
                    <a:pt x="0" y="10164"/>
                  </a:lnTo>
                  <a:lnTo>
                    <a:pt x="3173" y="17805"/>
                  </a:lnTo>
                  <a:lnTo>
                    <a:pt x="10155" y="20352"/>
                  </a:lnTo>
                  <a:lnTo>
                    <a:pt x="17137" y="17805"/>
                  </a:lnTo>
                  <a:lnTo>
                    <a:pt x="20311" y="10164"/>
                  </a:lnTo>
                  <a:lnTo>
                    <a:pt x="17137" y="2541"/>
                  </a:lnTo>
                  <a:lnTo>
                    <a:pt x="10155" y="0"/>
                  </a:lnTo>
                  <a:close/>
                </a:path>
              </a:pathLst>
            </a:custGeom>
            <a:solidFill>
              <a:srgbClr val="FF0000"/>
            </a:solidFill>
          </p:spPr>
          <p:txBody>
            <a:bodyPr wrap="square" lIns="0" tIns="0" rIns="0" bIns="0" rtlCol="0"/>
            <a:lstStyle/>
            <a:p>
              <a:endParaRPr/>
            </a:p>
          </p:txBody>
        </p:sp>
        <p:sp>
          <p:nvSpPr>
            <p:cNvPr id="27" name="object 27"/>
            <p:cNvSpPr/>
            <p:nvPr/>
          </p:nvSpPr>
          <p:spPr>
            <a:xfrm>
              <a:off x="6318644" y="2482912"/>
              <a:ext cx="20320" cy="20955"/>
            </a:xfrm>
            <a:custGeom>
              <a:avLst/>
              <a:gdLst/>
              <a:ahLst/>
              <a:cxnLst/>
              <a:rect l="l" t="t" r="r" b="b"/>
              <a:pathLst>
                <a:path w="20320" h="20955">
                  <a:moveTo>
                    <a:pt x="10155" y="0"/>
                  </a:moveTo>
                  <a:lnTo>
                    <a:pt x="3173" y="2541"/>
                  </a:lnTo>
                  <a:lnTo>
                    <a:pt x="0" y="10164"/>
                  </a:lnTo>
                  <a:lnTo>
                    <a:pt x="3173" y="17805"/>
                  </a:lnTo>
                  <a:lnTo>
                    <a:pt x="10155" y="20352"/>
                  </a:lnTo>
                  <a:lnTo>
                    <a:pt x="17137" y="17805"/>
                  </a:lnTo>
                  <a:lnTo>
                    <a:pt x="20311" y="10164"/>
                  </a:lnTo>
                  <a:lnTo>
                    <a:pt x="17137" y="2541"/>
                  </a:lnTo>
                  <a:lnTo>
                    <a:pt x="10155" y="0"/>
                  </a:lnTo>
                  <a:close/>
                </a:path>
              </a:pathLst>
            </a:custGeom>
            <a:solidFill>
              <a:srgbClr val="FB0013"/>
            </a:solidFill>
          </p:spPr>
          <p:txBody>
            <a:bodyPr wrap="square" lIns="0" tIns="0" rIns="0" bIns="0" rtlCol="0"/>
            <a:lstStyle/>
            <a:p>
              <a:endParaRPr/>
            </a:p>
          </p:txBody>
        </p:sp>
        <p:sp>
          <p:nvSpPr>
            <p:cNvPr id="28" name="object 28"/>
            <p:cNvSpPr/>
            <p:nvPr/>
          </p:nvSpPr>
          <p:spPr>
            <a:xfrm>
              <a:off x="6318644" y="2310846"/>
              <a:ext cx="20320" cy="20955"/>
            </a:xfrm>
            <a:custGeom>
              <a:avLst/>
              <a:gdLst/>
              <a:ahLst/>
              <a:cxnLst/>
              <a:rect l="l" t="t" r="r" b="b"/>
              <a:pathLst>
                <a:path w="20320" h="20955">
                  <a:moveTo>
                    <a:pt x="10155" y="0"/>
                  </a:moveTo>
                  <a:lnTo>
                    <a:pt x="3173" y="2541"/>
                  </a:lnTo>
                  <a:lnTo>
                    <a:pt x="0" y="10164"/>
                  </a:lnTo>
                  <a:lnTo>
                    <a:pt x="3173" y="17787"/>
                  </a:lnTo>
                  <a:lnTo>
                    <a:pt x="10155" y="20328"/>
                  </a:lnTo>
                  <a:lnTo>
                    <a:pt x="17137" y="17787"/>
                  </a:lnTo>
                  <a:lnTo>
                    <a:pt x="20311" y="10164"/>
                  </a:lnTo>
                  <a:lnTo>
                    <a:pt x="17137" y="2541"/>
                  </a:lnTo>
                  <a:lnTo>
                    <a:pt x="10155" y="0"/>
                  </a:lnTo>
                  <a:close/>
                </a:path>
              </a:pathLst>
            </a:custGeom>
            <a:solidFill>
              <a:srgbClr val="FF0000"/>
            </a:solidFill>
          </p:spPr>
          <p:txBody>
            <a:bodyPr wrap="square" lIns="0" tIns="0" rIns="0" bIns="0" rtlCol="0"/>
            <a:lstStyle/>
            <a:p>
              <a:endParaRPr/>
            </a:p>
          </p:txBody>
        </p:sp>
        <p:sp>
          <p:nvSpPr>
            <p:cNvPr id="29" name="object 29"/>
            <p:cNvSpPr/>
            <p:nvPr/>
          </p:nvSpPr>
          <p:spPr>
            <a:xfrm>
              <a:off x="6318644" y="2310846"/>
              <a:ext cx="20320" cy="20955"/>
            </a:xfrm>
            <a:custGeom>
              <a:avLst/>
              <a:gdLst/>
              <a:ahLst/>
              <a:cxnLst/>
              <a:rect l="l" t="t" r="r" b="b"/>
              <a:pathLst>
                <a:path w="20320" h="20955">
                  <a:moveTo>
                    <a:pt x="10155" y="0"/>
                  </a:moveTo>
                  <a:lnTo>
                    <a:pt x="3173" y="2541"/>
                  </a:lnTo>
                  <a:lnTo>
                    <a:pt x="0" y="10164"/>
                  </a:lnTo>
                  <a:lnTo>
                    <a:pt x="3173" y="17787"/>
                  </a:lnTo>
                  <a:lnTo>
                    <a:pt x="10155" y="20328"/>
                  </a:lnTo>
                  <a:lnTo>
                    <a:pt x="17137" y="17787"/>
                  </a:lnTo>
                  <a:lnTo>
                    <a:pt x="20311" y="10164"/>
                  </a:lnTo>
                  <a:lnTo>
                    <a:pt x="17137" y="2541"/>
                  </a:lnTo>
                  <a:lnTo>
                    <a:pt x="10155" y="0"/>
                  </a:lnTo>
                  <a:close/>
                </a:path>
              </a:pathLst>
            </a:custGeom>
            <a:solidFill>
              <a:srgbClr val="FB0013"/>
            </a:solidFill>
          </p:spPr>
          <p:txBody>
            <a:bodyPr wrap="square" lIns="0" tIns="0" rIns="0" bIns="0" rtlCol="0"/>
            <a:lstStyle/>
            <a:p>
              <a:endParaRPr/>
            </a:p>
          </p:txBody>
        </p:sp>
        <p:sp>
          <p:nvSpPr>
            <p:cNvPr id="30" name="object 30"/>
            <p:cNvSpPr/>
            <p:nvPr/>
          </p:nvSpPr>
          <p:spPr>
            <a:xfrm>
              <a:off x="6398624" y="2130814"/>
              <a:ext cx="36830" cy="36830"/>
            </a:xfrm>
            <a:custGeom>
              <a:avLst/>
              <a:gdLst/>
              <a:ahLst/>
              <a:cxnLst/>
              <a:rect l="l" t="t" r="r" b="b"/>
              <a:pathLst>
                <a:path w="36829" h="36830">
                  <a:moveTo>
                    <a:pt x="18120" y="0"/>
                  </a:moveTo>
                  <a:lnTo>
                    <a:pt x="5662" y="4532"/>
                  </a:lnTo>
                  <a:lnTo>
                    <a:pt x="0" y="18131"/>
                  </a:lnTo>
                  <a:lnTo>
                    <a:pt x="5662" y="31712"/>
                  </a:lnTo>
                  <a:lnTo>
                    <a:pt x="18120" y="36238"/>
                  </a:lnTo>
                  <a:lnTo>
                    <a:pt x="30578" y="31712"/>
                  </a:lnTo>
                  <a:lnTo>
                    <a:pt x="36241" y="18131"/>
                  </a:lnTo>
                  <a:lnTo>
                    <a:pt x="30578" y="4532"/>
                  </a:lnTo>
                  <a:lnTo>
                    <a:pt x="18120" y="0"/>
                  </a:lnTo>
                  <a:close/>
                </a:path>
              </a:pathLst>
            </a:custGeom>
            <a:solidFill>
              <a:srgbClr val="FF0000"/>
            </a:solidFill>
          </p:spPr>
          <p:txBody>
            <a:bodyPr wrap="square" lIns="0" tIns="0" rIns="0" bIns="0" rtlCol="0"/>
            <a:lstStyle/>
            <a:p>
              <a:endParaRPr/>
            </a:p>
          </p:txBody>
        </p:sp>
        <p:sp>
          <p:nvSpPr>
            <p:cNvPr id="31" name="object 31"/>
            <p:cNvSpPr/>
            <p:nvPr/>
          </p:nvSpPr>
          <p:spPr>
            <a:xfrm>
              <a:off x="6398624" y="2130814"/>
              <a:ext cx="36830" cy="36830"/>
            </a:xfrm>
            <a:custGeom>
              <a:avLst/>
              <a:gdLst/>
              <a:ahLst/>
              <a:cxnLst/>
              <a:rect l="l" t="t" r="r" b="b"/>
              <a:pathLst>
                <a:path w="36829" h="36830">
                  <a:moveTo>
                    <a:pt x="18120" y="0"/>
                  </a:moveTo>
                  <a:lnTo>
                    <a:pt x="5662" y="4532"/>
                  </a:lnTo>
                  <a:lnTo>
                    <a:pt x="0" y="18131"/>
                  </a:lnTo>
                  <a:lnTo>
                    <a:pt x="5662" y="31712"/>
                  </a:lnTo>
                  <a:lnTo>
                    <a:pt x="18120" y="36238"/>
                  </a:lnTo>
                  <a:lnTo>
                    <a:pt x="30578" y="31712"/>
                  </a:lnTo>
                  <a:lnTo>
                    <a:pt x="36241" y="18131"/>
                  </a:lnTo>
                  <a:lnTo>
                    <a:pt x="30578" y="4532"/>
                  </a:lnTo>
                  <a:lnTo>
                    <a:pt x="18120" y="0"/>
                  </a:lnTo>
                  <a:close/>
                </a:path>
              </a:pathLst>
            </a:custGeom>
            <a:solidFill>
              <a:srgbClr val="FB0013"/>
            </a:solidFill>
          </p:spPr>
          <p:txBody>
            <a:bodyPr wrap="square" lIns="0" tIns="0" rIns="0" bIns="0" rtlCol="0"/>
            <a:lstStyle/>
            <a:p>
              <a:endParaRPr/>
            </a:p>
          </p:txBody>
        </p:sp>
        <p:sp>
          <p:nvSpPr>
            <p:cNvPr id="32" name="object 32"/>
            <p:cNvSpPr/>
            <p:nvPr/>
          </p:nvSpPr>
          <p:spPr>
            <a:xfrm>
              <a:off x="6398624" y="1958722"/>
              <a:ext cx="36830" cy="36830"/>
            </a:xfrm>
            <a:custGeom>
              <a:avLst/>
              <a:gdLst/>
              <a:ahLst/>
              <a:cxnLst/>
              <a:rect l="l" t="t" r="r" b="b"/>
              <a:pathLst>
                <a:path w="36829" h="36830">
                  <a:moveTo>
                    <a:pt x="18120" y="0"/>
                  </a:moveTo>
                  <a:lnTo>
                    <a:pt x="5662" y="4532"/>
                  </a:lnTo>
                  <a:lnTo>
                    <a:pt x="0" y="18131"/>
                  </a:lnTo>
                  <a:lnTo>
                    <a:pt x="5662" y="31730"/>
                  </a:lnTo>
                  <a:lnTo>
                    <a:pt x="18120" y="36263"/>
                  </a:lnTo>
                  <a:lnTo>
                    <a:pt x="30578" y="31730"/>
                  </a:lnTo>
                  <a:lnTo>
                    <a:pt x="36241" y="18131"/>
                  </a:lnTo>
                  <a:lnTo>
                    <a:pt x="30578" y="4532"/>
                  </a:lnTo>
                  <a:lnTo>
                    <a:pt x="18120" y="0"/>
                  </a:lnTo>
                  <a:close/>
                </a:path>
              </a:pathLst>
            </a:custGeom>
            <a:solidFill>
              <a:srgbClr val="FF0000"/>
            </a:solidFill>
          </p:spPr>
          <p:txBody>
            <a:bodyPr wrap="square" lIns="0" tIns="0" rIns="0" bIns="0" rtlCol="0"/>
            <a:lstStyle/>
            <a:p>
              <a:endParaRPr/>
            </a:p>
          </p:txBody>
        </p:sp>
        <p:sp>
          <p:nvSpPr>
            <p:cNvPr id="33" name="object 33"/>
            <p:cNvSpPr/>
            <p:nvPr/>
          </p:nvSpPr>
          <p:spPr>
            <a:xfrm>
              <a:off x="6398624" y="1958722"/>
              <a:ext cx="36830" cy="36830"/>
            </a:xfrm>
            <a:custGeom>
              <a:avLst/>
              <a:gdLst/>
              <a:ahLst/>
              <a:cxnLst/>
              <a:rect l="l" t="t" r="r" b="b"/>
              <a:pathLst>
                <a:path w="36829" h="36830">
                  <a:moveTo>
                    <a:pt x="18120" y="0"/>
                  </a:moveTo>
                  <a:lnTo>
                    <a:pt x="5662" y="4532"/>
                  </a:lnTo>
                  <a:lnTo>
                    <a:pt x="0" y="18131"/>
                  </a:lnTo>
                  <a:lnTo>
                    <a:pt x="5662" y="31730"/>
                  </a:lnTo>
                  <a:lnTo>
                    <a:pt x="18120" y="36263"/>
                  </a:lnTo>
                  <a:lnTo>
                    <a:pt x="30578" y="31730"/>
                  </a:lnTo>
                  <a:lnTo>
                    <a:pt x="36241" y="18131"/>
                  </a:lnTo>
                  <a:lnTo>
                    <a:pt x="30578" y="4532"/>
                  </a:lnTo>
                  <a:lnTo>
                    <a:pt x="18120" y="0"/>
                  </a:lnTo>
                  <a:close/>
                </a:path>
              </a:pathLst>
            </a:custGeom>
            <a:solidFill>
              <a:srgbClr val="FB0013"/>
            </a:solidFill>
          </p:spPr>
          <p:txBody>
            <a:bodyPr wrap="square" lIns="0" tIns="0" rIns="0" bIns="0" rtlCol="0"/>
            <a:lstStyle/>
            <a:p>
              <a:endParaRPr/>
            </a:p>
          </p:txBody>
        </p:sp>
        <p:sp>
          <p:nvSpPr>
            <p:cNvPr id="34" name="object 34"/>
            <p:cNvSpPr/>
            <p:nvPr/>
          </p:nvSpPr>
          <p:spPr>
            <a:xfrm>
              <a:off x="6414391" y="1776806"/>
              <a:ext cx="56515" cy="56515"/>
            </a:xfrm>
            <a:custGeom>
              <a:avLst/>
              <a:gdLst/>
              <a:ahLst/>
              <a:cxnLst/>
              <a:rect l="l" t="t" r="r" b="b"/>
              <a:pathLst>
                <a:path w="56514" h="56514">
                  <a:moveTo>
                    <a:pt x="27973" y="0"/>
                  </a:moveTo>
                  <a:lnTo>
                    <a:pt x="8741" y="6995"/>
                  </a:lnTo>
                  <a:lnTo>
                    <a:pt x="0" y="27982"/>
                  </a:lnTo>
                  <a:lnTo>
                    <a:pt x="8741" y="48950"/>
                  </a:lnTo>
                  <a:lnTo>
                    <a:pt x="27973" y="55939"/>
                  </a:lnTo>
                  <a:lnTo>
                    <a:pt x="47205" y="48950"/>
                  </a:lnTo>
                  <a:lnTo>
                    <a:pt x="55947" y="27982"/>
                  </a:lnTo>
                  <a:lnTo>
                    <a:pt x="47205" y="6995"/>
                  </a:lnTo>
                  <a:lnTo>
                    <a:pt x="27973" y="0"/>
                  </a:lnTo>
                  <a:close/>
                </a:path>
              </a:pathLst>
            </a:custGeom>
            <a:solidFill>
              <a:srgbClr val="DA006C"/>
            </a:solidFill>
          </p:spPr>
          <p:txBody>
            <a:bodyPr wrap="square" lIns="0" tIns="0" rIns="0" bIns="0" rtlCol="0"/>
            <a:lstStyle/>
            <a:p>
              <a:endParaRPr/>
            </a:p>
          </p:txBody>
        </p:sp>
        <p:sp>
          <p:nvSpPr>
            <p:cNvPr id="35" name="object 35"/>
            <p:cNvSpPr/>
            <p:nvPr/>
          </p:nvSpPr>
          <p:spPr>
            <a:xfrm>
              <a:off x="6414391" y="1776806"/>
              <a:ext cx="56515" cy="56515"/>
            </a:xfrm>
            <a:custGeom>
              <a:avLst/>
              <a:gdLst/>
              <a:ahLst/>
              <a:cxnLst/>
              <a:rect l="l" t="t" r="r" b="b"/>
              <a:pathLst>
                <a:path w="56514" h="56514">
                  <a:moveTo>
                    <a:pt x="27973" y="0"/>
                  </a:moveTo>
                  <a:lnTo>
                    <a:pt x="8741" y="6995"/>
                  </a:lnTo>
                  <a:lnTo>
                    <a:pt x="0" y="27982"/>
                  </a:lnTo>
                  <a:lnTo>
                    <a:pt x="8741" y="48950"/>
                  </a:lnTo>
                  <a:lnTo>
                    <a:pt x="27973" y="55939"/>
                  </a:lnTo>
                  <a:lnTo>
                    <a:pt x="47205" y="48950"/>
                  </a:lnTo>
                  <a:lnTo>
                    <a:pt x="55947" y="27982"/>
                  </a:lnTo>
                  <a:lnTo>
                    <a:pt x="47205" y="6995"/>
                  </a:lnTo>
                  <a:lnTo>
                    <a:pt x="27973" y="0"/>
                  </a:lnTo>
                  <a:close/>
                </a:path>
              </a:pathLst>
            </a:custGeom>
            <a:solidFill>
              <a:srgbClr val="F30034"/>
            </a:solidFill>
          </p:spPr>
          <p:txBody>
            <a:bodyPr wrap="square" lIns="0" tIns="0" rIns="0" bIns="0" rtlCol="0"/>
            <a:lstStyle/>
            <a:p>
              <a:endParaRPr/>
            </a:p>
          </p:txBody>
        </p:sp>
        <p:pic>
          <p:nvPicPr>
            <p:cNvPr id="36" name="object 36"/>
            <p:cNvPicPr/>
            <p:nvPr/>
          </p:nvPicPr>
          <p:blipFill>
            <a:blip r:embed="rId3" cstate="print"/>
            <a:stretch>
              <a:fillRect/>
            </a:stretch>
          </p:blipFill>
          <p:spPr>
            <a:xfrm>
              <a:off x="6463180" y="1593040"/>
              <a:ext cx="79308" cy="79308"/>
            </a:xfrm>
            <a:prstGeom prst="rect">
              <a:avLst/>
            </a:prstGeom>
          </p:spPr>
        </p:pic>
        <p:sp>
          <p:nvSpPr>
            <p:cNvPr id="37" name="object 37"/>
            <p:cNvSpPr/>
            <p:nvPr/>
          </p:nvSpPr>
          <p:spPr>
            <a:xfrm>
              <a:off x="6495176" y="1430955"/>
              <a:ext cx="59690" cy="59690"/>
            </a:xfrm>
            <a:custGeom>
              <a:avLst/>
              <a:gdLst/>
              <a:ahLst/>
              <a:cxnLst/>
              <a:rect l="l" t="t" r="r" b="b"/>
              <a:pathLst>
                <a:path w="59690" h="59690">
                  <a:moveTo>
                    <a:pt x="29663" y="0"/>
                  </a:moveTo>
                  <a:lnTo>
                    <a:pt x="9269" y="7418"/>
                  </a:lnTo>
                  <a:lnTo>
                    <a:pt x="0" y="29674"/>
                  </a:lnTo>
                  <a:lnTo>
                    <a:pt x="9269" y="51918"/>
                  </a:lnTo>
                  <a:lnTo>
                    <a:pt x="29663" y="59333"/>
                  </a:lnTo>
                  <a:lnTo>
                    <a:pt x="50057" y="51918"/>
                  </a:lnTo>
                  <a:lnTo>
                    <a:pt x="59327" y="29674"/>
                  </a:lnTo>
                  <a:lnTo>
                    <a:pt x="50057" y="7418"/>
                  </a:lnTo>
                  <a:lnTo>
                    <a:pt x="29663" y="0"/>
                  </a:lnTo>
                  <a:close/>
                </a:path>
              </a:pathLst>
            </a:custGeom>
            <a:solidFill>
              <a:srgbClr val="DC0068"/>
            </a:solidFill>
          </p:spPr>
          <p:txBody>
            <a:bodyPr wrap="square" lIns="0" tIns="0" rIns="0" bIns="0" rtlCol="0"/>
            <a:lstStyle/>
            <a:p>
              <a:endParaRPr/>
            </a:p>
          </p:txBody>
        </p:sp>
        <p:sp>
          <p:nvSpPr>
            <p:cNvPr id="38" name="object 38"/>
            <p:cNvSpPr/>
            <p:nvPr/>
          </p:nvSpPr>
          <p:spPr>
            <a:xfrm>
              <a:off x="6495176" y="1430955"/>
              <a:ext cx="59690" cy="59690"/>
            </a:xfrm>
            <a:custGeom>
              <a:avLst/>
              <a:gdLst/>
              <a:ahLst/>
              <a:cxnLst/>
              <a:rect l="l" t="t" r="r" b="b"/>
              <a:pathLst>
                <a:path w="59690" h="59690">
                  <a:moveTo>
                    <a:pt x="29663" y="0"/>
                  </a:moveTo>
                  <a:lnTo>
                    <a:pt x="9269" y="7418"/>
                  </a:lnTo>
                  <a:lnTo>
                    <a:pt x="0" y="29674"/>
                  </a:lnTo>
                  <a:lnTo>
                    <a:pt x="9269" y="51918"/>
                  </a:lnTo>
                  <a:lnTo>
                    <a:pt x="29663" y="59333"/>
                  </a:lnTo>
                  <a:lnTo>
                    <a:pt x="50057" y="51918"/>
                  </a:lnTo>
                  <a:lnTo>
                    <a:pt x="59327" y="29674"/>
                  </a:lnTo>
                  <a:lnTo>
                    <a:pt x="50057" y="7418"/>
                  </a:lnTo>
                  <a:lnTo>
                    <a:pt x="29663" y="0"/>
                  </a:lnTo>
                  <a:close/>
                </a:path>
              </a:pathLst>
            </a:custGeom>
            <a:solidFill>
              <a:srgbClr val="F30034"/>
            </a:solidFill>
          </p:spPr>
          <p:txBody>
            <a:bodyPr wrap="square" lIns="0" tIns="0" rIns="0" bIns="0" rtlCol="0"/>
            <a:lstStyle/>
            <a:p>
              <a:endParaRPr/>
            </a:p>
          </p:txBody>
        </p:sp>
        <p:sp>
          <p:nvSpPr>
            <p:cNvPr id="39" name="object 39"/>
            <p:cNvSpPr/>
            <p:nvPr/>
          </p:nvSpPr>
          <p:spPr>
            <a:xfrm>
              <a:off x="6571378" y="1264584"/>
              <a:ext cx="48260" cy="48260"/>
            </a:xfrm>
            <a:custGeom>
              <a:avLst/>
              <a:gdLst/>
              <a:ahLst/>
              <a:cxnLst/>
              <a:rect l="l" t="t" r="r" b="b"/>
              <a:pathLst>
                <a:path w="48259" h="48259">
                  <a:moveTo>
                    <a:pt x="23944" y="0"/>
                  </a:moveTo>
                  <a:lnTo>
                    <a:pt x="7482" y="5988"/>
                  </a:lnTo>
                  <a:lnTo>
                    <a:pt x="0" y="23952"/>
                  </a:lnTo>
                  <a:lnTo>
                    <a:pt x="7482" y="41917"/>
                  </a:lnTo>
                  <a:lnTo>
                    <a:pt x="23944" y="47905"/>
                  </a:lnTo>
                  <a:lnTo>
                    <a:pt x="40406" y="41917"/>
                  </a:lnTo>
                  <a:lnTo>
                    <a:pt x="47889" y="23952"/>
                  </a:lnTo>
                  <a:lnTo>
                    <a:pt x="40406" y="5988"/>
                  </a:lnTo>
                  <a:lnTo>
                    <a:pt x="23944" y="0"/>
                  </a:lnTo>
                  <a:close/>
                </a:path>
              </a:pathLst>
            </a:custGeom>
            <a:solidFill>
              <a:srgbClr val="FF0000"/>
            </a:solidFill>
          </p:spPr>
          <p:txBody>
            <a:bodyPr wrap="square" lIns="0" tIns="0" rIns="0" bIns="0" rtlCol="0"/>
            <a:lstStyle/>
            <a:p>
              <a:endParaRPr/>
            </a:p>
          </p:txBody>
        </p:sp>
        <p:sp>
          <p:nvSpPr>
            <p:cNvPr id="40" name="object 40"/>
            <p:cNvSpPr/>
            <p:nvPr/>
          </p:nvSpPr>
          <p:spPr>
            <a:xfrm>
              <a:off x="6571378" y="1264584"/>
              <a:ext cx="48260" cy="48260"/>
            </a:xfrm>
            <a:custGeom>
              <a:avLst/>
              <a:gdLst/>
              <a:ahLst/>
              <a:cxnLst/>
              <a:rect l="l" t="t" r="r" b="b"/>
              <a:pathLst>
                <a:path w="48259" h="48259">
                  <a:moveTo>
                    <a:pt x="23944" y="0"/>
                  </a:moveTo>
                  <a:lnTo>
                    <a:pt x="7482" y="5988"/>
                  </a:lnTo>
                  <a:lnTo>
                    <a:pt x="0" y="23952"/>
                  </a:lnTo>
                  <a:lnTo>
                    <a:pt x="7482" y="41917"/>
                  </a:lnTo>
                  <a:lnTo>
                    <a:pt x="23944" y="47905"/>
                  </a:lnTo>
                  <a:lnTo>
                    <a:pt x="40406" y="41917"/>
                  </a:lnTo>
                  <a:lnTo>
                    <a:pt x="47889" y="23952"/>
                  </a:lnTo>
                  <a:lnTo>
                    <a:pt x="40406" y="5988"/>
                  </a:lnTo>
                  <a:lnTo>
                    <a:pt x="23944" y="0"/>
                  </a:lnTo>
                  <a:close/>
                </a:path>
              </a:pathLst>
            </a:custGeom>
            <a:solidFill>
              <a:srgbClr val="FB0013"/>
            </a:solidFill>
          </p:spPr>
          <p:txBody>
            <a:bodyPr wrap="square" lIns="0" tIns="0" rIns="0" bIns="0" rtlCol="0"/>
            <a:lstStyle/>
            <a:p>
              <a:endParaRPr/>
            </a:p>
          </p:txBody>
        </p:sp>
        <p:pic>
          <p:nvPicPr>
            <p:cNvPr id="41" name="object 41"/>
            <p:cNvPicPr/>
            <p:nvPr/>
          </p:nvPicPr>
          <p:blipFill>
            <a:blip r:embed="rId4" cstate="print"/>
            <a:stretch>
              <a:fillRect/>
            </a:stretch>
          </p:blipFill>
          <p:spPr>
            <a:xfrm>
              <a:off x="6696734" y="1076805"/>
              <a:ext cx="79308" cy="79308"/>
            </a:xfrm>
            <a:prstGeom prst="rect">
              <a:avLst/>
            </a:prstGeom>
          </p:spPr>
        </p:pic>
        <p:pic>
          <p:nvPicPr>
            <p:cNvPr id="42" name="object 42"/>
            <p:cNvPicPr/>
            <p:nvPr/>
          </p:nvPicPr>
          <p:blipFill>
            <a:blip r:embed="rId5" cstate="print"/>
            <a:stretch>
              <a:fillRect/>
            </a:stretch>
          </p:blipFill>
          <p:spPr>
            <a:xfrm>
              <a:off x="6780284" y="905535"/>
              <a:ext cx="77701" cy="77712"/>
            </a:xfrm>
            <a:prstGeom prst="rect">
              <a:avLst/>
            </a:prstGeom>
          </p:spPr>
        </p:pic>
        <p:pic>
          <p:nvPicPr>
            <p:cNvPr id="43" name="object 43"/>
            <p:cNvPicPr/>
            <p:nvPr/>
          </p:nvPicPr>
          <p:blipFill>
            <a:blip r:embed="rId6" cstate="print"/>
            <a:stretch>
              <a:fillRect/>
            </a:stretch>
          </p:blipFill>
          <p:spPr>
            <a:xfrm>
              <a:off x="6844275" y="732666"/>
              <a:ext cx="79308" cy="79286"/>
            </a:xfrm>
            <a:prstGeom prst="rect">
              <a:avLst/>
            </a:prstGeom>
          </p:spPr>
        </p:pic>
        <p:pic>
          <p:nvPicPr>
            <p:cNvPr id="44" name="object 44"/>
            <p:cNvPicPr/>
            <p:nvPr/>
          </p:nvPicPr>
          <p:blipFill>
            <a:blip r:embed="rId7" cstate="print"/>
            <a:stretch>
              <a:fillRect/>
            </a:stretch>
          </p:blipFill>
          <p:spPr>
            <a:xfrm>
              <a:off x="7009004" y="567558"/>
              <a:ext cx="65360" cy="65335"/>
            </a:xfrm>
            <a:prstGeom prst="rect">
              <a:avLst/>
            </a:prstGeom>
          </p:spPr>
        </p:pic>
        <p:pic>
          <p:nvPicPr>
            <p:cNvPr id="45" name="object 45"/>
            <p:cNvPicPr/>
            <p:nvPr/>
          </p:nvPicPr>
          <p:blipFill>
            <a:blip r:embed="rId8" cstate="print"/>
            <a:stretch>
              <a:fillRect/>
            </a:stretch>
          </p:blipFill>
          <p:spPr>
            <a:xfrm>
              <a:off x="7097650" y="388520"/>
              <a:ext cx="79308" cy="79275"/>
            </a:xfrm>
            <a:prstGeom prst="rect">
              <a:avLst/>
            </a:prstGeom>
          </p:spPr>
        </p:pic>
        <p:pic>
          <p:nvPicPr>
            <p:cNvPr id="46" name="object 46"/>
            <p:cNvPicPr/>
            <p:nvPr/>
          </p:nvPicPr>
          <p:blipFill>
            <a:blip r:embed="rId9" cstate="print"/>
            <a:stretch>
              <a:fillRect/>
            </a:stretch>
          </p:blipFill>
          <p:spPr>
            <a:xfrm>
              <a:off x="7264270" y="221016"/>
              <a:ext cx="70105" cy="70127"/>
            </a:xfrm>
            <a:prstGeom prst="rect">
              <a:avLst/>
            </a:prstGeom>
          </p:spPr>
        </p:pic>
        <p:sp>
          <p:nvSpPr>
            <p:cNvPr id="47" name="object 47"/>
            <p:cNvSpPr/>
            <p:nvPr/>
          </p:nvSpPr>
          <p:spPr>
            <a:xfrm>
              <a:off x="6253062" y="152781"/>
              <a:ext cx="1096645" cy="2616200"/>
            </a:xfrm>
            <a:custGeom>
              <a:avLst/>
              <a:gdLst/>
              <a:ahLst/>
              <a:cxnLst/>
              <a:rect l="l" t="t" r="r" b="b"/>
              <a:pathLst>
                <a:path w="1096645" h="2616200">
                  <a:moveTo>
                    <a:pt x="0" y="0"/>
                  </a:moveTo>
                  <a:lnTo>
                    <a:pt x="1096134" y="0"/>
                  </a:lnTo>
                  <a:lnTo>
                    <a:pt x="1096134" y="2615610"/>
                  </a:lnTo>
                  <a:lnTo>
                    <a:pt x="0" y="2615610"/>
                  </a:lnTo>
                  <a:lnTo>
                    <a:pt x="0" y="0"/>
                  </a:lnTo>
                  <a:close/>
                </a:path>
              </a:pathLst>
            </a:custGeom>
            <a:ln w="5086">
              <a:solidFill>
                <a:srgbClr val="333333"/>
              </a:solidFill>
            </a:ln>
          </p:spPr>
          <p:txBody>
            <a:bodyPr wrap="square" lIns="0" tIns="0" rIns="0" bIns="0" rtlCol="0"/>
            <a:lstStyle/>
            <a:p>
              <a:endParaRPr/>
            </a:p>
          </p:txBody>
        </p:sp>
        <p:sp>
          <p:nvSpPr>
            <p:cNvPr id="48" name="object 48"/>
            <p:cNvSpPr/>
            <p:nvPr/>
          </p:nvSpPr>
          <p:spPr>
            <a:xfrm>
              <a:off x="6239970" y="2665168"/>
              <a:ext cx="13335" cy="0"/>
            </a:xfrm>
            <a:custGeom>
              <a:avLst/>
              <a:gdLst/>
              <a:ahLst/>
              <a:cxnLst/>
              <a:rect l="l" t="t" r="r" b="b"/>
              <a:pathLst>
                <a:path w="13335">
                  <a:moveTo>
                    <a:pt x="0" y="0"/>
                  </a:moveTo>
                  <a:lnTo>
                    <a:pt x="13056" y="0"/>
                  </a:lnTo>
                </a:path>
              </a:pathLst>
            </a:custGeom>
            <a:ln w="5086">
              <a:solidFill>
                <a:srgbClr val="333333"/>
              </a:solidFill>
            </a:ln>
          </p:spPr>
          <p:txBody>
            <a:bodyPr wrap="square" lIns="0" tIns="0" rIns="0" bIns="0" rtlCol="0"/>
            <a:lstStyle/>
            <a:p>
              <a:endParaRPr/>
            </a:p>
          </p:txBody>
        </p:sp>
        <p:sp>
          <p:nvSpPr>
            <p:cNvPr id="49" name="object 49"/>
            <p:cNvSpPr/>
            <p:nvPr/>
          </p:nvSpPr>
          <p:spPr>
            <a:xfrm>
              <a:off x="6239970" y="2493080"/>
              <a:ext cx="13335" cy="0"/>
            </a:xfrm>
            <a:custGeom>
              <a:avLst/>
              <a:gdLst/>
              <a:ahLst/>
              <a:cxnLst/>
              <a:rect l="l" t="t" r="r" b="b"/>
              <a:pathLst>
                <a:path w="13335">
                  <a:moveTo>
                    <a:pt x="0" y="0"/>
                  </a:moveTo>
                  <a:lnTo>
                    <a:pt x="13056" y="0"/>
                  </a:lnTo>
                </a:path>
              </a:pathLst>
            </a:custGeom>
            <a:ln w="5086">
              <a:solidFill>
                <a:srgbClr val="333333"/>
              </a:solidFill>
            </a:ln>
          </p:spPr>
          <p:txBody>
            <a:bodyPr wrap="square" lIns="0" tIns="0" rIns="0" bIns="0" rtlCol="0"/>
            <a:lstStyle/>
            <a:p>
              <a:endParaRPr/>
            </a:p>
          </p:txBody>
        </p:sp>
        <p:sp>
          <p:nvSpPr>
            <p:cNvPr id="50" name="object 50"/>
            <p:cNvSpPr/>
            <p:nvPr/>
          </p:nvSpPr>
          <p:spPr>
            <a:xfrm>
              <a:off x="6239970" y="2321011"/>
              <a:ext cx="13335" cy="0"/>
            </a:xfrm>
            <a:custGeom>
              <a:avLst/>
              <a:gdLst/>
              <a:ahLst/>
              <a:cxnLst/>
              <a:rect l="l" t="t" r="r" b="b"/>
              <a:pathLst>
                <a:path w="13335">
                  <a:moveTo>
                    <a:pt x="0" y="0"/>
                  </a:moveTo>
                  <a:lnTo>
                    <a:pt x="13056" y="0"/>
                  </a:lnTo>
                </a:path>
              </a:pathLst>
            </a:custGeom>
            <a:ln w="5086">
              <a:solidFill>
                <a:srgbClr val="333333"/>
              </a:solidFill>
            </a:ln>
          </p:spPr>
          <p:txBody>
            <a:bodyPr wrap="square" lIns="0" tIns="0" rIns="0" bIns="0" rtlCol="0"/>
            <a:lstStyle/>
            <a:p>
              <a:endParaRPr/>
            </a:p>
          </p:txBody>
        </p:sp>
        <p:sp>
          <p:nvSpPr>
            <p:cNvPr id="51" name="object 51"/>
            <p:cNvSpPr/>
            <p:nvPr/>
          </p:nvSpPr>
          <p:spPr>
            <a:xfrm>
              <a:off x="6239970" y="2148942"/>
              <a:ext cx="13335" cy="0"/>
            </a:xfrm>
            <a:custGeom>
              <a:avLst/>
              <a:gdLst/>
              <a:ahLst/>
              <a:cxnLst/>
              <a:rect l="l" t="t" r="r" b="b"/>
              <a:pathLst>
                <a:path w="13335">
                  <a:moveTo>
                    <a:pt x="0" y="0"/>
                  </a:moveTo>
                  <a:lnTo>
                    <a:pt x="13056" y="0"/>
                  </a:lnTo>
                </a:path>
              </a:pathLst>
            </a:custGeom>
            <a:ln w="5086">
              <a:solidFill>
                <a:srgbClr val="333333"/>
              </a:solidFill>
            </a:ln>
          </p:spPr>
          <p:txBody>
            <a:bodyPr wrap="square" lIns="0" tIns="0" rIns="0" bIns="0" rtlCol="0"/>
            <a:lstStyle/>
            <a:p>
              <a:endParaRPr/>
            </a:p>
          </p:txBody>
        </p:sp>
        <p:sp>
          <p:nvSpPr>
            <p:cNvPr id="52" name="object 52"/>
            <p:cNvSpPr/>
            <p:nvPr/>
          </p:nvSpPr>
          <p:spPr>
            <a:xfrm>
              <a:off x="6239970" y="1976854"/>
              <a:ext cx="13335" cy="0"/>
            </a:xfrm>
            <a:custGeom>
              <a:avLst/>
              <a:gdLst/>
              <a:ahLst/>
              <a:cxnLst/>
              <a:rect l="l" t="t" r="r" b="b"/>
              <a:pathLst>
                <a:path w="13335">
                  <a:moveTo>
                    <a:pt x="0" y="0"/>
                  </a:moveTo>
                  <a:lnTo>
                    <a:pt x="13056" y="0"/>
                  </a:lnTo>
                </a:path>
              </a:pathLst>
            </a:custGeom>
            <a:ln w="5086">
              <a:solidFill>
                <a:srgbClr val="333333"/>
              </a:solidFill>
            </a:ln>
          </p:spPr>
          <p:txBody>
            <a:bodyPr wrap="square" lIns="0" tIns="0" rIns="0" bIns="0" rtlCol="0"/>
            <a:lstStyle/>
            <a:p>
              <a:endParaRPr/>
            </a:p>
          </p:txBody>
        </p:sp>
        <p:sp>
          <p:nvSpPr>
            <p:cNvPr id="53" name="object 53"/>
            <p:cNvSpPr/>
            <p:nvPr/>
          </p:nvSpPr>
          <p:spPr>
            <a:xfrm>
              <a:off x="6239970" y="1804785"/>
              <a:ext cx="13335" cy="0"/>
            </a:xfrm>
            <a:custGeom>
              <a:avLst/>
              <a:gdLst/>
              <a:ahLst/>
              <a:cxnLst/>
              <a:rect l="l" t="t" r="r" b="b"/>
              <a:pathLst>
                <a:path w="13335">
                  <a:moveTo>
                    <a:pt x="0" y="0"/>
                  </a:moveTo>
                  <a:lnTo>
                    <a:pt x="13056" y="0"/>
                  </a:lnTo>
                </a:path>
              </a:pathLst>
            </a:custGeom>
            <a:ln w="5086">
              <a:solidFill>
                <a:srgbClr val="333333"/>
              </a:solidFill>
            </a:ln>
          </p:spPr>
          <p:txBody>
            <a:bodyPr wrap="square" lIns="0" tIns="0" rIns="0" bIns="0" rtlCol="0"/>
            <a:lstStyle/>
            <a:p>
              <a:endParaRPr/>
            </a:p>
          </p:txBody>
        </p:sp>
        <p:sp>
          <p:nvSpPr>
            <p:cNvPr id="54" name="object 54"/>
            <p:cNvSpPr/>
            <p:nvPr/>
          </p:nvSpPr>
          <p:spPr>
            <a:xfrm>
              <a:off x="6239970" y="1632695"/>
              <a:ext cx="13335" cy="0"/>
            </a:xfrm>
            <a:custGeom>
              <a:avLst/>
              <a:gdLst/>
              <a:ahLst/>
              <a:cxnLst/>
              <a:rect l="l" t="t" r="r" b="b"/>
              <a:pathLst>
                <a:path w="13335">
                  <a:moveTo>
                    <a:pt x="0" y="0"/>
                  </a:moveTo>
                  <a:lnTo>
                    <a:pt x="13056" y="0"/>
                  </a:lnTo>
                </a:path>
              </a:pathLst>
            </a:custGeom>
            <a:ln w="5086">
              <a:solidFill>
                <a:srgbClr val="333333"/>
              </a:solidFill>
            </a:ln>
          </p:spPr>
          <p:txBody>
            <a:bodyPr wrap="square" lIns="0" tIns="0" rIns="0" bIns="0" rtlCol="0"/>
            <a:lstStyle/>
            <a:p>
              <a:endParaRPr/>
            </a:p>
          </p:txBody>
        </p:sp>
        <p:sp>
          <p:nvSpPr>
            <p:cNvPr id="55" name="object 55"/>
            <p:cNvSpPr/>
            <p:nvPr/>
          </p:nvSpPr>
          <p:spPr>
            <a:xfrm>
              <a:off x="6239970" y="1460627"/>
              <a:ext cx="13335" cy="0"/>
            </a:xfrm>
            <a:custGeom>
              <a:avLst/>
              <a:gdLst/>
              <a:ahLst/>
              <a:cxnLst/>
              <a:rect l="l" t="t" r="r" b="b"/>
              <a:pathLst>
                <a:path w="13335">
                  <a:moveTo>
                    <a:pt x="0" y="0"/>
                  </a:moveTo>
                  <a:lnTo>
                    <a:pt x="13056" y="0"/>
                  </a:lnTo>
                </a:path>
              </a:pathLst>
            </a:custGeom>
            <a:ln w="5086">
              <a:solidFill>
                <a:srgbClr val="333333"/>
              </a:solidFill>
            </a:ln>
          </p:spPr>
          <p:txBody>
            <a:bodyPr wrap="square" lIns="0" tIns="0" rIns="0" bIns="0" rtlCol="0"/>
            <a:lstStyle/>
            <a:p>
              <a:endParaRPr/>
            </a:p>
          </p:txBody>
        </p:sp>
        <p:sp>
          <p:nvSpPr>
            <p:cNvPr id="56" name="object 56"/>
            <p:cNvSpPr/>
            <p:nvPr/>
          </p:nvSpPr>
          <p:spPr>
            <a:xfrm>
              <a:off x="6239970" y="1288538"/>
              <a:ext cx="13335" cy="0"/>
            </a:xfrm>
            <a:custGeom>
              <a:avLst/>
              <a:gdLst/>
              <a:ahLst/>
              <a:cxnLst/>
              <a:rect l="l" t="t" r="r" b="b"/>
              <a:pathLst>
                <a:path w="13335">
                  <a:moveTo>
                    <a:pt x="0" y="0"/>
                  </a:moveTo>
                  <a:lnTo>
                    <a:pt x="13056" y="0"/>
                  </a:lnTo>
                </a:path>
              </a:pathLst>
            </a:custGeom>
            <a:ln w="5086">
              <a:solidFill>
                <a:srgbClr val="333333"/>
              </a:solidFill>
            </a:ln>
          </p:spPr>
          <p:txBody>
            <a:bodyPr wrap="square" lIns="0" tIns="0" rIns="0" bIns="0" rtlCol="0"/>
            <a:lstStyle/>
            <a:p>
              <a:endParaRPr/>
            </a:p>
          </p:txBody>
        </p:sp>
        <p:sp>
          <p:nvSpPr>
            <p:cNvPr id="57" name="object 57"/>
            <p:cNvSpPr/>
            <p:nvPr/>
          </p:nvSpPr>
          <p:spPr>
            <a:xfrm>
              <a:off x="6239970" y="1116469"/>
              <a:ext cx="13335" cy="0"/>
            </a:xfrm>
            <a:custGeom>
              <a:avLst/>
              <a:gdLst/>
              <a:ahLst/>
              <a:cxnLst/>
              <a:rect l="l" t="t" r="r" b="b"/>
              <a:pathLst>
                <a:path w="13335">
                  <a:moveTo>
                    <a:pt x="0" y="0"/>
                  </a:moveTo>
                  <a:lnTo>
                    <a:pt x="13056" y="0"/>
                  </a:lnTo>
                </a:path>
              </a:pathLst>
            </a:custGeom>
            <a:ln w="5086">
              <a:solidFill>
                <a:srgbClr val="333333"/>
              </a:solidFill>
            </a:ln>
          </p:spPr>
          <p:txBody>
            <a:bodyPr wrap="square" lIns="0" tIns="0" rIns="0" bIns="0" rtlCol="0"/>
            <a:lstStyle/>
            <a:p>
              <a:endParaRPr/>
            </a:p>
          </p:txBody>
        </p:sp>
        <p:sp>
          <p:nvSpPr>
            <p:cNvPr id="58" name="object 58"/>
            <p:cNvSpPr/>
            <p:nvPr/>
          </p:nvSpPr>
          <p:spPr>
            <a:xfrm>
              <a:off x="6239970" y="944381"/>
              <a:ext cx="13335" cy="0"/>
            </a:xfrm>
            <a:custGeom>
              <a:avLst/>
              <a:gdLst/>
              <a:ahLst/>
              <a:cxnLst/>
              <a:rect l="l" t="t" r="r" b="b"/>
              <a:pathLst>
                <a:path w="13335">
                  <a:moveTo>
                    <a:pt x="0" y="0"/>
                  </a:moveTo>
                  <a:lnTo>
                    <a:pt x="13056" y="0"/>
                  </a:lnTo>
                </a:path>
              </a:pathLst>
            </a:custGeom>
            <a:ln w="5086">
              <a:solidFill>
                <a:srgbClr val="333333"/>
              </a:solidFill>
            </a:ln>
          </p:spPr>
          <p:txBody>
            <a:bodyPr wrap="square" lIns="0" tIns="0" rIns="0" bIns="0" rtlCol="0"/>
            <a:lstStyle/>
            <a:p>
              <a:endParaRPr/>
            </a:p>
          </p:txBody>
        </p:sp>
        <p:sp>
          <p:nvSpPr>
            <p:cNvPr id="59" name="object 59"/>
            <p:cNvSpPr/>
            <p:nvPr/>
          </p:nvSpPr>
          <p:spPr>
            <a:xfrm>
              <a:off x="6239970" y="772311"/>
              <a:ext cx="13335" cy="0"/>
            </a:xfrm>
            <a:custGeom>
              <a:avLst/>
              <a:gdLst/>
              <a:ahLst/>
              <a:cxnLst/>
              <a:rect l="l" t="t" r="r" b="b"/>
              <a:pathLst>
                <a:path w="13335">
                  <a:moveTo>
                    <a:pt x="0" y="0"/>
                  </a:moveTo>
                  <a:lnTo>
                    <a:pt x="13056" y="0"/>
                  </a:lnTo>
                </a:path>
              </a:pathLst>
            </a:custGeom>
            <a:ln w="5086">
              <a:solidFill>
                <a:srgbClr val="333333"/>
              </a:solidFill>
            </a:ln>
          </p:spPr>
          <p:txBody>
            <a:bodyPr wrap="square" lIns="0" tIns="0" rIns="0" bIns="0" rtlCol="0"/>
            <a:lstStyle/>
            <a:p>
              <a:endParaRPr/>
            </a:p>
          </p:txBody>
        </p:sp>
        <p:sp>
          <p:nvSpPr>
            <p:cNvPr id="60" name="object 60"/>
            <p:cNvSpPr/>
            <p:nvPr/>
          </p:nvSpPr>
          <p:spPr>
            <a:xfrm>
              <a:off x="6239970" y="428154"/>
              <a:ext cx="13335" cy="0"/>
            </a:xfrm>
            <a:custGeom>
              <a:avLst/>
              <a:gdLst/>
              <a:ahLst/>
              <a:cxnLst/>
              <a:rect l="l" t="t" r="r" b="b"/>
              <a:pathLst>
                <a:path w="13335">
                  <a:moveTo>
                    <a:pt x="0" y="0"/>
                  </a:moveTo>
                  <a:lnTo>
                    <a:pt x="13056" y="0"/>
                  </a:lnTo>
                </a:path>
              </a:pathLst>
            </a:custGeom>
            <a:ln w="5086">
              <a:solidFill>
                <a:srgbClr val="333333"/>
              </a:solidFill>
            </a:ln>
          </p:spPr>
          <p:txBody>
            <a:bodyPr wrap="square" lIns="0" tIns="0" rIns="0" bIns="0" rtlCol="0"/>
            <a:lstStyle/>
            <a:p>
              <a:endParaRPr/>
            </a:p>
          </p:txBody>
        </p:sp>
        <p:sp>
          <p:nvSpPr>
            <p:cNvPr id="61" name="object 61"/>
            <p:cNvSpPr/>
            <p:nvPr/>
          </p:nvSpPr>
          <p:spPr>
            <a:xfrm>
              <a:off x="6239970" y="256070"/>
              <a:ext cx="13335" cy="0"/>
            </a:xfrm>
            <a:custGeom>
              <a:avLst/>
              <a:gdLst/>
              <a:ahLst/>
              <a:cxnLst/>
              <a:rect l="l" t="t" r="r" b="b"/>
              <a:pathLst>
                <a:path w="13335">
                  <a:moveTo>
                    <a:pt x="0" y="0"/>
                  </a:moveTo>
                  <a:lnTo>
                    <a:pt x="13056" y="0"/>
                  </a:lnTo>
                </a:path>
              </a:pathLst>
            </a:custGeom>
            <a:ln w="5086">
              <a:solidFill>
                <a:srgbClr val="333333"/>
              </a:solidFill>
            </a:ln>
          </p:spPr>
          <p:txBody>
            <a:bodyPr wrap="square" lIns="0" tIns="0" rIns="0" bIns="0" rtlCol="0"/>
            <a:lstStyle/>
            <a:p>
              <a:endParaRPr/>
            </a:p>
          </p:txBody>
        </p:sp>
        <p:sp>
          <p:nvSpPr>
            <p:cNvPr id="62" name="object 62"/>
            <p:cNvSpPr/>
            <p:nvPr/>
          </p:nvSpPr>
          <p:spPr>
            <a:xfrm>
              <a:off x="6351947" y="2768407"/>
              <a:ext cx="0" cy="13335"/>
            </a:xfrm>
            <a:custGeom>
              <a:avLst/>
              <a:gdLst/>
              <a:ahLst/>
              <a:cxnLst/>
              <a:rect l="l" t="t" r="r" b="b"/>
              <a:pathLst>
                <a:path h="13335">
                  <a:moveTo>
                    <a:pt x="0" y="13078"/>
                  </a:moveTo>
                  <a:lnTo>
                    <a:pt x="0" y="0"/>
                  </a:lnTo>
                </a:path>
              </a:pathLst>
            </a:custGeom>
            <a:ln w="5086">
              <a:solidFill>
                <a:srgbClr val="333333"/>
              </a:solidFill>
            </a:ln>
          </p:spPr>
          <p:txBody>
            <a:bodyPr wrap="square" lIns="0" tIns="0" rIns="0" bIns="0" rtlCol="0"/>
            <a:lstStyle/>
            <a:p>
              <a:endParaRPr/>
            </a:p>
          </p:txBody>
        </p:sp>
        <p:sp>
          <p:nvSpPr>
            <p:cNvPr id="63" name="object 63"/>
            <p:cNvSpPr/>
            <p:nvPr/>
          </p:nvSpPr>
          <p:spPr>
            <a:xfrm>
              <a:off x="6711040" y="2768407"/>
              <a:ext cx="0" cy="13335"/>
            </a:xfrm>
            <a:custGeom>
              <a:avLst/>
              <a:gdLst/>
              <a:ahLst/>
              <a:cxnLst/>
              <a:rect l="l" t="t" r="r" b="b"/>
              <a:pathLst>
                <a:path h="13335">
                  <a:moveTo>
                    <a:pt x="0" y="13078"/>
                  </a:moveTo>
                  <a:lnTo>
                    <a:pt x="0" y="0"/>
                  </a:lnTo>
                </a:path>
              </a:pathLst>
            </a:custGeom>
            <a:ln w="5086">
              <a:solidFill>
                <a:srgbClr val="333333"/>
              </a:solidFill>
            </a:ln>
          </p:spPr>
          <p:txBody>
            <a:bodyPr wrap="square" lIns="0" tIns="0" rIns="0" bIns="0" rtlCol="0"/>
            <a:lstStyle/>
            <a:p>
              <a:endParaRPr/>
            </a:p>
          </p:txBody>
        </p:sp>
        <p:sp>
          <p:nvSpPr>
            <p:cNvPr id="64" name="object 64"/>
            <p:cNvSpPr/>
            <p:nvPr/>
          </p:nvSpPr>
          <p:spPr>
            <a:xfrm>
              <a:off x="7070119" y="2768407"/>
              <a:ext cx="0" cy="13335"/>
            </a:xfrm>
            <a:custGeom>
              <a:avLst/>
              <a:gdLst/>
              <a:ahLst/>
              <a:cxnLst/>
              <a:rect l="l" t="t" r="r" b="b"/>
              <a:pathLst>
                <a:path h="13335">
                  <a:moveTo>
                    <a:pt x="0" y="13078"/>
                  </a:moveTo>
                  <a:lnTo>
                    <a:pt x="0" y="0"/>
                  </a:lnTo>
                </a:path>
              </a:pathLst>
            </a:custGeom>
            <a:ln w="5086">
              <a:solidFill>
                <a:srgbClr val="333333"/>
              </a:solidFill>
            </a:ln>
          </p:spPr>
          <p:txBody>
            <a:bodyPr wrap="square" lIns="0" tIns="0" rIns="0" bIns="0" rtlCol="0"/>
            <a:lstStyle/>
            <a:p>
              <a:endParaRPr/>
            </a:p>
          </p:txBody>
        </p:sp>
      </p:grpSp>
      <p:sp>
        <p:nvSpPr>
          <p:cNvPr id="65" name="object 65"/>
          <p:cNvSpPr txBox="1"/>
          <p:nvPr/>
        </p:nvSpPr>
        <p:spPr>
          <a:xfrm>
            <a:off x="5281166" y="183944"/>
            <a:ext cx="950594" cy="118110"/>
          </a:xfrm>
          <a:prstGeom prst="rect">
            <a:avLst/>
          </a:prstGeom>
        </p:spPr>
        <p:txBody>
          <a:bodyPr vert="horz" wrap="square" lIns="0" tIns="13335" rIns="0" bIns="0" rtlCol="0">
            <a:spAutoFit/>
          </a:bodyPr>
          <a:lstStyle/>
          <a:p>
            <a:pPr marL="12700">
              <a:lnSpc>
                <a:spcPct val="100000"/>
              </a:lnSpc>
              <a:spcBef>
                <a:spcPts val="105"/>
              </a:spcBef>
            </a:pPr>
            <a:r>
              <a:rPr sz="600" spc="-10" dirty="0">
                <a:latin typeface="Arial"/>
                <a:cs typeface="Arial"/>
              </a:rPr>
              <a:t>microtubule-</a:t>
            </a:r>
            <a:r>
              <a:rPr sz="600" dirty="0">
                <a:latin typeface="Arial"/>
                <a:cs typeface="Arial"/>
              </a:rPr>
              <a:t>based</a:t>
            </a:r>
            <a:r>
              <a:rPr sz="600" spc="45" dirty="0">
                <a:latin typeface="Arial"/>
                <a:cs typeface="Arial"/>
              </a:rPr>
              <a:t> </a:t>
            </a:r>
            <a:r>
              <a:rPr sz="600" spc="-10" dirty="0">
                <a:latin typeface="Arial"/>
                <a:cs typeface="Arial"/>
              </a:rPr>
              <a:t>process</a:t>
            </a:r>
            <a:endParaRPr sz="600">
              <a:latin typeface="Arial"/>
              <a:cs typeface="Arial"/>
            </a:endParaRPr>
          </a:p>
        </p:txBody>
      </p:sp>
      <p:sp>
        <p:nvSpPr>
          <p:cNvPr id="66" name="object 66"/>
          <p:cNvSpPr txBox="1"/>
          <p:nvPr/>
        </p:nvSpPr>
        <p:spPr>
          <a:xfrm>
            <a:off x="5649678" y="356024"/>
            <a:ext cx="582295"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mitotic</a:t>
            </a:r>
            <a:r>
              <a:rPr sz="600" spc="-15" dirty="0">
                <a:latin typeface="Arial"/>
                <a:cs typeface="Arial"/>
              </a:rPr>
              <a:t> </a:t>
            </a:r>
            <a:r>
              <a:rPr sz="600" dirty="0">
                <a:latin typeface="Arial"/>
                <a:cs typeface="Arial"/>
              </a:rPr>
              <a:t>cell</a:t>
            </a:r>
            <a:r>
              <a:rPr sz="600" spc="-10" dirty="0">
                <a:latin typeface="Arial"/>
                <a:cs typeface="Arial"/>
              </a:rPr>
              <a:t> cycle</a:t>
            </a:r>
            <a:endParaRPr sz="600">
              <a:latin typeface="Arial"/>
              <a:cs typeface="Arial"/>
            </a:endParaRPr>
          </a:p>
        </p:txBody>
      </p:sp>
      <p:sp>
        <p:nvSpPr>
          <p:cNvPr id="67" name="object 67"/>
          <p:cNvSpPr txBox="1"/>
          <p:nvPr/>
        </p:nvSpPr>
        <p:spPr>
          <a:xfrm>
            <a:off x="5208188" y="528104"/>
            <a:ext cx="1023619" cy="118110"/>
          </a:xfrm>
          <a:prstGeom prst="rect">
            <a:avLst/>
          </a:prstGeom>
        </p:spPr>
        <p:txBody>
          <a:bodyPr vert="horz" wrap="square" lIns="0" tIns="13335" rIns="0" bIns="0" rtlCol="0">
            <a:spAutoFit/>
          </a:bodyPr>
          <a:lstStyle/>
          <a:p>
            <a:pPr marL="12700">
              <a:lnSpc>
                <a:spcPct val="100000"/>
              </a:lnSpc>
              <a:spcBef>
                <a:spcPts val="105"/>
              </a:spcBef>
            </a:pPr>
            <a:r>
              <a:rPr sz="600" spc="-10" dirty="0">
                <a:latin typeface="Arial"/>
                <a:cs typeface="Arial"/>
              </a:rPr>
              <a:t>nucleotide-</a:t>
            </a:r>
            <a:r>
              <a:rPr sz="600" dirty="0">
                <a:latin typeface="Arial"/>
                <a:cs typeface="Arial"/>
              </a:rPr>
              <a:t>sugar</a:t>
            </a:r>
            <a:r>
              <a:rPr sz="600" spc="45" dirty="0">
                <a:latin typeface="Arial"/>
                <a:cs typeface="Arial"/>
              </a:rPr>
              <a:t> </a:t>
            </a:r>
            <a:r>
              <a:rPr sz="600" spc="-10" dirty="0">
                <a:latin typeface="Arial"/>
                <a:cs typeface="Arial"/>
              </a:rPr>
              <a:t>biosynthetic</a:t>
            </a:r>
            <a:endParaRPr sz="600">
              <a:latin typeface="Arial"/>
              <a:cs typeface="Arial"/>
            </a:endParaRPr>
          </a:p>
        </p:txBody>
      </p:sp>
      <p:sp>
        <p:nvSpPr>
          <p:cNvPr id="68" name="object 68"/>
          <p:cNvSpPr txBox="1"/>
          <p:nvPr/>
        </p:nvSpPr>
        <p:spPr>
          <a:xfrm>
            <a:off x="5302589" y="700184"/>
            <a:ext cx="929640" cy="118110"/>
          </a:xfrm>
          <a:prstGeom prst="rect">
            <a:avLst/>
          </a:prstGeom>
        </p:spPr>
        <p:txBody>
          <a:bodyPr vert="horz" wrap="square" lIns="0" tIns="13335" rIns="0" bIns="0" rtlCol="0">
            <a:spAutoFit/>
          </a:bodyPr>
          <a:lstStyle/>
          <a:p>
            <a:pPr marL="12700">
              <a:lnSpc>
                <a:spcPct val="100000"/>
              </a:lnSpc>
              <a:spcBef>
                <a:spcPts val="105"/>
              </a:spcBef>
            </a:pPr>
            <a:r>
              <a:rPr sz="600" spc="-10" dirty="0">
                <a:latin typeface="Arial"/>
                <a:cs typeface="Arial"/>
              </a:rPr>
              <a:t>vesicle-</a:t>
            </a:r>
            <a:r>
              <a:rPr sz="600" dirty="0">
                <a:latin typeface="Arial"/>
                <a:cs typeface="Arial"/>
              </a:rPr>
              <a:t>mediated </a:t>
            </a:r>
            <a:r>
              <a:rPr sz="600" spc="-10" dirty="0">
                <a:latin typeface="Arial"/>
                <a:cs typeface="Arial"/>
              </a:rPr>
              <a:t>transport</a:t>
            </a:r>
            <a:endParaRPr sz="600">
              <a:latin typeface="Arial"/>
              <a:cs typeface="Arial"/>
            </a:endParaRPr>
          </a:p>
        </p:txBody>
      </p:sp>
      <p:sp>
        <p:nvSpPr>
          <p:cNvPr id="69" name="object 69"/>
          <p:cNvSpPr txBox="1"/>
          <p:nvPr/>
        </p:nvSpPr>
        <p:spPr>
          <a:xfrm>
            <a:off x="5092595" y="872264"/>
            <a:ext cx="1139190"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protein</a:t>
            </a:r>
            <a:r>
              <a:rPr sz="600" spc="10" dirty="0">
                <a:latin typeface="Arial"/>
                <a:cs typeface="Arial"/>
              </a:rPr>
              <a:t> </a:t>
            </a:r>
            <a:r>
              <a:rPr sz="600" spc="-10" dirty="0">
                <a:latin typeface="Arial"/>
                <a:cs typeface="Arial"/>
              </a:rPr>
              <a:t>localization</a:t>
            </a:r>
            <a:r>
              <a:rPr sz="600" spc="10" dirty="0">
                <a:latin typeface="Arial"/>
                <a:cs typeface="Arial"/>
              </a:rPr>
              <a:t> </a:t>
            </a:r>
            <a:r>
              <a:rPr sz="600" dirty="0">
                <a:latin typeface="Arial"/>
                <a:cs typeface="Arial"/>
              </a:rPr>
              <a:t>to</a:t>
            </a:r>
            <a:r>
              <a:rPr sz="600" spc="10" dirty="0">
                <a:latin typeface="Arial"/>
                <a:cs typeface="Arial"/>
              </a:rPr>
              <a:t> </a:t>
            </a:r>
            <a:r>
              <a:rPr sz="600" spc="-10" dirty="0">
                <a:latin typeface="Arial"/>
                <a:cs typeface="Arial"/>
              </a:rPr>
              <a:t>membrane</a:t>
            </a:r>
            <a:endParaRPr sz="600">
              <a:latin typeface="Arial"/>
              <a:cs typeface="Arial"/>
            </a:endParaRPr>
          </a:p>
        </p:txBody>
      </p:sp>
      <p:sp>
        <p:nvSpPr>
          <p:cNvPr id="70" name="object 70"/>
          <p:cNvSpPr txBox="1"/>
          <p:nvPr/>
        </p:nvSpPr>
        <p:spPr>
          <a:xfrm>
            <a:off x="5336651" y="1044345"/>
            <a:ext cx="895350" cy="118110"/>
          </a:xfrm>
          <a:prstGeom prst="rect">
            <a:avLst/>
          </a:prstGeom>
        </p:spPr>
        <p:txBody>
          <a:bodyPr vert="horz" wrap="square" lIns="0" tIns="13335" rIns="0" bIns="0" rtlCol="0">
            <a:spAutoFit/>
          </a:bodyPr>
          <a:lstStyle/>
          <a:p>
            <a:pPr marL="12700">
              <a:lnSpc>
                <a:spcPct val="100000"/>
              </a:lnSpc>
              <a:spcBef>
                <a:spcPts val="105"/>
              </a:spcBef>
            </a:pPr>
            <a:r>
              <a:rPr sz="600" spc="-10" dirty="0">
                <a:latin typeface="Arial"/>
                <a:cs typeface="Arial"/>
              </a:rPr>
              <a:t>cytoskeleton</a:t>
            </a:r>
            <a:r>
              <a:rPr sz="600" spc="65" dirty="0">
                <a:latin typeface="Arial"/>
                <a:cs typeface="Arial"/>
              </a:rPr>
              <a:t> </a:t>
            </a:r>
            <a:r>
              <a:rPr sz="600" spc="-10" dirty="0">
                <a:latin typeface="Arial"/>
                <a:cs typeface="Arial"/>
              </a:rPr>
              <a:t>organization</a:t>
            </a:r>
            <a:endParaRPr sz="600">
              <a:latin typeface="Arial"/>
              <a:cs typeface="Arial"/>
            </a:endParaRPr>
          </a:p>
        </p:txBody>
      </p:sp>
      <p:sp>
        <p:nvSpPr>
          <p:cNvPr id="71" name="object 71"/>
          <p:cNvSpPr txBox="1"/>
          <p:nvPr/>
        </p:nvSpPr>
        <p:spPr>
          <a:xfrm>
            <a:off x="5692294" y="1216425"/>
            <a:ext cx="539750"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water </a:t>
            </a:r>
            <a:r>
              <a:rPr sz="600" spc="-10" dirty="0">
                <a:latin typeface="Arial"/>
                <a:cs typeface="Arial"/>
              </a:rPr>
              <a:t>transport</a:t>
            </a:r>
            <a:endParaRPr sz="600">
              <a:latin typeface="Arial"/>
              <a:cs typeface="Arial"/>
            </a:endParaRPr>
          </a:p>
        </p:txBody>
      </p:sp>
      <p:sp>
        <p:nvSpPr>
          <p:cNvPr id="72" name="object 72"/>
          <p:cNvSpPr txBox="1"/>
          <p:nvPr/>
        </p:nvSpPr>
        <p:spPr>
          <a:xfrm>
            <a:off x="5739302" y="1388505"/>
            <a:ext cx="492759"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lipid</a:t>
            </a:r>
            <a:r>
              <a:rPr sz="600" spc="-35" dirty="0">
                <a:latin typeface="Arial"/>
                <a:cs typeface="Arial"/>
              </a:rPr>
              <a:t> </a:t>
            </a:r>
            <a:r>
              <a:rPr sz="600" spc="-10" dirty="0">
                <a:latin typeface="Arial"/>
                <a:cs typeface="Arial"/>
              </a:rPr>
              <a:t>oxidation</a:t>
            </a:r>
            <a:endParaRPr sz="600">
              <a:latin typeface="Arial"/>
              <a:cs typeface="Arial"/>
            </a:endParaRPr>
          </a:p>
        </p:txBody>
      </p:sp>
      <p:sp>
        <p:nvSpPr>
          <p:cNvPr id="73" name="object 73"/>
          <p:cNvSpPr txBox="1"/>
          <p:nvPr/>
        </p:nvSpPr>
        <p:spPr>
          <a:xfrm>
            <a:off x="5465268" y="1560585"/>
            <a:ext cx="766445"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chromatin</a:t>
            </a:r>
            <a:r>
              <a:rPr sz="600" spc="-40" dirty="0">
                <a:latin typeface="Arial"/>
                <a:cs typeface="Arial"/>
              </a:rPr>
              <a:t> </a:t>
            </a:r>
            <a:r>
              <a:rPr sz="600" spc="-10" dirty="0">
                <a:latin typeface="Arial"/>
                <a:cs typeface="Arial"/>
              </a:rPr>
              <a:t>remodeling</a:t>
            </a:r>
            <a:endParaRPr sz="600">
              <a:latin typeface="Arial"/>
              <a:cs typeface="Arial"/>
            </a:endParaRPr>
          </a:p>
        </p:txBody>
      </p:sp>
      <p:sp>
        <p:nvSpPr>
          <p:cNvPr id="74" name="object 74"/>
          <p:cNvSpPr txBox="1"/>
          <p:nvPr/>
        </p:nvSpPr>
        <p:spPr>
          <a:xfrm>
            <a:off x="5135364" y="1732665"/>
            <a:ext cx="1096645" cy="118110"/>
          </a:xfrm>
          <a:prstGeom prst="rect">
            <a:avLst/>
          </a:prstGeom>
        </p:spPr>
        <p:txBody>
          <a:bodyPr vert="horz" wrap="square" lIns="0" tIns="13335" rIns="0" bIns="0" rtlCol="0">
            <a:spAutoFit/>
          </a:bodyPr>
          <a:lstStyle/>
          <a:p>
            <a:pPr marL="12700">
              <a:lnSpc>
                <a:spcPct val="100000"/>
              </a:lnSpc>
              <a:spcBef>
                <a:spcPts val="105"/>
              </a:spcBef>
            </a:pPr>
            <a:r>
              <a:rPr sz="600" spc="-10" dirty="0">
                <a:latin typeface="Arial"/>
                <a:cs typeface="Arial"/>
              </a:rPr>
              <a:t>plant-</a:t>
            </a:r>
            <a:r>
              <a:rPr sz="600" dirty="0">
                <a:latin typeface="Arial"/>
                <a:cs typeface="Arial"/>
              </a:rPr>
              <a:t>type</a:t>
            </a:r>
            <a:r>
              <a:rPr sz="600" spc="-10" dirty="0">
                <a:latin typeface="Arial"/>
                <a:cs typeface="Arial"/>
              </a:rPr>
              <a:t> </a:t>
            </a:r>
            <a:r>
              <a:rPr sz="600" dirty="0">
                <a:latin typeface="Arial"/>
                <a:cs typeface="Arial"/>
              </a:rPr>
              <a:t>cell</a:t>
            </a:r>
            <a:r>
              <a:rPr sz="600" spc="-10" dirty="0">
                <a:latin typeface="Arial"/>
                <a:cs typeface="Arial"/>
              </a:rPr>
              <a:t> </a:t>
            </a:r>
            <a:r>
              <a:rPr sz="600" dirty="0">
                <a:latin typeface="Arial"/>
                <a:cs typeface="Arial"/>
              </a:rPr>
              <a:t>wall</a:t>
            </a:r>
            <a:r>
              <a:rPr sz="600" spc="-10" dirty="0">
                <a:latin typeface="Arial"/>
                <a:cs typeface="Arial"/>
              </a:rPr>
              <a:t> organization</a:t>
            </a:r>
            <a:endParaRPr sz="600">
              <a:latin typeface="Arial"/>
              <a:cs typeface="Arial"/>
            </a:endParaRPr>
          </a:p>
        </p:txBody>
      </p:sp>
      <p:sp>
        <p:nvSpPr>
          <p:cNvPr id="75" name="object 75"/>
          <p:cNvSpPr txBox="1"/>
          <p:nvPr/>
        </p:nvSpPr>
        <p:spPr>
          <a:xfrm>
            <a:off x="5332490" y="1904746"/>
            <a:ext cx="899160"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steroid</a:t>
            </a:r>
            <a:r>
              <a:rPr sz="600" spc="-15" dirty="0">
                <a:latin typeface="Arial"/>
                <a:cs typeface="Arial"/>
              </a:rPr>
              <a:t> </a:t>
            </a:r>
            <a:r>
              <a:rPr sz="600" dirty="0">
                <a:latin typeface="Arial"/>
                <a:cs typeface="Arial"/>
              </a:rPr>
              <a:t>metabolic</a:t>
            </a:r>
            <a:r>
              <a:rPr sz="600" spc="-15" dirty="0">
                <a:latin typeface="Arial"/>
                <a:cs typeface="Arial"/>
              </a:rPr>
              <a:t> </a:t>
            </a:r>
            <a:r>
              <a:rPr sz="600" spc="-10" dirty="0">
                <a:latin typeface="Arial"/>
                <a:cs typeface="Arial"/>
              </a:rPr>
              <a:t>process</a:t>
            </a:r>
            <a:endParaRPr sz="600">
              <a:latin typeface="Arial"/>
              <a:cs typeface="Arial"/>
            </a:endParaRPr>
          </a:p>
        </p:txBody>
      </p:sp>
      <p:sp>
        <p:nvSpPr>
          <p:cNvPr id="76" name="object 76"/>
          <p:cNvSpPr txBox="1"/>
          <p:nvPr/>
        </p:nvSpPr>
        <p:spPr>
          <a:xfrm>
            <a:off x="5126887" y="2076826"/>
            <a:ext cx="1104900" cy="118110"/>
          </a:xfrm>
          <a:prstGeom prst="rect">
            <a:avLst/>
          </a:prstGeom>
        </p:spPr>
        <p:txBody>
          <a:bodyPr vert="horz" wrap="square" lIns="0" tIns="13335" rIns="0" bIns="0" rtlCol="0">
            <a:spAutoFit/>
          </a:bodyPr>
          <a:lstStyle/>
          <a:p>
            <a:pPr marL="12700">
              <a:lnSpc>
                <a:spcPct val="100000"/>
              </a:lnSpc>
              <a:spcBef>
                <a:spcPts val="105"/>
              </a:spcBef>
            </a:pPr>
            <a:r>
              <a:rPr sz="600" spc="-10" dirty="0">
                <a:latin typeface="Arial"/>
                <a:cs typeface="Arial"/>
              </a:rPr>
              <a:t>anatomical</a:t>
            </a:r>
            <a:r>
              <a:rPr sz="600" spc="15" dirty="0">
                <a:latin typeface="Arial"/>
                <a:cs typeface="Arial"/>
              </a:rPr>
              <a:t> </a:t>
            </a:r>
            <a:r>
              <a:rPr sz="600" dirty="0">
                <a:latin typeface="Arial"/>
                <a:cs typeface="Arial"/>
              </a:rPr>
              <a:t>structure</a:t>
            </a:r>
            <a:r>
              <a:rPr sz="600" spc="15" dirty="0">
                <a:latin typeface="Arial"/>
                <a:cs typeface="Arial"/>
              </a:rPr>
              <a:t> </a:t>
            </a:r>
            <a:r>
              <a:rPr sz="600" spc="-10" dirty="0">
                <a:latin typeface="Arial"/>
                <a:cs typeface="Arial"/>
              </a:rPr>
              <a:t>maturation</a:t>
            </a:r>
            <a:endParaRPr sz="600">
              <a:latin typeface="Arial"/>
              <a:cs typeface="Arial"/>
            </a:endParaRPr>
          </a:p>
        </p:txBody>
      </p:sp>
      <p:sp>
        <p:nvSpPr>
          <p:cNvPr id="77" name="object 77"/>
          <p:cNvSpPr txBox="1"/>
          <p:nvPr/>
        </p:nvSpPr>
        <p:spPr>
          <a:xfrm>
            <a:off x="5443845" y="2248906"/>
            <a:ext cx="788035"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Golgi</a:t>
            </a:r>
            <a:r>
              <a:rPr sz="600" spc="-25" dirty="0">
                <a:latin typeface="Arial"/>
                <a:cs typeface="Arial"/>
              </a:rPr>
              <a:t> </a:t>
            </a:r>
            <a:r>
              <a:rPr sz="600" dirty="0">
                <a:latin typeface="Arial"/>
                <a:cs typeface="Arial"/>
              </a:rPr>
              <a:t>vesicle</a:t>
            </a:r>
            <a:r>
              <a:rPr sz="600" spc="-25" dirty="0">
                <a:latin typeface="Arial"/>
                <a:cs typeface="Arial"/>
              </a:rPr>
              <a:t> </a:t>
            </a:r>
            <a:r>
              <a:rPr sz="600" spc="-10" dirty="0">
                <a:latin typeface="Arial"/>
                <a:cs typeface="Arial"/>
              </a:rPr>
              <a:t>transport</a:t>
            </a:r>
            <a:endParaRPr sz="600">
              <a:latin typeface="Arial"/>
              <a:cs typeface="Arial"/>
            </a:endParaRPr>
          </a:p>
        </p:txBody>
      </p:sp>
      <p:sp>
        <p:nvSpPr>
          <p:cNvPr id="78" name="object 78"/>
          <p:cNvSpPr txBox="1"/>
          <p:nvPr/>
        </p:nvSpPr>
        <p:spPr>
          <a:xfrm>
            <a:off x="5263904" y="2420986"/>
            <a:ext cx="967740" cy="118110"/>
          </a:xfrm>
          <a:prstGeom prst="rect">
            <a:avLst/>
          </a:prstGeom>
        </p:spPr>
        <p:txBody>
          <a:bodyPr vert="horz" wrap="square" lIns="0" tIns="13335" rIns="0" bIns="0" rtlCol="0">
            <a:spAutoFit/>
          </a:bodyPr>
          <a:lstStyle/>
          <a:p>
            <a:pPr marL="12700">
              <a:lnSpc>
                <a:spcPct val="100000"/>
              </a:lnSpc>
              <a:spcBef>
                <a:spcPts val="105"/>
              </a:spcBef>
            </a:pPr>
            <a:r>
              <a:rPr sz="600" spc="-10" dirty="0">
                <a:latin typeface="Arial"/>
                <a:cs typeface="Arial"/>
              </a:rPr>
              <a:t>cellulose</a:t>
            </a:r>
            <a:r>
              <a:rPr sz="600" spc="10" dirty="0">
                <a:latin typeface="Arial"/>
                <a:cs typeface="Arial"/>
              </a:rPr>
              <a:t> </a:t>
            </a:r>
            <a:r>
              <a:rPr sz="600" dirty="0">
                <a:latin typeface="Arial"/>
                <a:cs typeface="Arial"/>
              </a:rPr>
              <a:t>metabolic</a:t>
            </a:r>
            <a:r>
              <a:rPr sz="600" spc="10" dirty="0">
                <a:latin typeface="Arial"/>
                <a:cs typeface="Arial"/>
              </a:rPr>
              <a:t> </a:t>
            </a:r>
            <a:r>
              <a:rPr sz="600" spc="-10" dirty="0">
                <a:latin typeface="Arial"/>
                <a:cs typeface="Arial"/>
              </a:rPr>
              <a:t>process</a:t>
            </a:r>
            <a:endParaRPr sz="600">
              <a:latin typeface="Arial"/>
              <a:cs typeface="Arial"/>
            </a:endParaRPr>
          </a:p>
        </p:txBody>
      </p:sp>
      <p:sp>
        <p:nvSpPr>
          <p:cNvPr id="79" name="object 79"/>
          <p:cNvSpPr txBox="1"/>
          <p:nvPr/>
        </p:nvSpPr>
        <p:spPr>
          <a:xfrm>
            <a:off x="5495168" y="2593066"/>
            <a:ext cx="736600"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cell</a:t>
            </a:r>
            <a:r>
              <a:rPr sz="600" spc="-20" dirty="0">
                <a:latin typeface="Arial"/>
                <a:cs typeface="Arial"/>
              </a:rPr>
              <a:t> </a:t>
            </a:r>
            <a:r>
              <a:rPr sz="600" dirty="0">
                <a:latin typeface="Arial"/>
                <a:cs typeface="Arial"/>
              </a:rPr>
              <a:t>wall</a:t>
            </a:r>
            <a:r>
              <a:rPr sz="600" spc="-20" dirty="0">
                <a:latin typeface="Arial"/>
                <a:cs typeface="Arial"/>
              </a:rPr>
              <a:t> </a:t>
            </a:r>
            <a:r>
              <a:rPr sz="600" spc="-10" dirty="0">
                <a:latin typeface="Arial"/>
                <a:cs typeface="Arial"/>
              </a:rPr>
              <a:t>organization</a:t>
            </a:r>
            <a:endParaRPr sz="600">
              <a:latin typeface="Arial"/>
              <a:cs typeface="Arial"/>
            </a:endParaRPr>
          </a:p>
        </p:txBody>
      </p:sp>
      <p:sp>
        <p:nvSpPr>
          <p:cNvPr id="80" name="object 80"/>
          <p:cNvSpPr txBox="1"/>
          <p:nvPr/>
        </p:nvSpPr>
        <p:spPr>
          <a:xfrm>
            <a:off x="6322562" y="2761314"/>
            <a:ext cx="57785" cy="94615"/>
          </a:xfrm>
          <a:prstGeom prst="rect">
            <a:avLst/>
          </a:prstGeom>
        </p:spPr>
        <p:txBody>
          <a:bodyPr vert="horz" wrap="square" lIns="0" tIns="12700" rIns="0" bIns="0" rtlCol="0">
            <a:spAutoFit/>
          </a:bodyPr>
          <a:lstStyle/>
          <a:p>
            <a:pPr marL="12700">
              <a:lnSpc>
                <a:spcPct val="100000"/>
              </a:lnSpc>
              <a:spcBef>
                <a:spcPts val="100"/>
              </a:spcBef>
            </a:pPr>
            <a:r>
              <a:rPr sz="450" spc="-50" dirty="0">
                <a:solidFill>
                  <a:srgbClr val="4D4D4D"/>
                </a:solidFill>
                <a:latin typeface="Helvetica"/>
                <a:cs typeface="Helvetica"/>
              </a:rPr>
              <a:t>3</a:t>
            </a:r>
            <a:endParaRPr sz="450">
              <a:latin typeface="Helvetica"/>
              <a:cs typeface="Helvetica"/>
            </a:endParaRPr>
          </a:p>
        </p:txBody>
      </p:sp>
      <p:sp>
        <p:nvSpPr>
          <p:cNvPr id="81" name="object 81"/>
          <p:cNvSpPr txBox="1"/>
          <p:nvPr/>
        </p:nvSpPr>
        <p:spPr>
          <a:xfrm>
            <a:off x="6523077" y="2752114"/>
            <a:ext cx="575310" cy="208279"/>
          </a:xfrm>
          <a:prstGeom prst="rect">
            <a:avLst/>
          </a:prstGeom>
        </p:spPr>
        <p:txBody>
          <a:bodyPr vert="horz" wrap="square" lIns="0" tIns="21590" rIns="0" bIns="0" rtlCol="0">
            <a:spAutoFit/>
          </a:bodyPr>
          <a:lstStyle/>
          <a:p>
            <a:pPr marL="170815">
              <a:lnSpc>
                <a:spcPct val="100000"/>
              </a:lnSpc>
              <a:spcBef>
                <a:spcPts val="170"/>
              </a:spcBef>
              <a:tabLst>
                <a:tab pos="530225" algn="l"/>
              </a:tabLst>
            </a:pPr>
            <a:r>
              <a:rPr sz="450" spc="-50" dirty="0">
                <a:solidFill>
                  <a:srgbClr val="4D4D4D"/>
                </a:solidFill>
                <a:latin typeface="Helvetica"/>
                <a:cs typeface="Helvetica"/>
              </a:rPr>
              <a:t>4</a:t>
            </a:r>
            <a:r>
              <a:rPr sz="450" dirty="0">
                <a:solidFill>
                  <a:srgbClr val="4D4D4D"/>
                </a:solidFill>
                <a:latin typeface="Helvetica"/>
                <a:cs typeface="Helvetica"/>
              </a:rPr>
              <a:t>	</a:t>
            </a:r>
            <a:r>
              <a:rPr sz="450" spc="-50" dirty="0">
                <a:solidFill>
                  <a:srgbClr val="4D4D4D"/>
                </a:solidFill>
                <a:latin typeface="Helvetica"/>
                <a:cs typeface="Helvetica"/>
              </a:rPr>
              <a:t>5</a:t>
            </a:r>
            <a:endParaRPr sz="450">
              <a:latin typeface="Helvetica"/>
              <a:cs typeface="Helvetica"/>
            </a:endParaRPr>
          </a:p>
          <a:p>
            <a:pPr marL="12700">
              <a:lnSpc>
                <a:spcPct val="100000"/>
              </a:lnSpc>
              <a:spcBef>
                <a:spcPts val="105"/>
              </a:spcBef>
            </a:pPr>
            <a:r>
              <a:rPr sz="600" b="1" dirty="0">
                <a:latin typeface="Arial"/>
                <a:cs typeface="Arial"/>
              </a:rPr>
              <a:t>-log10(p-</a:t>
            </a:r>
            <a:r>
              <a:rPr sz="600" b="1" spc="-10" dirty="0">
                <a:latin typeface="Arial"/>
                <a:cs typeface="Arial"/>
              </a:rPr>
              <a:t>value)</a:t>
            </a:r>
            <a:endParaRPr sz="600">
              <a:latin typeface="Arial"/>
              <a:cs typeface="Arial"/>
            </a:endParaRPr>
          </a:p>
        </p:txBody>
      </p:sp>
      <p:sp>
        <p:nvSpPr>
          <p:cNvPr id="82" name="object 82"/>
          <p:cNvSpPr txBox="1"/>
          <p:nvPr/>
        </p:nvSpPr>
        <p:spPr>
          <a:xfrm>
            <a:off x="6367259" y="21196"/>
            <a:ext cx="884555" cy="118110"/>
          </a:xfrm>
          <a:prstGeom prst="rect">
            <a:avLst/>
          </a:prstGeom>
        </p:spPr>
        <p:txBody>
          <a:bodyPr vert="horz" wrap="square" lIns="0" tIns="13335" rIns="0" bIns="0" rtlCol="0">
            <a:spAutoFit/>
          </a:bodyPr>
          <a:lstStyle/>
          <a:p>
            <a:pPr marL="12700">
              <a:lnSpc>
                <a:spcPct val="100000"/>
              </a:lnSpc>
              <a:spcBef>
                <a:spcPts val="105"/>
              </a:spcBef>
            </a:pPr>
            <a:r>
              <a:rPr sz="600" b="1" dirty="0">
                <a:latin typeface="Arial"/>
                <a:cs typeface="Arial"/>
              </a:rPr>
              <a:t>Winter-reduced</a:t>
            </a:r>
            <a:r>
              <a:rPr sz="600" b="1" spc="40" dirty="0">
                <a:latin typeface="Arial"/>
                <a:cs typeface="Arial"/>
              </a:rPr>
              <a:t> </a:t>
            </a:r>
            <a:r>
              <a:rPr sz="600" b="1" spc="-10" dirty="0">
                <a:latin typeface="Arial"/>
                <a:cs typeface="Arial"/>
              </a:rPr>
              <a:t>(n=609)</a:t>
            </a:r>
            <a:endParaRPr sz="600">
              <a:latin typeface="Arial"/>
              <a:cs typeface="Arial"/>
            </a:endParaRPr>
          </a:p>
        </p:txBody>
      </p:sp>
      <p:graphicFrame>
        <p:nvGraphicFramePr>
          <p:cNvPr id="83" name="object 83"/>
          <p:cNvGraphicFramePr>
            <a:graphicFrameLocks noGrp="1"/>
          </p:cNvGraphicFramePr>
          <p:nvPr/>
        </p:nvGraphicFramePr>
        <p:xfrm>
          <a:off x="3670467" y="150237"/>
          <a:ext cx="1247773" cy="2609850"/>
        </p:xfrm>
        <a:graphic>
          <a:graphicData uri="http://schemas.openxmlformats.org/drawingml/2006/table">
            <a:tbl>
              <a:tblPr firstRow="1" bandRow="1">
                <a:tableStyleId>{2D5ABB26-0587-4C30-8999-92F81FD0307C}</a:tableStyleId>
              </a:tblPr>
              <a:tblGrid>
                <a:gridCol w="103505">
                  <a:extLst>
                    <a:ext uri="{9D8B030D-6E8A-4147-A177-3AD203B41FA5}">
                      <a16:colId xmlns:a16="http://schemas.microsoft.com/office/drawing/2014/main" val="20000"/>
                    </a:ext>
                  </a:extLst>
                </a:gridCol>
                <a:gridCol w="160655">
                  <a:extLst>
                    <a:ext uri="{9D8B030D-6E8A-4147-A177-3AD203B41FA5}">
                      <a16:colId xmlns:a16="http://schemas.microsoft.com/office/drawing/2014/main" val="20001"/>
                    </a:ext>
                  </a:extLst>
                </a:gridCol>
                <a:gridCol w="160655">
                  <a:extLst>
                    <a:ext uri="{9D8B030D-6E8A-4147-A177-3AD203B41FA5}">
                      <a16:colId xmlns:a16="http://schemas.microsoft.com/office/drawing/2014/main" val="20002"/>
                    </a:ext>
                  </a:extLst>
                </a:gridCol>
                <a:gridCol w="160654">
                  <a:extLst>
                    <a:ext uri="{9D8B030D-6E8A-4147-A177-3AD203B41FA5}">
                      <a16:colId xmlns:a16="http://schemas.microsoft.com/office/drawing/2014/main" val="20003"/>
                    </a:ext>
                  </a:extLst>
                </a:gridCol>
                <a:gridCol w="160654">
                  <a:extLst>
                    <a:ext uri="{9D8B030D-6E8A-4147-A177-3AD203B41FA5}">
                      <a16:colId xmlns:a16="http://schemas.microsoft.com/office/drawing/2014/main" val="20004"/>
                    </a:ext>
                  </a:extLst>
                </a:gridCol>
                <a:gridCol w="160655">
                  <a:extLst>
                    <a:ext uri="{9D8B030D-6E8A-4147-A177-3AD203B41FA5}">
                      <a16:colId xmlns:a16="http://schemas.microsoft.com/office/drawing/2014/main" val="20005"/>
                    </a:ext>
                  </a:extLst>
                </a:gridCol>
                <a:gridCol w="160655">
                  <a:extLst>
                    <a:ext uri="{9D8B030D-6E8A-4147-A177-3AD203B41FA5}">
                      <a16:colId xmlns:a16="http://schemas.microsoft.com/office/drawing/2014/main" val="20006"/>
                    </a:ext>
                  </a:extLst>
                </a:gridCol>
                <a:gridCol w="180340">
                  <a:extLst>
                    <a:ext uri="{9D8B030D-6E8A-4147-A177-3AD203B41FA5}">
                      <a16:colId xmlns:a16="http://schemas.microsoft.com/office/drawing/2014/main" val="20007"/>
                    </a:ext>
                  </a:extLst>
                </a:gridCol>
              </a:tblGrid>
              <a:tr h="102870">
                <a:tc>
                  <a:txBody>
                    <a:bodyPr/>
                    <a:lstStyle/>
                    <a:p>
                      <a:pPr>
                        <a:lnSpc>
                          <a:spcPct val="100000"/>
                        </a:lnSpc>
                      </a:pPr>
                      <a:endParaRPr sz="5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333333"/>
                      </a:solidFill>
                      <a:prstDash val="solid"/>
                    </a:lnT>
                    <a:lnB w="6350">
                      <a:solidFill>
                        <a:srgbClr val="EBEBEB"/>
                      </a:solidFill>
                      <a:prstDash val="solid"/>
                    </a:lnB>
                  </a:tcPr>
                </a:tc>
                <a:tc>
                  <a:txBody>
                    <a:bodyPr/>
                    <a:lstStyle/>
                    <a:p>
                      <a:pPr>
                        <a:lnSpc>
                          <a:spcPct val="100000"/>
                        </a:lnSpc>
                      </a:pPr>
                      <a:endParaRPr sz="5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333333"/>
                      </a:solidFill>
                      <a:prstDash val="solid"/>
                    </a:lnT>
                    <a:lnB w="6350">
                      <a:solidFill>
                        <a:srgbClr val="EBEBEB"/>
                      </a:solidFill>
                      <a:prstDash val="solid"/>
                    </a:lnB>
                  </a:tcPr>
                </a:tc>
                <a:tc>
                  <a:txBody>
                    <a:bodyPr/>
                    <a:lstStyle/>
                    <a:p>
                      <a:pPr>
                        <a:lnSpc>
                          <a:spcPct val="100000"/>
                        </a:lnSpc>
                      </a:pPr>
                      <a:endParaRPr sz="5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333333"/>
                      </a:solidFill>
                      <a:prstDash val="solid"/>
                    </a:lnT>
                    <a:lnB w="6350">
                      <a:solidFill>
                        <a:srgbClr val="EBEBEB"/>
                      </a:solidFill>
                      <a:prstDash val="solid"/>
                    </a:lnB>
                  </a:tcPr>
                </a:tc>
                <a:tc>
                  <a:txBody>
                    <a:bodyPr/>
                    <a:lstStyle/>
                    <a:p>
                      <a:pPr>
                        <a:lnSpc>
                          <a:spcPct val="100000"/>
                        </a:lnSpc>
                      </a:pPr>
                      <a:endParaRPr sz="5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333333"/>
                      </a:solidFill>
                      <a:prstDash val="solid"/>
                    </a:lnT>
                    <a:lnB w="6350">
                      <a:solidFill>
                        <a:srgbClr val="EBEBEB"/>
                      </a:solidFill>
                      <a:prstDash val="solid"/>
                    </a:lnB>
                  </a:tcPr>
                </a:tc>
                <a:tc>
                  <a:txBody>
                    <a:bodyPr/>
                    <a:lstStyle/>
                    <a:p>
                      <a:pPr>
                        <a:lnSpc>
                          <a:spcPct val="100000"/>
                        </a:lnSpc>
                      </a:pPr>
                      <a:endParaRPr sz="5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333333"/>
                      </a:solidFill>
                      <a:prstDash val="solid"/>
                    </a:lnT>
                    <a:lnB w="6350">
                      <a:solidFill>
                        <a:srgbClr val="EBEBEB"/>
                      </a:solidFill>
                      <a:prstDash val="solid"/>
                    </a:lnB>
                  </a:tcPr>
                </a:tc>
                <a:tc>
                  <a:txBody>
                    <a:bodyPr/>
                    <a:lstStyle/>
                    <a:p>
                      <a:pPr>
                        <a:lnSpc>
                          <a:spcPct val="100000"/>
                        </a:lnSpc>
                      </a:pPr>
                      <a:endParaRPr sz="5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333333"/>
                      </a:solidFill>
                      <a:prstDash val="solid"/>
                    </a:lnT>
                    <a:lnB w="6350">
                      <a:solidFill>
                        <a:srgbClr val="EBEBEB"/>
                      </a:solidFill>
                      <a:prstDash val="solid"/>
                    </a:lnB>
                  </a:tcPr>
                </a:tc>
                <a:tc>
                  <a:txBody>
                    <a:bodyPr/>
                    <a:lstStyle/>
                    <a:p>
                      <a:pPr>
                        <a:lnSpc>
                          <a:spcPct val="100000"/>
                        </a:lnSpc>
                      </a:pPr>
                      <a:endParaRPr sz="5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333333"/>
                      </a:solidFill>
                      <a:prstDash val="solid"/>
                    </a:lnT>
                    <a:lnB w="6350">
                      <a:solidFill>
                        <a:srgbClr val="EBEBEB"/>
                      </a:solidFill>
                      <a:prstDash val="solid"/>
                    </a:lnB>
                  </a:tcPr>
                </a:tc>
                <a:tc>
                  <a:txBody>
                    <a:bodyPr/>
                    <a:lstStyle/>
                    <a:p>
                      <a:pPr>
                        <a:lnSpc>
                          <a:spcPct val="100000"/>
                        </a:lnSpc>
                      </a:pPr>
                      <a:endParaRPr sz="5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333333"/>
                      </a:solidFill>
                      <a:prstDash val="solid"/>
                    </a:lnT>
                    <a:lnB w="6350">
                      <a:solidFill>
                        <a:srgbClr val="EBEBEB"/>
                      </a:solidFill>
                      <a:prstDash val="solid"/>
                    </a:lnB>
                  </a:tcPr>
                </a:tc>
                <a:extLst>
                  <a:ext uri="{0D108BD9-81ED-4DB2-BD59-A6C34878D82A}">
                    <a16:rowId xmlns:a16="http://schemas.microsoft.com/office/drawing/2014/main" val="10000"/>
                  </a:ext>
                </a:extLst>
              </a:tr>
              <a:tr h="171450">
                <a:tc>
                  <a:txBody>
                    <a:bodyPr/>
                    <a:lstStyle/>
                    <a:p>
                      <a:pPr>
                        <a:lnSpc>
                          <a:spcPct val="100000"/>
                        </a:lnSpc>
                      </a:pPr>
                      <a:endParaRPr sz="8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EBEBEB"/>
                      </a:solidFill>
                      <a:prstDash val="solid"/>
                    </a:lnT>
                    <a:lnB w="6350">
                      <a:solidFill>
                        <a:srgbClr val="EBEBEB"/>
                      </a:solidFill>
                      <a:prstDash val="solid"/>
                    </a:lnB>
                  </a:tcPr>
                </a:tc>
                <a:extLst>
                  <a:ext uri="{0D108BD9-81ED-4DB2-BD59-A6C34878D82A}">
                    <a16:rowId xmlns:a16="http://schemas.microsoft.com/office/drawing/2014/main" val="10001"/>
                  </a:ext>
                </a:extLst>
              </a:tr>
              <a:tr h="171450">
                <a:tc>
                  <a:txBody>
                    <a:bodyPr/>
                    <a:lstStyle/>
                    <a:p>
                      <a:pPr>
                        <a:lnSpc>
                          <a:spcPct val="100000"/>
                        </a:lnSpc>
                      </a:pPr>
                      <a:endParaRPr sz="8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EBEBEB"/>
                      </a:solidFill>
                      <a:prstDash val="solid"/>
                    </a:lnT>
                    <a:lnB w="6350">
                      <a:solidFill>
                        <a:srgbClr val="EBEBEB"/>
                      </a:solidFill>
                      <a:prstDash val="solid"/>
                    </a:lnB>
                  </a:tcPr>
                </a:tc>
                <a:extLst>
                  <a:ext uri="{0D108BD9-81ED-4DB2-BD59-A6C34878D82A}">
                    <a16:rowId xmlns:a16="http://schemas.microsoft.com/office/drawing/2014/main" val="10002"/>
                  </a:ext>
                </a:extLst>
              </a:tr>
              <a:tr h="172085">
                <a:tc>
                  <a:txBody>
                    <a:bodyPr/>
                    <a:lstStyle/>
                    <a:p>
                      <a:pPr>
                        <a:lnSpc>
                          <a:spcPct val="100000"/>
                        </a:lnSpc>
                      </a:pPr>
                      <a:endParaRPr sz="8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EBEBEB"/>
                      </a:solidFill>
                      <a:prstDash val="solid"/>
                    </a:lnT>
                    <a:lnB w="6350">
                      <a:solidFill>
                        <a:srgbClr val="EBEBEB"/>
                      </a:solidFill>
                      <a:prstDash val="solid"/>
                    </a:lnB>
                  </a:tcPr>
                </a:tc>
                <a:extLst>
                  <a:ext uri="{0D108BD9-81ED-4DB2-BD59-A6C34878D82A}">
                    <a16:rowId xmlns:a16="http://schemas.microsoft.com/office/drawing/2014/main" val="10003"/>
                  </a:ext>
                </a:extLst>
              </a:tr>
              <a:tr h="171450">
                <a:tc>
                  <a:txBody>
                    <a:bodyPr/>
                    <a:lstStyle/>
                    <a:p>
                      <a:pPr>
                        <a:lnSpc>
                          <a:spcPct val="100000"/>
                        </a:lnSpc>
                      </a:pPr>
                      <a:endParaRPr sz="8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EBEBEB"/>
                      </a:solidFill>
                      <a:prstDash val="solid"/>
                    </a:lnT>
                    <a:lnB w="6350">
                      <a:solidFill>
                        <a:srgbClr val="EBEBEB"/>
                      </a:solidFill>
                      <a:prstDash val="solid"/>
                    </a:lnB>
                  </a:tcPr>
                </a:tc>
                <a:extLst>
                  <a:ext uri="{0D108BD9-81ED-4DB2-BD59-A6C34878D82A}">
                    <a16:rowId xmlns:a16="http://schemas.microsoft.com/office/drawing/2014/main" val="10004"/>
                  </a:ext>
                </a:extLst>
              </a:tr>
              <a:tr h="172085">
                <a:tc>
                  <a:txBody>
                    <a:bodyPr/>
                    <a:lstStyle/>
                    <a:p>
                      <a:pPr>
                        <a:lnSpc>
                          <a:spcPct val="100000"/>
                        </a:lnSpc>
                      </a:pPr>
                      <a:endParaRPr sz="8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EBEBEB"/>
                      </a:solidFill>
                      <a:prstDash val="solid"/>
                    </a:lnT>
                    <a:lnB w="6350">
                      <a:solidFill>
                        <a:srgbClr val="EBEBEB"/>
                      </a:solidFill>
                      <a:prstDash val="solid"/>
                    </a:lnB>
                  </a:tcPr>
                </a:tc>
                <a:extLst>
                  <a:ext uri="{0D108BD9-81ED-4DB2-BD59-A6C34878D82A}">
                    <a16:rowId xmlns:a16="http://schemas.microsoft.com/office/drawing/2014/main" val="10005"/>
                  </a:ext>
                </a:extLst>
              </a:tr>
              <a:tr h="171450">
                <a:tc>
                  <a:txBody>
                    <a:bodyPr/>
                    <a:lstStyle/>
                    <a:p>
                      <a:pPr>
                        <a:lnSpc>
                          <a:spcPct val="100000"/>
                        </a:lnSpc>
                      </a:pPr>
                      <a:endParaRPr sz="8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EBEBEB"/>
                      </a:solidFill>
                      <a:prstDash val="solid"/>
                    </a:lnT>
                    <a:lnB w="6350">
                      <a:solidFill>
                        <a:srgbClr val="EBEBEB"/>
                      </a:solidFill>
                      <a:prstDash val="solid"/>
                    </a:lnB>
                  </a:tcPr>
                </a:tc>
                <a:extLst>
                  <a:ext uri="{0D108BD9-81ED-4DB2-BD59-A6C34878D82A}">
                    <a16:rowId xmlns:a16="http://schemas.microsoft.com/office/drawing/2014/main" val="10006"/>
                  </a:ext>
                </a:extLst>
              </a:tr>
              <a:tr h="172085">
                <a:tc>
                  <a:txBody>
                    <a:bodyPr/>
                    <a:lstStyle/>
                    <a:p>
                      <a:pPr>
                        <a:lnSpc>
                          <a:spcPct val="100000"/>
                        </a:lnSpc>
                      </a:pPr>
                      <a:endParaRPr sz="8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EBEBEB"/>
                      </a:solidFill>
                      <a:prstDash val="solid"/>
                    </a:lnT>
                    <a:lnB w="6350">
                      <a:solidFill>
                        <a:srgbClr val="EBEBEB"/>
                      </a:solidFill>
                      <a:prstDash val="solid"/>
                    </a:lnB>
                  </a:tcPr>
                </a:tc>
                <a:extLst>
                  <a:ext uri="{0D108BD9-81ED-4DB2-BD59-A6C34878D82A}">
                    <a16:rowId xmlns:a16="http://schemas.microsoft.com/office/drawing/2014/main" val="10007"/>
                  </a:ext>
                </a:extLst>
              </a:tr>
              <a:tr h="171450">
                <a:tc>
                  <a:txBody>
                    <a:bodyPr/>
                    <a:lstStyle/>
                    <a:p>
                      <a:pPr>
                        <a:lnSpc>
                          <a:spcPct val="100000"/>
                        </a:lnSpc>
                      </a:pPr>
                      <a:endParaRPr sz="8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EBEBEB"/>
                      </a:solidFill>
                      <a:prstDash val="solid"/>
                    </a:lnT>
                    <a:lnB w="6350">
                      <a:solidFill>
                        <a:srgbClr val="EBEBEB"/>
                      </a:solidFill>
                      <a:prstDash val="solid"/>
                    </a:lnB>
                  </a:tcPr>
                </a:tc>
                <a:extLst>
                  <a:ext uri="{0D108BD9-81ED-4DB2-BD59-A6C34878D82A}">
                    <a16:rowId xmlns:a16="http://schemas.microsoft.com/office/drawing/2014/main" val="10008"/>
                  </a:ext>
                </a:extLst>
              </a:tr>
              <a:tr h="172085">
                <a:tc>
                  <a:txBody>
                    <a:bodyPr/>
                    <a:lstStyle/>
                    <a:p>
                      <a:pPr>
                        <a:lnSpc>
                          <a:spcPct val="100000"/>
                        </a:lnSpc>
                      </a:pPr>
                      <a:endParaRPr sz="8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EBEBEB"/>
                      </a:solidFill>
                      <a:prstDash val="solid"/>
                    </a:lnT>
                    <a:lnB w="6350">
                      <a:solidFill>
                        <a:srgbClr val="EBEBEB"/>
                      </a:solidFill>
                      <a:prstDash val="solid"/>
                    </a:lnB>
                  </a:tcPr>
                </a:tc>
                <a:extLst>
                  <a:ext uri="{0D108BD9-81ED-4DB2-BD59-A6C34878D82A}">
                    <a16:rowId xmlns:a16="http://schemas.microsoft.com/office/drawing/2014/main" val="10009"/>
                  </a:ext>
                </a:extLst>
              </a:tr>
              <a:tr h="171450">
                <a:tc>
                  <a:txBody>
                    <a:bodyPr/>
                    <a:lstStyle/>
                    <a:p>
                      <a:pPr>
                        <a:lnSpc>
                          <a:spcPct val="100000"/>
                        </a:lnSpc>
                      </a:pPr>
                      <a:endParaRPr sz="8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EBEBEB"/>
                      </a:solidFill>
                      <a:prstDash val="solid"/>
                    </a:lnT>
                    <a:lnB w="6350">
                      <a:solidFill>
                        <a:srgbClr val="EBEBEB"/>
                      </a:solidFill>
                      <a:prstDash val="solid"/>
                    </a:lnB>
                  </a:tcPr>
                </a:tc>
                <a:extLst>
                  <a:ext uri="{0D108BD9-81ED-4DB2-BD59-A6C34878D82A}">
                    <a16:rowId xmlns:a16="http://schemas.microsoft.com/office/drawing/2014/main" val="10010"/>
                  </a:ext>
                </a:extLst>
              </a:tr>
              <a:tr h="172085">
                <a:tc>
                  <a:txBody>
                    <a:bodyPr/>
                    <a:lstStyle/>
                    <a:p>
                      <a:pPr>
                        <a:lnSpc>
                          <a:spcPct val="100000"/>
                        </a:lnSpc>
                      </a:pPr>
                      <a:endParaRPr sz="8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EBEBEB"/>
                      </a:solidFill>
                      <a:prstDash val="solid"/>
                    </a:lnT>
                    <a:lnB w="6350">
                      <a:solidFill>
                        <a:srgbClr val="EBEBEB"/>
                      </a:solidFill>
                      <a:prstDash val="solid"/>
                    </a:lnB>
                  </a:tcPr>
                </a:tc>
                <a:extLst>
                  <a:ext uri="{0D108BD9-81ED-4DB2-BD59-A6C34878D82A}">
                    <a16:rowId xmlns:a16="http://schemas.microsoft.com/office/drawing/2014/main" val="10011"/>
                  </a:ext>
                </a:extLst>
              </a:tr>
              <a:tr h="171450">
                <a:tc>
                  <a:txBody>
                    <a:bodyPr/>
                    <a:lstStyle/>
                    <a:p>
                      <a:pPr>
                        <a:lnSpc>
                          <a:spcPct val="100000"/>
                        </a:lnSpc>
                      </a:pPr>
                      <a:endParaRPr sz="8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EBEBEB"/>
                      </a:solidFill>
                      <a:prstDash val="solid"/>
                    </a:lnT>
                    <a:lnB w="6350">
                      <a:solidFill>
                        <a:srgbClr val="EBEBEB"/>
                      </a:solidFill>
                      <a:prstDash val="solid"/>
                    </a:lnB>
                  </a:tcPr>
                </a:tc>
                <a:extLst>
                  <a:ext uri="{0D108BD9-81ED-4DB2-BD59-A6C34878D82A}">
                    <a16:rowId xmlns:a16="http://schemas.microsoft.com/office/drawing/2014/main" val="10012"/>
                  </a:ext>
                </a:extLst>
              </a:tr>
              <a:tr h="171450">
                <a:tc>
                  <a:txBody>
                    <a:bodyPr/>
                    <a:lstStyle/>
                    <a:p>
                      <a:pPr>
                        <a:lnSpc>
                          <a:spcPct val="100000"/>
                        </a:lnSpc>
                      </a:pPr>
                      <a:endParaRPr sz="8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EBEBEB"/>
                      </a:solidFill>
                      <a:prstDash val="solid"/>
                    </a:lnT>
                    <a:lnB w="6350">
                      <a:solidFill>
                        <a:srgbClr val="EBEBEB"/>
                      </a:solidFill>
                      <a:prstDash val="solid"/>
                    </a:lnB>
                  </a:tcPr>
                </a:tc>
                <a:extLst>
                  <a:ext uri="{0D108BD9-81ED-4DB2-BD59-A6C34878D82A}">
                    <a16:rowId xmlns:a16="http://schemas.microsoft.com/office/drawing/2014/main" val="10013"/>
                  </a:ext>
                </a:extLst>
              </a:tr>
              <a:tr h="172085">
                <a:tc>
                  <a:txBody>
                    <a:bodyPr/>
                    <a:lstStyle/>
                    <a:p>
                      <a:pPr>
                        <a:lnSpc>
                          <a:spcPct val="100000"/>
                        </a:lnSpc>
                      </a:pPr>
                      <a:endParaRPr sz="8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EBEBEB"/>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EBEBEB"/>
                      </a:solidFill>
                      <a:prstDash val="solid"/>
                    </a:lnT>
                    <a:lnB w="6350">
                      <a:solidFill>
                        <a:srgbClr val="EBEBEB"/>
                      </a:solidFill>
                      <a:prstDash val="solid"/>
                    </a:lnB>
                  </a:tcPr>
                </a:tc>
                <a:extLst>
                  <a:ext uri="{0D108BD9-81ED-4DB2-BD59-A6C34878D82A}">
                    <a16:rowId xmlns:a16="http://schemas.microsoft.com/office/drawing/2014/main" val="10014"/>
                  </a:ext>
                </a:extLst>
              </a:tr>
              <a:tr h="102870">
                <a:tc>
                  <a:txBody>
                    <a:bodyPr/>
                    <a:lstStyle/>
                    <a:p>
                      <a:pPr>
                        <a:lnSpc>
                          <a:spcPct val="100000"/>
                        </a:lnSpc>
                      </a:pPr>
                      <a:endParaRPr sz="500">
                        <a:latin typeface="Times New Roman"/>
                        <a:cs typeface="Times New Roman"/>
                      </a:endParaRPr>
                    </a:p>
                  </a:txBody>
                  <a:tcPr marL="0" marR="0" marT="0" marB="0">
                    <a:lnL w="6350">
                      <a:solidFill>
                        <a:srgbClr val="333333"/>
                      </a:solidFill>
                      <a:prstDash val="solid"/>
                    </a:lnL>
                    <a:lnR w="3175">
                      <a:solidFill>
                        <a:srgbClr val="EBEBEB"/>
                      </a:solidFill>
                      <a:prstDash val="solid"/>
                    </a:lnR>
                    <a:lnT w="6350">
                      <a:solidFill>
                        <a:srgbClr val="EBEBEB"/>
                      </a:solidFill>
                      <a:prstDash val="solid"/>
                    </a:lnT>
                    <a:lnB w="6350">
                      <a:solidFill>
                        <a:srgbClr val="333333"/>
                      </a:solidFill>
                      <a:prstDash val="solid"/>
                    </a:lnB>
                  </a:tcPr>
                </a:tc>
                <a:tc>
                  <a:txBody>
                    <a:bodyPr/>
                    <a:lstStyle/>
                    <a:p>
                      <a:pPr>
                        <a:lnSpc>
                          <a:spcPct val="100000"/>
                        </a:lnSpc>
                      </a:pPr>
                      <a:endParaRPr sz="5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333333"/>
                      </a:solidFill>
                      <a:prstDash val="solid"/>
                    </a:lnB>
                  </a:tcPr>
                </a:tc>
                <a:tc>
                  <a:txBody>
                    <a:bodyPr/>
                    <a:lstStyle/>
                    <a:p>
                      <a:pPr>
                        <a:lnSpc>
                          <a:spcPct val="100000"/>
                        </a:lnSpc>
                      </a:pPr>
                      <a:endParaRPr sz="5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333333"/>
                      </a:solidFill>
                      <a:prstDash val="solid"/>
                    </a:lnB>
                  </a:tcPr>
                </a:tc>
                <a:tc>
                  <a:txBody>
                    <a:bodyPr/>
                    <a:lstStyle/>
                    <a:p>
                      <a:pPr>
                        <a:lnSpc>
                          <a:spcPct val="100000"/>
                        </a:lnSpc>
                      </a:pPr>
                      <a:endParaRPr sz="5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333333"/>
                      </a:solidFill>
                      <a:prstDash val="solid"/>
                    </a:lnB>
                  </a:tcPr>
                </a:tc>
                <a:tc>
                  <a:txBody>
                    <a:bodyPr/>
                    <a:lstStyle/>
                    <a:p>
                      <a:pPr>
                        <a:lnSpc>
                          <a:spcPct val="100000"/>
                        </a:lnSpc>
                      </a:pPr>
                      <a:endParaRPr sz="5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333333"/>
                      </a:solidFill>
                      <a:prstDash val="solid"/>
                    </a:lnB>
                  </a:tcPr>
                </a:tc>
                <a:tc>
                  <a:txBody>
                    <a:bodyPr/>
                    <a:lstStyle/>
                    <a:p>
                      <a:pPr>
                        <a:lnSpc>
                          <a:spcPct val="100000"/>
                        </a:lnSpc>
                      </a:pPr>
                      <a:endParaRPr sz="500">
                        <a:latin typeface="Times New Roman"/>
                        <a:cs typeface="Times New Roman"/>
                      </a:endParaRPr>
                    </a:p>
                  </a:txBody>
                  <a:tcPr marL="0" marR="0" marT="0" marB="0">
                    <a:lnL w="3175">
                      <a:solidFill>
                        <a:srgbClr val="EBEBEB"/>
                      </a:solidFill>
                      <a:prstDash val="solid"/>
                    </a:lnL>
                    <a:lnR w="6350">
                      <a:solidFill>
                        <a:srgbClr val="EBEBEB"/>
                      </a:solidFill>
                      <a:prstDash val="solid"/>
                    </a:lnR>
                    <a:lnT w="6350">
                      <a:solidFill>
                        <a:srgbClr val="EBEBEB"/>
                      </a:solidFill>
                      <a:prstDash val="solid"/>
                    </a:lnT>
                    <a:lnB w="6350">
                      <a:solidFill>
                        <a:srgbClr val="333333"/>
                      </a:solidFill>
                      <a:prstDash val="solid"/>
                    </a:lnB>
                  </a:tcPr>
                </a:tc>
                <a:tc>
                  <a:txBody>
                    <a:bodyPr/>
                    <a:lstStyle/>
                    <a:p>
                      <a:pPr>
                        <a:lnSpc>
                          <a:spcPct val="100000"/>
                        </a:lnSpc>
                      </a:pPr>
                      <a:endParaRPr sz="500">
                        <a:latin typeface="Times New Roman"/>
                        <a:cs typeface="Times New Roman"/>
                      </a:endParaRPr>
                    </a:p>
                  </a:txBody>
                  <a:tcPr marL="0" marR="0" marT="0" marB="0">
                    <a:lnL w="6350">
                      <a:solidFill>
                        <a:srgbClr val="EBEBEB"/>
                      </a:solidFill>
                      <a:prstDash val="solid"/>
                    </a:lnL>
                    <a:lnR w="3175">
                      <a:solidFill>
                        <a:srgbClr val="EBEBEB"/>
                      </a:solidFill>
                      <a:prstDash val="solid"/>
                    </a:lnR>
                    <a:lnT w="6350">
                      <a:solidFill>
                        <a:srgbClr val="EBEBEB"/>
                      </a:solidFill>
                      <a:prstDash val="solid"/>
                    </a:lnT>
                    <a:lnB w="6350">
                      <a:solidFill>
                        <a:srgbClr val="333333"/>
                      </a:solidFill>
                      <a:prstDash val="solid"/>
                    </a:lnB>
                  </a:tcPr>
                </a:tc>
                <a:tc>
                  <a:txBody>
                    <a:bodyPr/>
                    <a:lstStyle/>
                    <a:p>
                      <a:pPr>
                        <a:lnSpc>
                          <a:spcPct val="100000"/>
                        </a:lnSpc>
                      </a:pPr>
                      <a:endParaRPr sz="500">
                        <a:latin typeface="Times New Roman"/>
                        <a:cs typeface="Times New Roman"/>
                      </a:endParaRPr>
                    </a:p>
                  </a:txBody>
                  <a:tcPr marL="0" marR="0" marT="0" marB="0">
                    <a:lnL w="3175">
                      <a:solidFill>
                        <a:srgbClr val="EBEBEB"/>
                      </a:solidFill>
                      <a:prstDash val="solid"/>
                    </a:lnL>
                    <a:lnR w="6350">
                      <a:solidFill>
                        <a:srgbClr val="333333"/>
                      </a:solidFill>
                      <a:prstDash val="solid"/>
                    </a:lnR>
                    <a:lnT w="6350">
                      <a:solidFill>
                        <a:srgbClr val="EBEBEB"/>
                      </a:solidFill>
                      <a:prstDash val="solid"/>
                    </a:lnT>
                    <a:lnB w="6350">
                      <a:solidFill>
                        <a:srgbClr val="333333"/>
                      </a:solidFill>
                      <a:prstDash val="solid"/>
                    </a:lnB>
                  </a:tcPr>
                </a:tc>
                <a:extLst>
                  <a:ext uri="{0D108BD9-81ED-4DB2-BD59-A6C34878D82A}">
                    <a16:rowId xmlns:a16="http://schemas.microsoft.com/office/drawing/2014/main" val="10015"/>
                  </a:ext>
                </a:extLst>
              </a:tr>
            </a:tbl>
          </a:graphicData>
        </a:graphic>
      </p:graphicFrame>
      <p:pic>
        <p:nvPicPr>
          <p:cNvPr id="84" name="object 84"/>
          <p:cNvPicPr/>
          <p:nvPr/>
        </p:nvPicPr>
        <p:blipFill>
          <a:blip r:embed="rId10" cstate="print"/>
          <a:stretch>
            <a:fillRect/>
          </a:stretch>
        </p:blipFill>
        <p:spPr>
          <a:xfrm>
            <a:off x="3696351" y="2630860"/>
            <a:ext cx="68597" cy="68613"/>
          </a:xfrm>
          <a:prstGeom prst="rect">
            <a:avLst/>
          </a:prstGeom>
        </p:spPr>
      </p:pic>
      <p:sp>
        <p:nvSpPr>
          <p:cNvPr id="85" name="object 85"/>
          <p:cNvSpPr/>
          <p:nvPr/>
        </p:nvSpPr>
        <p:spPr>
          <a:xfrm>
            <a:off x="3746470" y="2482912"/>
            <a:ext cx="20955" cy="20955"/>
          </a:xfrm>
          <a:custGeom>
            <a:avLst/>
            <a:gdLst/>
            <a:ahLst/>
            <a:cxnLst/>
            <a:rect l="l" t="t" r="r" b="b"/>
            <a:pathLst>
              <a:path w="20954" h="20955">
                <a:moveTo>
                  <a:pt x="10172" y="0"/>
                </a:moveTo>
                <a:lnTo>
                  <a:pt x="3178" y="2541"/>
                </a:lnTo>
                <a:lnTo>
                  <a:pt x="0" y="10164"/>
                </a:lnTo>
                <a:lnTo>
                  <a:pt x="3178" y="17805"/>
                </a:lnTo>
                <a:lnTo>
                  <a:pt x="10172" y="20352"/>
                </a:lnTo>
                <a:lnTo>
                  <a:pt x="17165" y="17805"/>
                </a:lnTo>
                <a:lnTo>
                  <a:pt x="20344" y="10164"/>
                </a:lnTo>
                <a:lnTo>
                  <a:pt x="17165" y="2541"/>
                </a:lnTo>
                <a:lnTo>
                  <a:pt x="10172" y="0"/>
                </a:lnTo>
                <a:close/>
              </a:path>
            </a:pathLst>
          </a:custGeom>
          <a:solidFill>
            <a:srgbClr val="E60054"/>
          </a:solidFill>
        </p:spPr>
        <p:txBody>
          <a:bodyPr wrap="square" lIns="0" tIns="0" rIns="0" bIns="0" rtlCol="0"/>
          <a:lstStyle/>
          <a:p>
            <a:endParaRPr/>
          </a:p>
        </p:txBody>
      </p:sp>
      <p:sp>
        <p:nvSpPr>
          <p:cNvPr id="86" name="object 86"/>
          <p:cNvSpPr/>
          <p:nvPr/>
        </p:nvSpPr>
        <p:spPr>
          <a:xfrm>
            <a:off x="3742321" y="2290833"/>
            <a:ext cx="60960" cy="60960"/>
          </a:xfrm>
          <a:custGeom>
            <a:avLst/>
            <a:gdLst/>
            <a:ahLst/>
            <a:cxnLst/>
            <a:rect l="l" t="t" r="r" b="b"/>
            <a:pathLst>
              <a:path w="60960" h="60960">
                <a:moveTo>
                  <a:pt x="30175" y="0"/>
                </a:moveTo>
                <a:lnTo>
                  <a:pt x="9429" y="7544"/>
                </a:lnTo>
                <a:lnTo>
                  <a:pt x="0" y="30178"/>
                </a:lnTo>
                <a:lnTo>
                  <a:pt x="9429" y="52812"/>
                </a:lnTo>
                <a:lnTo>
                  <a:pt x="30175" y="60356"/>
                </a:lnTo>
                <a:lnTo>
                  <a:pt x="50921" y="52812"/>
                </a:lnTo>
                <a:lnTo>
                  <a:pt x="60351" y="30178"/>
                </a:lnTo>
                <a:lnTo>
                  <a:pt x="50921" y="7544"/>
                </a:lnTo>
                <a:lnTo>
                  <a:pt x="30175" y="0"/>
                </a:lnTo>
                <a:close/>
              </a:path>
            </a:pathLst>
          </a:custGeom>
          <a:solidFill>
            <a:srgbClr val="8400D4"/>
          </a:solidFill>
        </p:spPr>
        <p:txBody>
          <a:bodyPr wrap="square" lIns="0" tIns="0" rIns="0" bIns="0" rtlCol="0"/>
          <a:lstStyle/>
          <a:p>
            <a:endParaRPr/>
          </a:p>
        </p:txBody>
      </p:sp>
      <p:pic>
        <p:nvPicPr>
          <p:cNvPr id="87" name="object 87"/>
          <p:cNvPicPr/>
          <p:nvPr/>
        </p:nvPicPr>
        <p:blipFill>
          <a:blip r:embed="rId11" cstate="print"/>
          <a:stretch>
            <a:fillRect/>
          </a:stretch>
        </p:blipFill>
        <p:spPr>
          <a:xfrm>
            <a:off x="3755660" y="2112459"/>
            <a:ext cx="72956" cy="72948"/>
          </a:xfrm>
          <a:prstGeom prst="rect">
            <a:avLst/>
          </a:prstGeom>
        </p:spPr>
      </p:pic>
      <p:pic>
        <p:nvPicPr>
          <p:cNvPr id="88" name="object 88"/>
          <p:cNvPicPr/>
          <p:nvPr/>
        </p:nvPicPr>
        <p:blipFill>
          <a:blip r:embed="rId12" cstate="print"/>
          <a:stretch>
            <a:fillRect/>
          </a:stretch>
        </p:blipFill>
        <p:spPr>
          <a:xfrm>
            <a:off x="3776194" y="1934771"/>
            <a:ext cx="84196" cy="84185"/>
          </a:xfrm>
          <a:prstGeom prst="rect">
            <a:avLst/>
          </a:prstGeom>
        </p:spPr>
      </p:pic>
      <p:sp>
        <p:nvSpPr>
          <p:cNvPr id="89" name="object 89"/>
          <p:cNvSpPr/>
          <p:nvPr/>
        </p:nvSpPr>
        <p:spPr>
          <a:xfrm>
            <a:off x="3846731" y="1786077"/>
            <a:ext cx="37465" cy="37465"/>
          </a:xfrm>
          <a:custGeom>
            <a:avLst/>
            <a:gdLst/>
            <a:ahLst/>
            <a:cxnLst/>
            <a:rect l="l" t="t" r="r" b="b"/>
            <a:pathLst>
              <a:path w="37464" h="37464">
                <a:moveTo>
                  <a:pt x="18709" y="0"/>
                </a:moveTo>
                <a:lnTo>
                  <a:pt x="5846" y="4677"/>
                </a:lnTo>
                <a:lnTo>
                  <a:pt x="0" y="18709"/>
                </a:lnTo>
                <a:lnTo>
                  <a:pt x="5846" y="32729"/>
                </a:lnTo>
                <a:lnTo>
                  <a:pt x="18709" y="37403"/>
                </a:lnTo>
                <a:lnTo>
                  <a:pt x="31572" y="32729"/>
                </a:lnTo>
                <a:lnTo>
                  <a:pt x="37419" y="18709"/>
                </a:lnTo>
                <a:lnTo>
                  <a:pt x="31572" y="4677"/>
                </a:lnTo>
                <a:lnTo>
                  <a:pt x="18709" y="0"/>
                </a:lnTo>
                <a:close/>
              </a:path>
            </a:pathLst>
          </a:custGeom>
          <a:solidFill>
            <a:srgbClr val="EA004A"/>
          </a:solidFill>
        </p:spPr>
        <p:txBody>
          <a:bodyPr wrap="square" lIns="0" tIns="0" rIns="0" bIns="0" rtlCol="0"/>
          <a:lstStyle/>
          <a:p>
            <a:endParaRPr/>
          </a:p>
        </p:txBody>
      </p:sp>
      <p:sp>
        <p:nvSpPr>
          <p:cNvPr id="90" name="object 90"/>
          <p:cNvSpPr/>
          <p:nvPr/>
        </p:nvSpPr>
        <p:spPr>
          <a:xfrm>
            <a:off x="3878767" y="1622530"/>
            <a:ext cx="20955" cy="20955"/>
          </a:xfrm>
          <a:custGeom>
            <a:avLst/>
            <a:gdLst/>
            <a:ahLst/>
            <a:cxnLst/>
            <a:rect l="l" t="t" r="r" b="b"/>
            <a:pathLst>
              <a:path w="20954" h="20955">
                <a:moveTo>
                  <a:pt x="10172" y="0"/>
                </a:moveTo>
                <a:lnTo>
                  <a:pt x="3178" y="2541"/>
                </a:lnTo>
                <a:lnTo>
                  <a:pt x="0" y="10164"/>
                </a:lnTo>
                <a:lnTo>
                  <a:pt x="3178" y="17787"/>
                </a:lnTo>
                <a:lnTo>
                  <a:pt x="10172" y="20328"/>
                </a:lnTo>
                <a:lnTo>
                  <a:pt x="17165" y="17787"/>
                </a:lnTo>
                <a:lnTo>
                  <a:pt x="20344" y="10164"/>
                </a:lnTo>
                <a:lnTo>
                  <a:pt x="17165" y="2541"/>
                </a:lnTo>
                <a:lnTo>
                  <a:pt x="10172" y="0"/>
                </a:lnTo>
                <a:close/>
              </a:path>
            </a:pathLst>
          </a:custGeom>
          <a:solidFill>
            <a:srgbClr val="FF0000"/>
          </a:solidFill>
        </p:spPr>
        <p:txBody>
          <a:bodyPr wrap="square" lIns="0" tIns="0" rIns="0" bIns="0" rtlCol="0"/>
          <a:lstStyle/>
          <a:p>
            <a:endParaRPr/>
          </a:p>
        </p:txBody>
      </p:sp>
      <p:sp>
        <p:nvSpPr>
          <p:cNvPr id="91" name="object 91"/>
          <p:cNvSpPr/>
          <p:nvPr/>
        </p:nvSpPr>
        <p:spPr>
          <a:xfrm>
            <a:off x="3898408" y="1440008"/>
            <a:ext cx="41275" cy="41275"/>
          </a:xfrm>
          <a:custGeom>
            <a:avLst/>
            <a:gdLst/>
            <a:ahLst/>
            <a:cxnLst/>
            <a:rect l="l" t="t" r="r" b="b"/>
            <a:pathLst>
              <a:path w="41275" h="41275">
                <a:moveTo>
                  <a:pt x="20608" y="0"/>
                </a:moveTo>
                <a:lnTo>
                  <a:pt x="6440" y="5154"/>
                </a:lnTo>
                <a:lnTo>
                  <a:pt x="0" y="20617"/>
                </a:lnTo>
                <a:lnTo>
                  <a:pt x="6440" y="36086"/>
                </a:lnTo>
                <a:lnTo>
                  <a:pt x="20608" y="41242"/>
                </a:lnTo>
                <a:lnTo>
                  <a:pt x="34777" y="36086"/>
                </a:lnTo>
                <a:lnTo>
                  <a:pt x="41217" y="20617"/>
                </a:lnTo>
                <a:lnTo>
                  <a:pt x="34777" y="5154"/>
                </a:lnTo>
                <a:lnTo>
                  <a:pt x="20608" y="0"/>
                </a:lnTo>
                <a:close/>
              </a:path>
            </a:pathLst>
          </a:custGeom>
          <a:solidFill>
            <a:srgbClr val="EB0046"/>
          </a:solidFill>
        </p:spPr>
        <p:txBody>
          <a:bodyPr wrap="square" lIns="0" tIns="0" rIns="0" bIns="0" rtlCol="0"/>
          <a:lstStyle/>
          <a:p>
            <a:endParaRPr/>
          </a:p>
        </p:txBody>
      </p:sp>
      <p:sp>
        <p:nvSpPr>
          <p:cNvPr id="92" name="object 92"/>
          <p:cNvSpPr/>
          <p:nvPr/>
        </p:nvSpPr>
        <p:spPr>
          <a:xfrm>
            <a:off x="3954343" y="1266302"/>
            <a:ext cx="45085" cy="45085"/>
          </a:xfrm>
          <a:custGeom>
            <a:avLst/>
            <a:gdLst/>
            <a:ahLst/>
            <a:cxnLst/>
            <a:rect l="l" t="t" r="r" b="b"/>
            <a:pathLst>
              <a:path w="45085" h="45084">
                <a:moveTo>
                  <a:pt x="22243" y="0"/>
                </a:moveTo>
                <a:lnTo>
                  <a:pt x="6951" y="5558"/>
                </a:lnTo>
                <a:lnTo>
                  <a:pt x="0" y="22235"/>
                </a:lnTo>
                <a:lnTo>
                  <a:pt x="6951" y="38912"/>
                </a:lnTo>
                <a:lnTo>
                  <a:pt x="22243" y="44470"/>
                </a:lnTo>
                <a:lnTo>
                  <a:pt x="37536" y="38912"/>
                </a:lnTo>
                <a:lnTo>
                  <a:pt x="44487" y="22235"/>
                </a:lnTo>
                <a:lnTo>
                  <a:pt x="37536" y="5558"/>
                </a:lnTo>
                <a:lnTo>
                  <a:pt x="22243" y="0"/>
                </a:lnTo>
                <a:close/>
              </a:path>
            </a:pathLst>
          </a:custGeom>
          <a:solidFill>
            <a:srgbClr val="EC0044"/>
          </a:solidFill>
        </p:spPr>
        <p:txBody>
          <a:bodyPr wrap="square" lIns="0" tIns="0" rIns="0" bIns="0" rtlCol="0"/>
          <a:lstStyle/>
          <a:p>
            <a:endParaRPr/>
          </a:p>
        </p:txBody>
      </p:sp>
      <p:sp>
        <p:nvSpPr>
          <p:cNvPr id="93" name="object 93"/>
          <p:cNvSpPr/>
          <p:nvPr/>
        </p:nvSpPr>
        <p:spPr>
          <a:xfrm>
            <a:off x="3991945" y="1097761"/>
            <a:ext cx="37465" cy="37465"/>
          </a:xfrm>
          <a:custGeom>
            <a:avLst/>
            <a:gdLst/>
            <a:ahLst/>
            <a:cxnLst/>
            <a:rect l="l" t="t" r="r" b="b"/>
            <a:pathLst>
              <a:path w="37464" h="37465">
                <a:moveTo>
                  <a:pt x="18693" y="0"/>
                </a:moveTo>
                <a:lnTo>
                  <a:pt x="5841" y="4677"/>
                </a:lnTo>
                <a:lnTo>
                  <a:pt x="0" y="18709"/>
                </a:lnTo>
                <a:lnTo>
                  <a:pt x="5841" y="32729"/>
                </a:lnTo>
                <a:lnTo>
                  <a:pt x="18693" y="37403"/>
                </a:lnTo>
                <a:lnTo>
                  <a:pt x="31544" y="32729"/>
                </a:lnTo>
                <a:lnTo>
                  <a:pt x="37386" y="18709"/>
                </a:lnTo>
                <a:lnTo>
                  <a:pt x="31544" y="4677"/>
                </a:lnTo>
                <a:lnTo>
                  <a:pt x="18693" y="0"/>
                </a:lnTo>
                <a:close/>
              </a:path>
            </a:pathLst>
          </a:custGeom>
          <a:solidFill>
            <a:srgbClr val="FF0000"/>
          </a:solidFill>
        </p:spPr>
        <p:txBody>
          <a:bodyPr wrap="square" lIns="0" tIns="0" rIns="0" bIns="0" rtlCol="0"/>
          <a:lstStyle/>
          <a:p>
            <a:endParaRPr/>
          </a:p>
        </p:txBody>
      </p:sp>
      <p:pic>
        <p:nvPicPr>
          <p:cNvPr id="94" name="object 94"/>
          <p:cNvPicPr/>
          <p:nvPr/>
        </p:nvPicPr>
        <p:blipFill>
          <a:blip r:embed="rId13" cstate="print"/>
          <a:stretch>
            <a:fillRect/>
          </a:stretch>
        </p:blipFill>
        <p:spPr>
          <a:xfrm>
            <a:off x="4101578" y="908626"/>
            <a:ext cx="71536" cy="71528"/>
          </a:xfrm>
          <a:prstGeom prst="rect">
            <a:avLst/>
          </a:prstGeom>
        </p:spPr>
      </p:pic>
      <p:pic>
        <p:nvPicPr>
          <p:cNvPr id="95" name="object 95"/>
          <p:cNvPicPr/>
          <p:nvPr/>
        </p:nvPicPr>
        <p:blipFill>
          <a:blip r:embed="rId14" cstate="print"/>
          <a:stretch>
            <a:fillRect/>
          </a:stretch>
        </p:blipFill>
        <p:spPr>
          <a:xfrm>
            <a:off x="4217195" y="737269"/>
            <a:ext cx="70072" cy="70083"/>
          </a:xfrm>
          <a:prstGeom prst="rect">
            <a:avLst/>
          </a:prstGeom>
        </p:spPr>
      </p:pic>
      <p:sp>
        <p:nvSpPr>
          <p:cNvPr id="96" name="object 96"/>
          <p:cNvSpPr/>
          <p:nvPr/>
        </p:nvSpPr>
        <p:spPr>
          <a:xfrm>
            <a:off x="4403303" y="569158"/>
            <a:ext cx="62230" cy="62230"/>
          </a:xfrm>
          <a:custGeom>
            <a:avLst/>
            <a:gdLst/>
            <a:ahLst/>
            <a:cxnLst/>
            <a:rect l="l" t="t" r="r" b="b"/>
            <a:pathLst>
              <a:path w="62229" h="62229">
                <a:moveTo>
                  <a:pt x="31072" y="0"/>
                </a:moveTo>
                <a:lnTo>
                  <a:pt x="9710" y="7765"/>
                </a:lnTo>
                <a:lnTo>
                  <a:pt x="0" y="31061"/>
                </a:lnTo>
                <a:lnTo>
                  <a:pt x="9710" y="54370"/>
                </a:lnTo>
                <a:lnTo>
                  <a:pt x="31072" y="62140"/>
                </a:lnTo>
                <a:lnTo>
                  <a:pt x="52435" y="54370"/>
                </a:lnTo>
                <a:lnTo>
                  <a:pt x="62145" y="31061"/>
                </a:lnTo>
                <a:lnTo>
                  <a:pt x="52435" y="7765"/>
                </a:lnTo>
                <a:lnTo>
                  <a:pt x="31072" y="0"/>
                </a:lnTo>
                <a:close/>
              </a:path>
            </a:pathLst>
          </a:custGeom>
          <a:solidFill>
            <a:srgbClr val="F40031"/>
          </a:solidFill>
        </p:spPr>
        <p:txBody>
          <a:bodyPr wrap="square" lIns="0" tIns="0" rIns="0" bIns="0" rtlCol="0"/>
          <a:lstStyle/>
          <a:p>
            <a:endParaRPr/>
          </a:p>
        </p:txBody>
      </p:sp>
      <p:pic>
        <p:nvPicPr>
          <p:cNvPr id="97" name="object 97"/>
          <p:cNvPicPr/>
          <p:nvPr/>
        </p:nvPicPr>
        <p:blipFill>
          <a:blip r:embed="rId15" cstate="print"/>
          <a:stretch>
            <a:fillRect/>
          </a:stretch>
        </p:blipFill>
        <p:spPr>
          <a:xfrm>
            <a:off x="4812612" y="379816"/>
            <a:ext cx="96648" cy="96659"/>
          </a:xfrm>
          <a:prstGeom prst="rect">
            <a:avLst/>
          </a:prstGeom>
        </p:spPr>
      </p:pic>
      <p:pic>
        <p:nvPicPr>
          <p:cNvPr id="98" name="object 98"/>
          <p:cNvPicPr/>
          <p:nvPr/>
        </p:nvPicPr>
        <p:blipFill>
          <a:blip r:embed="rId16" cstate="print"/>
          <a:stretch>
            <a:fillRect/>
          </a:stretch>
        </p:blipFill>
        <p:spPr>
          <a:xfrm>
            <a:off x="4835330" y="207748"/>
            <a:ext cx="96659" cy="96659"/>
          </a:xfrm>
          <a:prstGeom prst="rect">
            <a:avLst/>
          </a:prstGeom>
        </p:spPr>
      </p:pic>
      <p:sp>
        <p:nvSpPr>
          <p:cNvPr id="99" name="object 99"/>
          <p:cNvSpPr txBox="1"/>
          <p:nvPr/>
        </p:nvSpPr>
        <p:spPr>
          <a:xfrm>
            <a:off x="3135269" y="183944"/>
            <a:ext cx="509905"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protein</a:t>
            </a:r>
            <a:r>
              <a:rPr sz="600" spc="-30" dirty="0">
                <a:latin typeface="Arial"/>
                <a:cs typeface="Arial"/>
              </a:rPr>
              <a:t> </a:t>
            </a:r>
            <a:r>
              <a:rPr sz="600" spc="-10" dirty="0">
                <a:latin typeface="Arial"/>
                <a:cs typeface="Arial"/>
              </a:rPr>
              <a:t>folding</a:t>
            </a:r>
            <a:endParaRPr sz="600">
              <a:latin typeface="Arial"/>
              <a:cs typeface="Arial"/>
            </a:endParaRPr>
          </a:p>
        </p:txBody>
      </p:sp>
      <p:sp>
        <p:nvSpPr>
          <p:cNvPr id="100" name="object 100"/>
          <p:cNvSpPr txBox="1"/>
          <p:nvPr/>
        </p:nvSpPr>
        <p:spPr>
          <a:xfrm>
            <a:off x="3045337" y="356024"/>
            <a:ext cx="600075"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response</a:t>
            </a:r>
            <a:r>
              <a:rPr sz="600" spc="-20" dirty="0">
                <a:latin typeface="Arial"/>
                <a:cs typeface="Arial"/>
              </a:rPr>
              <a:t> </a:t>
            </a:r>
            <a:r>
              <a:rPr sz="600" dirty="0">
                <a:latin typeface="Arial"/>
                <a:cs typeface="Arial"/>
              </a:rPr>
              <a:t>to</a:t>
            </a:r>
            <a:r>
              <a:rPr sz="600" spc="-15" dirty="0">
                <a:latin typeface="Arial"/>
                <a:cs typeface="Arial"/>
              </a:rPr>
              <a:t> </a:t>
            </a:r>
            <a:r>
              <a:rPr sz="600" spc="-20" dirty="0">
                <a:latin typeface="Arial"/>
                <a:cs typeface="Arial"/>
              </a:rPr>
              <a:t>heat</a:t>
            </a:r>
            <a:endParaRPr sz="600">
              <a:latin typeface="Arial"/>
              <a:cs typeface="Arial"/>
            </a:endParaRPr>
          </a:p>
        </p:txBody>
      </p:sp>
      <p:sp>
        <p:nvSpPr>
          <p:cNvPr id="101" name="object 101"/>
          <p:cNvSpPr txBox="1"/>
          <p:nvPr/>
        </p:nvSpPr>
        <p:spPr>
          <a:xfrm>
            <a:off x="2556993" y="528104"/>
            <a:ext cx="1087755"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response</a:t>
            </a:r>
            <a:r>
              <a:rPr sz="600" spc="-25" dirty="0">
                <a:latin typeface="Arial"/>
                <a:cs typeface="Arial"/>
              </a:rPr>
              <a:t> </a:t>
            </a:r>
            <a:r>
              <a:rPr sz="600" dirty="0">
                <a:latin typeface="Arial"/>
                <a:cs typeface="Arial"/>
              </a:rPr>
              <a:t>to</a:t>
            </a:r>
            <a:r>
              <a:rPr sz="600" spc="-25" dirty="0">
                <a:latin typeface="Arial"/>
                <a:cs typeface="Arial"/>
              </a:rPr>
              <a:t> </a:t>
            </a:r>
            <a:r>
              <a:rPr sz="600" dirty="0">
                <a:latin typeface="Arial"/>
                <a:cs typeface="Arial"/>
              </a:rPr>
              <a:t>hydrogen</a:t>
            </a:r>
            <a:r>
              <a:rPr sz="600" spc="-20" dirty="0">
                <a:latin typeface="Arial"/>
                <a:cs typeface="Arial"/>
              </a:rPr>
              <a:t> </a:t>
            </a:r>
            <a:r>
              <a:rPr sz="600" spc="-10" dirty="0">
                <a:latin typeface="Arial"/>
                <a:cs typeface="Arial"/>
              </a:rPr>
              <a:t>peroxide</a:t>
            </a:r>
            <a:endParaRPr sz="600">
              <a:latin typeface="Arial"/>
              <a:cs typeface="Arial"/>
            </a:endParaRPr>
          </a:p>
        </p:txBody>
      </p:sp>
      <p:sp>
        <p:nvSpPr>
          <p:cNvPr id="102" name="object 102"/>
          <p:cNvSpPr txBox="1"/>
          <p:nvPr/>
        </p:nvSpPr>
        <p:spPr>
          <a:xfrm>
            <a:off x="2767142" y="700184"/>
            <a:ext cx="878205"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starch</a:t>
            </a:r>
            <a:r>
              <a:rPr sz="600" spc="-15" dirty="0">
                <a:latin typeface="Arial"/>
                <a:cs typeface="Arial"/>
              </a:rPr>
              <a:t> </a:t>
            </a:r>
            <a:r>
              <a:rPr sz="600" dirty="0">
                <a:latin typeface="Arial"/>
                <a:cs typeface="Arial"/>
              </a:rPr>
              <a:t>metabolic</a:t>
            </a:r>
            <a:r>
              <a:rPr sz="600" spc="-10" dirty="0">
                <a:latin typeface="Arial"/>
                <a:cs typeface="Arial"/>
              </a:rPr>
              <a:t> process</a:t>
            </a:r>
            <a:endParaRPr sz="600">
              <a:latin typeface="Arial"/>
              <a:cs typeface="Arial"/>
            </a:endParaRPr>
          </a:p>
        </p:txBody>
      </p:sp>
      <p:sp>
        <p:nvSpPr>
          <p:cNvPr id="103" name="object 103"/>
          <p:cNvSpPr txBox="1"/>
          <p:nvPr/>
        </p:nvSpPr>
        <p:spPr>
          <a:xfrm>
            <a:off x="2848520" y="872264"/>
            <a:ext cx="796925"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response</a:t>
            </a:r>
            <a:r>
              <a:rPr sz="600" spc="-15" dirty="0">
                <a:latin typeface="Arial"/>
                <a:cs typeface="Arial"/>
              </a:rPr>
              <a:t> </a:t>
            </a:r>
            <a:r>
              <a:rPr sz="600" dirty="0">
                <a:latin typeface="Arial"/>
                <a:cs typeface="Arial"/>
              </a:rPr>
              <a:t>to</a:t>
            </a:r>
            <a:r>
              <a:rPr sz="600" spc="-10" dirty="0">
                <a:latin typeface="Arial"/>
                <a:cs typeface="Arial"/>
              </a:rPr>
              <a:t> </a:t>
            </a:r>
            <a:r>
              <a:rPr sz="600" dirty="0">
                <a:latin typeface="Arial"/>
                <a:cs typeface="Arial"/>
              </a:rPr>
              <a:t>salt</a:t>
            </a:r>
            <a:r>
              <a:rPr sz="600" spc="-10" dirty="0">
                <a:latin typeface="Arial"/>
                <a:cs typeface="Arial"/>
              </a:rPr>
              <a:t> stress</a:t>
            </a:r>
            <a:endParaRPr sz="600">
              <a:latin typeface="Arial"/>
              <a:cs typeface="Arial"/>
            </a:endParaRPr>
          </a:p>
        </p:txBody>
      </p:sp>
      <p:sp>
        <p:nvSpPr>
          <p:cNvPr id="104" name="object 104"/>
          <p:cNvSpPr txBox="1"/>
          <p:nvPr/>
        </p:nvSpPr>
        <p:spPr>
          <a:xfrm>
            <a:off x="2668579" y="1044345"/>
            <a:ext cx="976630"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glycogen</a:t>
            </a:r>
            <a:r>
              <a:rPr sz="600" spc="-20" dirty="0">
                <a:latin typeface="Arial"/>
                <a:cs typeface="Arial"/>
              </a:rPr>
              <a:t> </a:t>
            </a:r>
            <a:r>
              <a:rPr sz="600" dirty="0">
                <a:latin typeface="Arial"/>
                <a:cs typeface="Arial"/>
              </a:rPr>
              <a:t>metabolic</a:t>
            </a:r>
            <a:r>
              <a:rPr sz="600" spc="-15" dirty="0">
                <a:latin typeface="Arial"/>
                <a:cs typeface="Arial"/>
              </a:rPr>
              <a:t> </a:t>
            </a:r>
            <a:r>
              <a:rPr sz="600" spc="-10" dirty="0">
                <a:latin typeface="Arial"/>
                <a:cs typeface="Arial"/>
              </a:rPr>
              <a:t>process</a:t>
            </a:r>
            <a:endParaRPr sz="600">
              <a:latin typeface="Arial"/>
              <a:cs typeface="Arial"/>
            </a:endParaRPr>
          </a:p>
        </p:txBody>
      </p:sp>
      <p:sp>
        <p:nvSpPr>
          <p:cNvPr id="105" name="object 105"/>
          <p:cNvSpPr txBox="1"/>
          <p:nvPr/>
        </p:nvSpPr>
        <p:spPr>
          <a:xfrm>
            <a:off x="3071307" y="1216425"/>
            <a:ext cx="574040"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cold</a:t>
            </a:r>
            <a:r>
              <a:rPr sz="600" spc="-15" dirty="0">
                <a:latin typeface="Arial"/>
                <a:cs typeface="Arial"/>
              </a:rPr>
              <a:t> </a:t>
            </a:r>
            <a:r>
              <a:rPr sz="600" spc="-10" dirty="0">
                <a:latin typeface="Arial"/>
                <a:cs typeface="Arial"/>
              </a:rPr>
              <a:t>acclimation</a:t>
            </a:r>
            <a:endParaRPr sz="600">
              <a:latin typeface="Arial"/>
              <a:cs typeface="Arial"/>
            </a:endParaRPr>
          </a:p>
        </p:txBody>
      </p:sp>
      <p:sp>
        <p:nvSpPr>
          <p:cNvPr id="106" name="object 106"/>
          <p:cNvSpPr txBox="1"/>
          <p:nvPr/>
        </p:nvSpPr>
        <p:spPr>
          <a:xfrm>
            <a:off x="2711503" y="1388505"/>
            <a:ext cx="933450"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glucose</a:t>
            </a:r>
            <a:r>
              <a:rPr sz="600" spc="-15" dirty="0">
                <a:latin typeface="Arial"/>
                <a:cs typeface="Arial"/>
              </a:rPr>
              <a:t> </a:t>
            </a:r>
            <a:r>
              <a:rPr sz="600" dirty="0">
                <a:latin typeface="Arial"/>
                <a:cs typeface="Arial"/>
              </a:rPr>
              <a:t>metabolic</a:t>
            </a:r>
            <a:r>
              <a:rPr sz="600" spc="-15" dirty="0">
                <a:latin typeface="Arial"/>
                <a:cs typeface="Arial"/>
              </a:rPr>
              <a:t> </a:t>
            </a:r>
            <a:r>
              <a:rPr sz="600" spc="-10" dirty="0">
                <a:latin typeface="Arial"/>
                <a:cs typeface="Arial"/>
              </a:rPr>
              <a:t>process</a:t>
            </a:r>
            <a:endParaRPr sz="600">
              <a:latin typeface="Arial"/>
              <a:cs typeface="Arial"/>
            </a:endParaRPr>
          </a:p>
        </p:txBody>
      </p:sp>
      <p:sp>
        <p:nvSpPr>
          <p:cNvPr id="107" name="object 107"/>
          <p:cNvSpPr txBox="1"/>
          <p:nvPr/>
        </p:nvSpPr>
        <p:spPr>
          <a:xfrm>
            <a:off x="2779934" y="1560585"/>
            <a:ext cx="865505"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cellular</a:t>
            </a:r>
            <a:r>
              <a:rPr sz="600" spc="-20" dirty="0">
                <a:latin typeface="Arial"/>
                <a:cs typeface="Arial"/>
              </a:rPr>
              <a:t> </a:t>
            </a:r>
            <a:r>
              <a:rPr sz="600" dirty="0">
                <a:latin typeface="Arial"/>
                <a:cs typeface="Arial"/>
              </a:rPr>
              <a:t>response</a:t>
            </a:r>
            <a:r>
              <a:rPr sz="600" spc="-20" dirty="0">
                <a:latin typeface="Arial"/>
                <a:cs typeface="Arial"/>
              </a:rPr>
              <a:t> </a:t>
            </a:r>
            <a:r>
              <a:rPr sz="600" dirty="0">
                <a:latin typeface="Arial"/>
                <a:cs typeface="Arial"/>
              </a:rPr>
              <a:t>to</a:t>
            </a:r>
            <a:r>
              <a:rPr sz="600" spc="-15" dirty="0">
                <a:latin typeface="Arial"/>
                <a:cs typeface="Arial"/>
              </a:rPr>
              <a:t> </a:t>
            </a:r>
            <a:r>
              <a:rPr sz="600" spc="-20" dirty="0">
                <a:latin typeface="Arial"/>
                <a:cs typeface="Arial"/>
              </a:rPr>
              <a:t>heat</a:t>
            </a:r>
            <a:endParaRPr sz="600">
              <a:latin typeface="Arial"/>
              <a:cs typeface="Arial"/>
            </a:endParaRPr>
          </a:p>
        </p:txBody>
      </p:sp>
      <p:sp>
        <p:nvSpPr>
          <p:cNvPr id="108" name="object 108"/>
          <p:cNvSpPr txBox="1"/>
          <p:nvPr/>
        </p:nvSpPr>
        <p:spPr>
          <a:xfrm>
            <a:off x="2535801" y="1732665"/>
            <a:ext cx="1109345" cy="118110"/>
          </a:xfrm>
          <a:prstGeom prst="rect">
            <a:avLst/>
          </a:prstGeom>
        </p:spPr>
        <p:txBody>
          <a:bodyPr vert="horz" wrap="square" lIns="0" tIns="13335" rIns="0" bIns="0" rtlCol="0">
            <a:spAutoFit/>
          </a:bodyPr>
          <a:lstStyle/>
          <a:p>
            <a:pPr marL="12700">
              <a:lnSpc>
                <a:spcPct val="100000"/>
              </a:lnSpc>
              <a:spcBef>
                <a:spcPts val="105"/>
              </a:spcBef>
            </a:pPr>
            <a:r>
              <a:rPr sz="600" spc="-10" dirty="0">
                <a:latin typeface="Arial"/>
                <a:cs typeface="Arial"/>
              </a:rPr>
              <a:t>tryptophan</a:t>
            </a:r>
            <a:r>
              <a:rPr sz="600" spc="25" dirty="0">
                <a:latin typeface="Arial"/>
                <a:cs typeface="Arial"/>
              </a:rPr>
              <a:t> </a:t>
            </a:r>
            <a:r>
              <a:rPr sz="600" dirty="0">
                <a:latin typeface="Arial"/>
                <a:cs typeface="Arial"/>
              </a:rPr>
              <a:t>biosynthetic</a:t>
            </a:r>
            <a:r>
              <a:rPr sz="600" spc="30" dirty="0">
                <a:latin typeface="Arial"/>
                <a:cs typeface="Arial"/>
              </a:rPr>
              <a:t> </a:t>
            </a:r>
            <a:r>
              <a:rPr sz="600" spc="-10" dirty="0">
                <a:latin typeface="Arial"/>
                <a:cs typeface="Arial"/>
              </a:rPr>
              <a:t>process</a:t>
            </a:r>
            <a:endParaRPr sz="600">
              <a:latin typeface="Arial"/>
              <a:cs typeface="Arial"/>
            </a:endParaRPr>
          </a:p>
        </p:txBody>
      </p:sp>
      <p:sp>
        <p:nvSpPr>
          <p:cNvPr id="109" name="object 109"/>
          <p:cNvSpPr txBox="1"/>
          <p:nvPr/>
        </p:nvSpPr>
        <p:spPr>
          <a:xfrm>
            <a:off x="2724373" y="1904746"/>
            <a:ext cx="920750"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cellular</a:t>
            </a:r>
            <a:r>
              <a:rPr sz="600" spc="-20" dirty="0">
                <a:latin typeface="Arial"/>
                <a:cs typeface="Arial"/>
              </a:rPr>
              <a:t> </a:t>
            </a:r>
            <a:r>
              <a:rPr sz="600" dirty="0">
                <a:latin typeface="Arial"/>
                <a:cs typeface="Arial"/>
              </a:rPr>
              <a:t>response</a:t>
            </a:r>
            <a:r>
              <a:rPr sz="600" spc="-20" dirty="0">
                <a:latin typeface="Arial"/>
                <a:cs typeface="Arial"/>
              </a:rPr>
              <a:t> </a:t>
            </a:r>
            <a:r>
              <a:rPr sz="600" dirty="0">
                <a:latin typeface="Arial"/>
                <a:cs typeface="Arial"/>
              </a:rPr>
              <a:t>to</a:t>
            </a:r>
            <a:r>
              <a:rPr sz="600" spc="-15" dirty="0">
                <a:latin typeface="Arial"/>
                <a:cs typeface="Arial"/>
              </a:rPr>
              <a:t> </a:t>
            </a:r>
            <a:r>
              <a:rPr sz="600" spc="-10" dirty="0">
                <a:latin typeface="Arial"/>
                <a:cs typeface="Arial"/>
              </a:rPr>
              <a:t>stress</a:t>
            </a:r>
            <a:endParaRPr sz="600">
              <a:latin typeface="Arial"/>
              <a:cs typeface="Arial"/>
            </a:endParaRPr>
          </a:p>
        </p:txBody>
      </p:sp>
      <p:sp>
        <p:nvSpPr>
          <p:cNvPr id="110" name="object 110"/>
          <p:cNvSpPr txBox="1"/>
          <p:nvPr/>
        </p:nvSpPr>
        <p:spPr>
          <a:xfrm>
            <a:off x="2681526" y="2076826"/>
            <a:ext cx="963930"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pyruvate</a:t>
            </a:r>
            <a:r>
              <a:rPr sz="600" spc="-20" dirty="0">
                <a:latin typeface="Arial"/>
                <a:cs typeface="Arial"/>
              </a:rPr>
              <a:t> </a:t>
            </a:r>
            <a:r>
              <a:rPr sz="600" dirty="0">
                <a:latin typeface="Arial"/>
                <a:cs typeface="Arial"/>
              </a:rPr>
              <a:t>metabolic</a:t>
            </a:r>
            <a:r>
              <a:rPr sz="600" spc="-15" dirty="0">
                <a:latin typeface="Arial"/>
                <a:cs typeface="Arial"/>
              </a:rPr>
              <a:t> </a:t>
            </a:r>
            <a:r>
              <a:rPr sz="600" spc="-10" dirty="0">
                <a:latin typeface="Arial"/>
                <a:cs typeface="Arial"/>
              </a:rPr>
              <a:t>process</a:t>
            </a:r>
            <a:endParaRPr sz="600">
              <a:latin typeface="Arial"/>
              <a:cs typeface="Arial"/>
            </a:endParaRPr>
          </a:p>
        </p:txBody>
      </p:sp>
      <p:sp>
        <p:nvSpPr>
          <p:cNvPr id="111" name="object 111"/>
          <p:cNvSpPr txBox="1"/>
          <p:nvPr/>
        </p:nvSpPr>
        <p:spPr>
          <a:xfrm>
            <a:off x="2599994" y="2248906"/>
            <a:ext cx="1045210" cy="118110"/>
          </a:xfrm>
          <a:prstGeom prst="rect">
            <a:avLst/>
          </a:prstGeom>
        </p:spPr>
        <p:txBody>
          <a:bodyPr vert="horz" wrap="square" lIns="0" tIns="13335" rIns="0" bIns="0" rtlCol="0">
            <a:spAutoFit/>
          </a:bodyPr>
          <a:lstStyle/>
          <a:p>
            <a:pPr marL="12700">
              <a:lnSpc>
                <a:spcPct val="100000"/>
              </a:lnSpc>
              <a:spcBef>
                <a:spcPts val="105"/>
              </a:spcBef>
            </a:pPr>
            <a:r>
              <a:rPr sz="600" spc="-10" dirty="0">
                <a:latin typeface="Arial"/>
                <a:cs typeface="Arial"/>
              </a:rPr>
              <a:t>glutathione</a:t>
            </a:r>
            <a:r>
              <a:rPr sz="600" spc="30" dirty="0">
                <a:latin typeface="Arial"/>
                <a:cs typeface="Arial"/>
              </a:rPr>
              <a:t> </a:t>
            </a:r>
            <a:r>
              <a:rPr sz="600" dirty="0">
                <a:latin typeface="Arial"/>
                <a:cs typeface="Arial"/>
              </a:rPr>
              <a:t>metabolic</a:t>
            </a:r>
            <a:r>
              <a:rPr sz="600" spc="30" dirty="0">
                <a:latin typeface="Arial"/>
                <a:cs typeface="Arial"/>
              </a:rPr>
              <a:t> </a:t>
            </a:r>
            <a:r>
              <a:rPr sz="600" spc="-10" dirty="0">
                <a:latin typeface="Arial"/>
                <a:cs typeface="Arial"/>
              </a:rPr>
              <a:t>process</a:t>
            </a:r>
            <a:endParaRPr sz="600">
              <a:latin typeface="Arial"/>
              <a:cs typeface="Arial"/>
            </a:endParaRPr>
          </a:p>
        </p:txBody>
      </p:sp>
      <p:sp>
        <p:nvSpPr>
          <p:cNvPr id="112" name="object 112"/>
          <p:cNvSpPr txBox="1"/>
          <p:nvPr/>
        </p:nvSpPr>
        <p:spPr>
          <a:xfrm>
            <a:off x="2689926" y="2420986"/>
            <a:ext cx="955040"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aldehyde</a:t>
            </a:r>
            <a:r>
              <a:rPr sz="600" spc="-20" dirty="0">
                <a:latin typeface="Arial"/>
                <a:cs typeface="Arial"/>
              </a:rPr>
              <a:t> </a:t>
            </a:r>
            <a:r>
              <a:rPr sz="600" dirty="0">
                <a:latin typeface="Arial"/>
                <a:cs typeface="Arial"/>
              </a:rPr>
              <a:t>catabolic</a:t>
            </a:r>
            <a:r>
              <a:rPr sz="600" spc="-15" dirty="0">
                <a:latin typeface="Arial"/>
                <a:cs typeface="Arial"/>
              </a:rPr>
              <a:t> </a:t>
            </a:r>
            <a:r>
              <a:rPr sz="600" spc="-10" dirty="0">
                <a:latin typeface="Arial"/>
                <a:cs typeface="Arial"/>
              </a:rPr>
              <a:t>process</a:t>
            </a:r>
            <a:endParaRPr sz="600">
              <a:latin typeface="Arial"/>
              <a:cs typeface="Arial"/>
            </a:endParaRPr>
          </a:p>
        </p:txBody>
      </p:sp>
      <p:sp>
        <p:nvSpPr>
          <p:cNvPr id="113" name="object 113"/>
          <p:cNvSpPr txBox="1"/>
          <p:nvPr/>
        </p:nvSpPr>
        <p:spPr>
          <a:xfrm>
            <a:off x="2758588" y="2593066"/>
            <a:ext cx="886460" cy="118110"/>
          </a:xfrm>
          <a:prstGeom prst="rect">
            <a:avLst/>
          </a:prstGeom>
        </p:spPr>
        <p:txBody>
          <a:bodyPr vert="horz" wrap="square" lIns="0" tIns="13335" rIns="0" bIns="0" rtlCol="0">
            <a:spAutoFit/>
          </a:bodyPr>
          <a:lstStyle/>
          <a:p>
            <a:pPr marL="12700">
              <a:lnSpc>
                <a:spcPct val="100000"/>
              </a:lnSpc>
              <a:spcBef>
                <a:spcPts val="105"/>
              </a:spcBef>
            </a:pPr>
            <a:r>
              <a:rPr sz="600" dirty="0">
                <a:latin typeface="Arial"/>
                <a:cs typeface="Arial"/>
              </a:rPr>
              <a:t>response</a:t>
            </a:r>
            <a:r>
              <a:rPr sz="600" spc="-15" dirty="0">
                <a:latin typeface="Arial"/>
                <a:cs typeface="Arial"/>
              </a:rPr>
              <a:t> </a:t>
            </a:r>
            <a:r>
              <a:rPr sz="600" dirty="0">
                <a:latin typeface="Arial"/>
                <a:cs typeface="Arial"/>
              </a:rPr>
              <a:t>to</a:t>
            </a:r>
            <a:r>
              <a:rPr sz="600" spc="-10" dirty="0">
                <a:latin typeface="Arial"/>
                <a:cs typeface="Arial"/>
              </a:rPr>
              <a:t> </a:t>
            </a:r>
            <a:r>
              <a:rPr sz="600" dirty="0">
                <a:latin typeface="Arial"/>
                <a:cs typeface="Arial"/>
              </a:rPr>
              <a:t>abscisic</a:t>
            </a:r>
            <a:r>
              <a:rPr sz="600" spc="-10" dirty="0">
                <a:latin typeface="Arial"/>
                <a:cs typeface="Arial"/>
              </a:rPr>
              <a:t> </a:t>
            </a:r>
            <a:r>
              <a:rPr sz="600" spc="-20" dirty="0">
                <a:latin typeface="Arial"/>
                <a:cs typeface="Arial"/>
              </a:rPr>
              <a:t>acid</a:t>
            </a:r>
            <a:endParaRPr sz="600">
              <a:latin typeface="Arial"/>
              <a:cs typeface="Arial"/>
            </a:endParaRPr>
          </a:p>
        </p:txBody>
      </p:sp>
      <p:sp>
        <p:nvSpPr>
          <p:cNvPr id="114" name="object 114"/>
          <p:cNvSpPr txBox="1"/>
          <p:nvPr/>
        </p:nvSpPr>
        <p:spPr>
          <a:xfrm>
            <a:off x="3907961" y="2761314"/>
            <a:ext cx="57785" cy="94615"/>
          </a:xfrm>
          <a:prstGeom prst="rect">
            <a:avLst/>
          </a:prstGeom>
        </p:spPr>
        <p:txBody>
          <a:bodyPr vert="horz" wrap="square" lIns="0" tIns="12700" rIns="0" bIns="0" rtlCol="0">
            <a:spAutoFit/>
          </a:bodyPr>
          <a:lstStyle/>
          <a:p>
            <a:pPr marL="12700">
              <a:lnSpc>
                <a:spcPct val="100000"/>
              </a:lnSpc>
              <a:spcBef>
                <a:spcPts val="100"/>
              </a:spcBef>
            </a:pPr>
            <a:r>
              <a:rPr sz="450" spc="-50" dirty="0">
                <a:solidFill>
                  <a:srgbClr val="4D4D4D"/>
                </a:solidFill>
                <a:latin typeface="Helvetica"/>
                <a:cs typeface="Helvetica"/>
              </a:rPr>
              <a:t>4</a:t>
            </a:r>
            <a:endParaRPr sz="450">
              <a:latin typeface="Helvetica"/>
              <a:cs typeface="Helvetica"/>
            </a:endParaRPr>
          </a:p>
        </p:txBody>
      </p:sp>
      <p:sp>
        <p:nvSpPr>
          <p:cNvPr id="115" name="object 115"/>
          <p:cNvSpPr txBox="1"/>
          <p:nvPr/>
        </p:nvSpPr>
        <p:spPr>
          <a:xfrm>
            <a:off x="4855913" y="2761314"/>
            <a:ext cx="90805" cy="94615"/>
          </a:xfrm>
          <a:prstGeom prst="rect">
            <a:avLst/>
          </a:prstGeom>
        </p:spPr>
        <p:txBody>
          <a:bodyPr vert="horz" wrap="square" lIns="0" tIns="12700" rIns="0" bIns="0" rtlCol="0">
            <a:spAutoFit/>
          </a:bodyPr>
          <a:lstStyle/>
          <a:p>
            <a:pPr marL="12700">
              <a:lnSpc>
                <a:spcPct val="100000"/>
              </a:lnSpc>
              <a:spcBef>
                <a:spcPts val="100"/>
              </a:spcBef>
            </a:pPr>
            <a:r>
              <a:rPr sz="450" spc="-25" dirty="0">
                <a:solidFill>
                  <a:srgbClr val="4D4D4D"/>
                </a:solidFill>
                <a:latin typeface="Helvetica"/>
                <a:cs typeface="Helvetica"/>
              </a:rPr>
              <a:t>10</a:t>
            </a:r>
            <a:endParaRPr sz="450">
              <a:latin typeface="Helvetica"/>
              <a:cs typeface="Helvetica"/>
            </a:endParaRPr>
          </a:p>
        </p:txBody>
      </p:sp>
      <p:sp>
        <p:nvSpPr>
          <p:cNvPr id="116" name="object 116"/>
          <p:cNvSpPr txBox="1"/>
          <p:nvPr/>
        </p:nvSpPr>
        <p:spPr>
          <a:xfrm>
            <a:off x="4029154" y="2752114"/>
            <a:ext cx="579755" cy="208279"/>
          </a:xfrm>
          <a:prstGeom prst="rect">
            <a:avLst/>
          </a:prstGeom>
        </p:spPr>
        <p:txBody>
          <a:bodyPr vert="horz" wrap="square" lIns="0" tIns="21590" rIns="0" bIns="0" rtlCol="0">
            <a:spAutoFit/>
          </a:bodyPr>
          <a:lstStyle/>
          <a:p>
            <a:pPr marL="212725">
              <a:lnSpc>
                <a:spcPct val="100000"/>
              </a:lnSpc>
              <a:spcBef>
                <a:spcPts val="170"/>
              </a:spcBef>
              <a:tabLst>
                <a:tab pos="534035" algn="l"/>
              </a:tabLst>
            </a:pPr>
            <a:r>
              <a:rPr sz="450" spc="-50" dirty="0">
                <a:solidFill>
                  <a:srgbClr val="4D4D4D"/>
                </a:solidFill>
                <a:latin typeface="Helvetica"/>
                <a:cs typeface="Helvetica"/>
              </a:rPr>
              <a:t>6</a:t>
            </a:r>
            <a:r>
              <a:rPr sz="450" dirty="0">
                <a:solidFill>
                  <a:srgbClr val="4D4D4D"/>
                </a:solidFill>
                <a:latin typeface="Helvetica"/>
                <a:cs typeface="Helvetica"/>
              </a:rPr>
              <a:t>	</a:t>
            </a:r>
            <a:r>
              <a:rPr sz="450" spc="-50" dirty="0">
                <a:solidFill>
                  <a:srgbClr val="4D4D4D"/>
                </a:solidFill>
                <a:latin typeface="Helvetica"/>
                <a:cs typeface="Helvetica"/>
              </a:rPr>
              <a:t>8</a:t>
            </a:r>
            <a:endParaRPr sz="450">
              <a:latin typeface="Helvetica"/>
              <a:cs typeface="Helvetica"/>
            </a:endParaRPr>
          </a:p>
          <a:p>
            <a:pPr marL="12700">
              <a:lnSpc>
                <a:spcPct val="100000"/>
              </a:lnSpc>
              <a:spcBef>
                <a:spcPts val="105"/>
              </a:spcBef>
            </a:pPr>
            <a:r>
              <a:rPr sz="600" b="1" dirty="0">
                <a:latin typeface="Arial"/>
                <a:cs typeface="Arial"/>
              </a:rPr>
              <a:t>-log10(p-</a:t>
            </a:r>
            <a:r>
              <a:rPr sz="600" b="1" spc="-10" dirty="0">
                <a:latin typeface="Arial"/>
                <a:cs typeface="Arial"/>
              </a:rPr>
              <a:t>value)</a:t>
            </a:r>
            <a:endParaRPr sz="600">
              <a:latin typeface="Arial"/>
              <a:cs typeface="Arial"/>
            </a:endParaRPr>
          </a:p>
        </p:txBody>
      </p:sp>
      <p:grpSp>
        <p:nvGrpSpPr>
          <p:cNvPr id="117" name="object 117"/>
          <p:cNvGrpSpPr/>
          <p:nvPr/>
        </p:nvGrpSpPr>
        <p:grpSpPr>
          <a:xfrm>
            <a:off x="7518780" y="990840"/>
            <a:ext cx="82550" cy="421640"/>
            <a:chOff x="7518780" y="990840"/>
            <a:chExt cx="82550" cy="421640"/>
          </a:xfrm>
        </p:grpSpPr>
        <p:pic>
          <p:nvPicPr>
            <p:cNvPr id="118" name="object 118"/>
            <p:cNvPicPr/>
            <p:nvPr/>
          </p:nvPicPr>
          <p:blipFill>
            <a:blip r:embed="rId17" cstate="print"/>
            <a:stretch>
              <a:fillRect/>
            </a:stretch>
          </p:blipFill>
          <p:spPr>
            <a:xfrm>
              <a:off x="7518824" y="990840"/>
              <a:ext cx="82362" cy="421603"/>
            </a:xfrm>
            <a:prstGeom prst="rect">
              <a:avLst/>
            </a:prstGeom>
          </p:spPr>
        </p:pic>
        <p:sp>
          <p:nvSpPr>
            <p:cNvPr id="119" name="object 119"/>
            <p:cNvSpPr/>
            <p:nvPr/>
          </p:nvSpPr>
          <p:spPr>
            <a:xfrm>
              <a:off x="7584708" y="1366609"/>
              <a:ext cx="16510" cy="0"/>
            </a:xfrm>
            <a:custGeom>
              <a:avLst/>
              <a:gdLst/>
              <a:ahLst/>
              <a:cxnLst/>
              <a:rect l="l" t="t" r="r" b="b"/>
              <a:pathLst>
                <a:path w="16509">
                  <a:moveTo>
                    <a:pt x="0" y="0"/>
                  </a:moveTo>
                  <a:lnTo>
                    <a:pt x="16469" y="0"/>
                  </a:lnTo>
                </a:path>
              </a:pathLst>
            </a:custGeom>
            <a:ln w="3175">
              <a:solidFill>
                <a:srgbClr val="FFFFFF"/>
              </a:solidFill>
            </a:ln>
          </p:spPr>
          <p:txBody>
            <a:bodyPr wrap="square" lIns="0" tIns="0" rIns="0" bIns="0" rtlCol="0"/>
            <a:lstStyle/>
            <a:p>
              <a:endParaRPr/>
            </a:p>
          </p:txBody>
        </p:sp>
        <p:sp>
          <p:nvSpPr>
            <p:cNvPr id="120" name="object 120"/>
            <p:cNvSpPr/>
            <p:nvPr/>
          </p:nvSpPr>
          <p:spPr>
            <a:xfrm>
              <a:off x="7584708" y="1243407"/>
              <a:ext cx="16510" cy="0"/>
            </a:xfrm>
            <a:custGeom>
              <a:avLst/>
              <a:gdLst/>
              <a:ahLst/>
              <a:cxnLst/>
              <a:rect l="l" t="t" r="r" b="b"/>
              <a:pathLst>
                <a:path w="16509">
                  <a:moveTo>
                    <a:pt x="0" y="0"/>
                  </a:moveTo>
                  <a:lnTo>
                    <a:pt x="16469" y="0"/>
                  </a:lnTo>
                </a:path>
              </a:pathLst>
            </a:custGeom>
            <a:ln w="3175">
              <a:solidFill>
                <a:srgbClr val="FFFFFF"/>
              </a:solidFill>
            </a:ln>
          </p:spPr>
          <p:txBody>
            <a:bodyPr wrap="square" lIns="0" tIns="0" rIns="0" bIns="0" rtlCol="0"/>
            <a:lstStyle/>
            <a:p>
              <a:endParaRPr/>
            </a:p>
          </p:txBody>
        </p:sp>
        <p:sp>
          <p:nvSpPr>
            <p:cNvPr id="121" name="object 121"/>
            <p:cNvSpPr/>
            <p:nvPr/>
          </p:nvSpPr>
          <p:spPr>
            <a:xfrm>
              <a:off x="7584708" y="1120218"/>
              <a:ext cx="16510" cy="0"/>
            </a:xfrm>
            <a:custGeom>
              <a:avLst/>
              <a:gdLst/>
              <a:ahLst/>
              <a:cxnLst/>
              <a:rect l="l" t="t" r="r" b="b"/>
              <a:pathLst>
                <a:path w="16509">
                  <a:moveTo>
                    <a:pt x="0" y="0"/>
                  </a:moveTo>
                  <a:lnTo>
                    <a:pt x="16469" y="0"/>
                  </a:lnTo>
                </a:path>
              </a:pathLst>
            </a:custGeom>
            <a:ln w="3175">
              <a:solidFill>
                <a:srgbClr val="FFFFFF"/>
              </a:solidFill>
            </a:ln>
          </p:spPr>
          <p:txBody>
            <a:bodyPr wrap="square" lIns="0" tIns="0" rIns="0" bIns="0" rtlCol="0"/>
            <a:lstStyle/>
            <a:p>
              <a:endParaRPr/>
            </a:p>
          </p:txBody>
        </p:sp>
        <p:sp>
          <p:nvSpPr>
            <p:cNvPr id="122" name="object 122"/>
            <p:cNvSpPr/>
            <p:nvPr/>
          </p:nvSpPr>
          <p:spPr>
            <a:xfrm>
              <a:off x="7584708" y="997024"/>
              <a:ext cx="16510" cy="0"/>
            </a:xfrm>
            <a:custGeom>
              <a:avLst/>
              <a:gdLst/>
              <a:ahLst/>
              <a:cxnLst/>
              <a:rect l="l" t="t" r="r" b="b"/>
              <a:pathLst>
                <a:path w="16509">
                  <a:moveTo>
                    <a:pt x="0" y="0"/>
                  </a:moveTo>
                  <a:lnTo>
                    <a:pt x="16469" y="0"/>
                  </a:lnTo>
                </a:path>
              </a:pathLst>
            </a:custGeom>
            <a:ln w="3175">
              <a:solidFill>
                <a:srgbClr val="FFFFFF"/>
              </a:solidFill>
            </a:ln>
          </p:spPr>
          <p:txBody>
            <a:bodyPr wrap="square" lIns="0" tIns="0" rIns="0" bIns="0" rtlCol="0"/>
            <a:lstStyle/>
            <a:p>
              <a:endParaRPr/>
            </a:p>
          </p:txBody>
        </p:sp>
        <p:sp>
          <p:nvSpPr>
            <p:cNvPr id="123" name="object 123"/>
            <p:cNvSpPr/>
            <p:nvPr/>
          </p:nvSpPr>
          <p:spPr>
            <a:xfrm>
              <a:off x="7518780" y="1366609"/>
              <a:ext cx="16510" cy="0"/>
            </a:xfrm>
            <a:custGeom>
              <a:avLst/>
              <a:gdLst/>
              <a:ahLst/>
              <a:cxnLst/>
              <a:rect l="l" t="t" r="r" b="b"/>
              <a:pathLst>
                <a:path w="16509">
                  <a:moveTo>
                    <a:pt x="16469" y="0"/>
                  </a:moveTo>
                  <a:lnTo>
                    <a:pt x="0" y="0"/>
                  </a:lnTo>
                </a:path>
              </a:pathLst>
            </a:custGeom>
            <a:ln w="3175">
              <a:solidFill>
                <a:srgbClr val="FFFFFF"/>
              </a:solidFill>
            </a:ln>
          </p:spPr>
          <p:txBody>
            <a:bodyPr wrap="square" lIns="0" tIns="0" rIns="0" bIns="0" rtlCol="0"/>
            <a:lstStyle/>
            <a:p>
              <a:endParaRPr/>
            </a:p>
          </p:txBody>
        </p:sp>
        <p:sp>
          <p:nvSpPr>
            <p:cNvPr id="124" name="object 124"/>
            <p:cNvSpPr/>
            <p:nvPr/>
          </p:nvSpPr>
          <p:spPr>
            <a:xfrm>
              <a:off x="7518780" y="1243407"/>
              <a:ext cx="16510" cy="0"/>
            </a:xfrm>
            <a:custGeom>
              <a:avLst/>
              <a:gdLst/>
              <a:ahLst/>
              <a:cxnLst/>
              <a:rect l="l" t="t" r="r" b="b"/>
              <a:pathLst>
                <a:path w="16509">
                  <a:moveTo>
                    <a:pt x="16469" y="0"/>
                  </a:moveTo>
                  <a:lnTo>
                    <a:pt x="0" y="0"/>
                  </a:lnTo>
                </a:path>
              </a:pathLst>
            </a:custGeom>
            <a:ln w="3175">
              <a:solidFill>
                <a:srgbClr val="FFFFFF"/>
              </a:solidFill>
            </a:ln>
          </p:spPr>
          <p:txBody>
            <a:bodyPr wrap="square" lIns="0" tIns="0" rIns="0" bIns="0" rtlCol="0"/>
            <a:lstStyle/>
            <a:p>
              <a:endParaRPr/>
            </a:p>
          </p:txBody>
        </p:sp>
        <p:sp>
          <p:nvSpPr>
            <p:cNvPr id="125" name="object 125"/>
            <p:cNvSpPr/>
            <p:nvPr/>
          </p:nvSpPr>
          <p:spPr>
            <a:xfrm>
              <a:off x="7518780" y="1120218"/>
              <a:ext cx="16510" cy="0"/>
            </a:xfrm>
            <a:custGeom>
              <a:avLst/>
              <a:gdLst/>
              <a:ahLst/>
              <a:cxnLst/>
              <a:rect l="l" t="t" r="r" b="b"/>
              <a:pathLst>
                <a:path w="16509">
                  <a:moveTo>
                    <a:pt x="16469" y="0"/>
                  </a:moveTo>
                  <a:lnTo>
                    <a:pt x="0" y="0"/>
                  </a:lnTo>
                </a:path>
              </a:pathLst>
            </a:custGeom>
            <a:ln w="3175">
              <a:solidFill>
                <a:srgbClr val="FFFFFF"/>
              </a:solidFill>
            </a:ln>
          </p:spPr>
          <p:txBody>
            <a:bodyPr wrap="square" lIns="0" tIns="0" rIns="0" bIns="0" rtlCol="0"/>
            <a:lstStyle/>
            <a:p>
              <a:endParaRPr/>
            </a:p>
          </p:txBody>
        </p:sp>
        <p:sp>
          <p:nvSpPr>
            <p:cNvPr id="126" name="object 126"/>
            <p:cNvSpPr/>
            <p:nvPr/>
          </p:nvSpPr>
          <p:spPr>
            <a:xfrm>
              <a:off x="7518780" y="997024"/>
              <a:ext cx="16510" cy="0"/>
            </a:xfrm>
            <a:custGeom>
              <a:avLst/>
              <a:gdLst/>
              <a:ahLst/>
              <a:cxnLst/>
              <a:rect l="l" t="t" r="r" b="b"/>
              <a:pathLst>
                <a:path w="16509">
                  <a:moveTo>
                    <a:pt x="16469" y="0"/>
                  </a:moveTo>
                  <a:lnTo>
                    <a:pt x="0" y="0"/>
                  </a:lnTo>
                </a:path>
              </a:pathLst>
            </a:custGeom>
            <a:ln w="3175">
              <a:solidFill>
                <a:srgbClr val="FFFFFF"/>
              </a:solidFill>
            </a:ln>
          </p:spPr>
          <p:txBody>
            <a:bodyPr wrap="square" lIns="0" tIns="0" rIns="0" bIns="0" rtlCol="0"/>
            <a:lstStyle/>
            <a:p>
              <a:endParaRPr/>
            </a:p>
          </p:txBody>
        </p:sp>
      </p:grpSp>
      <p:sp>
        <p:nvSpPr>
          <p:cNvPr id="127" name="object 127"/>
          <p:cNvSpPr txBox="1"/>
          <p:nvPr/>
        </p:nvSpPr>
        <p:spPr>
          <a:xfrm>
            <a:off x="7440783" y="834410"/>
            <a:ext cx="415290" cy="211454"/>
          </a:xfrm>
          <a:prstGeom prst="rect">
            <a:avLst/>
          </a:prstGeom>
        </p:spPr>
        <p:txBody>
          <a:bodyPr vert="horz" wrap="square" lIns="0" tIns="29209" rIns="0" bIns="0" rtlCol="0">
            <a:spAutoFit/>
          </a:bodyPr>
          <a:lstStyle/>
          <a:p>
            <a:pPr algn="ctr">
              <a:lnSpc>
                <a:spcPct val="100000"/>
              </a:lnSpc>
              <a:spcBef>
                <a:spcPts val="229"/>
              </a:spcBef>
            </a:pPr>
            <a:r>
              <a:rPr sz="600" dirty="0">
                <a:latin typeface="Arial"/>
                <a:cs typeface="Arial"/>
              </a:rPr>
              <a:t>Gene</a:t>
            </a:r>
            <a:r>
              <a:rPr sz="600" spc="-15" dirty="0">
                <a:latin typeface="Arial"/>
                <a:cs typeface="Arial"/>
              </a:rPr>
              <a:t> </a:t>
            </a:r>
            <a:r>
              <a:rPr sz="600" spc="-10" dirty="0">
                <a:latin typeface="Arial"/>
                <a:cs typeface="Arial"/>
              </a:rPr>
              <a:t>Ratio</a:t>
            </a:r>
            <a:endParaRPr sz="600">
              <a:latin typeface="Arial"/>
              <a:cs typeface="Arial"/>
            </a:endParaRPr>
          </a:p>
          <a:p>
            <a:pPr marL="34290" algn="ctr">
              <a:lnSpc>
                <a:spcPct val="100000"/>
              </a:lnSpc>
              <a:spcBef>
                <a:spcPts val="125"/>
              </a:spcBef>
            </a:pPr>
            <a:r>
              <a:rPr sz="400" spc="-25" dirty="0">
                <a:solidFill>
                  <a:srgbClr val="4D4D4D"/>
                </a:solidFill>
                <a:latin typeface="Arial"/>
                <a:cs typeface="Arial"/>
              </a:rPr>
              <a:t>1.0</a:t>
            </a:r>
            <a:endParaRPr sz="400">
              <a:latin typeface="Arial"/>
              <a:cs typeface="Arial"/>
            </a:endParaRPr>
          </a:p>
        </p:txBody>
      </p:sp>
      <p:sp>
        <p:nvSpPr>
          <p:cNvPr id="128" name="object 128"/>
          <p:cNvSpPr txBox="1"/>
          <p:nvPr/>
        </p:nvSpPr>
        <p:spPr>
          <a:xfrm>
            <a:off x="7614615" y="1323827"/>
            <a:ext cx="102235" cy="92075"/>
          </a:xfrm>
          <a:prstGeom prst="rect">
            <a:avLst/>
          </a:prstGeom>
        </p:spPr>
        <p:txBody>
          <a:bodyPr vert="horz" wrap="square" lIns="0" tIns="16510" rIns="0" bIns="0" rtlCol="0">
            <a:spAutoFit/>
          </a:bodyPr>
          <a:lstStyle/>
          <a:p>
            <a:pPr marL="12700">
              <a:lnSpc>
                <a:spcPct val="100000"/>
              </a:lnSpc>
              <a:spcBef>
                <a:spcPts val="130"/>
              </a:spcBef>
            </a:pPr>
            <a:r>
              <a:rPr sz="400" spc="-25" dirty="0">
                <a:solidFill>
                  <a:srgbClr val="4D4D4D"/>
                </a:solidFill>
                <a:latin typeface="Arial"/>
                <a:cs typeface="Arial"/>
              </a:rPr>
              <a:t>0.7</a:t>
            </a:r>
            <a:endParaRPr sz="400">
              <a:latin typeface="Arial"/>
              <a:cs typeface="Arial"/>
            </a:endParaRPr>
          </a:p>
        </p:txBody>
      </p:sp>
      <p:sp>
        <p:nvSpPr>
          <p:cNvPr id="129" name="object 129"/>
          <p:cNvSpPr txBox="1"/>
          <p:nvPr/>
        </p:nvSpPr>
        <p:spPr>
          <a:xfrm>
            <a:off x="7614615" y="1200638"/>
            <a:ext cx="102235" cy="92075"/>
          </a:xfrm>
          <a:prstGeom prst="rect">
            <a:avLst/>
          </a:prstGeom>
        </p:spPr>
        <p:txBody>
          <a:bodyPr vert="horz" wrap="square" lIns="0" tIns="16510" rIns="0" bIns="0" rtlCol="0">
            <a:spAutoFit/>
          </a:bodyPr>
          <a:lstStyle/>
          <a:p>
            <a:pPr marL="12700">
              <a:lnSpc>
                <a:spcPct val="100000"/>
              </a:lnSpc>
              <a:spcBef>
                <a:spcPts val="130"/>
              </a:spcBef>
            </a:pPr>
            <a:r>
              <a:rPr sz="400" spc="-25" dirty="0">
                <a:solidFill>
                  <a:srgbClr val="4D4D4D"/>
                </a:solidFill>
                <a:latin typeface="Arial"/>
                <a:cs typeface="Arial"/>
              </a:rPr>
              <a:t>0.8</a:t>
            </a:r>
            <a:endParaRPr sz="400">
              <a:latin typeface="Arial"/>
              <a:cs typeface="Arial"/>
            </a:endParaRPr>
          </a:p>
        </p:txBody>
      </p:sp>
      <p:sp>
        <p:nvSpPr>
          <p:cNvPr id="130" name="object 130"/>
          <p:cNvSpPr txBox="1"/>
          <p:nvPr/>
        </p:nvSpPr>
        <p:spPr>
          <a:xfrm>
            <a:off x="7614615" y="1077449"/>
            <a:ext cx="102235" cy="92075"/>
          </a:xfrm>
          <a:prstGeom prst="rect">
            <a:avLst/>
          </a:prstGeom>
        </p:spPr>
        <p:txBody>
          <a:bodyPr vert="horz" wrap="square" lIns="0" tIns="16510" rIns="0" bIns="0" rtlCol="0">
            <a:spAutoFit/>
          </a:bodyPr>
          <a:lstStyle/>
          <a:p>
            <a:pPr marL="12700">
              <a:lnSpc>
                <a:spcPct val="100000"/>
              </a:lnSpc>
              <a:spcBef>
                <a:spcPts val="130"/>
              </a:spcBef>
            </a:pPr>
            <a:r>
              <a:rPr sz="400" spc="-25" dirty="0">
                <a:solidFill>
                  <a:srgbClr val="4D4D4D"/>
                </a:solidFill>
                <a:latin typeface="Arial"/>
                <a:cs typeface="Arial"/>
              </a:rPr>
              <a:t>0.9</a:t>
            </a:r>
            <a:endParaRPr sz="400">
              <a:latin typeface="Arial"/>
              <a:cs typeface="Arial"/>
            </a:endParaRPr>
          </a:p>
        </p:txBody>
      </p:sp>
      <p:grpSp>
        <p:nvGrpSpPr>
          <p:cNvPr id="131" name="object 131"/>
          <p:cNvGrpSpPr/>
          <p:nvPr/>
        </p:nvGrpSpPr>
        <p:grpSpPr>
          <a:xfrm>
            <a:off x="7511963" y="1630265"/>
            <a:ext cx="96520" cy="410209"/>
            <a:chOff x="7511963" y="1630265"/>
            <a:chExt cx="96520" cy="410209"/>
          </a:xfrm>
        </p:grpSpPr>
        <p:sp>
          <p:nvSpPr>
            <p:cNvPr id="132" name="object 132"/>
            <p:cNvSpPr/>
            <p:nvPr/>
          </p:nvSpPr>
          <p:spPr>
            <a:xfrm>
              <a:off x="7549821" y="1630265"/>
              <a:ext cx="20320" cy="20955"/>
            </a:xfrm>
            <a:custGeom>
              <a:avLst/>
              <a:gdLst/>
              <a:ahLst/>
              <a:cxnLst/>
              <a:rect l="l" t="t" r="r" b="b"/>
              <a:pathLst>
                <a:path w="20320" h="20955">
                  <a:moveTo>
                    <a:pt x="10155" y="0"/>
                  </a:moveTo>
                  <a:lnTo>
                    <a:pt x="3173" y="2541"/>
                  </a:lnTo>
                  <a:lnTo>
                    <a:pt x="0" y="10164"/>
                  </a:lnTo>
                  <a:lnTo>
                    <a:pt x="3173" y="17787"/>
                  </a:lnTo>
                  <a:lnTo>
                    <a:pt x="10155" y="20328"/>
                  </a:lnTo>
                  <a:lnTo>
                    <a:pt x="17137" y="17787"/>
                  </a:lnTo>
                  <a:lnTo>
                    <a:pt x="20311" y="10164"/>
                  </a:lnTo>
                  <a:lnTo>
                    <a:pt x="17137" y="2541"/>
                  </a:lnTo>
                  <a:lnTo>
                    <a:pt x="10155" y="0"/>
                  </a:lnTo>
                  <a:close/>
                </a:path>
              </a:pathLst>
            </a:custGeom>
            <a:solidFill>
              <a:srgbClr val="000000"/>
            </a:solidFill>
          </p:spPr>
          <p:txBody>
            <a:bodyPr wrap="square" lIns="0" tIns="0" rIns="0" bIns="0" rtlCol="0"/>
            <a:lstStyle/>
            <a:p>
              <a:endParaRPr/>
            </a:p>
          </p:txBody>
        </p:sp>
        <p:pic>
          <p:nvPicPr>
            <p:cNvPr id="133" name="object 133"/>
            <p:cNvPicPr/>
            <p:nvPr/>
          </p:nvPicPr>
          <p:blipFill>
            <a:blip r:embed="rId18" cstate="print"/>
            <a:stretch>
              <a:fillRect/>
            </a:stretch>
          </p:blipFill>
          <p:spPr>
            <a:xfrm>
              <a:off x="7511963" y="1682579"/>
              <a:ext cx="96339" cy="357520"/>
            </a:xfrm>
            <a:prstGeom prst="rect">
              <a:avLst/>
            </a:prstGeom>
          </p:spPr>
        </p:pic>
      </p:grpSp>
      <p:sp>
        <p:nvSpPr>
          <p:cNvPr id="134" name="object 134"/>
          <p:cNvSpPr txBox="1"/>
          <p:nvPr/>
        </p:nvSpPr>
        <p:spPr>
          <a:xfrm>
            <a:off x="7440783" y="1422469"/>
            <a:ext cx="441325" cy="618490"/>
          </a:xfrm>
          <a:prstGeom prst="rect">
            <a:avLst/>
          </a:prstGeom>
        </p:spPr>
        <p:txBody>
          <a:bodyPr vert="horz" wrap="square" lIns="0" tIns="55244" rIns="0" bIns="0" rtlCol="0">
            <a:spAutoFit/>
          </a:bodyPr>
          <a:lstStyle/>
          <a:p>
            <a:pPr algn="ctr">
              <a:lnSpc>
                <a:spcPct val="100000"/>
              </a:lnSpc>
              <a:spcBef>
                <a:spcPts val="434"/>
              </a:spcBef>
            </a:pPr>
            <a:r>
              <a:rPr sz="600" dirty="0">
                <a:latin typeface="Arial"/>
                <a:cs typeface="Arial"/>
              </a:rPr>
              <a:t>Gene</a:t>
            </a:r>
            <a:r>
              <a:rPr sz="600" spc="-15" dirty="0">
                <a:latin typeface="Arial"/>
                <a:cs typeface="Arial"/>
              </a:rPr>
              <a:t> </a:t>
            </a:r>
            <a:r>
              <a:rPr sz="600" spc="-10" dirty="0">
                <a:latin typeface="Arial"/>
                <a:cs typeface="Arial"/>
              </a:rPr>
              <a:t>Count</a:t>
            </a:r>
            <a:endParaRPr sz="600">
              <a:latin typeface="Arial"/>
              <a:cs typeface="Arial"/>
            </a:endParaRPr>
          </a:p>
          <a:p>
            <a:pPr algn="ctr">
              <a:lnSpc>
                <a:spcPct val="100000"/>
              </a:lnSpc>
              <a:spcBef>
                <a:spcPts val="270"/>
              </a:spcBef>
            </a:pPr>
            <a:r>
              <a:rPr sz="400" spc="-25" dirty="0">
                <a:solidFill>
                  <a:srgbClr val="4D4D4D"/>
                </a:solidFill>
                <a:latin typeface="Arial"/>
                <a:cs typeface="Arial"/>
              </a:rPr>
              <a:t>10</a:t>
            </a:r>
            <a:endParaRPr sz="400">
              <a:latin typeface="Arial"/>
              <a:cs typeface="Arial"/>
            </a:endParaRPr>
          </a:p>
          <a:p>
            <a:pPr algn="ctr">
              <a:lnSpc>
                <a:spcPct val="100000"/>
              </a:lnSpc>
              <a:spcBef>
                <a:spcPts val="170"/>
              </a:spcBef>
            </a:pPr>
            <a:r>
              <a:rPr sz="400" spc="-25" dirty="0">
                <a:solidFill>
                  <a:srgbClr val="4D4D4D"/>
                </a:solidFill>
                <a:latin typeface="Arial"/>
                <a:cs typeface="Arial"/>
              </a:rPr>
              <a:t>20</a:t>
            </a:r>
            <a:endParaRPr sz="400">
              <a:latin typeface="Arial"/>
              <a:cs typeface="Arial"/>
            </a:endParaRPr>
          </a:p>
          <a:p>
            <a:pPr algn="ctr">
              <a:lnSpc>
                <a:spcPct val="100000"/>
              </a:lnSpc>
              <a:spcBef>
                <a:spcPts val="165"/>
              </a:spcBef>
            </a:pPr>
            <a:r>
              <a:rPr sz="400" spc="-25" dirty="0">
                <a:solidFill>
                  <a:srgbClr val="4D4D4D"/>
                </a:solidFill>
                <a:latin typeface="Arial"/>
                <a:cs typeface="Arial"/>
              </a:rPr>
              <a:t>30</a:t>
            </a:r>
            <a:endParaRPr sz="400">
              <a:latin typeface="Arial"/>
              <a:cs typeface="Arial"/>
            </a:endParaRPr>
          </a:p>
          <a:p>
            <a:pPr algn="ctr">
              <a:lnSpc>
                <a:spcPct val="100000"/>
              </a:lnSpc>
              <a:spcBef>
                <a:spcPts val="259"/>
              </a:spcBef>
            </a:pPr>
            <a:r>
              <a:rPr sz="400" spc="-25" dirty="0">
                <a:solidFill>
                  <a:srgbClr val="4D4D4D"/>
                </a:solidFill>
                <a:latin typeface="Arial"/>
                <a:cs typeface="Arial"/>
              </a:rPr>
              <a:t>40</a:t>
            </a:r>
            <a:endParaRPr sz="400">
              <a:latin typeface="Arial"/>
              <a:cs typeface="Arial"/>
            </a:endParaRPr>
          </a:p>
          <a:p>
            <a:pPr algn="ctr">
              <a:lnSpc>
                <a:spcPct val="100000"/>
              </a:lnSpc>
              <a:spcBef>
                <a:spcPts val="340"/>
              </a:spcBef>
            </a:pPr>
            <a:r>
              <a:rPr sz="400" spc="-25" dirty="0">
                <a:solidFill>
                  <a:srgbClr val="4D4D4D"/>
                </a:solidFill>
                <a:latin typeface="Arial"/>
                <a:cs typeface="Arial"/>
              </a:rPr>
              <a:t>50</a:t>
            </a:r>
            <a:endParaRPr sz="400">
              <a:latin typeface="Arial"/>
              <a:cs typeface="Arial"/>
            </a:endParaRPr>
          </a:p>
        </p:txBody>
      </p:sp>
      <p:sp>
        <p:nvSpPr>
          <p:cNvPr id="135" name="object 135"/>
          <p:cNvSpPr txBox="1"/>
          <p:nvPr/>
        </p:nvSpPr>
        <p:spPr>
          <a:xfrm>
            <a:off x="3881259" y="21221"/>
            <a:ext cx="893444" cy="118110"/>
          </a:xfrm>
          <a:prstGeom prst="rect">
            <a:avLst/>
          </a:prstGeom>
        </p:spPr>
        <p:txBody>
          <a:bodyPr vert="horz" wrap="square" lIns="0" tIns="13335" rIns="0" bIns="0" rtlCol="0">
            <a:spAutoFit/>
          </a:bodyPr>
          <a:lstStyle/>
          <a:p>
            <a:pPr marL="12700">
              <a:lnSpc>
                <a:spcPct val="100000"/>
              </a:lnSpc>
              <a:spcBef>
                <a:spcPts val="105"/>
              </a:spcBef>
            </a:pPr>
            <a:r>
              <a:rPr sz="600" b="1" dirty="0">
                <a:latin typeface="Arial"/>
                <a:cs typeface="Arial"/>
              </a:rPr>
              <a:t>Winter-elevated </a:t>
            </a:r>
            <a:r>
              <a:rPr sz="600" b="1" spc="-10" dirty="0">
                <a:latin typeface="Arial"/>
                <a:cs typeface="Arial"/>
              </a:rPr>
              <a:t>(n=475)</a:t>
            </a:r>
            <a:endParaRPr sz="600">
              <a:latin typeface="Arial"/>
              <a:cs typeface="Arial"/>
            </a:endParaRPr>
          </a:p>
        </p:txBody>
      </p:sp>
      <p:grpSp>
        <p:nvGrpSpPr>
          <p:cNvPr id="136" name="object 136"/>
          <p:cNvGrpSpPr/>
          <p:nvPr/>
        </p:nvGrpSpPr>
        <p:grpSpPr>
          <a:xfrm>
            <a:off x="2821105" y="3106472"/>
            <a:ext cx="2273935" cy="1746885"/>
            <a:chOff x="2821105" y="3106472"/>
            <a:chExt cx="2273935" cy="1746885"/>
          </a:xfrm>
        </p:grpSpPr>
        <p:sp>
          <p:nvSpPr>
            <p:cNvPr id="137" name="object 137"/>
            <p:cNvSpPr/>
            <p:nvPr/>
          </p:nvSpPr>
          <p:spPr>
            <a:xfrm>
              <a:off x="3592127" y="4229024"/>
              <a:ext cx="346710" cy="62865"/>
            </a:xfrm>
            <a:custGeom>
              <a:avLst/>
              <a:gdLst/>
              <a:ahLst/>
              <a:cxnLst/>
              <a:rect l="l" t="t" r="r" b="b"/>
              <a:pathLst>
                <a:path w="346710" h="62864">
                  <a:moveTo>
                    <a:pt x="346530" y="0"/>
                  </a:moveTo>
                  <a:lnTo>
                    <a:pt x="0" y="0"/>
                  </a:lnTo>
                  <a:lnTo>
                    <a:pt x="0" y="62300"/>
                  </a:lnTo>
                  <a:lnTo>
                    <a:pt x="346530" y="62300"/>
                  </a:lnTo>
                  <a:lnTo>
                    <a:pt x="346530" y="0"/>
                  </a:lnTo>
                  <a:close/>
                </a:path>
              </a:pathLst>
            </a:custGeom>
            <a:solidFill>
              <a:srgbClr val="D2D741"/>
            </a:solidFill>
          </p:spPr>
          <p:txBody>
            <a:bodyPr wrap="square" lIns="0" tIns="0" rIns="0" bIns="0" rtlCol="0"/>
            <a:lstStyle/>
            <a:p>
              <a:endParaRPr/>
            </a:p>
          </p:txBody>
        </p:sp>
        <p:sp>
          <p:nvSpPr>
            <p:cNvPr id="138" name="object 138"/>
            <p:cNvSpPr/>
            <p:nvPr/>
          </p:nvSpPr>
          <p:spPr>
            <a:xfrm>
              <a:off x="3592127" y="4229024"/>
              <a:ext cx="346710" cy="62865"/>
            </a:xfrm>
            <a:custGeom>
              <a:avLst/>
              <a:gdLst/>
              <a:ahLst/>
              <a:cxnLst/>
              <a:rect l="l" t="t" r="r" b="b"/>
              <a:pathLst>
                <a:path w="346710" h="62864">
                  <a:moveTo>
                    <a:pt x="0" y="62300"/>
                  </a:moveTo>
                  <a:lnTo>
                    <a:pt x="346530" y="62300"/>
                  </a:lnTo>
                  <a:lnTo>
                    <a:pt x="346530" y="0"/>
                  </a:lnTo>
                  <a:lnTo>
                    <a:pt x="0" y="0"/>
                  </a:lnTo>
                  <a:lnTo>
                    <a:pt x="0" y="62300"/>
                  </a:lnTo>
                  <a:close/>
                </a:path>
              </a:pathLst>
            </a:custGeom>
            <a:ln w="3175">
              <a:solidFill>
                <a:srgbClr val="000000"/>
              </a:solidFill>
            </a:ln>
          </p:spPr>
          <p:txBody>
            <a:bodyPr wrap="square" lIns="0" tIns="0" rIns="0" bIns="0" rtlCol="0"/>
            <a:lstStyle/>
            <a:p>
              <a:endParaRPr/>
            </a:p>
          </p:txBody>
        </p:sp>
        <p:sp>
          <p:nvSpPr>
            <p:cNvPr id="139" name="object 139"/>
            <p:cNvSpPr/>
            <p:nvPr/>
          </p:nvSpPr>
          <p:spPr>
            <a:xfrm>
              <a:off x="3592127" y="4291324"/>
              <a:ext cx="346710" cy="62865"/>
            </a:xfrm>
            <a:custGeom>
              <a:avLst/>
              <a:gdLst/>
              <a:ahLst/>
              <a:cxnLst/>
              <a:rect l="l" t="t" r="r" b="b"/>
              <a:pathLst>
                <a:path w="346710" h="62864">
                  <a:moveTo>
                    <a:pt x="346530" y="0"/>
                  </a:moveTo>
                  <a:lnTo>
                    <a:pt x="0" y="0"/>
                  </a:lnTo>
                  <a:lnTo>
                    <a:pt x="0" y="62300"/>
                  </a:lnTo>
                  <a:lnTo>
                    <a:pt x="346530" y="62300"/>
                  </a:lnTo>
                  <a:lnTo>
                    <a:pt x="346530" y="0"/>
                  </a:lnTo>
                  <a:close/>
                </a:path>
              </a:pathLst>
            </a:custGeom>
            <a:solidFill>
              <a:srgbClr val="C5B08A"/>
            </a:solidFill>
          </p:spPr>
          <p:txBody>
            <a:bodyPr wrap="square" lIns="0" tIns="0" rIns="0" bIns="0" rtlCol="0"/>
            <a:lstStyle/>
            <a:p>
              <a:endParaRPr/>
            </a:p>
          </p:txBody>
        </p:sp>
        <p:sp>
          <p:nvSpPr>
            <p:cNvPr id="140" name="object 140"/>
            <p:cNvSpPr/>
            <p:nvPr/>
          </p:nvSpPr>
          <p:spPr>
            <a:xfrm>
              <a:off x="3592127" y="4291324"/>
              <a:ext cx="346710" cy="62865"/>
            </a:xfrm>
            <a:custGeom>
              <a:avLst/>
              <a:gdLst/>
              <a:ahLst/>
              <a:cxnLst/>
              <a:rect l="l" t="t" r="r" b="b"/>
              <a:pathLst>
                <a:path w="346710" h="62864">
                  <a:moveTo>
                    <a:pt x="0" y="62300"/>
                  </a:moveTo>
                  <a:lnTo>
                    <a:pt x="346530" y="62300"/>
                  </a:lnTo>
                  <a:lnTo>
                    <a:pt x="346530" y="0"/>
                  </a:lnTo>
                  <a:lnTo>
                    <a:pt x="0" y="0"/>
                  </a:lnTo>
                  <a:lnTo>
                    <a:pt x="0" y="62300"/>
                  </a:lnTo>
                  <a:close/>
                </a:path>
              </a:pathLst>
            </a:custGeom>
            <a:ln w="3175">
              <a:solidFill>
                <a:srgbClr val="000000"/>
              </a:solidFill>
            </a:ln>
          </p:spPr>
          <p:txBody>
            <a:bodyPr wrap="square" lIns="0" tIns="0" rIns="0" bIns="0" rtlCol="0"/>
            <a:lstStyle/>
            <a:p>
              <a:endParaRPr/>
            </a:p>
          </p:txBody>
        </p:sp>
        <p:sp>
          <p:nvSpPr>
            <p:cNvPr id="141" name="object 141"/>
            <p:cNvSpPr/>
            <p:nvPr/>
          </p:nvSpPr>
          <p:spPr>
            <a:xfrm>
              <a:off x="3592127" y="3107480"/>
              <a:ext cx="346710" cy="270510"/>
            </a:xfrm>
            <a:custGeom>
              <a:avLst/>
              <a:gdLst/>
              <a:ahLst/>
              <a:cxnLst/>
              <a:rect l="l" t="t" r="r" b="b"/>
              <a:pathLst>
                <a:path w="346710" h="270510">
                  <a:moveTo>
                    <a:pt x="346530" y="0"/>
                  </a:moveTo>
                  <a:lnTo>
                    <a:pt x="0" y="0"/>
                  </a:lnTo>
                  <a:lnTo>
                    <a:pt x="0" y="270007"/>
                  </a:lnTo>
                  <a:lnTo>
                    <a:pt x="346530" y="270007"/>
                  </a:lnTo>
                  <a:lnTo>
                    <a:pt x="346530" y="0"/>
                  </a:lnTo>
                  <a:close/>
                </a:path>
              </a:pathLst>
            </a:custGeom>
            <a:solidFill>
              <a:srgbClr val="66C2A4"/>
            </a:solidFill>
          </p:spPr>
          <p:txBody>
            <a:bodyPr wrap="square" lIns="0" tIns="0" rIns="0" bIns="0" rtlCol="0"/>
            <a:lstStyle/>
            <a:p>
              <a:endParaRPr/>
            </a:p>
          </p:txBody>
        </p:sp>
        <p:sp>
          <p:nvSpPr>
            <p:cNvPr id="142" name="object 142"/>
            <p:cNvSpPr/>
            <p:nvPr/>
          </p:nvSpPr>
          <p:spPr>
            <a:xfrm>
              <a:off x="3592127" y="3107480"/>
              <a:ext cx="346710" cy="270510"/>
            </a:xfrm>
            <a:custGeom>
              <a:avLst/>
              <a:gdLst/>
              <a:ahLst/>
              <a:cxnLst/>
              <a:rect l="l" t="t" r="r" b="b"/>
              <a:pathLst>
                <a:path w="346710" h="270510">
                  <a:moveTo>
                    <a:pt x="0" y="270007"/>
                  </a:moveTo>
                  <a:lnTo>
                    <a:pt x="346530" y="270007"/>
                  </a:lnTo>
                  <a:lnTo>
                    <a:pt x="346530" y="0"/>
                  </a:lnTo>
                  <a:lnTo>
                    <a:pt x="0" y="0"/>
                  </a:lnTo>
                  <a:lnTo>
                    <a:pt x="0" y="270007"/>
                  </a:lnTo>
                  <a:close/>
                </a:path>
              </a:pathLst>
            </a:custGeom>
            <a:ln w="3175">
              <a:solidFill>
                <a:srgbClr val="000000"/>
              </a:solidFill>
            </a:ln>
          </p:spPr>
          <p:txBody>
            <a:bodyPr wrap="square" lIns="0" tIns="0" rIns="0" bIns="0" rtlCol="0"/>
            <a:lstStyle/>
            <a:p>
              <a:endParaRPr/>
            </a:p>
          </p:txBody>
        </p:sp>
        <p:sp>
          <p:nvSpPr>
            <p:cNvPr id="143" name="object 143"/>
            <p:cNvSpPr/>
            <p:nvPr/>
          </p:nvSpPr>
          <p:spPr>
            <a:xfrm>
              <a:off x="3592127" y="4499031"/>
              <a:ext cx="346710" cy="145415"/>
            </a:xfrm>
            <a:custGeom>
              <a:avLst/>
              <a:gdLst/>
              <a:ahLst/>
              <a:cxnLst/>
              <a:rect l="l" t="t" r="r" b="b"/>
              <a:pathLst>
                <a:path w="346710" h="145414">
                  <a:moveTo>
                    <a:pt x="346530" y="0"/>
                  </a:moveTo>
                  <a:lnTo>
                    <a:pt x="0" y="0"/>
                  </a:lnTo>
                  <a:lnTo>
                    <a:pt x="0" y="145407"/>
                  </a:lnTo>
                  <a:lnTo>
                    <a:pt x="346530" y="145407"/>
                  </a:lnTo>
                  <a:lnTo>
                    <a:pt x="346530" y="0"/>
                  </a:lnTo>
                  <a:close/>
                </a:path>
              </a:pathLst>
            </a:custGeom>
            <a:solidFill>
              <a:srgbClr val="E789C3"/>
            </a:solidFill>
          </p:spPr>
          <p:txBody>
            <a:bodyPr wrap="square" lIns="0" tIns="0" rIns="0" bIns="0" rtlCol="0"/>
            <a:lstStyle/>
            <a:p>
              <a:endParaRPr/>
            </a:p>
          </p:txBody>
        </p:sp>
        <p:sp>
          <p:nvSpPr>
            <p:cNvPr id="144" name="object 144"/>
            <p:cNvSpPr/>
            <p:nvPr/>
          </p:nvSpPr>
          <p:spPr>
            <a:xfrm>
              <a:off x="3592127" y="4499031"/>
              <a:ext cx="346710" cy="145415"/>
            </a:xfrm>
            <a:custGeom>
              <a:avLst/>
              <a:gdLst/>
              <a:ahLst/>
              <a:cxnLst/>
              <a:rect l="l" t="t" r="r" b="b"/>
              <a:pathLst>
                <a:path w="346710" h="145414">
                  <a:moveTo>
                    <a:pt x="0" y="145407"/>
                  </a:moveTo>
                  <a:lnTo>
                    <a:pt x="346530" y="145407"/>
                  </a:lnTo>
                  <a:lnTo>
                    <a:pt x="346530" y="0"/>
                  </a:lnTo>
                  <a:lnTo>
                    <a:pt x="0" y="0"/>
                  </a:lnTo>
                  <a:lnTo>
                    <a:pt x="0" y="145407"/>
                  </a:lnTo>
                  <a:close/>
                </a:path>
              </a:pathLst>
            </a:custGeom>
            <a:ln w="3175">
              <a:solidFill>
                <a:srgbClr val="000000"/>
              </a:solidFill>
            </a:ln>
          </p:spPr>
          <p:txBody>
            <a:bodyPr wrap="square" lIns="0" tIns="0" rIns="0" bIns="0" rtlCol="0"/>
            <a:lstStyle/>
            <a:p>
              <a:endParaRPr/>
            </a:p>
          </p:txBody>
        </p:sp>
        <p:sp>
          <p:nvSpPr>
            <p:cNvPr id="145" name="object 145"/>
            <p:cNvSpPr/>
            <p:nvPr/>
          </p:nvSpPr>
          <p:spPr>
            <a:xfrm>
              <a:off x="3592127" y="4748286"/>
              <a:ext cx="346710" cy="20955"/>
            </a:xfrm>
            <a:custGeom>
              <a:avLst/>
              <a:gdLst/>
              <a:ahLst/>
              <a:cxnLst/>
              <a:rect l="l" t="t" r="r" b="b"/>
              <a:pathLst>
                <a:path w="346710" h="20954">
                  <a:moveTo>
                    <a:pt x="346530" y="0"/>
                  </a:moveTo>
                  <a:lnTo>
                    <a:pt x="0" y="0"/>
                  </a:lnTo>
                  <a:lnTo>
                    <a:pt x="0" y="20751"/>
                  </a:lnTo>
                  <a:lnTo>
                    <a:pt x="346530" y="20751"/>
                  </a:lnTo>
                  <a:lnTo>
                    <a:pt x="346530" y="0"/>
                  </a:lnTo>
                  <a:close/>
                </a:path>
              </a:pathLst>
            </a:custGeom>
            <a:solidFill>
              <a:srgbClr val="CCBAA2"/>
            </a:solidFill>
          </p:spPr>
          <p:txBody>
            <a:bodyPr wrap="square" lIns="0" tIns="0" rIns="0" bIns="0" rtlCol="0"/>
            <a:lstStyle/>
            <a:p>
              <a:endParaRPr/>
            </a:p>
          </p:txBody>
        </p:sp>
        <p:sp>
          <p:nvSpPr>
            <p:cNvPr id="146" name="object 146"/>
            <p:cNvSpPr/>
            <p:nvPr/>
          </p:nvSpPr>
          <p:spPr>
            <a:xfrm>
              <a:off x="3592127" y="4748286"/>
              <a:ext cx="346710" cy="104139"/>
            </a:xfrm>
            <a:custGeom>
              <a:avLst/>
              <a:gdLst/>
              <a:ahLst/>
              <a:cxnLst/>
              <a:rect l="l" t="t" r="r" b="b"/>
              <a:pathLst>
                <a:path w="346710" h="104139">
                  <a:moveTo>
                    <a:pt x="0" y="20751"/>
                  </a:moveTo>
                  <a:lnTo>
                    <a:pt x="346530" y="20751"/>
                  </a:lnTo>
                  <a:lnTo>
                    <a:pt x="346530" y="0"/>
                  </a:lnTo>
                  <a:lnTo>
                    <a:pt x="0" y="0"/>
                  </a:lnTo>
                  <a:lnTo>
                    <a:pt x="0" y="20751"/>
                  </a:lnTo>
                  <a:close/>
                </a:path>
                <a:path w="346710" h="104139">
                  <a:moveTo>
                    <a:pt x="0" y="103804"/>
                  </a:moveTo>
                  <a:lnTo>
                    <a:pt x="346530" y="103804"/>
                  </a:lnTo>
                  <a:lnTo>
                    <a:pt x="346530" y="20696"/>
                  </a:lnTo>
                  <a:lnTo>
                    <a:pt x="0" y="20696"/>
                  </a:lnTo>
                  <a:lnTo>
                    <a:pt x="0" y="103804"/>
                  </a:lnTo>
                  <a:close/>
                </a:path>
              </a:pathLst>
            </a:custGeom>
            <a:ln w="3175">
              <a:solidFill>
                <a:srgbClr val="000000"/>
              </a:solidFill>
            </a:ln>
          </p:spPr>
          <p:txBody>
            <a:bodyPr wrap="square" lIns="0" tIns="0" rIns="0" bIns="0" rtlCol="0"/>
            <a:lstStyle/>
            <a:p>
              <a:endParaRPr/>
            </a:p>
          </p:txBody>
        </p:sp>
        <p:sp>
          <p:nvSpPr>
            <p:cNvPr id="147" name="object 147"/>
            <p:cNvSpPr/>
            <p:nvPr/>
          </p:nvSpPr>
          <p:spPr>
            <a:xfrm>
              <a:off x="3592127" y="3709750"/>
              <a:ext cx="346710" cy="208279"/>
            </a:xfrm>
            <a:custGeom>
              <a:avLst/>
              <a:gdLst/>
              <a:ahLst/>
              <a:cxnLst/>
              <a:rect l="l" t="t" r="r" b="b"/>
              <a:pathLst>
                <a:path w="346710" h="208279">
                  <a:moveTo>
                    <a:pt x="346530" y="0"/>
                  </a:moveTo>
                  <a:lnTo>
                    <a:pt x="0" y="0"/>
                  </a:lnTo>
                  <a:lnTo>
                    <a:pt x="0" y="207707"/>
                  </a:lnTo>
                  <a:lnTo>
                    <a:pt x="346530" y="207707"/>
                  </a:lnTo>
                  <a:lnTo>
                    <a:pt x="346530" y="0"/>
                  </a:lnTo>
                  <a:close/>
                </a:path>
              </a:pathLst>
            </a:custGeom>
            <a:solidFill>
              <a:srgbClr val="B0A783"/>
            </a:solidFill>
          </p:spPr>
          <p:txBody>
            <a:bodyPr wrap="square" lIns="0" tIns="0" rIns="0" bIns="0" rtlCol="0"/>
            <a:lstStyle/>
            <a:p>
              <a:endParaRPr/>
            </a:p>
          </p:txBody>
        </p:sp>
        <p:sp>
          <p:nvSpPr>
            <p:cNvPr id="148" name="object 148"/>
            <p:cNvSpPr/>
            <p:nvPr/>
          </p:nvSpPr>
          <p:spPr>
            <a:xfrm>
              <a:off x="3592127" y="3709750"/>
              <a:ext cx="346710" cy="208279"/>
            </a:xfrm>
            <a:custGeom>
              <a:avLst/>
              <a:gdLst/>
              <a:ahLst/>
              <a:cxnLst/>
              <a:rect l="l" t="t" r="r" b="b"/>
              <a:pathLst>
                <a:path w="346710" h="208279">
                  <a:moveTo>
                    <a:pt x="0" y="207707"/>
                  </a:moveTo>
                  <a:lnTo>
                    <a:pt x="346530" y="207707"/>
                  </a:lnTo>
                  <a:lnTo>
                    <a:pt x="346530" y="0"/>
                  </a:lnTo>
                  <a:lnTo>
                    <a:pt x="0" y="0"/>
                  </a:lnTo>
                  <a:lnTo>
                    <a:pt x="0" y="207707"/>
                  </a:lnTo>
                  <a:close/>
                </a:path>
              </a:pathLst>
            </a:custGeom>
            <a:ln w="3175">
              <a:solidFill>
                <a:srgbClr val="000000"/>
              </a:solidFill>
            </a:ln>
          </p:spPr>
          <p:txBody>
            <a:bodyPr wrap="square" lIns="0" tIns="0" rIns="0" bIns="0" rtlCol="0"/>
            <a:lstStyle/>
            <a:p>
              <a:endParaRPr/>
            </a:p>
          </p:txBody>
        </p:sp>
        <p:sp>
          <p:nvSpPr>
            <p:cNvPr id="149" name="object 149"/>
            <p:cNvSpPr/>
            <p:nvPr/>
          </p:nvSpPr>
          <p:spPr>
            <a:xfrm>
              <a:off x="3592127" y="3377476"/>
              <a:ext cx="346710" cy="332740"/>
            </a:xfrm>
            <a:custGeom>
              <a:avLst/>
              <a:gdLst/>
              <a:ahLst/>
              <a:cxnLst/>
              <a:rect l="l" t="t" r="r" b="b"/>
              <a:pathLst>
                <a:path w="346710" h="332739">
                  <a:moveTo>
                    <a:pt x="346530" y="0"/>
                  </a:moveTo>
                  <a:lnTo>
                    <a:pt x="0" y="0"/>
                  </a:lnTo>
                  <a:lnTo>
                    <a:pt x="0" y="332318"/>
                  </a:lnTo>
                  <a:lnTo>
                    <a:pt x="346530" y="332318"/>
                  </a:lnTo>
                  <a:lnTo>
                    <a:pt x="346530" y="0"/>
                  </a:lnTo>
                  <a:close/>
                </a:path>
              </a:pathLst>
            </a:custGeom>
            <a:solidFill>
              <a:srgbClr val="FB8D61"/>
            </a:solidFill>
          </p:spPr>
          <p:txBody>
            <a:bodyPr wrap="square" lIns="0" tIns="0" rIns="0" bIns="0" rtlCol="0"/>
            <a:lstStyle/>
            <a:p>
              <a:endParaRPr/>
            </a:p>
          </p:txBody>
        </p:sp>
        <p:sp>
          <p:nvSpPr>
            <p:cNvPr id="150" name="object 150"/>
            <p:cNvSpPr/>
            <p:nvPr/>
          </p:nvSpPr>
          <p:spPr>
            <a:xfrm>
              <a:off x="3592127" y="3377476"/>
              <a:ext cx="346710" cy="332740"/>
            </a:xfrm>
            <a:custGeom>
              <a:avLst/>
              <a:gdLst/>
              <a:ahLst/>
              <a:cxnLst/>
              <a:rect l="l" t="t" r="r" b="b"/>
              <a:pathLst>
                <a:path w="346710" h="332739">
                  <a:moveTo>
                    <a:pt x="0" y="332318"/>
                  </a:moveTo>
                  <a:lnTo>
                    <a:pt x="346530" y="332318"/>
                  </a:lnTo>
                  <a:lnTo>
                    <a:pt x="346530" y="0"/>
                  </a:lnTo>
                  <a:lnTo>
                    <a:pt x="0" y="0"/>
                  </a:lnTo>
                  <a:lnTo>
                    <a:pt x="0" y="332318"/>
                  </a:lnTo>
                  <a:close/>
                </a:path>
              </a:pathLst>
            </a:custGeom>
            <a:ln w="3175">
              <a:solidFill>
                <a:srgbClr val="000000"/>
              </a:solidFill>
            </a:ln>
          </p:spPr>
          <p:txBody>
            <a:bodyPr wrap="square" lIns="0" tIns="0" rIns="0" bIns="0" rtlCol="0"/>
            <a:lstStyle/>
            <a:p>
              <a:endParaRPr/>
            </a:p>
          </p:txBody>
        </p:sp>
        <p:sp>
          <p:nvSpPr>
            <p:cNvPr id="151" name="object 151"/>
            <p:cNvSpPr/>
            <p:nvPr/>
          </p:nvSpPr>
          <p:spPr>
            <a:xfrm>
              <a:off x="3592127" y="4125153"/>
              <a:ext cx="346710" cy="104139"/>
            </a:xfrm>
            <a:custGeom>
              <a:avLst/>
              <a:gdLst/>
              <a:ahLst/>
              <a:cxnLst/>
              <a:rect l="l" t="t" r="r" b="b"/>
              <a:pathLst>
                <a:path w="346710" h="104139">
                  <a:moveTo>
                    <a:pt x="346530" y="0"/>
                  </a:moveTo>
                  <a:lnTo>
                    <a:pt x="0" y="0"/>
                  </a:lnTo>
                  <a:lnTo>
                    <a:pt x="0" y="103859"/>
                  </a:lnTo>
                  <a:lnTo>
                    <a:pt x="346530" y="103859"/>
                  </a:lnTo>
                  <a:lnTo>
                    <a:pt x="346530" y="0"/>
                  </a:lnTo>
                  <a:close/>
                </a:path>
              </a:pathLst>
            </a:custGeom>
            <a:solidFill>
              <a:srgbClr val="B994C6"/>
            </a:solidFill>
          </p:spPr>
          <p:txBody>
            <a:bodyPr wrap="square" lIns="0" tIns="0" rIns="0" bIns="0" rtlCol="0"/>
            <a:lstStyle/>
            <a:p>
              <a:endParaRPr/>
            </a:p>
          </p:txBody>
        </p:sp>
        <p:sp>
          <p:nvSpPr>
            <p:cNvPr id="152" name="object 152"/>
            <p:cNvSpPr/>
            <p:nvPr/>
          </p:nvSpPr>
          <p:spPr>
            <a:xfrm>
              <a:off x="3592127" y="4125153"/>
              <a:ext cx="346710" cy="104139"/>
            </a:xfrm>
            <a:custGeom>
              <a:avLst/>
              <a:gdLst/>
              <a:ahLst/>
              <a:cxnLst/>
              <a:rect l="l" t="t" r="r" b="b"/>
              <a:pathLst>
                <a:path w="346710" h="104139">
                  <a:moveTo>
                    <a:pt x="0" y="103859"/>
                  </a:moveTo>
                  <a:lnTo>
                    <a:pt x="346530" y="103859"/>
                  </a:lnTo>
                  <a:lnTo>
                    <a:pt x="346530" y="0"/>
                  </a:lnTo>
                  <a:lnTo>
                    <a:pt x="0" y="0"/>
                  </a:lnTo>
                  <a:lnTo>
                    <a:pt x="0" y="103859"/>
                  </a:lnTo>
                  <a:close/>
                </a:path>
              </a:pathLst>
            </a:custGeom>
            <a:ln w="3175">
              <a:solidFill>
                <a:srgbClr val="000000"/>
              </a:solidFill>
            </a:ln>
          </p:spPr>
          <p:txBody>
            <a:bodyPr wrap="square" lIns="0" tIns="0" rIns="0" bIns="0" rtlCol="0"/>
            <a:lstStyle/>
            <a:p>
              <a:endParaRPr/>
            </a:p>
          </p:txBody>
        </p:sp>
        <p:sp>
          <p:nvSpPr>
            <p:cNvPr id="153" name="object 153"/>
            <p:cNvSpPr/>
            <p:nvPr/>
          </p:nvSpPr>
          <p:spPr>
            <a:xfrm>
              <a:off x="3592127" y="4644438"/>
              <a:ext cx="346710" cy="62865"/>
            </a:xfrm>
            <a:custGeom>
              <a:avLst/>
              <a:gdLst/>
              <a:ahLst/>
              <a:cxnLst/>
              <a:rect l="l" t="t" r="r" b="b"/>
              <a:pathLst>
                <a:path w="346710" h="62864">
                  <a:moveTo>
                    <a:pt x="346530" y="0"/>
                  </a:moveTo>
                  <a:lnTo>
                    <a:pt x="0" y="0"/>
                  </a:lnTo>
                  <a:lnTo>
                    <a:pt x="0" y="62300"/>
                  </a:lnTo>
                  <a:lnTo>
                    <a:pt x="346530" y="62300"/>
                  </a:lnTo>
                  <a:lnTo>
                    <a:pt x="346530" y="0"/>
                  </a:lnTo>
                  <a:close/>
                </a:path>
              </a:pathLst>
            </a:custGeom>
            <a:solidFill>
              <a:srgbClr val="A6D753"/>
            </a:solidFill>
          </p:spPr>
          <p:txBody>
            <a:bodyPr wrap="square" lIns="0" tIns="0" rIns="0" bIns="0" rtlCol="0"/>
            <a:lstStyle/>
            <a:p>
              <a:endParaRPr/>
            </a:p>
          </p:txBody>
        </p:sp>
        <p:sp>
          <p:nvSpPr>
            <p:cNvPr id="154" name="object 154"/>
            <p:cNvSpPr/>
            <p:nvPr/>
          </p:nvSpPr>
          <p:spPr>
            <a:xfrm>
              <a:off x="3592127" y="4644438"/>
              <a:ext cx="346710" cy="62865"/>
            </a:xfrm>
            <a:custGeom>
              <a:avLst/>
              <a:gdLst/>
              <a:ahLst/>
              <a:cxnLst/>
              <a:rect l="l" t="t" r="r" b="b"/>
              <a:pathLst>
                <a:path w="346710" h="62864">
                  <a:moveTo>
                    <a:pt x="0" y="62300"/>
                  </a:moveTo>
                  <a:lnTo>
                    <a:pt x="346530" y="62300"/>
                  </a:lnTo>
                  <a:lnTo>
                    <a:pt x="346530" y="0"/>
                  </a:lnTo>
                  <a:lnTo>
                    <a:pt x="0" y="0"/>
                  </a:lnTo>
                  <a:lnTo>
                    <a:pt x="0" y="62300"/>
                  </a:lnTo>
                  <a:close/>
                </a:path>
              </a:pathLst>
            </a:custGeom>
            <a:ln w="3175">
              <a:solidFill>
                <a:srgbClr val="000000"/>
              </a:solidFill>
            </a:ln>
          </p:spPr>
          <p:txBody>
            <a:bodyPr wrap="square" lIns="0" tIns="0" rIns="0" bIns="0" rtlCol="0"/>
            <a:lstStyle/>
            <a:p>
              <a:endParaRPr/>
            </a:p>
          </p:txBody>
        </p:sp>
        <p:sp>
          <p:nvSpPr>
            <p:cNvPr id="155" name="object 155"/>
            <p:cNvSpPr/>
            <p:nvPr/>
          </p:nvSpPr>
          <p:spPr>
            <a:xfrm>
              <a:off x="3592127" y="4353624"/>
              <a:ext cx="346710" cy="145415"/>
            </a:xfrm>
            <a:custGeom>
              <a:avLst/>
              <a:gdLst/>
              <a:ahLst/>
              <a:cxnLst/>
              <a:rect l="l" t="t" r="r" b="b"/>
              <a:pathLst>
                <a:path w="346710" h="145414">
                  <a:moveTo>
                    <a:pt x="346530" y="0"/>
                  </a:moveTo>
                  <a:lnTo>
                    <a:pt x="0" y="0"/>
                  </a:lnTo>
                  <a:lnTo>
                    <a:pt x="0" y="145407"/>
                  </a:lnTo>
                  <a:lnTo>
                    <a:pt x="346530" y="145407"/>
                  </a:lnTo>
                  <a:lnTo>
                    <a:pt x="346530" y="0"/>
                  </a:lnTo>
                  <a:close/>
                </a:path>
              </a:pathLst>
            </a:custGeom>
            <a:solidFill>
              <a:srgbClr val="C49595"/>
            </a:solidFill>
          </p:spPr>
          <p:txBody>
            <a:bodyPr wrap="square" lIns="0" tIns="0" rIns="0" bIns="0" rtlCol="0"/>
            <a:lstStyle/>
            <a:p>
              <a:endParaRPr/>
            </a:p>
          </p:txBody>
        </p:sp>
        <p:sp>
          <p:nvSpPr>
            <p:cNvPr id="156" name="object 156"/>
            <p:cNvSpPr/>
            <p:nvPr/>
          </p:nvSpPr>
          <p:spPr>
            <a:xfrm>
              <a:off x="3592127" y="4353624"/>
              <a:ext cx="346710" cy="145415"/>
            </a:xfrm>
            <a:custGeom>
              <a:avLst/>
              <a:gdLst/>
              <a:ahLst/>
              <a:cxnLst/>
              <a:rect l="l" t="t" r="r" b="b"/>
              <a:pathLst>
                <a:path w="346710" h="145414">
                  <a:moveTo>
                    <a:pt x="0" y="145407"/>
                  </a:moveTo>
                  <a:lnTo>
                    <a:pt x="346530" y="145407"/>
                  </a:lnTo>
                  <a:lnTo>
                    <a:pt x="346530" y="0"/>
                  </a:lnTo>
                  <a:lnTo>
                    <a:pt x="0" y="0"/>
                  </a:lnTo>
                  <a:lnTo>
                    <a:pt x="0" y="145407"/>
                  </a:lnTo>
                  <a:close/>
                </a:path>
              </a:pathLst>
            </a:custGeom>
            <a:ln w="3175">
              <a:solidFill>
                <a:srgbClr val="000000"/>
              </a:solidFill>
            </a:ln>
          </p:spPr>
          <p:txBody>
            <a:bodyPr wrap="square" lIns="0" tIns="0" rIns="0" bIns="0" rtlCol="0"/>
            <a:lstStyle/>
            <a:p>
              <a:endParaRPr/>
            </a:p>
          </p:txBody>
        </p:sp>
        <p:sp>
          <p:nvSpPr>
            <p:cNvPr id="157" name="object 157"/>
            <p:cNvSpPr/>
            <p:nvPr/>
          </p:nvSpPr>
          <p:spPr>
            <a:xfrm>
              <a:off x="3592127" y="3917457"/>
              <a:ext cx="346710" cy="208279"/>
            </a:xfrm>
            <a:custGeom>
              <a:avLst/>
              <a:gdLst/>
              <a:ahLst/>
              <a:cxnLst/>
              <a:rect l="l" t="t" r="r" b="b"/>
              <a:pathLst>
                <a:path w="346710" h="208279">
                  <a:moveTo>
                    <a:pt x="346530" y="0"/>
                  </a:moveTo>
                  <a:lnTo>
                    <a:pt x="0" y="0"/>
                  </a:lnTo>
                  <a:lnTo>
                    <a:pt x="0" y="207707"/>
                  </a:lnTo>
                  <a:lnTo>
                    <a:pt x="346530" y="207707"/>
                  </a:lnTo>
                  <a:lnTo>
                    <a:pt x="346530" y="0"/>
                  </a:lnTo>
                  <a:close/>
                </a:path>
              </a:pathLst>
            </a:custGeom>
            <a:solidFill>
              <a:srgbClr val="8D9FCA"/>
            </a:solidFill>
          </p:spPr>
          <p:txBody>
            <a:bodyPr wrap="square" lIns="0" tIns="0" rIns="0" bIns="0" rtlCol="0"/>
            <a:lstStyle/>
            <a:p>
              <a:endParaRPr/>
            </a:p>
          </p:txBody>
        </p:sp>
        <p:sp>
          <p:nvSpPr>
            <p:cNvPr id="158" name="object 158"/>
            <p:cNvSpPr/>
            <p:nvPr/>
          </p:nvSpPr>
          <p:spPr>
            <a:xfrm>
              <a:off x="3592127" y="3917457"/>
              <a:ext cx="346710" cy="208279"/>
            </a:xfrm>
            <a:custGeom>
              <a:avLst/>
              <a:gdLst/>
              <a:ahLst/>
              <a:cxnLst/>
              <a:rect l="l" t="t" r="r" b="b"/>
              <a:pathLst>
                <a:path w="346710" h="208279">
                  <a:moveTo>
                    <a:pt x="0" y="207707"/>
                  </a:moveTo>
                  <a:lnTo>
                    <a:pt x="346530" y="207707"/>
                  </a:lnTo>
                  <a:lnTo>
                    <a:pt x="346530" y="0"/>
                  </a:lnTo>
                  <a:lnTo>
                    <a:pt x="0" y="0"/>
                  </a:lnTo>
                  <a:lnTo>
                    <a:pt x="0" y="207707"/>
                  </a:lnTo>
                  <a:close/>
                </a:path>
              </a:pathLst>
            </a:custGeom>
            <a:ln w="3175">
              <a:solidFill>
                <a:srgbClr val="000000"/>
              </a:solidFill>
            </a:ln>
          </p:spPr>
          <p:txBody>
            <a:bodyPr wrap="square" lIns="0" tIns="0" rIns="0" bIns="0" rtlCol="0"/>
            <a:lstStyle/>
            <a:p>
              <a:endParaRPr/>
            </a:p>
          </p:txBody>
        </p:sp>
        <p:sp>
          <p:nvSpPr>
            <p:cNvPr id="159" name="object 159"/>
            <p:cNvSpPr/>
            <p:nvPr/>
          </p:nvSpPr>
          <p:spPr>
            <a:xfrm>
              <a:off x="3592127" y="4706738"/>
              <a:ext cx="346710" cy="41910"/>
            </a:xfrm>
            <a:custGeom>
              <a:avLst/>
              <a:gdLst/>
              <a:ahLst/>
              <a:cxnLst/>
              <a:rect l="l" t="t" r="r" b="b"/>
              <a:pathLst>
                <a:path w="346710" h="41910">
                  <a:moveTo>
                    <a:pt x="346530" y="0"/>
                  </a:moveTo>
                  <a:lnTo>
                    <a:pt x="0" y="0"/>
                  </a:lnTo>
                  <a:lnTo>
                    <a:pt x="0" y="41548"/>
                  </a:lnTo>
                  <a:lnTo>
                    <a:pt x="346530" y="41548"/>
                  </a:lnTo>
                  <a:lnTo>
                    <a:pt x="346530" y="0"/>
                  </a:lnTo>
                  <a:close/>
                </a:path>
              </a:pathLst>
            </a:custGeom>
            <a:solidFill>
              <a:srgbClr val="F1CE60"/>
            </a:solidFill>
          </p:spPr>
          <p:txBody>
            <a:bodyPr wrap="square" lIns="0" tIns="0" rIns="0" bIns="0" rtlCol="0"/>
            <a:lstStyle/>
            <a:p>
              <a:endParaRPr/>
            </a:p>
          </p:txBody>
        </p:sp>
        <p:sp>
          <p:nvSpPr>
            <p:cNvPr id="160" name="object 160"/>
            <p:cNvSpPr/>
            <p:nvPr/>
          </p:nvSpPr>
          <p:spPr>
            <a:xfrm>
              <a:off x="3592127" y="4706738"/>
              <a:ext cx="346710" cy="41910"/>
            </a:xfrm>
            <a:custGeom>
              <a:avLst/>
              <a:gdLst/>
              <a:ahLst/>
              <a:cxnLst/>
              <a:rect l="l" t="t" r="r" b="b"/>
              <a:pathLst>
                <a:path w="346710" h="41910">
                  <a:moveTo>
                    <a:pt x="0" y="41548"/>
                  </a:moveTo>
                  <a:lnTo>
                    <a:pt x="346530" y="41548"/>
                  </a:lnTo>
                  <a:lnTo>
                    <a:pt x="346530" y="0"/>
                  </a:lnTo>
                  <a:lnTo>
                    <a:pt x="0" y="0"/>
                  </a:lnTo>
                  <a:lnTo>
                    <a:pt x="0" y="41548"/>
                  </a:lnTo>
                  <a:close/>
                </a:path>
              </a:pathLst>
            </a:custGeom>
            <a:ln w="3175">
              <a:solidFill>
                <a:srgbClr val="000000"/>
              </a:solidFill>
            </a:ln>
          </p:spPr>
          <p:txBody>
            <a:bodyPr wrap="square" lIns="0" tIns="0" rIns="0" bIns="0" rtlCol="0"/>
            <a:lstStyle/>
            <a:p>
              <a:endParaRPr/>
            </a:p>
          </p:txBody>
        </p:sp>
        <p:sp>
          <p:nvSpPr>
            <p:cNvPr id="161" name="object 161"/>
            <p:cNvSpPr/>
            <p:nvPr/>
          </p:nvSpPr>
          <p:spPr>
            <a:xfrm>
              <a:off x="3977190" y="3921597"/>
              <a:ext cx="346710" cy="116839"/>
            </a:xfrm>
            <a:custGeom>
              <a:avLst/>
              <a:gdLst/>
              <a:ahLst/>
              <a:cxnLst/>
              <a:rect l="l" t="t" r="r" b="b"/>
              <a:pathLst>
                <a:path w="346710" h="116839">
                  <a:moveTo>
                    <a:pt x="346530" y="0"/>
                  </a:moveTo>
                  <a:lnTo>
                    <a:pt x="0" y="0"/>
                  </a:lnTo>
                  <a:lnTo>
                    <a:pt x="0" y="116321"/>
                  </a:lnTo>
                  <a:lnTo>
                    <a:pt x="346530" y="116321"/>
                  </a:lnTo>
                  <a:lnTo>
                    <a:pt x="346530" y="0"/>
                  </a:lnTo>
                  <a:close/>
                </a:path>
              </a:pathLst>
            </a:custGeom>
            <a:solidFill>
              <a:srgbClr val="D2D741"/>
            </a:solidFill>
          </p:spPr>
          <p:txBody>
            <a:bodyPr wrap="square" lIns="0" tIns="0" rIns="0" bIns="0" rtlCol="0"/>
            <a:lstStyle/>
            <a:p>
              <a:endParaRPr/>
            </a:p>
          </p:txBody>
        </p:sp>
        <p:sp>
          <p:nvSpPr>
            <p:cNvPr id="162" name="object 162"/>
            <p:cNvSpPr/>
            <p:nvPr/>
          </p:nvSpPr>
          <p:spPr>
            <a:xfrm>
              <a:off x="3977190" y="3921597"/>
              <a:ext cx="346710" cy="116839"/>
            </a:xfrm>
            <a:custGeom>
              <a:avLst/>
              <a:gdLst/>
              <a:ahLst/>
              <a:cxnLst/>
              <a:rect l="l" t="t" r="r" b="b"/>
              <a:pathLst>
                <a:path w="346710" h="116839">
                  <a:moveTo>
                    <a:pt x="0" y="116321"/>
                  </a:moveTo>
                  <a:lnTo>
                    <a:pt x="346530" y="116321"/>
                  </a:lnTo>
                  <a:lnTo>
                    <a:pt x="346530" y="0"/>
                  </a:lnTo>
                  <a:lnTo>
                    <a:pt x="0" y="0"/>
                  </a:lnTo>
                  <a:lnTo>
                    <a:pt x="0" y="116321"/>
                  </a:lnTo>
                  <a:close/>
                </a:path>
              </a:pathLst>
            </a:custGeom>
            <a:ln w="3175">
              <a:solidFill>
                <a:srgbClr val="000000"/>
              </a:solidFill>
            </a:ln>
          </p:spPr>
          <p:txBody>
            <a:bodyPr wrap="square" lIns="0" tIns="0" rIns="0" bIns="0" rtlCol="0"/>
            <a:lstStyle/>
            <a:p>
              <a:endParaRPr/>
            </a:p>
          </p:txBody>
        </p:sp>
        <p:sp>
          <p:nvSpPr>
            <p:cNvPr id="163" name="object 163"/>
            <p:cNvSpPr/>
            <p:nvPr/>
          </p:nvSpPr>
          <p:spPr>
            <a:xfrm>
              <a:off x="3977190" y="4037918"/>
              <a:ext cx="346710" cy="271780"/>
            </a:xfrm>
            <a:custGeom>
              <a:avLst/>
              <a:gdLst/>
              <a:ahLst/>
              <a:cxnLst/>
              <a:rect l="l" t="t" r="r" b="b"/>
              <a:pathLst>
                <a:path w="346710" h="271779">
                  <a:moveTo>
                    <a:pt x="346530" y="0"/>
                  </a:moveTo>
                  <a:lnTo>
                    <a:pt x="0" y="0"/>
                  </a:lnTo>
                  <a:lnTo>
                    <a:pt x="0" y="271394"/>
                  </a:lnTo>
                  <a:lnTo>
                    <a:pt x="346530" y="271394"/>
                  </a:lnTo>
                  <a:lnTo>
                    <a:pt x="346530" y="0"/>
                  </a:lnTo>
                  <a:close/>
                </a:path>
              </a:pathLst>
            </a:custGeom>
            <a:solidFill>
              <a:srgbClr val="C5B08A"/>
            </a:solidFill>
          </p:spPr>
          <p:txBody>
            <a:bodyPr wrap="square" lIns="0" tIns="0" rIns="0" bIns="0" rtlCol="0"/>
            <a:lstStyle/>
            <a:p>
              <a:endParaRPr/>
            </a:p>
          </p:txBody>
        </p:sp>
        <p:sp>
          <p:nvSpPr>
            <p:cNvPr id="164" name="object 164"/>
            <p:cNvSpPr/>
            <p:nvPr/>
          </p:nvSpPr>
          <p:spPr>
            <a:xfrm>
              <a:off x="3977190" y="4037918"/>
              <a:ext cx="346710" cy="271780"/>
            </a:xfrm>
            <a:custGeom>
              <a:avLst/>
              <a:gdLst/>
              <a:ahLst/>
              <a:cxnLst/>
              <a:rect l="l" t="t" r="r" b="b"/>
              <a:pathLst>
                <a:path w="346710" h="271779">
                  <a:moveTo>
                    <a:pt x="0" y="271394"/>
                  </a:moveTo>
                  <a:lnTo>
                    <a:pt x="346530" y="271394"/>
                  </a:lnTo>
                  <a:lnTo>
                    <a:pt x="346530" y="0"/>
                  </a:lnTo>
                  <a:lnTo>
                    <a:pt x="0" y="0"/>
                  </a:lnTo>
                  <a:lnTo>
                    <a:pt x="0" y="271394"/>
                  </a:lnTo>
                  <a:close/>
                </a:path>
              </a:pathLst>
            </a:custGeom>
            <a:ln w="3175">
              <a:solidFill>
                <a:srgbClr val="000000"/>
              </a:solidFill>
            </a:ln>
          </p:spPr>
          <p:txBody>
            <a:bodyPr wrap="square" lIns="0" tIns="0" rIns="0" bIns="0" rtlCol="0"/>
            <a:lstStyle/>
            <a:p>
              <a:endParaRPr/>
            </a:p>
          </p:txBody>
        </p:sp>
        <p:sp>
          <p:nvSpPr>
            <p:cNvPr id="165" name="object 165"/>
            <p:cNvSpPr/>
            <p:nvPr/>
          </p:nvSpPr>
          <p:spPr>
            <a:xfrm>
              <a:off x="3977190" y="3107480"/>
              <a:ext cx="346710" cy="194310"/>
            </a:xfrm>
            <a:custGeom>
              <a:avLst/>
              <a:gdLst/>
              <a:ahLst/>
              <a:cxnLst/>
              <a:rect l="l" t="t" r="r" b="b"/>
              <a:pathLst>
                <a:path w="346710" h="194310">
                  <a:moveTo>
                    <a:pt x="346530" y="0"/>
                  </a:moveTo>
                  <a:lnTo>
                    <a:pt x="0" y="0"/>
                  </a:lnTo>
                  <a:lnTo>
                    <a:pt x="0" y="193857"/>
                  </a:lnTo>
                  <a:lnTo>
                    <a:pt x="346530" y="193857"/>
                  </a:lnTo>
                  <a:lnTo>
                    <a:pt x="346530" y="0"/>
                  </a:lnTo>
                  <a:close/>
                </a:path>
              </a:pathLst>
            </a:custGeom>
            <a:solidFill>
              <a:srgbClr val="66C2A4"/>
            </a:solidFill>
          </p:spPr>
          <p:txBody>
            <a:bodyPr wrap="square" lIns="0" tIns="0" rIns="0" bIns="0" rtlCol="0"/>
            <a:lstStyle/>
            <a:p>
              <a:endParaRPr/>
            </a:p>
          </p:txBody>
        </p:sp>
        <p:sp>
          <p:nvSpPr>
            <p:cNvPr id="166" name="object 166"/>
            <p:cNvSpPr/>
            <p:nvPr/>
          </p:nvSpPr>
          <p:spPr>
            <a:xfrm>
              <a:off x="3977190" y="3107480"/>
              <a:ext cx="346710" cy="194310"/>
            </a:xfrm>
            <a:custGeom>
              <a:avLst/>
              <a:gdLst/>
              <a:ahLst/>
              <a:cxnLst/>
              <a:rect l="l" t="t" r="r" b="b"/>
              <a:pathLst>
                <a:path w="346710" h="194310">
                  <a:moveTo>
                    <a:pt x="0" y="193857"/>
                  </a:moveTo>
                  <a:lnTo>
                    <a:pt x="346530" y="193857"/>
                  </a:lnTo>
                  <a:lnTo>
                    <a:pt x="346530" y="0"/>
                  </a:lnTo>
                  <a:lnTo>
                    <a:pt x="0" y="0"/>
                  </a:lnTo>
                  <a:lnTo>
                    <a:pt x="0" y="193857"/>
                  </a:lnTo>
                  <a:close/>
                </a:path>
              </a:pathLst>
            </a:custGeom>
            <a:ln w="3175">
              <a:solidFill>
                <a:srgbClr val="000000"/>
              </a:solidFill>
            </a:ln>
          </p:spPr>
          <p:txBody>
            <a:bodyPr wrap="square" lIns="0" tIns="0" rIns="0" bIns="0" rtlCol="0"/>
            <a:lstStyle/>
            <a:p>
              <a:endParaRPr/>
            </a:p>
          </p:txBody>
        </p:sp>
        <p:sp>
          <p:nvSpPr>
            <p:cNvPr id="167" name="object 167"/>
            <p:cNvSpPr/>
            <p:nvPr/>
          </p:nvSpPr>
          <p:spPr>
            <a:xfrm>
              <a:off x="3977190" y="4309356"/>
              <a:ext cx="346710" cy="78105"/>
            </a:xfrm>
            <a:custGeom>
              <a:avLst/>
              <a:gdLst/>
              <a:ahLst/>
              <a:cxnLst/>
              <a:rect l="l" t="t" r="r" b="b"/>
              <a:pathLst>
                <a:path w="346710" h="78104">
                  <a:moveTo>
                    <a:pt x="346530" y="0"/>
                  </a:moveTo>
                  <a:lnTo>
                    <a:pt x="0" y="0"/>
                  </a:lnTo>
                  <a:lnTo>
                    <a:pt x="0" y="77536"/>
                  </a:lnTo>
                  <a:lnTo>
                    <a:pt x="346530" y="77536"/>
                  </a:lnTo>
                  <a:lnTo>
                    <a:pt x="346530" y="0"/>
                  </a:lnTo>
                  <a:close/>
                </a:path>
              </a:pathLst>
            </a:custGeom>
            <a:solidFill>
              <a:srgbClr val="E789C3"/>
            </a:solidFill>
          </p:spPr>
          <p:txBody>
            <a:bodyPr wrap="square" lIns="0" tIns="0" rIns="0" bIns="0" rtlCol="0"/>
            <a:lstStyle/>
            <a:p>
              <a:endParaRPr/>
            </a:p>
          </p:txBody>
        </p:sp>
        <p:sp>
          <p:nvSpPr>
            <p:cNvPr id="168" name="object 168"/>
            <p:cNvSpPr/>
            <p:nvPr/>
          </p:nvSpPr>
          <p:spPr>
            <a:xfrm>
              <a:off x="3977190" y="4309356"/>
              <a:ext cx="346710" cy="78105"/>
            </a:xfrm>
            <a:custGeom>
              <a:avLst/>
              <a:gdLst/>
              <a:ahLst/>
              <a:cxnLst/>
              <a:rect l="l" t="t" r="r" b="b"/>
              <a:pathLst>
                <a:path w="346710" h="78104">
                  <a:moveTo>
                    <a:pt x="0" y="77536"/>
                  </a:moveTo>
                  <a:lnTo>
                    <a:pt x="346530" y="77536"/>
                  </a:lnTo>
                  <a:lnTo>
                    <a:pt x="346530" y="0"/>
                  </a:lnTo>
                  <a:lnTo>
                    <a:pt x="0" y="0"/>
                  </a:lnTo>
                  <a:lnTo>
                    <a:pt x="0" y="77536"/>
                  </a:lnTo>
                  <a:close/>
                </a:path>
              </a:pathLst>
            </a:custGeom>
            <a:ln w="3175">
              <a:solidFill>
                <a:srgbClr val="000000"/>
              </a:solidFill>
            </a:ln>
          </p:spPr>
          <p:txBody>
            <a:bodyPr wrap="square" lIns="0" tIns="0" rIns="0" bIns="0" rtlCol="0"/>
            <a:lstStyle/>
            <a:p>
              <a:endParaRPr/>
            </a:p>
          </p:txBody>
        </p:sp>
        <p:sp>
          <p:nvSpPr>
            <p:cNvPr id="169" name="object 169"/>
            <p:cNvSpPr/>
            <p:nvPr/>
          </p:nvSpPr>
          <p:spPr>
            <a:xfrm>
              <a:off x="3977190" y="4425634"/>
              <a:ext cx="346710" cy="39370"/>
            </a:xfrm>
            <a:custGeom>
              <a:avLst/>
              <a:gdLst/>
              <a:ahLst/>
              <a:cxnLst/>
              <a:rect l="l" t="t" r="r" b="b"/>
              <a:pathLst>
                <a:path w="346710" h="39370">
                  <a:moveTo>
                    <a:pt x="346530" y="0"/>
                  </a:moveTo>
                  <a:lnTo>
                    <a:pt x="0" y="0"/>
                  </a:lnTo>
                  <a:lnTo>
                    <a:pt x="0" y="38795"/>
                  </a:lnTo>
                  <a:lnTo>
                    <a:pt x="346530" y="38795"/>
                  </a:lnTo>
                  <a:lnTo>
                    <a:pt x="346530" y="0"/>
                  </a:lnTo>
                  <a:close/>
                </a:path>
              </a:pathLst>
            </a:custGeom>
            <a:solidFill>
              <a:srgbClr val="CCBAA2"/>
            </a:solidFill>
          </p:spPr>
          <p:txBody>
            <a:bodyPr wrap="square" lIns="0" tIns="0" rIns="0" bIns="0" rtlCol="0"/>
            <a:lstStyle/>
            <a:p>
              <a:endParaRPr/>
            </a:p>
          </p:txBody>
        </p:sp>
        <p:sp>
          <p:nvSpPr>
            <p:cNvPr id="170" name="object 170"/>
            <p:cNvSpPr/>
            <p:nvPr/>
          </p:nvSpPr>
          <p:spPr>
            <a:xfrm>
              <a:off x="3977190" y="4425634"/>
              <a:ext cx="346710" cy="39370"/>
            </a:xfrm>
            <a:custGeom>
              <a:avLst/>
              <a:gdLst/>
              <a:ahLst/>
              <a:cxnLst/>
              <a:rect l="l" t="t" r="r" b="b"/>
              <a:pathLst>
                <a:path w="346710" h="39370">
                  <a:moveTo>
                    <a:pt x="0" y="38795"/>
                  </a:moveTo>
                  <a:lnTo>
                    <a:pt x="346530" y="38795"/>
                  </a:lnTo>
                  <a:lnTo>
                    <a:pt x="346530" y="0"/>
                  </a:lnTo>
                  <a:lnTo>
                    <a:pt x="0" y="0"/>
                  </a:lnTo>
                  <a:lnTo>
                    <a:pt x="0" y="38795"/>
                  </a:lnTo>
                  <a:close/>
                </a:path>
              </a:pathLst>
            </a:custGeom>
            <a:ln w="3175">
              <a:solidFill>
                <a:srgbClr val="000000"/>
              </a:solidFill>
            </a:ln>
          </p:spPr>
          <p:txBody>
            <a:bodyPr wrap="square" lIns="0" tIns="0" rIns="0" bIns="0" rtlCol="0"/>
            <a:lstStyle/>
            <a:p>
              <a:endParaRPr/>
            </a:p>
          </p:txBody>
        </p:sp>
        <p:sp>
          <p:nvSpPr>
            <p:cNvPr id="171" name="object 171"/>
            <p:cNvSpPr/>
            <p:nvPr/>
          </p:nvSpPr>
          <p:spPr>
            <a:xfrm>
              <a:off x="3977190" y="4464374"/>
              <a:ext cx="346710" cy="39370"/>
            </a:xfrm>
            <a:custGeom>
              <a:avLst/>
              <a:gdLst/>
              <a:ahLst/>
              <a:cxnLst/>
              <a:rect l="l" t="t" r="r" b="b"/>
              <a:pathLst>
                <a:path w="346710" h="39370">
                  <a:moveTo>
                    <a:pt x="346530" y="0"/>
                  </a:moveTo>
                  <a:lnTo>
                    <a:pt x="0" y="0"/>
                  </a:lnTo>
                  <a:lnTo>
                    <a:pt x="0" y="38795"/>
                  </a:lnTo>
                  <a:lnTo>
                    <a:pt x="346530" y="38795"/>
                  </a:lnTo>
                  <a:lnTo>
                    <a:pt x="346530" y="0"/>
                  </a:lnTo>
                  <a:close/>
                </a:path>
              </a:pathLst>
            </a:custGeom>
            <a:solidFill>
              <a:srgbClr val="FFD92E"/>
            </a:solidFill>
          </p:spPr>
          <p:txBody>
            <a:bodyPr wrap="square" lIns="0" tIns="0" rIns="0" bIns="0" rtlCol="0"/>
            <a:lstStyle/>
            <a:p>
              <a:endParaRPr/>
            </a:p>
          </p:txBody>
        </p:sp>
        <p:sp>
          <p:nvSpPr>
            <p:cNvPr id="172" name="object 172"/>
            <p:cNvSpPr/>
            <p:nvPr/>
          </p:nvSpPr>
          <p:spPr>
            <a:xfrm>
              <a:off x="3977190" y="4464374"/>
              <a:ext cx="346710" cy="387985"/>
            </a:xfrm>
            <a:custGeom>
              <a:avLst/>
              <a:gdLst/>
              <a:ahLst/>
              <a:cxnLst/>
              <a:rect l="l" t="t" r="r" b="b"/>
              <a:pathLst>
                <a:path w="346710" h="387985">
                  <a:moveTo>
                    <a:pt x="0" y="38795"/>
                  </a:moveTo>
                  <a:lnTo>
                    <a:pt x="346530" y="38795"/>
                  </a:lnTo>
                  <a:lnTo>
                    <a:pt x="346530" y="0"/>
                  </a:lnTo>
                  <a:lnTo>
                    <a:pt x="0" y="0"/>
                  </a:lnTo>
                  <a:lnTo>
                    <a:pt x="0" y="38795"/>
                  </a:lnTo>
                  <a:close/>
                </a:path>
                <a:path w="346710" h="387985">
                  <a:moveTo>
                    <a:pt x="0" y="387715"/>
                  </a:moveTo>
                  <a:lnTo>
                    <a:pt x="346530" y="387715"/>
                  </a:lnTo>
                  <a:lnTo>
                    <a:pt x="346530" y="38795"/>
                  </a:lnTo>
                  <a:lnTo>
                    <a:pt x="0" y="38795"/>
                  </a:lnTo>
                  <a:lnTo>
                    <a:pt x="0" y="387715"/>
                  </a:lnTo>
                  <a:close/>
                </a:path>
              </a:pathLst>
            </a:custGeom>
            <a:ln w="3175">
              <a:solidFill>
                <a:srgbClr val="000000"/>
              </a:solidFill>
            </a:ln>
          </p:spPr>
          <p:txBody>
            <a:bodyPr wrap="square" lIns="0" tIns="0" rIns="0" bIns="0" rtlCol="0"/>
            <a:lstStyle/>
            <a:p>
              <a:endParaRPr/>
            </a:p>
          </p:txBody>
        </p:sp>
        <p:sp>
          <p:nvSpPr>
            <p:cNvPr id="173" name="object 173"/>
            <p:cNvSpPr/>
            <p:nvPr/>
          </p:nvSpPr>
          <p:spPr>
            <a:xfrm>
              <a:off x="3977190" y="3417659"/>
              <a:ext cx="346710" cy="155575"/>
            </a:xfrm>
            <a:custGeom>
              <a:avLst/>
              <a:gdLst/>
              <a:ahLst/>
              <a:cxnLst/>
              <a:rect l="l" t="t" r="r" b="b"/>
              <a:pathLst>
                <a:path w="346710" h="155575">
                  <a:moveTo>
                    <a:pt x="346530" y="0"/>
                  </a:moveTo>
                  <a:lnTo>
                    <a:pt x="0" y="0"/>
                  </a:lnTo>
                  <a:lnTo>
                    <a:pt x="0" y="155062"/>
                  </a:lnTo>
                  <a:lnTo>
                    <a:pt x="346530" y="155062"/>
                  </a:lnTo>
                  <a:lnTo>
                    <a:pt x="346530" y="0"/>
                  </a:lnTo>
                  <a:close/>
                </a:path>
              </a:pathLst>
            </a:custGeom>
            <a:solidFill>
              <a:srgbClr val="B0A783"/>
            </a:solidFill>
          </p:spPr>
          <p:txBody>
            <a:bodyPr wrap="square" lIns="0" tIns="0" rIns="0" bIns="0" rtlCol="0"/>
            <a:lstStyle/>
            <a:p>
              <a:endParaRPr/>
            </a:p>
          </p:txBody>
        </p:sp>
        <p:sp>
          <p:nvSpPr>
            <p:cNvPr id="174" name="object 174"/>
            <p:cNvSpPr/>
            <p:nvPr/>
          </p:nvSpPr>
          <p:spPr>
            <a:xfrm>
              <a:off x="3977190" y="3417659"/>
              <a:ext cx="346710" cy="155575"/>
            </a:xfrm>
            <a:custGeom>
              <a:avLst/>
              <a:gdLst/>
              <a:ahLst/>
              <a:cxnLst/>
              <a:rect l="l" t="t" r="r" b="b"/>
              <a:pathLst>
                <a:path w="346710" h="155575">
                  <a:moveTo>
                    <a:pt x="0" y="155062"/>
                  </a:moveTo>
                  <a:lnTo>
                    <a:pt x="346530" y="155062"/>
                  </a:lnTo>
                  <a:lnTo>
                    <a:pt x="346530" y="0"/>
                  </a:lnTo>
                  <a:lnTo>
                    <a:pt x="0" y="0"/>
                  </a:lnTo>
                  <a:lnTo>
                    <a:pt x="0" y="155062"/>
                  </a:lnTo>
                  <a:close/>
                </a:path>
              </a:pathLst>
            </a:custGeom>
            <a:ln w="3175">
              <a:solidFill>
                <a:srgbClr val="000000"/>
              </a:solidFill>
            </a:ln>
          </p:spPr>
          <p:txBody>
            <a:bodyPr wrap="square" lIns="0" tIns="0" rIns="0" bIns="0" rtlCol="0"/>
            <a:lstStyle/>
            <a:p>
              <a:endParaRPr/>
            </a:p>
          </p:txBody>
        </p:sp>
        <p:sp>
          <p:nvSpPr>
            <p:cNvPr id="175" name="object 175"/>
            <p:cNvSpPr/>
            <p:nvPr/>
          </p:nvSpPr>
          <p:spPr>
            <a:xfrm>
              <a:off x="3977190" y="3301283"/>
              <a:ext cx="346710" cy="116839"/>
            </a:xfrm>
            <a:custGeom>
              <a:avLst/>
              <a:gdLst/>
              <a:ahLst/>
              <a:cxnLst/>
              <a:rect l="l" t="t" r="r" b="b"/>
              <a:pathLst>
                <a:path w="346710" h="116839">
                  <a:moveTo>
                    <a:pt x="346530" y="0"/>
                  </a:moveTo>
                  <a:lnTo>
                    <a:pt x="0" y="0"/>
                  </a:lnTo>
                  <a:lnTo>
                    <a:pt x="0" y="116321"/>
                  </a:lnTo>
                  <a:lnTo>
                    <a:pt x="346530" y="116321"/>
                  </a:lnTo>
                  <a:lnTo>
                    <a:pt x="346530" y="0"/>
                  </a:lnTo>
                  <a:close/>
                </a:path>
              </a:pathLst>
            </a:custGeom>
            <a:solidFill>
              <a:srgbClr val="FB8D61"/>
            </a:solidFill>
          </p:spPr>
          <p:txBody>
            <a:bodyPr wrap="square" lIns="0" tIns="0" rIns="0" bIns="0" rtlCol="0"/>
            <a:lstStyle/>
            <a:p>
              <a:endParaRPr/>
            </a:p>
          </p:txBody>
        </p:sp>
        <p:sp>
          <p:nvSpPr>
            <p:cNvPr id="176" name="object 176"/>
            <p:cNvSpPr/>
            <p:nvPr/>
          </p:nvSpPr>
          <p:spPr>
            <a:xfrm>
              <a:off x="3977190" y="3301283"/>
              <a:ext cx="346710" cy="116839"/>
            </a:xfrm>
            <a:custGeom>
              <a:avLst/>
              <a:gdLst/>
              <a:ahLst/>
              <a:cxnLst/>
              <a:rect l="l" t="t" r="r" b="b"/>
              <a:pathLst>
                <a:path w="346710" h="116839">
                  <a:moveTo>
                    <a:pt x="0" y="116321"/>
                  </a:moveTo>
                  <a:lnTo>
                    <a:pt x="346530" y="116321"/>
                  </a:lnTo>
                  <a:lnTo>
                    <a:pt x="346530" y="0"/>
                  </a:lnTo>
                  <a:lnTo>
                    <a:pt x="0" y="0"/>
                  </a:lnTo>
                  <a:lnTo>
                    <a:pt x="0" y="116321"/>
                  </a:lnTo>
                  <a:close/>
                </a:path>
              </a:pathLst>
            </a:custGeom>
            <a:ln w="3175">
              <a:solidFill>
                <a:srgbClr val="000000"/>
              </a:solidFill>
            </a:ln>
          </p:spPr>
          <p:txBody>
            <a:bodyPr wrap="square" lIns="0" tIns="0" rIns="0" bIns="0" rtlCol="0"/>
            <a:lstStyle/>
            <a:p>
              <a:endParaRPr/>
            </a:p>
          </p:txBody>
        </p:sp>
        <p:sp>
          <p:nvSpPr>
            <p:cNvPr id="177" name="object 177"/>
            <p:cNvSpPr/>
            <p:nvPr/>
          </p:nvSpPr>
          <p:spPr>
            <a:xfrm>
              <a:off x="3977190" y="3844115"/>
              <a:ext cx="346710" cy="78105"/>
            </a:xfrm>
            <a:custGeom>
              <a:avLst/>
              <a:gdLst/>
              <a:ahLst/>
              <a:cxnLst/>
              <a:rect l="l" t="t" r="r" b="b"/>
              <a:pathLst>
                <a:path w="346710" h="78104">
                  <a:moveTo>
                    <a:pt x="346530" y="0"/>
                  </a:moveTo>
                  <a:lnTo>
                    <a:pt x="0" y="0"/>
                  </a:lnTo>
                  <a:lnTo>
                    <a:pt x="0" y="77536"/>
                  </a:lnTo>
                  <a:lnTo>
                    <a:pt x="346530" y="77536"/>
                  </a:lnTo>
                  <a:lnTo>
                    <a:pt x="346530" y="0"/>
                  </a:lnTo>
                  <a:close/>
                </a:path>
              </a:pathLst>
            </a:custGeom>
            <a:solidFill>
              <a:srgbClr val="B994C6"/>
            </a:solidFill>
          </p:spPr>
          <p:txBody>
            <a:bodyPr wrap="square" lIns="0" tIns="0" rIns="0" bIns="0" rtlCol="0"/>
            <a:lstStyle/>
            <a:p>
              <a:endParaRPr/>
            </a:p>
          </p:txBody>
        </p:sp>
        <p:sp>
          <p:nvSpPr>
            <p:cNvPr id="178" name="object 178"/>
            <p:cNvSpPr/>
            <p:nvPr/>
          </p:nvSpPr>
          <p:spPr>
            <a:xfrm>
              <a:off x="3977190" y="3844115"/>
              <a:ext cx="346710" cy="78105"/>
            </a:xfrm>
            <a:custGeom>
              <a:avLst/>
              <a:gdLst/>
              <a:ahLst/>
              <a:cxnLst/>
              <a:rect l="l" t="t" r="r" b="b"/>
              <a:pathLst>
                <a:path w="346710" h="78104">
                  <a:moveTo>
                    <a:pt x="0" y="77536"/>
                  </a:moveTo>
                  <a:lnTo>
                    <a:pt x="346530" y="77536"/>
                  </a:lnTo>
                  <a:lnTo>
                    <a:pt x="346530" y="0"/>
                  </a:lnTo>
                  <a:lnTo>
                    <a:pt x="0" y="0"/>
                  </a:lnTo>
                  <a:lnTo>
                    <a:pt x="0" y="77536"/>
                  </a:lnTo>
                  <a:close/>
                </a:path>
              </a:pathLst>
            </a:custGeom>
            <a:ln w="3175">
              <a:solidFill>
                <a:srgbClr val="000000"/>
              </a:solidFill>
            </a:ln>
          </p:spPr>
          <p:txBody>
            <a:bodyPr wrap="square" lIns="0" tIns="0" rIns="0" bIns="0" rtlCol="0"/>
            <a:lstStyle/>
            <a:p>
              <a:endParaRPr/>
            </a:p>
          </p:txBody>
        </p:sp>
        <p:sp>
          <p:nvSpPr>
            <p:cNvPr id="179" name="object 179"/>
            <p:cNvSpPr/>
            <p:nvPr/>
          </p:nvSpPr>
          <p:spPr>
            <a:xfrm>
              <a:off x="3977190" y="4386838"/>
              <a:ext cx="346710" cy="39370"/>
            </a:xfrm>
            <a:custGeom>
              <a:avLst/>
              <a:gdLst/>
              <a:ahLst/>
              <a:cxnLst/>
              <a:rect l="l" t="t" r="r" b="b"/>
              <a:pathLst>
                <a:path w="346710" h="39370">
                  <a:moveTo>
                    <a:pt x="346530" y="0"/>
                  </a:moveTo>
                  <a:lnTo>
                    <a:pt x="0" y="0"/>
                  </a:lnTo>
                  <a:lnTo>
                    <a:pt x="0" y="38795"/>
                  </a:lnTo>
                  <a:lnTo>
                    <a:pt x="346530" y="38795"/>
                  </a:lnTo>
                  <a:lnTo>
                    <a:pt x="346530" y="0"/>
                  </a:lnTo>
                  <a:close/>
                </a:path>
              </a:pathLst>
            </a:custGeom>
            <a:solidFill>
              <a:srgbClr val="A6D753"/>
            </a:solidFill>
          </p:spPr>
          <p:txBody>
            <a:bodyPr wrap="square" lIns="0" tIns="0" rIns="0" bIns="0" rtlCol="0"/>
            <a:lstStyle/>
            <a:p>
              <a:endParaRPr/>
            </a:p>
          </p:txBody>
        </p:sp>
        <p:sp>
          <p:nvSpPr>
            <p:cNvPr id="180" name="object 180"/>
            <p:cNvSpPr/>
            <p:nvPr/>
          </p:nvSpPr>
          <p:spPr>
            <a:xfrm>
              <a:off x="3977190" y="4386838"/>
              <a:ext cx="346710" cy="39370"/>
            </a:xfrm>
            <a:custGeom>
              <a:avLst/>
              <a:gdLst/>
              <a:ahLst/>
              <a:cxnLst/>
              <a:rect l="l" t="t" r="r" b="b"/>
              <a:pathLst>
                <a:path w="346710" h="39370">
                  <a:moveTo>
                    <a:pt x="0" y="38795"/>
                  </a:moveTo>
                  <a:lnTo>
                    <a:pt x="346530" y="38795"/>
                  </a:lnTo>
                  <a:lnTo>
                    <a:pt x="346530" y="0"/>
                  </a:lnTo>
                  <a:lnTo>
                    <a:pt x="0" y="0"/>
                  </a:lnTo>
                  <a:lnTo>
                    <a:pt x="0" y="38795"/>
                  </a:lnTo>
                  <a:close/>
                </a:path>
              </a:pathLst>
            </a:custGeom>
            <a:ln w="3175">
              <a:solidFill>
                <a:srgbClr val="000000"/>
              </a:solidFill>
            </a:ln>
          </p:spPr>
          <p:txBody>
            <a:bodyPr wrap="square" lIns="0" tIns="0" rIns="0" bIns="0" rtlCol="0"/>
            <a:lstStyle/>
            <a:p>
              <a:endParaRPr/>
            </a:p>
          </p:txBody>
        </p:sp>
        <p:sp>
          <p:nvSpPr>
            <p:cNvPr id="181" name="object 181"/>
            <p:cNvSpPr/>
            <p:nvPr/>
          </p:nvSpPr>
          <p:spPr>
            <a:xfrm>
              <a:off x="3977190" y="3572721"/>
              <a:ext cx="346710" cy="271780"/>
            </a:xfrm>
            <a:custGeom>
              <a:avLst/>
              <a:gdLst/>
              <a:ahLst/>
              <a:cxnLst/>
              <a:rect l="l" t="t" r="r" b="b"/>
              <a:pathLst>
                <a:path w="346710" h="271779">
                  <a:moveTo>
                    <a:pt x="346530" y="0"/>
                  </a:moveTo>
                  <a:lnTo>
                    <a:pt x="0" y="0"/>
                  </a:lnTo>
                  <a:lnTo>
                    <a:pt x="0" y="271394"/>
                  </a:lnTo>
                  <a:lnTo>
                    <a:pt x="346530" y="271394"/>
                  </a:lnTo>
                  <a:lnTo>
                    <a:pt x="346530" y="0"/>
                  </a:lnTo>
                  <a:close/>
                </a:path>
              </a:pathLst>
            </a:custGeom>
            <a:solidFill>
              <a:srgbClr val="8D9FCA"/>
            </a:solidFill>
          </p:spPr>
          <p:txBody>
            <a:bodyPr wrap="square" lIns="0" tIns="0" rIns="0" bIns="0" rtlCol="0"/>
            <a:lstStyle/>
            <a:p>
              <a:endParaRPr/>
            </a:p>
          </p:txBody>
        </p:sp>
        <p:sp>
          <p:nvSpPr>
            <p:cNvPr id="182" name="object 182"/>
            <p:cNvSpPr/>
            <p:nvPr/>
          </p:nvSpPr>
          <p:spPr>
            <a:xfrm>
              <a:off x="3977190" y="3572721"/>
              <a:ext cx="346710" cy="271780"/>
            </a:xfrm>
            <a:custGeom>
              <a:avLst/>
              <a:gdLst/>
              <a:ahLst/>
              <a:cxnLst/>
              <a:rect l="l" t="t" r="r" b="b"/>
              <a:pathLst>
                <a:path w="346710" h="271779">
                  <a:moveTo>
                    <a:pt x="0" y="271394"/>
                  </a:moveTo>
                  <a:lnTo>
                    <a:pt x="346530" y="271394"/>
                  </a:lnTo>
                  <a:lnTo>
                    <a:pt x="346530" y="0"/>
                  </a:lnTo>
                  <a:lnTo>
                    <a:pt x="0" y="0"/>
                  </a:lnTo>
                  <a:lnTo>
                    <a:pt x="0" y="271394"/>
                  </a:lnTo>
                  <a:close/>
                </a:path>
              </a:pathLst>
            </a:custGeom>
            <a:ln w="3175">
              <a:solidFill>
                <a:srgbClr val="000000"/>
              </a:solidFill>
            </a:ln>
          </p:spPr>
          <p:txBody>
            <a:bodyPr wrap="square" lIns="0" tIns="0" rIns="0" bIns="0" rtlCol="0"/>
            <a:lstStyle/>
            <a:p>
              <a:endParaRPr/>
            </a:p>
          </p:txBody>
        </p:sp>
        <p:sp>
          <p:nvSpPr>
            <p:cNvPr id="183" name="object 183"/>
            <p:cNvSpPr/>
            <p:nvPr/>
          </p:nvSpPr>
          <p:spPr>
            <a:xfrm>
              <a:off x="4362208" y="4068270"/>
              <a:ext cx="346710" cy="63500"/>
            </a:xfrm>
            <a:custGeom>
              <a:avLst/>
              <a:gdLst/>
              <a:ahLst/>
              <a:cxnLst/>
              <a:rect l="l" t="t" r="r" b="b"/>
              <a:pathLst>
                <a:path w="346710" h="63500">
                  <a:moveTo>
                    <a:pt x="346530" y="0"/>
                  </a:moveTo>
                  <a:lnTo>
                    <a:pt x="0" y="0"/>
                  </a:lnTo>
                  <a:lnTo>
                    <a:pt x="0" y="63202"/>
                  </a:lnTo>
                  <a:lnTo>
                    <a:pt x="346530" y="63202"/>
                  </a:lnTo>
                  <a:lnTo>
                    <a:pt x="346530" y="0"/>
                  </a:lnTo>
                  <a:close/>
                </a:path>
              </a:pathLst>
            </a:custGeom>
            <a:solidFill>
              <a:srgbClr val="D2D741"/>
            </a:solidFill>
          </p:spPr>
          <p:txBody>
            <a:bodyPr wrap="square" lIns="0" tIns="0" rIns="0" bIns="0" rtlCol="0"/>
            <a:lstStyle/>
            <a:p>
              <a:endParaRPr/>
            </a:p>
          </p:txBody>
        </p:sp>
        <p:sp>
          <p:nvSpPr>
            <p:cNvPr id="184" name="object 184"/>
            <p:cNvSpPr/>
            <p:nvPr/>
          </p:nvSpPr>
          <p:spPr>
            <a:xfrm>
              <a:off x="4362208" y="4068270"/>
              <a:ext cx="346710" cy="63500"/>
            </a:xfrm>
            <a:custGeom>
              <a:avLst/>
              <a:gdLst/>
              <a:ahLst/>
              <a:cxnLst/>
              <a:rect l="l" t="t" r="r" b="b"/>
              <a:pathLst>
                <a:path w="346710" h="63500">
                  <a:moveTo>
                    <a:pt x="0" y="63202"/>
                  </a:moveTo>
                  <a:lnTo>
                    <a:pt x="346530" y="63202"/>
                  </a:lnTo>
                  <a:lnTo>
                    <a:pt x="346530" y="0"/>
                  </a:lnTo>
                  <a:lnTo>
                    <a:pt x="0" y="0"/>
                  </a:lnTo>
                  <a:lnTo>
                    <a:pt x="0" y="63202"/>
                  </a:lnTo>
                  <a:close/>
                </a:path>
              </a:pathLst>
            </a:custGeom>
            <a:ln w="3175">
              <a:solidFill>
                <a:srgbClr val="000000"/>
              </a:solidFill>
            </a:ln>
          </p:spPr>
          <p:txBody>
            <a:bodyPr wrap="square" lIns="0" tIns="0" rIns="0" bIns="0" rtlCol="0"/>
            <a:lstStyle/>
            <a:p>
              <a:endParaRPr/>
            </a:p>
          </p:txBody>
        </p:sp>
        <p:sp>
          <p:nvSpPr>
            <p:cNvPr id="185" name="object 185"/>
            <p:cNvSpPr/>
            <p:nvPr/>
          </p:nvSpPr>
          <p:spPr>
            <a:xfrm>
              <a:off x="4362208" y="3107425"/>
              <a:ext cx="346710" cy="316230"/>
            </a:xfrm>
            <a:custGeom>
              <a:avLst/>
              <a:gdLst/>
              <a:ahLst/>
              <a:cxnLst/>
              <a:rect l="l" t="t" r="r" b="b"/>
              <a:pathLst>
                <a:path w="346710" h="316229">
                  <a:moveTo>
                    <a:pt x="346530" y="0"/>
                  </a:moveTo>
                  <a:lnTo>
                    <a:pt x="0" y="0"/>
                  </a:lnTo>
                  <a:lnTo>
                    <a:pt x="0" y="316068"/>
                  </a:lnTo>
                  <a:lnTo>
                    <a:pt x="346530" y="316068"/>
                  </a:lnTo>
                  <a:lnTo>
                    <a:pt x="346530" y="0"/>
                  </a:lnTo>
                  <a:close/>
                </a:path>
              </a:pathLst>
            </a:custGeom>
            <a:solidFill>
              <a:srgbClr val="66C2A4"/>
            </a:solidFill>
          </p:spPr>
          <p:txBody>
            <a:bodyPr wrap="square" lIns="0" tIns="0" rIns="0" bIns="0" rtlCol="0"/>
            <a:lstStyle/>
            <a:p>
              <a:endParaRPr/>
            </a:p>
          </p:txBody>
        </p:sp>
        <p:sp>
          <p:nvSpPr>
            <p:cNvPr id="186" name="object 186"/>
            <p:cNvSpPr/>
            <p:nvPr/>
          </p:nvSpPr>
          <p:spPr>
            <a:xfrm>
              <a:off x="4362208" y="3107425"/>
              <a:ext cx="346710" cy="316230"/>
            </a:xfrm>
            <a:custGeom>
              <a:avLst/>
              <a:gdLst/>
              <a:ahLst/>
              <a:cxnLst/>
              <a:rect l="l" t="t" r="r" b="b"/>
              <a:pathLst>
                <a:path w="346710" h="316229">
                  <a:moveTo>
                    <a:pt x="0" y="316068"/>
                  </a:moveTo>
                  <a:lnTo>
                    <a:pt x="346530" y="316068"/>
                  </a:lnTo>
                  <a:lnTo>
                    <a:pt x="346530" y="0"/>
                  </a:lnTo>
                  <a:lnTo>
                    <a:pt x="0" y="0"/>
                  </a:lnTo>
                  <a:lnTo>
                    <a:pt x="0" y="316068"/>
                  </a:lnTo>
                  <a:close/>
                </a:path>
              </a:pathLst>
            </a:custGeom>
            <a:ln w="3175">
              <a:solidFill>
                <a:srgbClr val="000000"/>
              </a:solidFill>
            </a:ln>
          </p:spPr>
          <p:txBody>
            <a:bodyPr wrap="square" lIns="0" tIns="0" rIns="0" bIns="0" rtlCol="0"/>
            <a:lstStyle/>
            <a:p>
              <a:endParaRPr/>
            </a:p>
          </p:txBody>
        </p:sp>
        <p:sp>
          <p:nvSpPr>
            <p:cNvPr id="187" name="object 187"/>
            <p:cNvSpPr/>
            <p:nvPr/>
          </p:nvSpPr>
          <p:spPr>
            <a:xfrm>
              <a:off x="4362208" y="4169421"/>
              <a:ext cx="346710" cy="38100"/>
            </a:xfrm>
            <a:custGeom>
              <a:avLst/>
              <a:gdLst/>
              <a:ahLst/>
              <a:cxnLst/>
              <a:rect l="l" t="t" r="r" b="b"/>
              <a:pathLst>
                <a:path w="346710" h="38100">
                  <a:moveTo>
                    <a:pt x="346530" y="0"/>
                  </a:moveTo>
                  <a:lnTo>
                    <a:pt x="0" y="0"/>
                  </a:lnTo>
                  <a:lnTo>
                    <a:pt x="0" y="37948"/>
                  </a:lnTo>
                  <a:lnTo>
                    <a:pt x="346530" y="37948"/>
                  </a:lnTo>
                  <a:lnTo>
                    <a:pt x="346530" y="0"/>
                  </a:lnTo>
                  <a:close/>
                </a:path>
              </a:pathLst>
            </a:custGeom>
            <a:solidFill>
              <a:srgbClr val="E789C3"/>
            </a:solidFill>
          </p:spPr>
          <p:txBody>
            <a:bodyPr wrap="square" lIns="0" tIns="0" rIns="0" bIns="0" rtlCol="0"/>
            <a:lstStyle/>
            <a:p>
              <a:endParaRPr/>
            </a:p>
          </p:txBody>
        </p:sp>
        <p:sp>
          <p:nvSpPr>
            <p:cNvPr id="188" name="object 188"/>
            <p:cNvSpPr/>
            <p:nvPr/>
          </p:nvSpPr>
          <p:spPr>
            <a:xfrm>
              <a:off x="4362208" y="4169421"/>
              <a:ext cx="346710" cy="38100"/>
            </a:xfrm>
            <a:custGeom>
              <a:avLst/>
              <a:gdLst/>
              <a:ahLst/>
              <a:cxnLst/>
              <a:rect l="l" t="t" r="r" b="b"/>
              <a:pathLst>
                <a:path w="346710" h="38100">
                  <a:moveTo>
                    <a:pt x="0" y="37948"/>
                  </a:moveTo>
                  <a:lnTo>
                    <a:pt x="346530" y="37948"/>
                  </a:lnTo>
                  <a:lnTo>
                    <a:pt x="346530" y="0"/>
                  </a:lnTo>
                  <a:lnTo>
                    <a:pt x="0" y="0"/>
                  </a:lnTo>
                  <a:lnTo>
                    <a:pt x="0" y="37948"/>
                  </a:lnTo>
                  <a:close/>
                </a:path>
              </a:pathLst>
            </a:custGeom>
            <a:ln w="3175">
              <a:solidFill>
                <a:srgbClr val="000000"/>
              </a:solidFill>
            </a:ln>
          </p:spPr>
          <p:txBody>
            <a:bodyPr wrap="square" lIns="0" tIns="0" rIns="0" bIns="0" rtlCol="0"/>
            <a:lstStyle/>
            <a:p>
              <a:endParaRPr/>
            </a:p>
          </p:txBody>
        </p:sp>
        <p:sp>
          <p:nvSpPr>
            <p:cNvPr id="189" name="object 189"/>
            <p:cNvSpPr/>
            <p:nvPr/>
          </p:nvSpPr>
          <p:spPr>
            <a:xfrm>
              <a:off x="4362208" y="4308509"/>
              <a:ext cx="346710" cy="25400"/>
            </a:xfrm>
            <a:custGeom>
              <a:avLst/>
              <a:gdLst/>
              <a:ahLst/>
              <a:cxnLst/>
              <a:rect l="l" t="t" r="r" b="b"/>
              <a:pathLst>
                <a:path w="346710" h="25400">
                  <a:moveTo>
                    <a:pt x="346530" y="0"/>
                  </a:moveTo>
                  <a:lnTo>
                    <a:pt x="0" y="0"/>
                  </a:lnTo>
                  <a:lnTo>
                    <a:pt x="0" y="25265"/>
                  </a:lnTo>
                  <a:lnTo>
                    <a:pt x="346530" y="25265"/>
                  </a:lnTo>
                  <a:lnTo>
                    <a:pt x="346530" y="0"/>
                  </a:lnTo>
                  <a:close/>
                </a:path>
              </a:pathLst>
            </a:custGeom>
            <a:solidFill>
              <a:srgbClr val="CCBAA2"/>
            </a:solidFill>
          </p:spPr>
          <p:txBody>
            <a:bodyPr wrap="square" lIns="0" tIns="0" rIns="0" bIns="0" rtlCol="0"/>
            <a:lstStyle/>
            <a:p>
              <a:endParaRPr/>
            </a:p>
          </p:txBody>
        </p:sp>
        <p:sp>
          <p:nvSpPr>
            <p:cNvPr id="190" name="object 190"/>
            <p:cNvSpPr/>
            <p:nvPr/>
          </p:nvSpPr>
          <p:spPr>
            <a:xfrm>
              <a:off x="4362208" y="4308509"/>
              <a:ext cx="346710" cy="25400"/>
            </a:xfrm>
            <a:custGeom>
              <a:avLst/>
              <a:gdLst/>
              <a:ahLst/>
              <a:cxnLst/>
              <a:rect l="l" t="t" r="r" b="b"/>
              <a:pathLst>
                <a:path w="346710" h="25400">
                  <a:moveTo>
                    <a:pt x="0" y="25265"/>
                  </a:moveTo>
                  <a:lnTo>
                    <a:pt x="346530" y="25265"/>
                  </a:lnTo>
                  <a:lnTo>
                    <a:pt x="346530" y="0"/>
                  </a:lnTo>
                  <a:lnTo>
                    <a:pt x="0" y="0"/>
                  </a:lnTo>
                  <a:lnTo>
                    <a:pt x="0" y="25265"/>
                  </a:lnTo>
                  <a:close/>
                </a:path>
              </a:pathLst>
            </a:custGeom>
            <a:ln w="3175">
              <a:solidFill>
                <a:srgbClr val="000000"/>
              </a:solidFill>
            </a:ln>
          </p:spPr>
          <p:txBody>
            <a:bodyPr wrap="square" lIns="0" tIns="0" rIns="0" bIns="0" rtlCol="0"/>
            <a:lstStyle/>
            <a:p>
              <a:endParaRPr/>
            </a:p>
          </p:txBody>
        </p:sp>
        <p:sp>
          <p:nvSpPr>
            <p:cNvPr id="191" name="object 191"/>
            <p:cNvSpPr/>
            <p:nvPr/>
          </p:nvSpPr>
          <p:spPr>
            <a:xfrm>
              <a:off x="4362208" y="4371711"/>
              <a:ext cx="346710" cy="25400"/>
            </a:xfrm>
            <a:custGeom>
              <a:avLst/>
              <a:gdLst/>
              <a:ahLst/>
              <a:cxnLst/>
              <a:rect l="l" t="t" r="r" b="b"/>
              <a:pathLst>
                <a:path w="346710" h="25400">
                  <a:moveTo>
                    <a:pt x="346530" y="0"/>
                  </a:moveTo>
                  <a:lnTo>
                    <a:pt x="0" y="0"/>
                  </a:lnTo>
                  <a:lnTo>
                    <a:pt x="0" y="25265"/>
                  </a:lnTo>
                  <a:lnTo>
                    <a:pt x="346530" y="25265"/>
                  </a:lnTo>
                  <a:lnTo>
                    <a:pt x="346530" y="0"/>
                  </a:lnTo>
                  <a:close/>
                </a:path>
              </a:pathLst>
            </a:custGeom>
            <a:solidFill>
              <a:srgbClr val="B3B3B3"/>
            </a:solidFill>
          </p:spPr>
          <p:txBody>
            <a:bodyPr wrap="square" lIns="0" tIns="0" rIns="0" bIns="0" rtlCol="0"/>
            <a:lstStyle/>
            <a:p>
              <a:endParaRPr/>
            </a:p>
          </p:txBody>
        </p:sp>
        <p:sp>
          <p:nvSpPr>
            <p:cNvPr id="192" name="object 192"/>
            <p:cNvSpPr/>
            <p:nvPr/>
          </p:nvSpPr>
          <p:spPr>
            <a:xfrm>
              <a:off x="4362208" y="4371711"/>
              <a:ext cx="346710" cy="25400"/>
            </a:xfrm>
            <a:custGeom>
              <a:avLst/>
              <a:gdLst/>
              <a:ahLst/>
              <a:cxnLst/>
              <a:rect l="l" t="t" r="r" b="b"/>
              <a:pathLst>
                <a:path w="346710" h="25400">
                  <a:moveTo>
                    <a:pt x="0" y="25265"/>
                  </a:moveTo>
                  <a:lnTo>
                    <a:pt x="346530" y="25265"/>
                  </a:lnTo>
                  <a:lnTo>
                    <a:pt x="346530" y="0"/>
                  </a:lnTo>
                  <a:lnTo>
                    <a:pt x="0" y="0"/>
                  </a:lnTo>
                  <a:lnTo>
                    <a:pt x="0" y="25265"/>
                  </a:lnTo>
                  <a:close/>
                </a:path>
              </a:pathLst>
            </a:custGeom>
            <a:ln w="3175">
              <a:solidFill>
                <a:srgbClr val="000000"/>
              </a:solidFill>
            </a:ln>
          </p:spPr>
          <p:txBody>
            <a:bodyPr wrap="square" lIns="0" tIns="0" rIns="0" bIns="0" rtlCol="0"/>
            <a:lstStyle/>
            <a:p>
              <a:endParaRPr/>
            </a:p>
          </p:txBody>
        </p:sp>
        <p:sp>
          <p:nvSpPr>
            <p:cNvPr id="193" name="object 193"/>
            <p:cNvSpPr/>
            <p:nvPr/>
          </p:nvSpPr>
          <p:spPr>
            <a:xfrm>
              <a:off x="4362208" y="4333774"/>
              <a:ext cx="346710" cy="38100"/>
            </a:xfrm>
            <a:custGeom>
              <a:avLst/>
              <a:gdLst/>
              <a:ahLst/>
              <a:cxnLst/>
              <a:rect l="l" t="t" r="r" b="b"/>
              <a:pathLst>
                <a:path w="346710" h="38100">
                  <a:moveTo>
                    <a:pt x="346530" y="0"/>
                  </a:moveTo>
                  <a:lnTo>
                    <a:pt x="0" y="0"/>
                  </a:lnTo>
                  <a:lnTo>
                    <a:pt x="0" y="37948"/>
                  </a:lnTo>
                  <a:lnTo>
                    <a:pt x="346530" y="37948"/>
                  </a:lnTo>
                  <a:lnTo>
                    <a:pt x="346530" y="0"/>
                  </a:lnTo>
                  <a:close/>
                </a:path>
              </a:pathLst>
            </a:custGeom>
            <a:solidFill>
              <a:srgbClr val="FFD92E"/>
            </a:solidFill>
          </p:spPr>
          <p:txBody>
            <a:bodyPr wrap="square" lIns="0" tIns="0" rIns="0" bIns="0" rtlCol="0"/>
            <a:lstStyle/>
            <a:p>
              <a:endParaRPr/>
            </a:p>
          </p:txBody>
        </p:sp>
        <p:sp>
          <p:nvSpPr>
            <p:cNvPr id="194" name="object 194"/>
            <p:cNvSpPr/>
            <p:nvPr/>
          </p:nvSpPr>
          <p:spPr>
            <a:xfrm>
              <a:off x="4362208" y="4333774"/>
              <a:ext cx="346710" cy="518795"/>
            </a:xfrm>
            <a:custGeom>
              <a:avLst/>
              <a:gdLst/>
              <a:ahLst/>
              <a:cxnLst/>
              <a:rect l="l" t="t" r="r" b="b"/>
              <a:pathLst>
                <a:path w="346710" h="518795">
                  <a:moveTo>
                    <a:pt x="0" y="37948"/>
                  </a:moveTo>
                  <a:lnTo>
                    <a:pt x="346530" y="37948"/>
                  </a:lnTo>
                  <a:lnTo>
                    <a:pt x="346530" y="0"/>
                  </a:lnTo>
                  <a:lnTo>
                    <a:pt x="0" y="0"/>
                  </a:lnTo>
                  <a:lnTo>
                    <a:pt x="0" y="37948"/>
                  </a:lnTo>
                  <a:close/>
                </a:path>
                <a:path w="346710" h="518795">
                  <a:moveTo>
                    <a:pt x="0" y="518315"/>
                  </a:moveTo>
                  <a:lnTo>
                    <a:pt x="346530" y="518315"/>
                  </a:lnTo>
                  <a:lnTo>
                    <a:pt x="346530" y="63202"/>
                  </a:lnTo>
                  <a:lnTo>
                    <a:pt x="0" y="63202"/>
                  </a:lnTo>
                  <a:lnTo>
                    <a:pt x="0" y="518315"/>
                  </a:lnTo>
                  <a:close/>
                </a:path>
              </a:pathLst>
            </a:custGeom>
            <a:ln w="3175">
              <a:solidFill>
                <a:srgbClr val="000000"/>
              </a:solidFill>
            </a:ln>
          </p:spPr>
          <p:txBody>
            <a:bodyPr wrap="square" lIns="0" tIns="0" rIns="0" bIns="0" rtlCol="0"/>
            <a:lstStyle/>
            <a:p>
              <a:endParaRPr/>
            </a:p>
          </p:txBody>
        </p:sp>
        <p:sp>
          <p:nvSpPr>
            <p:cNvPr id="195" name="object 195"/>
            <p:cNvSpPr/>
            <p:nvPr/>
          </p:nvSpPr>
          <p:spPr>
            <a:xfrm>
              <a:off x="4362208" y="3549954"/>
              <a:ext cx="346710" cy="227965"/>
            </a:xfrm>
            <a:custGeom>
              <a:avLst/>
              <a:gdLst/>
              <a:ahLst/>
              <a:cxnLst/>
              <a:rect l="l" t="t" r="r" b="b"/>
              <a:pathLst>
                <a:path w="346710" h="227964">
                  <a:moveTo>
                    <a:pt x="346530" y="0"/>
                  </a:moveTo>
                  <a:lnTo>
                    <a:pt x="0" y="0"/>
                  </a:lnTo>
                  <a:lnTo>
                    <a:pt x="0" y="227556"/>
                  </a:lnTo>
                  <a:lnTo>
                    <a:pt x="346530" y="227556"/>
                  </a:lnTo>
                  <a:lnTo>
                    <a:pt x="346530" y="0"/>
                  </a:lnTo>
                  <a:close/>
                </a:path>
              </a:pathLst>
            </a:custGeom>
            <a:solidFill>
              <a:srgbClr val="B0A783"/>
            </a:solidFill>
          </p:spPr>
          <p:txBody>
            <a:bodyPr wrap="square" lIns="0" tIns="0" rIns="0" bIns="0" rtlCol="0"/>
            <a:lstStyle/>
            <a:p>
              <a:endParaRPr/>
            </a:p>
          </p:txBody>
        </p:sp>
        <p:sp>
          <p:nvSpPr>
            <p:cNvPr id="196" name="object 196"/>
            <p:cNvSpPr/>
            <p:nvPr/>
          </p:nvSpPr>
          <p:spPr>
            <a:xfrm>
              <a:off x="4362208" y="3549954"/>
              <a:ext cx="346710" cy="227965"/>
            </a:xfrm>
            <a:custGeom>
              <a:avLst/>
              <a:gdLst/>
              <a:ahLst/>
              <a:cxnLst/>
              <a:rect l="l" t="t" r="r" b="b"/>
              <a:pathLst>
                <a:path w="346710" h="227964">
                  <a:moveTo>
                    <a:pt x="0" y="227556"/>
                  </a:moveTo>
                  <a:lnTo>
                    <a:pt x="346530" y="227556"/>
                  </a:lnTo>
                  <a:lnTo>
                    <a:pt x="346530" y="0"/>
                  </a:lnTo>
                  <a:lnTo>
                    <a:pt x="0" y="0"/>
                  </a:lnTo>
                  <a:lnTo>
                    <a:pt x="0" y="227556"/>
                  </a:lnTo>
                  <a:close/>
                </a:path>
              </a:pathLst>
            </a:custGeom>
            <a:ln w="3175">
              <a:solidFill>
                <a:srgbClr val="000000"/>
              </a:solidFill>
            </a:ln>
          </p:spPr>
          <p:txBody>
            <a:bodyPr wrap="square" lIns="0" tIns="0" rIns="0" bIns="0" rtlCol="0"/>
            <a:lstStyle/>
            <a:p>
              <a:endParaRPr/>
            </a:p>
          </p:txBody>
        </p:sp>
        <p:sp>
          <p:nvSpPr>
            <p:cNvPr id="197" name="object 197"/>
            <p:cNvSpPr/>
            <p:nvPr/>
          </p:nvSpPr>
          <p:spPr>
            <a:xfrm>
              <a:off x="4362208" y="3423549"/>
              <a:ext cx="346710" cy="127000"/>
            </a:xfrm>
            <a:custGeom>
              <a:avLst/>
              <a:gdLst/>
              <a:ahLst/>
              <a:cxnLst/>
              <a:rect l="l" t="t" r="r" b="b"/>
              <a:pathLst>
                <a:path w="346710" h="127000">
                  <a:moveTo>
                    <a:pt x="346530" y="0"/>
                  </a:moveTo>
                  <a:lnTo>
                    <a:pt x="0" y="0"/>
                  </a:lnTo>
                  <a:lnTo>
                    <a:pt x="0" y="126405"/>
                  </a:lnTo>
                  <a:lnTo>
                    <a:pt x="346530" y="126405"/>
                  </a:lnTo>
                  <a:lnTo>
                    <a:pt x="346530" y="0"/>
                  </a:lnTo>
                  <a:close/>
                </a:path>
              </a:pathLst>
            </a:custGeom>
            <a:solidFill>
              <a:srgbClr val="FB8D61"/>
            </a:solidFill>
          </p:spPr>
          <p:txBody>
            <a:bodyPr wrap="square" lIns="0" tIns="0" rIns="0" bIns="0" rtlCol="0"/>
            <a:lstStyle/>
            <a:p>
              <a:endParaRPr/>
            </a:p>
          </p:txBody>
        </p:sp>
        <p:sp>
          <p:nvSpPr>
            <p:cNvPr id="198" name="object 198"/>
            <p:cNvSpPr/>
            <p:nvPr/>
          </p:nvSpPr>
          <p:spPr>
            <a:xfrm>
              <a:off x="4362208" y="3423549"/>
              <a:ext cx="346710" cy="127000"/>
            </a:xfrm>
            <a:custGeom>
              <a:avLst/>
              <a:gdLst/>
              <a:ahLst/>
              <a:cxnLst/>
              <a:rect l="l" t="t" r="r" b="b"/>
              <a:pathLst>
                <a:path w="346710" h="127000">
                  <a:moveTo>
                    <a:pt x="0" y="126405"/>
                  </a:moveTo>
                  <a:lnTo>
                    <a:pt x="346530" y="126405"/>
                  </a:lnTo>
                  <a:lnTo>
                    <a:pt x="346530" y="0"/>
                  </a:lnTo>
                  <a:lnTo>
                    <a:pt x="0" y="0"/>
                  </a:lnTo>
                  <a:lnTo>
                    <a:pt x="0" y="126405"/>
                  </a:lnTo>
                  <a:close/>
                </a:path>
              </a:pathLst>
            </a:custGeom>
            <a:ln w="3175">
              <a:solidFill>
                <a:srgbClr val="000000"/>
              </a:solidFill>
            </a:ln>
          </p:spPr>
          <p:txBody>
            <a:bodyPr wrap="square" lIns="0" tIns="0" rIns="0" bIns="0" rtlCol="0"/>
            <a:lstStyle/>
            <a:p>
              <a:endParaRPr/>
            </a:p>
          </p:txBody>
        </p:sp>
        <p:sp>
          <p:nvSpPr>
            <p:cNvPr id="199" name="object 199"/>
            <p:cNvSpPr/>
            <p:nvPr/>
          </p:nvSpPr>
          <p:spPr>
            <a:xfrm>
              <a:off x="4362208" y="3929182"/>
              <a:ext cx="346710" cy="139700"/>
            </a:xfrm>
            <a:custGeom>
              <a:avLst/>
              <a:gdLst/>
              <a:ahLst/>
              <a:cxnLst/>
              <a:rect l="l" t="t" r="r" b="b"/>
              <a:pathLst>
                <a:path w="346710" h="139700">
                  <a:moveTo>
                    <a:pt x="346530" y="0"/>
                  </a:moveTo>
                  <a:lnTo>
                    <a:pt x="0" y="0"/>
                  </a:lnTo>
                  <a:lnTo>
                    <a:pt x="0" y="139087"/>
                  </a:lnTo>
                  <a:lnTo>
                    <a:pt x="346530" y="139087"/>
                  </a:lnTo>
                  <a:lnTo>
                    <a:pt x="346530" y="0"/>
                  </a:lnTo>
                  <a:close/>
                </a:path>
              </a:pathLst>
            </a:custGeom>
            <a:solidFill>
              <a:srgbClr val="B994C6"/>
            </a:solidFill>
          </p:spPr>
          <p:txBody>
            <a:bodyPr wrap="square" lIns="0" tIns="0" rIns="0" bIns="0" rtlCol="0"/>
            <a:lstStyle/>
            <a:p>
              <a:endParaRPr/>
            </a:p>
          </p:txBody>
        </p:sp>
        <p:sp>
          <p:nvSpPr>
            <p:cNvPr id="200" name="object 200"/>
            <p:cNvSpPr/>
            <p:nvPr/>
          </p:nvSpPr>
          <p:spPr>
            <a:xfrm>
              <a:off x="4362208" y="3929182"/>
              <a:ext cx="346710" cy="139700"/>
            </a:xfrm>
            <a:custGeom>
              <a:avLst/>
              <a:gdLst/>
              <a:ahLst/>
              <a:cxnLst/>
              <a:rect l="l" t="t" r="r" b="b"/>
              <a:pathLst>
                <a:path w="346710" h="139700">
                  <a:moveTo>
                    <a:pt x="0" y="139087"/>
                  </a:moveTo>
                  <a:lnTo>
                    <a:pt x="346530" y="139087"/>
                  </a:lnTo>
                  <a:lnTo>
                    <a:pt x="346530" y="0"/>
                  </a:lnTo>
                  <a:lnTo>
                    <a:pt x="0" y="0"/>
                  </a:lnTo>
                  <a:lnTo>
                    <a:pt x="0" y="139087"/>
                  </a:lnTo>
                  <a:close/>
                </a:path>
              </a:pathLst>
            </a:custGeom>
            <a:ln w="3175">
              <a:solidFill>
                <a:srgbClr val="000000"/>
              </a:solidFill>
            </a:ln>
          </p:spPr>
          <p:txBody>
            <a:bodyPr wrap="square" lIns="0" tIns="0" rIns="0" bIns="0" rtlCol="0"/>
            <a:lstStyle/>
            <a:p>
              <a:endParaRPr/>
            </a:p>
          </p:txBody>
        </p:sp>
        <p:sp>
          <p:nvSpPr>
            <p:cNvPr id="201" name="object 201"/>
            <p:cNvSpPr/>
            <p:nvPr/>
          </p:nvSpPr>
          <p:spPr>
            <a:xfrm>
              <a:off x="4362208" y="4207369"/>
              <a:ext cx="346710" cy="50800"/>
            </a:xfrm>
            <a:custGeom>
              <a:avLst/>
              <a:gdLst/>
              <a:ahLst/>
              <a:cxnLst/>
              <a:rect l="l" t="t" r="r" b="b"/>
              <a:pathLst>
                <a:path w="346710" h="50800">
                  <a:moveTo>
                    <a:pt x="346530" y="0"/>
                  </a:moveTo>
                  <a:lnTo>
                    <a:pt x="0" y="0"/>
                  </a:lnTo>
                  <a:lnTo>
                    <a:pt x="0" y="50575"/>
                  </a:lnTo>
                  <a:lnTo>
                    <a:pt x="346530" y="50575"/>
                  </a:lnTo>
                  <a:lnTo>
                    <a:pt x="346530" y="0"/>
                  </a:lnTo>
                  <a:close/>
                </a:path>
              </a:pathLst>
            </a:custGeom>
            <a:solidFill>
              <a:srgbClr val="A6D753"/>
            </a:solidFill>
          </p:spPr>
          <p:txBody>
            <a:bodyPr wrap="square" lIns="0" tIns="0" rIns="0" bIns="0" rtlCol="0"/>
            <a:lstStyle/>
            <a:p>
              <a:endParaRPr/>
            </a:p>
          </p:txBody>
        </p:sp>
        <p:sp>
          <p:nvSpPr>
            <p:cNvPr id="202" name="object 202"/>
            <p:cNvSpPr/>
            <p:nvPr/>
          </p:nvSpPr>
          <p:spPr>
            <a:xfrm>
              <a:off x="4362208" y="4207369"/>
              <a:ext cx="346710" cy="50800"/>
            </a:xfrm>
            <a:custGeom>
              <a:avLst/>
              <a:gdLst/>
              <a:ahLst/>
              <a:cxnLst/>
              <a:rect l="l" t="t" r="r" b="b"/>
              <a:pathLst>
                <a:path w="346710" h="50800">
                  <a:moveTo>
                    <a:pt x="0" y="50575"/>
                  </a:moveTo>
                  <a:lnTo>
                    <a:pt x="346530" y="50575"/>
                  </a:lnTo>
                  <a:lnTo>
                    <a:pt x="346530" y="0"/>
                  </a:lnTo>
                  <a:lnTo>
                    <a:pt x="0" y="0"/>
                  </a:lnTo>
                  <a:lnTo>
                    <a:pt x="0" y="50575"/>
                  </a:lnTo>
                  <a:close/>
                </a:path>
              </a:pathLst>
            </a:custGeom>
            <a:ln w="3175">
              <a:solidFill>
                <a:srgbClr val="000000"/>
              </a:solidFill>
            </a:ln>
          </p:spPr>
          <p:txBody>
            <a:bodyPr wrap="square" lIns="0" tIns="0" rIns="0" bIns="0" rtlCol="0"/>
            <a:lstStyle/>
            <a:p>
              <a:endParaRPr/>
            </a:p>
          </p:txBody>
        </p:sp>
        <p:sp>
          <p:nvSpPr>
            <p:cNvPr id="203" name="object 203"/>
            <p:cNvSpPr/>
            <p:nvPr/>
          </p:nvSpPr>
          <p:spPr>
            <a:xfrm>
              <a:off x="4362208" y="4131473"/>
              <a:ext cx="346710" cy="38100"/>
            </a:xfrm>
            <a:custGeom>
              <a:avLst/>
              <a:gdLst/>
              <a:ahLst/>
              <a:cxnLst/>
              <a:rect l="l" t="t" r="r" b="b"/>
              <a:pathLst>
                <a:path w="346710" h="38100">
                  <a:moveTo>
                    <a:pt x="346530" y="0"/>
                  </a:moveTo>
                  <a:lnTo>
                    <a:pt x="0" y="0"/>
                  </a:lnTo>
                  <a:lnTo>
                    <a:pt x="0" y="37948"/>
                  </a:lnTo>
                  <a:lnTo>
                    <a:pt x="346530" y="37948"/>
                  </a:lnTo>
                  <a:lnTo>
                    <a:pt x="346530" y="0"/>
                  </a:lnTo>
                  <a:close/>
                </a:path>
              </a:pathLst>
            </a:custGeom>
            <a:solidFill>
              <a:srgbClr val="C49595"/>
            </a:solidFill>
          </p:spPr>
          <p:txBody>
            <a:bodyPr wrap="square" lIns="0" tIns="0" rIns="0" bIns="0" rtlCol="0"/>
            <a:lstStyle/>
            <a:p>
              <a:endParaRPr/>
            </a:p>
          </p:txBody>
        </p:sp>
        <p:sp>
          <p:nvSpPr>
            <p:cNvPr id="204" name="object 204"/>
            <p:cNvSpPr/>
            <p:nvPr/>
          </p:nvSpPr>
          <p:spPr>
            <a:xfrm>
              <a:off x="4362208" y="4131473"/>
              <a:ext cx="346710" cy="38100"/>
            </a:xfrm>
            <a:custGeom>
              <a:avLst/>
              <a:gdLst/>
              <a:ahLst/>
              <a:cxnLst/>
              <a:rect l="l" t="t" r="r" b="b"/>
              <a:pathLst>
                <a:path w="346710" h="38100">
                  <a:moveTo>
                    <a:pt x="0" y="37948"/>
                  </a:moveTo>
                  <a:lnTo>
                    <a:pt x="346530" y="37948"/>
                  </a:lnTo>
                  <a:lnTo>
                    <a:pt x="346530" y="0"/>
                  </a:lnTo>
                  <a:lnTo>
                    <a:pt x="0" y="0"/>
                  </a:lnTo>
                  <a:lnTo>
                    <a:pt x="0" y="37948"/>
                  </a:lnTo>
                  <a:close/>
                </a:path>
              </a:pathLst>
            </a:custGeom>
            <a:ln w="3175">
              <a:solidFill>
                <a:srgbClr val="000000"/>
              </a:solidFill>
            </a:ln>
          </p:spPr>
          <p:txBody>
            <a:bodyPr wrap="square" lIns="0" tIns="0" rIns="0" bIns="0" rtlCol="0"/>
            <a:lstStyle/>
            <a:p>
              <a:endParaRPr/>
            </a:p>
          </p:txBody>
        </p:sp>
        <p:sp>
          <p:nvSpPr>
            <p:cNvPr id="205" name="object 205"/>
            <p:cNvSpPr/>
            <p:nvPr/>
          </p:nvSpPr>
          <p:spPr>
            <a:xfrm>
              <a:off x="4362208" y="3777511"/>
              <a:ext cx="346710" cy="151765"/>
            </a:xfrm>
            <a:custGeom>
              <a:avLst/>
              <a:gdLst/>
              <a:ahLst/>
              <a:cxnLst/>
              <a:rect l="l" t="t" r="r" b="b"/>
              <a:pathLst>
                <a:path w="346710" h="151764">
                  <a:moveTo>
                    <a:pt x="346530" y="0"/>
                  </a:moveTo>
                  <a:lnTo>
                    <a:pt x="0" y="0"/>
                  </a:lnTo>
                  <a:lnTo>
                    <a:pt x="0" y="151726"/>
                  </a:lnTo>
                  <a:lnTo>
                    <a:pt x="346530" y="151726"/>
                  </a:lnTo>
                  <a:lnTo>
                    <a:pt x="346530" y="0"/>
                  </a:lnTo>
                  <a:close/>
                </a:path>
              </a:pathLst>
            </a:custGeom>
            <a:solidFill>
              <a:srgbClr val="8D9FCA"/>
            </a:solidFill>
          </p:spPr>
          <p:txBody>
            <a:bodyPr wrap="square" lIns="0" tIns="0" rIns="0" bIns="0" rtlCol="0"/>
            <a:lstStyle/>
            <a:p>
              <a:endParaRPr/>
            </a:p>
          </p:txBody>
        </p:sp>
        <p:sp>
          <p:nvSpPr>
            <p:cNvPr id="206" name="object 206"/>
            <p:cNvSpPr/>
            <p:nvPr/>
          </p:nvSpPr>
          <p:spPr>
            <a:xfrm>
              <a:off x="4362208" y="3777511"/>
              <a:ext cx="346710" cy="151765"/>
            </a:xfrm>
            <a:custGeom>
              <a:avLst/>
              <a:gdLst/>
              <a:ahLst/>
              <a:cxnLst/>
              <a:rect l="l" t="t" r="r" b="b"/>
              <a:pathLst>
                <a:path w="346710" h="151764">
                  <a:moveTo>
                    <a:pt x="0" y="151726"/>
                  </a:moveTo>
                  <a:lnTo>
                    <a:pt x="346530" y="151726"/>
                  </a:lnTo>
                  <a:lnTo>
                    <a:pt x="346530" y="0"/>
                  </a:lnTo>
                  <a:lnTo>
                    <a:pt x="0" y="0"/>
                  </a:lnTo>
                  <a:lnTo>
                    <a:pt x="0" y="151726"/>
                  </a:lnTo>
                  <a:close/>
                </a:path>
              </a:pathLst>
            </a:custGeom>
            <a:ln w="3175">
              <a:solidFill>
                <a:srgbClr val="000000"/>
              </a:solidFill>
            </a:ln>
          </p:spPr>
          <p:txBody>
            <a:bodyPr wrap="square" lIns="0" tIns="0" rIns="0" bIns="0" rtlCol="0"/>
            <a:lstStyle/>
            <a:p>
              <a:endParaRPr/>
            </a:p>
          </p:txBody>
        </p:sp>
        <p:sp>
          <p:nvSpPr>
            <p:cNvPr id="207" name="object 207"/>
            <p:cNvSpPr/>
            <p:nvPr/>
          </p:nvSpPr>
          <p:spPr>
            <a:xfrm>
              <a:off x="4362208" y="4257933"/>
              <a:ext cx="346710" cy="50800"/>
            </a:xfrm>
            <a:custGeom>
              <a:avLst/>
              <a:gdLst/>
              <a:ahLst/>
              <a:cxnLst/>
              <a:rect l="l" t="t" r="r" b="b"/>
              <a:pathLst>
                <a:path w="346710" h="50800">
                  <a:moveTo>
                    <a:pt x="346530" y="0"/>
                  </a:moveTo>
                  <a:lnTo>
                    <a:pt x="0" y="0"/>
                  </a:lnTo>
                  <a:lnTo>
                    <a:pt x="0" y="50575"/>
                  </a:lnTo>
                  <a:lnTo>
                    <a:pt x="346530" y="50575"/>
                  </a:lnTo>
                  <a:lnTo>
                    <a:pt x="346530" y="0"/>
                  </a:lnTo>
                  <a:close/>
                </a:path>
              </a:pathLst>
            </a:custGeom>
            <a:solidFill>
              <a:srgbClr val="F1CE60"/>
            </a:solidFill>
          </p:spPr>
          <p:txBody>
            <a:bodyPr wrap="square" lIns="0" tIns="0" rIns="0" bIns="0" rtlCol="0"/>
            <a:lstStyle/>
            <a:p>
              <a:endParaRPr/>
            </a:p>
          </p:txBody>
        </p:sp>
        <p:sp>
          <p:nvSpPr>
            <p:cNvPr id="208" name="object 208"/>
            <p:cNvSpPr/>
            <p:nvPr/>
          </p:nvSpPr>
          <p:spPr>
            <a:xfrm>
              <a:off x="4362208" y="4257933"/>
              <a:ext cx="346710" cy="50800"/>
            </a:xfrm>
            <a:custGeom>
              <a:avLst/>
              <a:gdLst/>
              <a:ahLst/>
              <a:cxnLst/>
              <a:rect l="l" t="t" r="r" b="b"/>
              <a:pathLst>
                <a:path w="346710" h="50800">
                  <a:moveTo>
                    <a:pt x="0" y="50575"/>
                  </a:moveTo>
                  <a:lnTo>
                    <a:pt x="346530" y="50575"/>
                  </a:lnTo>
                  <a:lnTo>
                    <a:pt x="346530" y="0"/>
                  </a:lnTo>
                  <a:lnTo>
                    <a:pt x="0" y="0"/>
                  </a:lnTo>
                  <a:lnTo>
                    <a:pt x="0" y="50575"/>
                  </a:lnTo>
                  <a:close/>
                </a:path>
              </a:pathLst>
            </a:custGeom>
            <a:ln w="3175">
              <a:solidFill>
                <a:srgbClr val="000000"/>
              </a:solidFill>
            </a:ln>
          </p:spPr>
          <p:txBody>
            <a:bodyPr wrap="square" lIns="0" tIns="0" rIns="0" bIns="0" rtlCol="0"/>
            <a:lstStyle/>
            <a:p>
              <a:endParaRPr/>
            </a:p>
          </p:txBody>
        </p:sp>
        <p:sp>
          <p:nvSpPr>
            <p:cNvPr id="209" name="object 209"/>
            <p:cNvSpPr/>
            <p:nvPr/>
          </p:nvSpPr>
          <p:spPr>
            <a:xfrm>
              <a:off x="4747271" y="3930404"/>
              <a:ext cx="346710" cy="99060"/>
            </a:xfrm>
            <a:custGeom>
              <a:avLst/>
              <a:gdLst/>
              <a:ahLst/>
              <a:cxnLst/>
              <a:rect l="l" t="t" r="r" b="b"/>
              <a:pathLst>
                <a:path w="346710" h="99060">
                  <a:moveTo>
                    <a:pt x="346530" y="0"/>
                  </a:moveTo>
                  <a:lnTo>
                    <a:pt x="0" y="0"/>
                  </a:lnTo>
                  <a:lnTo>
                    <a:pt x="0" y="98761"/>
                  </a:lnTo>
                  <a:lnTo>
                    <a:pt x="346530" y="98761"/>
                  </a:lnTo>
                  <a:lnTo>
                    <a:pt x="346530" y="0"/>
                  </a:lnTo>
                  <a:close/>
                </a:path>
              </a:pathLst>
            </a:custGeom>
            <a:solidFill>
              <a:srgbClr val="D2D741"/>
            </a:solidFill>
          </p:spPr>
          <p:txBody>
            <a:bodyPr wrap="square" lIns="0" tIns="0" rIns="0" bIns="0" rtlCol="0"/>
            <a:lstStyle/>
            <a:p>
              <a:endParaRPr/>
            </a:p>
          </p:txBody>
        </p:sp>
        <p:sp>
          <p:nvSpPr>
            <p:cNvPr id="210" name="object 210"/>
            <p:cNvSpPr/>
            <p:nvPr/>
          </p:nvSpPr>
          <p:spPr>
            <a:xfrm>
              <a:off x="4747271" y="3930404"/>
              <a:ext cx="346710" cy="99060"/>
            </a:xfrm>
            <a:custGeom>
              <a:avLst/>
              <a:gdLst/>
              <a:ahLst/>
              <a:cxnLst/>
              <a:rect l="l" t="t" r="r" b="b"/>
              <a:pathLst>
                <a:path w="346710" h="99060">
                  <a:moveTo>
                    <a:pt x="0" y="98761"/>
                  </a:moveTo>
                  <a:lnTo>
                    <a:pt x="346530" y="98761"/>
                  </a:lnTo>
                  <a:lnTo>
                    <a:pt x="346530" y="0"/>
                  </a:lnTo>
                  <a:lnTo>
                    <a:pt x="0" y="0"/>
                  </a:lnTo>
                  <a:lnTo>
                    <a:pt x="0" y="98761"/>
                  </a:lnTo>
                  <a:close/>
                </a:path>
              </a:pathLst>
            </a:custGeom>
            <a:ln w="3175">
              <a:solidFill>
                <a:srgbClr val="000000"/>
              </a:solidFill>
            </a:ln>
          </p:spPr>
          <p:txBody>
            <a:bodyPr wrap="square" lIns="0" tIns="0" rIns="0" bIns="0" rtlCol="0"/>
            <a:lstStyle/>
            <a:p>
              <a:endParaRPr/>
            </a:p>
          </p:txBody>
        </p:sp>
        <p:sp>
          <p:nvSpPr>
            <p:cNvPr id="211" name="object 211"/>
            <p:cNvSpPr/>
            <p:nvPr/>
          </p:nvSpPr>
          <p:spPr>
            <a:xfrm>
              <a:off x="4747271" y="4029155"/>
              <a:ext cx="346710" cy="198120"/>
            </a:xfrm>
            <a:custGeom>
              <a:avLst/>
              <a:gdLst/>
              <a:ahLst/>
              <a:cxnLst/>
              <a:rect l="l" t="t" r="r" b="b"/>
              <a:pathLst>
                <a:path w="346710" h="198120">
                  <a:moveTo>
                    <a:pt x="346530" y="0"/>
                  </a:moveTo>
                  <a:lnTo>
                    <a:pt x="0" y="0"/>
                  </a:lnTo>
                  <a:lnTo>
                    <a:pt x="0" y="197523"/>
                  </a:lnTo>
                  <a:lnTo>
                    <a:pt x="346530" y="197523"/>
                  </a:lnTo>
                  <a:lnTo>
                    <a:pt x="346530" y="0"/>
                  </a:lnTo>
                  <a:close/>
                </a:path>
              </a:pathLst>
            </a:custGeom>
            <a:solidFill>
              <a:srgbClr val="C5B08A"/>
            </a:solidFill>
          </p:spPr>
          <p:txBody>
            <a:bodyPr wrap="square" lIns="0" tIns="0" rIns="0" bIns="0" rtlCol="0"/>
            <a:lstStyle/>
            <a:p>
              <a:endParaRPr/>
            </a:p>
          </p:txBody>
        </p:sp>
        <p:sp>
          <p:nvSpPr>
            <p:cNvPr id="212" name="object 212"/>
            <p:cNvSpPr/>
            <p:nvPr/>
          </p:nvSpPr>
          <p:spPr>
            <a:xfrm>
              <a:off x="4747271" y="4029155"/>
              <a:ext cx="346710" cy="198120"/>
            </a:xfrm>
            <a:custGeom>
              <a:avLst/>
              <a:gdLst/>
              <a:ahLst/>
              <a:cxnLst/>
              <a:rect l="l" t="t" r="r" b="b"/>
              <a:pathLst>
                <a:path w="346710" h="198120">
                  <a:moveTo>
                    <a:pt x="0" y="197523"/>
                  </a:moveTo>
                  <a:lnTo>
                    <a:pt x="346530" y="197523"/>
                  </a:lnTo>
                  <a:lnTo>
                    <a:pt x="346530" y="0"/>
                  </a:lnTo>
                  <a:lnTo>
                    <a:pt x="0" y="0"/>
                  </a:lnTo>
                  <a:lnTo>
                    <a:pt x="0" y="197523"/>
                  </a:lnTo>
                  <a:close/>
                </a:path>
              </a:pathLst>
            </a:custGeom>
            <a:ln w="3175">
              <a:solidFill>
                <a:srgbClr val="000000"/>
              </a:solidFill>
            </a:ln>
          </p:spPr>
          <p:txBody>
            <a:bodyPr wrap="square" lIns="0" tIns="0" rIns="0" bIns="0" rtlCol="0"/>
            <a:lstStyle/>
            <a:p>
              <a:endParaRPr/>
            </a:p>
          </p:txBody>
        </p:sp>
        <p:sp>
          <p:nvSpPr>
            <p:cNvPr id="213" name="object 213"/>
            <p:cNvSpPr/>
            <p:nvPr/>
          </p:nvSpPr>
          <p:spPr>
            <a:xfrm>
              <a:off x="4747271" y="3107480"/>
              <a:ext cx="346710" cy="329565"/>
            </a:xfrm>
            <a:custGeom>
              <a:avLst/>
              <a:gdLst/>
              <a:ahLst/>
              <a:cxnLst/>
              <a:rect l="l" t="t" r="r" b="b"/>
              <a:pathLst>
                <a:path w="346710" h="329564">
                  <a:moveTo>
                    <a:pt x="346530" y="0"/>
                  </a:moveTo>
                  <a:lnTo>
                    <a:pt x="0" y="0"/>
                  </a:lnTo>
                  <a:lnTo>
                    <a:pt x="0" y="329180"/>
                  </a:lnTo>
                  <a:lnTo>
                    <a:pt x="346530" y="329180"/>
                  </a:lnTo>
                  <a:lnTo>
                    <a:pt x="346530" y="0"/>
                  </a:lnTo>
                  <a:close/>
                </a:path>
              </a:pathLst>
            </a:custGeom>
            <a:solidFill>
              <a:srgbClr val="66C2A4"/>
            </a:solidFill>
          </p:spPr>
          <p:txBody>
            <a:bodyPr wrap="square" lIns="0" tIns="0" rIns="0" bIns="0" rtlCol="0"/>
            <a:lstStyle/>
            <a:p>
              <a:endParaRPr/>
            </a:p>
          </p:txBody>
        </p:sp>
        <p:sp>
          <p:nvSpPr>
            <p:cNvPr id="214" name="object 214"/>
            <p:cNvSpPr/>
            <p:nvPr/>
          </p:nvSpPr>
          <p:spPr>
            <a:xfrm>
              <a:off x="4747271" y="3107480"/>
              <a:ext cx="346710" cy="329565"/>
            </a:xfrm>
            <a:custGeom>
              <a:avLst/>
              <a:gdLst/>
              <a:ahLst/>
              <a:cxnLst/>
              <a:rect l="l" t="t" r="r" b="b"/>
              <a:pathLst>
                <a:path w="346710" h="329564">
                  <a:moveTo>
                    <a:pt x="0" y="329180"/>
                  </a:moveTo>
                  <a:lnTo>
                    <a:pt x="346530" y="329180"/>
                  </a:lnTo>
                  <a:lnTo>
                    <a:pt x="346530" y="0"/>
                  </a:lnTo>
                  <a:lnTo>
                    <a:pt x="0" y="0"/>
                  </a:lnTo>
                  <a:lnTo>
                    <a:pt x="0" y="329180"/>
                  </a:lnTo>
                  <a:close/>
                </a:path>
              </a:pathLst>
            </a:custGeom>
            <a:ln w="3175">
              <a:solidFill>
                <a:srgbClr val="000000"/>
              </a:solidFill>
            </a:ln>
          </p:spPr>
          <p:txBody>
            <a:bodyPr wrap="square" lIns="0" tIns="0" rIns="0" bIns="0" rtlCol="0"/>
            <a:lstStyle/>
            <a:p>
              <a:endParaRPr/>
            </a:p>
          </p:txBody>
        </p:sp>
        <p:sp>
          <p:nvSpPr>
            <p:cNvPr id="215" name="object 215"/>
            <p:cNvSpPr/>
            <p:nvPr/>
          </p:nvSpPr>
          <p:spPr>
            <a:xfrm>
              <a:off x="4747271" y="4226679"/>
              <a:ext cx="346710" cy="99060"/>
            </a:xfrm>
            <a:custGeom>
              <a:avLst/>
              <a:gdLst/>
              <a:ahLst/>
              <a:cxnLst/>
              <a:rect l="l" t="t" r="r" b="b"/>
              <a:pathLst>
                <a:path w="346710" h="99060">
                  <a:moveTo>
                    <a:pt x="346530" y="0"/>
                  </a:moveTo>
                  <a:lnTo>
                    <a:pt x="0" y="0"/>
                  </a:lnTo>
                  <a:lnTo>
                    <a:pt x="0" y="98761"/>
                  </a:lnTo>
                  <a:lnTo>
                    <a:pt x="346530" y="98761"/>
                  </a:lnTo>
                  <a:lnTo>
                    <a:pt x="346530" y="0"/>
                  </a:lnTo>
                  <a:close/>
                </a:path>
              </a:pathLst>
            </a:custGeom>
            <a:solidFill>
              <a:srgbClr val="E789C3"/>
            </a:solidFill>
          </p:spPr>
          <p:txBody>
            <a:bodyPr wrap="square" lIns="0" tIns="0" rIns="0" bIns="0" rtlCol="0"/>
            <a:lstStyle/>
            <a:p>
              <a:endParaRPr/>
            </a:p>
          </p:txBody>
        </p:sp>
        <p:sp>
          <p:nvSpPr>
            <p:cNvPr id="216" name="object 216"/>
            <p:cNvSpPr/>
            <p:nvPr/>
          </p:nvSpPr>
          <p:spPr>
            <a:xfrm>
              <a:off x="4747271" y="4226679"/>
              <a:ext cx="346710" cy="99060"/>
            </a:xfrm>
            <a:custGeom>
              <a:avLst/>
              <a:gdLst/>
              <a:ahLst/>
              <a:cxnLst/>
              <a:rect l="l" t="t" r="r" b="b"/>
              <a:pathLst>
                <a:path w="346710" h="99060">
                  <a:moveTo>
                    <a:pt x="0" y="98761"/>
                  </a:moveTo>
                  <a:lnTo>
                    <a:pt x="346530" y="98761"/>
                  </a:lnTo>
                  <a:lnTo>
                    <a:pt x="346530" y="0"/>
                  </a:lnTo>
                  <a:lnTo>
                    <a:pt x="0" y="0"/>
                  </a:lnTo>
                  <a:lnTo>
                    <a:pt x="0" y="98761"/>
                  </a:lnTo>
                  <a:close/>
                </a:path>
              </a:pathLst>
            </a:custGeom>
            <a:ln w="3175">
              <a:solidFill>
                <a:srgbClr val="000000"/>
              </a:solidFill>
            </a:ln>
          </p:spPr>
          <p:txBody>
            <a:bodyPr wrap="square" lIns="0" tIns="0" rIns="0" bIns="0" rtlCol="0"/>
            <a:lstStyle/>
            <a:p>
              <a:endParaRPr/>
            </a:p>
          </p:txBody>
        </p:sp>
        <p:sp>
          <p:nvSpPr>
            <p:cNvPr id="217" name="object 217"/>
            <p:cNvSpPr/>
            <p:nvPr/>
          </p:nvSpPr>
          <p:spPr>
            <a:xfrm>
              <a:off x="4747271" y="4490003"/>
              <a:ext cx="346710" cy="33020"/>
            </a:xfrm>
            <a:custGeom>
              <a:avLst/>
              <a:gdLst/>
              <a:ahLst/>
              <a:cxnLst/>
              <a:rect l="l" t="t" r="r" b="b"/>
              <a:pathLst>
                <a:path w="346710" h="33020">
                  <a:moveTo>
                    <a:pt x="346530" y="0"/>
                  </a:moveTo>
                  <a:lnTo>
                    <a:pt x="0" y="0"/>
                  </a:lnTo>
                  <a:lnTo>
                    <a:pt x="0" y="32905"/>
                  </a:lnTo>
                  <a:lnTo>
                    <a:pt x="346530" y="32905"/>
                  </a:lnTo>
                  <a:lnTo>
                    <a:pt x="346530" y="0"/>
                  </a:lnTo>
                  <a:close/>
                </a:path>
              </a:pathLst>
            </a:custGeom>
            <a:solidFill>
              <a:srgbClr val="FFD92E"/>
            </a:solidFill>
          </p:spPr>
          <p:txBody>
            <a:bodyPr wrap="square" lIns="0" tIns="0" rIns="0" bIns="0" rtlCol="0"/>
            <a:lstStyle/>
            <a:p>
              <a:endParaRPr/>
            </a:p>
          </p:txBody>
        </p:sp>
        <p:sp>
          <p:nvSpPr>
            <p:cNvPr id="218" name="object 218"/>
            <p:cNvSpPr/>
            <p:nvPr/>
          </p:nvSpPr>
          <p:spPr>
            <a:xfrm>
              <a:off x="4747271" y="4490003"/>
              <a:ext cx="346710" cy="362585"/>
            </a:xfrm>
            <a:custGeom>
              <a:avLst/>
              <a:gdLst/>
              <a:ahLst/>
              <a:cxnLst/>
              <a:rect l="l" t="t" r="r" b="b"/>
              <a:pathLst>
                <a:path w="346710" h="362585">
                  <a:moveTo>
                    <a:pt x="0" y="32905"/>
                  </a:moveTo>
                  <a:lnTo>
                    <a:pt x="346530" y="32905"/>
                  </a:lnTo>
                  <a:lnTo>
                    <a:pt x="346530" y="0"/>
                  </a:lnTo>
                  <a:lnTo>
                    <a:pt x="0" y="0"/>
                  </a:lnTo>
                  <a:lnTo>
                    <a:pt x="0" y="32905"/>
                  </a:lnTo>
                  <a:close/>
                </a:path>
                <a:path w="346710" h="362585">
                  <a:moveTo>
                    <a:pt x="0" y="362086"/>
                  </a:moveTo>
                  <a:lnTo>
                    <a:pt x="346530" y="362086"/>
                  </a:lnTo>
                  <a:lnTo>
                    <a:pt x="346530" y="32905"/>
                  </a:lnTo>
                  <a:lnTo>
                    <a:pt x="0" y="32905"/>
                  </a:lnTo>
                  <a:lnTo>
                    <a:pt x="0" y="362086"/>
                  </a:lnTo>
                  <a:close/>
                </a:path>
              </a:pathLst>
            </a:custGeom>
            <a:ln w="3175">
              <a:solidFill>
                <a:srgbClr val="000000"/>
              </a:solidFill>
            </a:ln>
          </p:spPr>
          <p:txBody>
            <a:bodyPr wrap="square" lIns="0" tIns="0" rIns="0" bIns="0" rtlCol="0"/>
            <a:lstStyle/>
            <a:p>
              <a:endParaRPr/>
            </a:p>
          </p:txBody>
        </p:sp>
        <p:sp>
          <p:nvSpPr>
            <p:cNvPr id="219" name="object 219"/>
            <p:cNvSpPr/>
            <p:nvPr/>
          </p:nvSpPr>
          <p:spPr>
            <a:xfrm>
              <a:off x="4747271" y="3535422"/>
              <a:ext cx="346710" cy="230504"/>
            </a:xfrm>
            <a:custGeom>
              <a:avLst/>
              <a:gdLst/>
              <a:ahLst/>
              <a:cxnLst/>
              <a:rect l="l" t="t" r="r" b="b"/>
              <a:pathLst>
                <a:path w="346710" h="230504">
                  <a:moveTo>
                    <a:pt x="346530" y="0"/>
                  </a:moveTo>
                  <a:lnTo>
                    <a:pt x="0" y="0"/>
                  </a:lnTo>
                  <a:lnTo>
                    <a:pt x="0" y="230418"/>
                  </a:lnTo>
                  <a:lnTo>
                    <a:pt x="346530" y="230418"/>
                  </a:lnTo>
                  <a:lnTo>
                    <a:pt x="346530" y="0"/>
                  </a:lnTo>
                  <a:close/>
                </a:path>
              </a:pathLst>
            </a:custGeom>
            <a:solidFill>
              <a:srgbClr val="B0A783"/>
            </a:solidFill>
          </p:spPr>
          <p:txBody>
            <a:bodyPr wrap="square" lIns="0" tIns="0" rIns="0" bIns="0" rtlCol="0"/>
            <a:lstStyle/>
            <a:p>
              <a:endParaRPr/>
            </a:p>
          </p:txBody>
        </p:sp>
        <p:sp>
          <p:nvSpPr>
            <p:cNvPr id="220" name="object 220"/>
            <p:cNvSpPr/>
            <p:nvPr/>
          </p:nvSpPr>
          <p:spPr>
            <a:xfrm>
              <a:off x="4747271" y="3535422"/>
              <a:ext cx="346710" cy="230504"/>
            </a:xfrm>
            <a:custGeom>
              <a:avLst/>
              <a:gdLst/>
              <a:ahLst/>
              <a:cxnLst/>
              <a:rect l="l" t="t" r="r" b="b"/>
              <a:pathLst>
                <a:path w="346710" h="230504">
                  <a:moveTo>
                    <a:pt x="0" y="230418"/>
                  </a:moveTo>
                  <a:lnTo>
                    <a:pt x="346530" y="230418"/>
                  </a:lnTo>
                  <a:lnTo>
                    <a:pt x="346530" y="0"/>
                  </a:lnTo>
                  <a:lnTo>
                    <a:pt x="0" y="0"/>
                  </a:lnTo>
                  <a:lnTo>
                    <a:pt x="0" y="230418"/>
                  </a:lnTo>
                  <a:close/>
                </a:path>
              </a:pathLst>
            </a:custGeom>
            <a:ln w="3175">
              <a:solidFill>
                <a:srgbClr val="000000"/>
              </a:solidFill>
            </a:ln>
          </p:spPr>
          <p:txBody>
            <a:bodyPr wrap="square" lIns="0" tIns="0" rIns="0" bIns="0" rtlCol="0"/>
            <a:lstStyle/>
            <a:p>
              <a:endParaRPr/>
            </a:p>
          </p:txBody>
        </p:sp>
        <p:sp>
          <p:nvSpPr>
            <p:cNvPr id="221" name="object 221"/>
            <p:cNvSpPr/>
            <p:nvPr/>
          </p:nvSpPr>
          <p:spPr>
            <a:xfrm>
              <a:off x="4747271" y="3436649"/>
              <a:ext cx="346710" cy="99060"/>
            </a:xfrm>
            <a:custGeom>
              <a:avLst/>
              <a:gdLst/>
              <a:ahLst/>
              <a:cxnLst/>
              <a:rect l="l" t="t" r="r" b="b"/>
              <a:pathLst>
                <a:path w="346710" h="99060">
                  <a:moveTo>
                    <a:pt x="346530" y="0"/>
                  </a:moveTo>
                  <a:lnTo>
                    <a:pt x="0" y="0"/>
                  </a:lnTo>
                  <a:lnTo>
                    <a:pt x="0" y="98761"/>
                  </a:lnTo>
                  <a:lnTo>
                    <a:pt x="346530" y="98761"/>
                  </a:lnTo>
                  <a:lnTo>
                    <a:pt x="346530" y="0"/>
                  </a:lnTo>
                  <a:close/>
                </a:path>
              </a:pathLst>
            </a:custGeom>
            <a:solidFill>
              <a:srgbClr val="FB8D61"/>
            </a:solidFill>
          </p:spPr>
          <p:txBody>
            <a:bodyPr wrap="square" lIns="0" tIns="0" rIns="0" bIns="0" rtlCol="0"/>
            <a:lstStyle/>
            <a:p>
              <a:endParaRPr/>
            </a:p>
          </p:txBody>
        </p:sp>
        <p:sp>
          <p:nvSpPr>
            <p:cNvPr id="222" name="object 222"/>
            <p:cNvSpPr/>
            <p:nvPr/>
          </p:nvSpPr>
          <p:spPr>
            <a:xfrm>
              <a:off x="4747271" y="3436649"/>
              <a:ext cx="346710" cy="99060"/>
            </a:xfrm>
            <a:custGeom>
              <a:avLst/>
              <a:gdLst/>
              <a:ahLst/>
              <a:cxnLst/>
              <a:rect l="l" t="t" r="r" b="b"/>
              <a:pathLst>
                <a:path w="346710" h="99060">
                  <a:moveTo>
                    <a:pt x="0" y="98761"/>
                  </a:moveTo>
                  <a:lnTo>
                    <a:pt x="346530" y="98761"/>
                  </a:lnTo>
                  <a:lnTo>
                    <a:pt x="346530" y="0"/>
                  </a:lnTo>
                  <a:lnTo>
                    <a:pt x="0" y="0"/>
                  </a:lnTo>
                  <a:lnTo>
                    <a:pt x="0" y="98761"/>
                  </a:lnTo>
                  <a:close/>
                </a:path>
              </a:pathLst>
            </a:custGeom>
            <a:ln w="3175">
              <a:solidFill>
                <a:srgbClr val="000000"/>
              </a:solidFill>
            </a:ln>
          </p:spPr>
          <p:txBody>
            <a:bodyPr wrap="square" lIns="0" tIns="0" rIns="0" bIns="0" rtlCol="0"/>
            <a:lstStyle/>
            <a:p>
              <a:endParaRPr/>
            </a:p>
          </p:txBody>
        </p:sp>
        <p:sp>
          <p:nvSpPr>
            <p:cNvPr id="223" name="object 223"/>
            <p:cNvSpPr/>
            <p:nvPr/>
          </p:nvSpPr>
          <p:spPr>
            <a:xfrm>
              <a:off x="4747271" y="3864548"/>
              <a:ext cx="346710" cy="66040"/>
            </a:xfrm>
            <a:custGeom>
              <a:avLst/>
              <a:gdLst/>
              <a:ahLst/>
              <a:cxnLst/>
              <a:rect l="l" t="t" r="r" b="b"/>
              <a:pathLst>
                <a:path w="346710" h="66039">
                  <a:moveTo>
                    <a:pt x="346530" y="0"/>
                  </a:moveTo>
                  <a:lnTo>
                    <a:pt x="0" y="0"/>
                  </a:lnTo>
                  <a:lnTo>
                    <a:pt x="0" y="65855"/>
                  </a:lnTo>
                  <a:lnTo>
                    <a:pt x="346530" y="65855"/>
                  </a:lnTo>
                  <a:lnTo>
                    <a:pt x="346530" y="0"/>
                  </a:lnTo>
                  <a:close/>
                </a:path>
              </a:pathLst>
            </a:custGeom>
            <a:solidFill>
              <a:srgbClr val="B994C6"/>
            </a:solidFill>
          </p:spPr>
          <p:txBody>
            <a:bodyPr wrap="square" lIns="0" tIns="0" rIns="0" bIns="0" rtlCol="0"/>
            <a:lstStyle/>
            <a:p>
              <a:endParaRPr/>
            </a:p>
          </p:txBody>
        </p:sp>
        <p:sp>
          <p:nvSpPr>
            <p:cNvPr id="224" name="object 224"/>
            <p:cNvSpPr/>
            <p:nvPr/>
          </p:nvSpPr>
          <p:spPr>
            <a:xfrm>
              <a:off x="4747271" y="3864548"/>
              <a:ext cx="346710" cy="66040"/>
            </a:xfrm>
            <a:custGeom>
              <a:avLst/>
              <a:gdLst/>
              <a:ahLst/>
              <a:cxnLst/>
              <a:rect l="l" t="t" r="r" b="b"/>
              <a:pathLst>
                <a:path w="346710" h="66039">
                  <a:moveTo>
                    <a:pt x="0" y="65855"/>
                  </a:moveTo>
                  <a:lnTo>
                    <a:pt x="346530" y="65855"/>
                  </a:lnTo>
                  <a:lnTo>
                    <a:pt x="346530" y="0"/>
                  </a:lnTo>
                  <a:lnTo>
                    <a:pt x="0" y="0"/>
                  </a:lnTo>
                  <a:lnTo>
                    <a:pt x="0" y="65855"/>
                  </a:lnTo>
                  <a:close/>
                </a:path>
              </a:pathLst>
            </a:custGeom>
            <a:ln w="3175">
              <a:solidFill>
                <a:srgbClr val="000000"/>
              </a:solidFill>
            </a:ln>
          </p:spPr>
          <p:txBody>
            <a:bodyPr wrap="square" lIns="0" tIns="0" rIns="0" bIns="0" rtlCol="0"/>
            <a:lstStyle/>
            <a:p>
              <a:endParaRPr/>
            </a:p>
          </p:txBody>
        </p:sp>
        <p:sp>
          <p:nvSpPr>
            <p:cNvPr id="225" name="object 225"/>
            <p:cNvSpPr/>
            <p:nvPr/>
          </p:nvSpPr>
          <p:spPr>
            <a:xfrm>
              <a:off x="4747271" y="4325441"/>
              <a:ext cx="346710" cy="99060"/>
            </a:xfrm>
            <a:custGeom>
              <a:avLst/>
              <a:gdLst/>
              <a:ahLst/>
              <a:cxnLst/>
              <a:rect l="l" t="t" r="r" b="b"/>
              <a:pathLst>
                <a:path w="346710" h="99060">
                  <a:moveTo>
                    <a:pt x="346530" y="0"/>
                  </a:moveTo>
                  <a:lnTo>
                    <a:pt x="0" y="0"/>
                  </a:lnTo>
                  <a:lnTo>
                    <a:pt x="0" y="98761"/>
                  </a:lnTo>
                  <a:lnTo>
                    <a:pt x="346530" y="98761"/>
                  </a:lnTo>
                  <a:lnTo>
                    <a:pt x="346530" y="0"/>
                  </a:lnTo>
                  <a:close/>
                </a:path>
              </a:pathLst>
            </a:custGeom>
            <a:solidFill>
              <a:srgbClr val="A6D753"/>
            </a:solidFill>
          </p:spPr>
          <p:txBody>
            <a:bodyPr wrap="square" lIns="0" tIns="0" rIns="0" bIns="0" rtlCol="0"/>
            <a:lstStyle/>
            <a:p>
              <a:endParaRPr/>
            </a:p>
          </p:txBody>
        </p:sp>
        <p:sp>
          <p:nvSpPr>
            <p:cNvPr id="226" name="object 226"/>
            <p:cNvSpPr/>
            <p:nvPr/>
          </p:nvSpPr>
          <p:spPr>
            <a:xfrm>
              <a:off x="4747271" y="4325441"/>
              <a:ext cx="346710" cy="99060"/>
            </a:xfrm>
            <a:custGeom>
              <a:avLst/>
              <a:gdLst/>
              <a:ahLst/>
              <a:cxnLst/>
              <a:rect l="l" t="t" r="r" b="b"/>
              <a:pathLst>
                <a:path w="346710" h="99060">
                  <a:moveTo>
                    <a:pt x="0" y="98761"/>
                  </a:moveTo>
                  <a:lnTo>
                    <a:pt x="346530" y="98761"/>
                  </a:lnTo>
                  <a:lnTo>
                    <a:pt x="346530" y="0"/>
                  </a:lnTo>
                  <a:lnTo>
                    <a:pt x="0" y="0"/>
                  </a:lnTo>
                  <a:lnTo>
                    <a:pt x="0" y="98761"/>
                  </a:lnTo>
                  <a:close/>
                </a:path>
              </a:pathLst>
            </a:custGeom>
            <a:ln w="3175">
              <a:solidFill>
                <a:srgbClr val="000000"/>
              </a:solidFill>
            </a:ln>
          </p:spPr>
          <p:txBody>
            <a:bodyPr wrap="square" lIns="0" tIns="0" rIns="0" bIns="0" rtlCol="0"/>
            <a:lstStyle/>
            <a:p>
              <a:endParaRPr/>
            </a:p>
          </p:txBody>
        </p:sp>
        <p:sp>
          <p:nvSpPr>
            <p:cNvPr id="227" name="object 227"/>
            <p:cNvSpPr/>
            <p:nvPr/>
          </p:nvSpPr>
          <p:spPr>
            <a:xfrm>
              <a:off x="4747271" y="3765841"/>
              <a:ext cx="346710" cy="99060"/>
            </a:xfrm>
            <a:custGeom>
              <a:avLst/>
              <a:gdLst/>
              <a:ahLst/>
              <a:cxnLst/>
              <a:rect l="l" t="t" r="r" b="b"/>
              <a:pathLst>
                <a:path w="346710" h="99060">
                  <a:moveTo>
                    <a:pt x="346530" y="0"/>
                  </a:moveTo>
                  <a:lnTo>
                    <a:pt x="0" y="0"/>
                  </a:lnTo>
                  <a:lnTo>
                    <a:pt x="0" y="98761"/>
                  </a:lnTo>
                  <a:lnTo>
                    <a:pt x="346530" y="98761"/>
                  </a:lnTo>
                  <a:lnTo>
                    <a:pt x="346530" y="0"/>
                  </a:lnTo>
                  <a:close/>
                </a:path>
              </a:pathLst>
            </a:custGeom>
            <a:solidFill>
              <a:srgbClr val="8D9FCA"/>
            </a:solidFill>
          </p:spPr>
          <p:txBody>
            <a:bodyPr wrap="square" lIns="0" tIns="0" rIns="0" bIns="0" rtlCol="0"/>
            <a:lstStyle/>
            <a:p>
              <a:endParaRPr/>
            </a:p>
          </p:txBody>
        </p:sp>
        <p:sp>
          <p:nvSpPr>
            <p:cNvPr id="228" name="object 228"/>
            <p:cNvSpPr/>
            <p:nvPr/>
          </p:nvSpPr>
          <p:spPr>
            <a:xfrm>
              <a:off x="4747271" y="3765841"/>
              <a:ext cx="346710" cy="99060"/>
            </a:xfrm>
            <a:custGeom>
              <a:avLst/>
              <a:gdLst/>
              <a:ahLst/>
              <a:cxnLst/>
              <a:rect l="l" t="t" r="r" b="b"/>
              <a:pathLst>
                <a:path w="346710" h="99060">
                  <a:moveTo>
                    <a:pt x="0" y="98761"/>
                  </a:moveTo>
                  <a:lnTo>
                    <a:pt x="346530" y="98761"/>
                  </a:lnTo>
                  <a:lnTo>
                    <a:pt x="346530" y="0"/>
                  </a:lnTo>
                  <a:lnTo>
                    <a:pt x="0" y="0"/>
                  </a:lnTo>
                  <a:lnTo>
                    <a:pt x="0" y="98761"/>
                  </a:lnTo>
                  <a:close/>
                </a:path>
              </a:pathLst>
            </a:custGeom>
            <a:ln w="3175">
              <a:solidFill>
                <a:srgbClr val="000000"/>
              </a:solidFill>
            </a:ln>
          </p:spPr>
          <p:txBody>
            <a:bodyPr wrap="square" lIns="0" tIns="0" rIns="0" bIns="0" rtlCol="0"/>
            <a:lstStyle/>
            <a:p>
              <a:endParaRPr/>
            </a:p>
          </p:txBody>
        </p:sp>
        <p:sp>
          <p:nvSpPr>
            <p:cNvPr id="229" name="object 229"/>
            <p:cNvSpPr/>
            <p:nvPr/>
          </p:nvSpPr>
          <p:spPr>
            <a:xfrm>
              <a:off x="4747271" y="4424147"/>
              <a:ext cx="346710" cy="66040"/>
            </a:xfrm>
            <a:custGeom>
              <a:avLst/>
              <a:gdLst/>
              <a:ahLst/>
              <a:cxnLst/>
              <a:rect l="l" t="t" r="r" b="b"/>
              <a:pathLst>
                <a:path w="346710" h="66039">
                  <a:moveTo>
                    <a:pt x="346530" y="0"/>
                  </a:moveTo>
                  <a:lnTo>
                    <a:pt x="0" y="0"/>
                  </a:lnTo>
                  <a:lnTo>
                    <a:pt x="0" y="65855"/>
                  </a:lnTo>
                  <a:lnTo>
                    <a:pt x="346530" y="65855"/>
                  </a:lnTo>
                  <a:lnTo>
                    <a:pt x="346530" y="0"/>
                  </a:lnTo>
                  <a:close/>
                </a:path>
              </a:pathLst>
            </a:custGeom>
            <a:solidFill>
              <a:srgbClr val="F1CE60"/>
            </a:solidFill>
          </p:spPr>
          <p:txBody>
            <a:bodyPr wrap="square" lIns="0" tIns="0" rIns="0" bIns="0" rtlCol="0"/>
            <a:lstStyle/>
            <a:p>
              <a:endParaRPr/>
            </a:p>
          </p:txBody>
        </p:sp>
        <p:sp>
          <p:nvSpPr>
            <p:cNvPr id="230" name="object 230"/>
            <p:cNvSpPr/>
            <p:nvPr/>
          </p:nvSpPr>
          <p:spPr>
            <a:xfrm>
              <a:off x="4747271" y="4424147"/>
              <a:ext cx="346710" cy="66040"/>
            </a:xfrm>
            <a:custGeom>
              <a:avLst/>
              <a:gdLst/>
              <a:ahLst/>
              <a:cxnLst/>
              <a:rect l="l" t="t" r="r" b="b"/>
              <a:pathLst>
                <a:path w="346710" h="66039">
                  <a:moveTo>
                    <a:pt x="0" y="65855"/>
                  </a:moveTo>
                  <a:lnTo>
                    <a:pt x="346530" y="65855"/>
                  </a:lnTo>
                  <a:lnTo>
                    <a:pt x="346530" y="0"/>
                  </a:lnTo>
                  <a:lnTo>
                    <a:pt x="0" y="0"/>
                  </a:lnTo>
                  <a:lnTo>
                    <a:pt x="0" y="65855"/>
                  </a:lnTo>
                  <a:close/>
                </a:path>
              </a:pathLst>
            </a:custGeom>
            <a:ln w="3175">
              <a:solidFill>
                <a:srgbClr val="000000"/>
              </a:solidFill>
            </a:ln>
          </p:spPr>
          <p:txBody>
            <a:bodyPr wrap="square" lIns="0" tIns="0" rIns="0" bIns="0" rtlCol="0"/>
            <a:lstStyle/>
            <a:p>
              <a:endParaRPr/>
            </a:p>
          </p:txBody>
        </p:sp>
        <p:sp>
          <p:nvSpPr>
            <p:cNvPr id="231" name="object 231"/>
            <p:cNvSpPr/>
            <p:nvPr/>
          </p:nvSpPr>
          <p:spPr>
            <a:xfrm>
              <a:off x="2822058" y="4215857"/>
              <a:ext cx="346710" cy="82550"/>
            </a:xfrm>
            <a:custGeom>
              <a:avLst/>
              <a:gdLst/>
              <a:ahLst/>
              <a:cxnLst/>
              <a:rect l="l" t="t" r="r" b="b"/>
              <a:pathLst>
                <a:path w="346710" h="82550">
                  <a:moveTo>
                    <a:pt x="346530" y="0"/>
                  </a:moveTo>
                  <a:lnTo>
                    <a:pt x="0" y="0"/>
                  </a:lnTo>
                  <a:lnTo>
                    <a:pt x="0" y="82094"/>
                  </a:lnTo>
                  <a:lnTo>
                    <a:pt x="346530" y="82094"/>
                  </a:lnTo>
                  <a:lnTo>
                    <a:pt x="346530" y="0"/>
                  </a:lnTo>
                  <a:close/>
                </a:path>
              </a:pathLst>
            </a:custGeom>
            <a:solidFill>
              <a:srgbClr val="D2D741"/>
            </a:solidFill>
          </p:spPr>
          <p:txBody>
            <a:bodyPr wrap="square" lIns="0" tIns="0" rIns="0" bIns="0" rtlCol="0"/>
            <a:lstStyle/>
            <a:p>
              <a:endParaRPr/>
            </a:p>
          </p:txBody>
        </p:sp>
        <p:sp>
          <p:nvSpPr>
            <p:cNvPr id="232" name="object 232"/>
            <p:cNvSpPr/>
            <p:nvPr/>
          </p:nvSpPr>
          <p:spPr>
            <a:xfrm>
              <a:off x="2822058" y="4215857"/>
              <a:ext cx="346710" cy="82550"/>
            </a:xfrm>
            <a:custGeom>
              <a:avLst/>
              <a:gdLst/>
              <a:ahLst/>
              <a:cxnLst/>
              <a:rect l="l" t="t" r="r" b="b"/>
              <a:pathLst>
                <a:path w="346710" h="82550">
                  <a:moveTo>
                    <a:pt x="0" y="82094"/>
                  </a:moveTo>
                  <a:lnTo>
                    <a:pt x="346530" y="82094"/>
                  </a:lnTo>
                  <a:lnTo>
                    <a:pt x="346530" y="0"/>
                  </a:lnTo>
                  <a:lnTo>
                    <a:pt x="0" y="0"/>
                  </a:lnTo>
                  <a:lnTo>
                    <a:pt x="0" y="82094"/>
                  </a:lnTo>
                  <a:close/>
                </a:path>
              </a:pathLst>
            </a:custGeom>
            <a:ln w="3175">
              <a:solidFill>
                <a:srgbClr val="000000"/>
              </a:solidFill>
            </a:ln>
          </p:spPr>
          <p:txBody>
            <a:bodyPr wrap="square" lIns="0" tIns="0" rIns="0" bIns="0" rtlCol="0"/>
            <a:lstStyle/>
            <a:p>
              <a:endParaRPr/>
            </a:p>
          </p:txBody>
        </p:sp>
        <p:sp>
          <p:nvSpPr>
            <p:cNvPr id="233" name="object 233"/>
            <p:cNvSpPr/>
            <p:nvPr/>
          </p:nvSpPr>
          <p:spPr>
            <a:xfrm>
              <a:off x="2822058" y="4297896"/>
              <a:ext cx="346710" cy="41275"/>
            </a:xfrm>
            <a:custGeom>
              <a:avLst/>
              <a:gdLst/>
              <a:ahLst/>
              <a:cxnLst/>
              <a:rect l="l" t="t" r="r" b="b"/>
              <a:pathLst>
                <a:path w="346710" h="41275">
                  <a:moveTo>
                    <a:pt x="346530" y="0"/>
                  </a:moveTo>
                  <a:lnTo>
                    <a:pt x="0" y="0"/>
                  </a:lnTo>
                  <a:lnTo>
                    <a:pt x="0" y="41074"/>
                  </a:lnTo>
                  <a:lnTo>
                    <a:pt x="346530" y="41074"/>
                  </a:lnTo>
                  <a:lnTo>
                    <a:pt x="346530" y="0"/>
                  </a:lnTo>
                  <a:close/>
                </a:path>
              </a:pathLst>
            </a:custGeom>
            <a:solidFill>
              <a:srgbClr val="C5B08A"/>
            </a:solidFill>
          </p:spPr>
          <p:txBody>
            <a:bodyPr wrap="square" lIns="0" tIns="0" rIns="0" bIns="0" rtlCol="0"/>
            <a:lstStyle/>
            <a:p>
              <a:endParaRPr/>
            </a:p>
          </p:txBody>
        </p:sp>
        <p:sp>
          <p:nvSpPr>
            <p:cNvPr id="234" name="object 234"/>
            <p:cNvSpPr/>
            <p:nvPr/>
          </p:nvSpPr>
          <p:spPr>
            <a:xfrm>
              <a:off x="2822058" y="4297896"/>
              <a:ext cx="346710" cy="41275"/>
            </a:xfrm>
            <a:custGeom>
              <a:avLst/>
              <a:gdLst/>
              <a:ahLst/>
              <a:cxnLst/>
              <a:rect l="l" t="t" r="r" b="b"/>
              <a:pathLst>
                <a:path w="346710" h="41275">
                  <a:moveTo>
                    <a:pt x="0" y="41074"/>
                  </a:moveTo>
                  <a:lnTo>
                    <a:pt x="346530" y="41074"/>
                  </a:lnTo>
                  <a:lnTo>
                    <a:pt x="346530" y="0"/>
                  </a:lnTo>
                  <a:lnTo>
                    <a:pt x="0" y="0"/>
                  </a:lnTo>
                  <a:lnTo>
                    <a:pt x="0" y="41074"/>
                  </a:lnTo>
                  <a:close/>
                </a:path>
              </a:pathLst>
            </a:custGeom>
            <a:ln w="3175">
              <a:solidFill>
                <a:srgbClr val="000000"/>
              </a:solidFill>
            </a:ln>
          </p:spPr>
          <p:txBody>
            <a:bodyPr wrap="square" lIns="0" tIns="0" rIns="0" bIns="0" rtlCol="0"/>
            <a:lstStyle/>
            <a:p>
              <a:endParaRPr/>
            </a:p>
          </p:txBody>
        </p:sp>
        <p:sp>
          <p:nvSpPr>
            <p:cNvPr id="235" name="object 235"/>
            <p:cNvSpPr/>
            <p:nvPr/>
          </p:nvSpPr>
          <p:spPr>
            <a:xfrm>
              <a:off x="2822058" y="3107469"/>
              <a:ext cx="346710" cy="246379"/>
            </a:xfrm>
            <a:custGeom>
              <a:avLst/>
              <a:gdLst/>
              <a:ahLst/>
              <a:cxnLst/>
              <a:rect l="l" t="t" r="r" b="b"/>
              <a:pathLst>
                <a:path w="346710" h="246379">
                  <a:moveTo>
                    <a:pt x="346530" y="0"/>
                  </a:moveTo>
                  <a:lnTo>
                    <a:pt x="0" y="0"/>
                  </a:lnTo>
                  <a:lnTo>
                    <a:pt x="0" y="246293"/>
                  </a:lnTo>
                  <a:lnTo>
                    <a:pt x="346530" y="246293"/>
                  </a:lnTo>
                  <a:lnTo>
                    <a:pt x="346530" y="0"/>
                  </a:lnTo>
                  <a:close/>
                </a:path>
              </a:pathLst>
            </a:custGeom>
            <a:solidFill>
              <a:srgbClr val="66C2A4"/>
            </a:solidFill>
          </p:spPr>
          <p:txBody>
            <a:bodyPr wrap="square" lIns="0" tIns="0" rIns="0" bIns="0" rtlCol="0"/>
            <a:lstStyle/>
            <a:p>
              <a:endParaRPr/>
            </a:p>
          </p:txBody>
        </p:sp>
        <p:sp>
          <p:nvSpPr>
            <p:cNvPr id="236" name="object 236"/>
            <p:cNvSpPr/>
            <p:nvPr/>
          </p:nvSpPr>
          <p:spPr>
            <a:xfrm>
              <a:off x="2822058" y="3107469"/>
              <a:ext cx="346710" cy="246379"/>
            </a:xfrm>
            <a:custGeom>
              <a:avLst/>
              <a:gdLst/>
              <a:ahLst/>
              <a:cxnLst/>
              <a:rect l="l" t="t" r="r" b="b"/>
              <a:pathLst>
                <a:path w="346710" h="246379">
                  <a:moveTo>
                    <a:pt x="0" y="246293"/>
                  </a:moveTo>
                  <a:lnTo>
                    <a:pt x="346530" y="246293"/>
                  </a:lnTo>
                  <a:lnTo>
                    <a:pt x="346530" y="0"/>
                  </a:lnTo>
                  <a:lnTo>
                    <a:pt x="0" y="0"/>
                  </a:lnTo>
                  <a:lnTo>
                    <a:pt x="0" y="246293"/>
                  </a:lnTo>
                  <a:close/>
                </a:path>
              </a:pathLst>
            </a:custGeom>
            <a:ln w="3175">
              <a:solidFill>
                <a:srgbClr val="000000"/>
              </a:solidFill>
            </a:ln>
          </p:spPr>
          <p:txBody>
            <a:bodyPr wrap="square" lIns="0" tIns="0" rIns="0" bIns="0" rtlCol="0"/>
            <a:lstStyle/>
            <a:p>
              <a:endParaRPr/>
            </a:p>
          </p:txBody>
        </p:sp>
        <p:sp>
          <p:nvSpPr>
            <p:cNvPr id="237" name="object 237"/>
            <p:cNvSpPr/>
            <p:nvPr/>
          </p:nvSpPr>
          <p:spPr>
            <a:xfrm>
              <a:off x="2822058" y="4421065"/>
              <a:ext cx="346710" cy="20955"/>
            </a:xfrm>
            <a:custGeom>
              <a:avLst/>
              <a:gdLst/>
              <a:ahLst/>
              <a:cxnLst/>
              <a:rect l="l" t="t" r="r" b="b"/>
              <a:pathLst>
                <a:path w="346710" h="20954">
                  <a:moveTo>
                    <a:pt x="346530" y="0"/>
                  </a:moveTo>
                  <a:lnTo>
                    <a:pt x="0" y="0"/>
                  </a:lnTo>
                  <a:lnTo>
                    <a:pt x="0" y="20542"/>
                  </a:lnTo>
                  <a:lnTo>
                    <a:pt x="346530" y="20542"/>
                  </a:lnTo>
                  <a:lnTo>
                    <a:pt x="346530" y="0"/>
                  </a:lnTo>
                  <a:close/>
                </a:path>
              </a:pathLst>
            </a:custGeom>
            <a:solidFill>
              <a:srgbClr val="E789C3"/>
            </a:solidFill>
          </p:spPr>
          <p:txBody>
            <a:bodyPr wrap="square" lIns="0" tIns="0" rIns="0" bIns="0" rtlCol="0"/>
            <a:lstStyle/>
            <a:p>
              <a:endParaRPr/>
            </a:p>
          </p:txBody>
        </p:sp>
        <p:sp>
          <p:nvSpPr>
            <p:cNvPr id="238" name="object 238"/>
            <p:cNvSpPr/>
            <p:nvPr/>
          </p:nvSpPr>
          <p:spPr>
            <a:xfrm>
              <a:off x="2822058" y="4421065"/>
              <a:ext cx="346710" cy="20955"/>
            </a:xfrm>
            <a:custGeom>
              <a:avLst/>
              <a:gdLst/>
              <a:ahLst/>
              <a:cxnLst/>
              <a:rect l="l" t="t" r="r" b="b"/>
              <a:pathLst>
                <a:path w="346710" h="20954">
                  <a:moveTo>
                    <a:pt x="0" y="20542"/>
                  </a:moveTo>
                  <a:lnTo>
                    <a:pt x="346530" y="20542"/>
                  </a:lnTo>
                  <a:lnTo>
                    <a:pt x="346530" y="0"/>
                  </a:lnTo>
                  <a:lnTo>
                    <a:pt x="0" y="0"/>
                  </a:lnTo>
                  <a:lnTo>
                    <a:pt x="0" y="20542"/>
                  </a:lnTo>
                  <a:close/>
                </a:path>
              </a:pathLst>
            </a:custGeom>
            <a:ln w="3175">
              <a:solidFill>
                <a:srgbClr val="000000"/>
              </a:solidFill>
            </a:ln>
          </p:spPr>
          <p:txBody>
            <a:bodyPr wrap="square" lIns="0" tIns="0" rIns="0" bIns="0" rtlCol="0"/>
            <a:lstStyle/>
            <a:p>
              <a:endParaRPr/>
            </a:p>
          </p:txBody>
        </p:sp>
        <p:sp>
          <p:nvSpPr>
            <p:cNvPr id="239" name="object 239"/>
            <p:cNvSpPr/>
            <p:nvPr/>
          </p:nvSpPr>
          <p:spPr>
            <a:xfrm>
              <a:off x="2822058" y="4503159"/>
              <a:ext cx="346710" cy="20955"/>
            </a:xfrm>
            <a:custGeom>
              <a:avLst/>
              <a:gdLst/>
              <a:ahLst/>
              <a:cxnLst/>
              <a:rect l="l" t="t" r="r" b="b"/>
              <a:pathLst>
                <a:path w="346710" h="20954">
                  <a:moveTo>
                    <a:pt x="346530" y="0"/>
                  </a:moveTo>
                  <a:lnTo>
                    <a:pt x="0" y="0"/>
                  </a:lnTo>
                  <a:lnTo>
                    <a:pt x="0" y="20542"/>
                  </a:lnTo>
                  <a:lnTo>
                    <a:pt x="346530" y="20542"/>
                  </a:lnTo>
                  <a:lnTo>
                    <a:pt x="346530" y="0"/>
                  </a:lnTo>
                  <a:close/>
                </a:path>
              </a:pathLst>
            </a:custGeom>
            <a:solidFill>
              <a:srgbClr val="CCBAA2"/>
            </a:solidFill>
          </p:spPr>
          <p:txBody>
            <a:bodyPr wrap="square" lIns="0" tIns="0" rIns="0" bIns="0" rtlCol="0"/>
            <a:lstStyle/>
            <a:p>
              <a:endParaRPr/>
            </a:p>
          </p:txBody>
        </p:sp>
        <p:sp>
          <p:nvSpPr>
            <p:cNvPr id="240" name="object 240"/>
            <p:cNvSpPr/>
            <p:nvPr/>
          </p:nvSpPr>
          <p:spPr>
            <a:xfrm>
              <a:off x="2822058" y="4503159"/>
              <a:ext cx="346710" cy="20955"/>
            </a:xfrm>
            <a:custGeom>
              <a:avLst/>
              <a:gdLst/>
              <a:ahLst/>
              <a:cxnLst/>
              <a:rect l="l" t="t" r="r" b="b"/>
              <a:pathLst>
                <a:path w="346710" h="20954">
                  <a:moveTo>
                    <a:pt x="0" y="20542"/>
                  </a:moveTo>
                  <a:lnTo>
                    <a:pt x="346530" y="20542"/>
                  </a:lnTo>
                  <a:lnTo>
                    <a:pt x="346530" y="0"/>
                  </a:lnTo>
                  <a:lnTo>
                    <a:pt x="0" y="0"/>
                  </a:lnTo>
                  <a:lnTo>
                    <a:pt x="0" y="20542"/>
                  </a:lnTo>
                  <a:close/>
                </a:path>
              </a:pathLst>
            </a:custGeom>
            <a:ln w="3175">
              <a:solidFill>
                <a:srgbClr val="000000"/>
              </a:solidFill>
            </a:ln>
          </p:spPr>
          <p:txBody>
            <a:bodyPr wrap="square" lIns="0" tIns="0" rIns="0" bIns="0" rtlCol="0"/>
            <a:lstStyle/>
            <a:p>
              <a:endParaRPr/>
            </a:p>
          </p:txBody>
        </p:sp>
        <p:sp>
          <p:nvSpPr>
            <p:cNvPr id="241" name="object 241"/>
            <p:cNvSpPr/>
            <p:nvPr/>
          </p:nvSpPr>
          <p:spPr>
            <a:xfrm>
              <a:off x="2822058" y="4544234"/>
              <a:ext cx="346710" cy="20955"/>
            </a:xfrm>
            <a:custGeom>
              <a:avLst/>
              <a:gdLst/>
              <a:ahLst/>
              <a:cxnLst/>
              <a:rect l="l" t="t" r="r" b="b"/>
              <a:pathLst>
                <a:path w="346710" h="20954">
                  <a:moveTo>
                    <a:pt x="346530" y="0"/>
                  </a:moveTo>
                  <a:lnTo>
                    <a:pt x="0" y="0"/>
                  </a:lnTo>
                  <a:lnTo>
                    <a:pt x="0" y="20542"/>
                  </a:lnTo>
                  <a:lnTo>
                    <a:pt x="346530" y="20542"/>
                  </a:lnTo>
                  <a:lnTo>
                    <a:pt x="346530" y="0"/>
                  </a:lnTo>
                  <a:close/>
                </a:path>
              </a:pathLst>
            </a:custGeom>
            <a:solidFill>
              <a:srgbClr val="B3B3B3"/>
            </a:solidFill>
          </p:spPr>
          <p:txBody>
            <a:bodyPr wrap="square" lIns="0" tIns="0" rIns="0" bIns="0" rtlCol="0"/>
            <a:lstStyle/>
            <a:p>
              <a:endParaRPr/>
            </a:p>
          </p:txBody>
        </p:sp>
        <p:sp>
          <p:nvSpPr>
            <p:cNvPr id="242" name="object 242"/>
            <p:cNvSpPr/>
            <p:nvPr/>
          </p:nvSpPr>
          <p:spPr>
            <a:xfrm>
              <a:off x="2822058" y="4544234"/>
              <a:ext cx="346710" cy="20955"/>
            </a:xfrm>
            <a:custGeom>
              <a:avLst/>
              <a:gdLst/>
              <a:ahLst/>
              <a:cxnLst/>
              <a:rect l="l" t="t" r="r" b="b"/>
              <a:pathLst>
                <a:path w="346710" h="20954">
                  <a:moveTo>
                    <a:pt x="0" y="20542"/>
                  </a:moveTo>
                  <a:lnTo>
                    <a:pt x="346530" y="20542"/>
                  </a:lnTo>
                  <a:lnTo>
                    <a:pt x="346530" y="0"/>
                  </a:lnTo>
                  <a:lnTo>
                    <a:pt x="0" y="0"/>
                  </a:lnTo>
                  <a:lnTo>
                    <a:pt x="0" y="20542"/>
                  </a:lnTo>
                  <a:close/>
                </a:path>
              </a:pathLst>
            </a:custGeom>
            <a:ln w="3175">
              <a:solidFill>
                <a:srgbClr val="000000"/>
              </a:solidFill>
            </a:ln>
          </p:spPr>
          <p:txBody>
            <a:bodyPr wrap="square" lIns="0" tIns="0" rIns="0" bIns="0" rtlCol="0"/>
            <a:lstStyle/>
            <a:p>
              <a:endParaRPr/>
            </a:p>
          </p:txBody>
        </p:sp>
        <p:sp>
          <p:nvSpPr>
            <p:cNvPr id="243" name="object 243"/>
            <p:cNvSpPr/>
            <p:nvPr/>
          </p:nvSpPr>
          <p:spPr>
            <a:xfrm>
              <a:off x="2822058" y="4523702"/>
              <a:ext cx="346710" cy="20955"/>
            </a:xfrm>
            <a:custGeom>
              <a:avLst/>
              <a:gdLst/>
              <a:ahLst/>
              <a:cxnLst/>
              <a:rect l="l" t="t" r="r" b="b"/>
              <a:pathLst>
                <a:path w="346710" h="20954">
                  <a:moveTo>
                    <a:pt x="346530" y="0"/>
                  </a:moveTo>
                  <a:lnTo>
                    <a:pt x="0" y="0"/>
                  </a:lnTo>
                  <a:lnTo>
                    <a:pt x="0" y="20542"/>
                  </a:lnTo>
                  <a:lnTo>
                    <a:pt x="346530" y="20542"/>
                  </a:lnTo>
                  <a:lnTo>
                    <a:pt x="346530" y="0"/>
                  </a:lnTo>
                  <a:close/>
                </a:path>
              </a:pathLst>
            </a:custGeom>
            <a:solidFill>
              <a:srgbClr val="FFD92E"/>
            </a:solidFill>
          </p:spPr>
          <p:txBody>
            <a:bodyPr wrap="square" lIns="0" tIns="0" rIns="0" bIns="0" rtlCol="0"/>
            <a:lstStyle/>
            <a:p>
              <a:endParaRPr/>
            </a:p>
          </p:txBody>
        </p:sp>
        <p:sp>
          <p:nvSpPr>
            <p:cNvPr id="244" name="object 244"/>
            <p:cNvSpPr/>
            <p:nvPr/>
          </p:nvSpPr>
          <p:spPr>
            <a:xfrm>
              <a:off x="2822058" y="4523702"/>
              <a:ext cx="346710" cy="328930"/>
            </a:xfrm>
            <a:custGeom>
              <a:avLst/>
              <a:gdLst/>
              <a:ahLst/>
              <a:cxnLst/>
              <a:rect l="l" t="t" r="r" b="b"/>
              <a:pathLst>
                <a:path w="346710" h="328929">
                  <a:moveTo>
                    <a:pt x="0" y="20542"/>
                  </a:moveTo>
                  <a:lnTo>
                    <a:pt x="346530" y="20542"/>
                  </a:lnTo>
                  <a:lnTo>
                    <a:pt x="346530" y="0"/>
                  </a:lnTo>
                  <a:lnTo>
                    <a:pt x="0" y="0"/>
                  </a:lnTo>
                  <a:lnTo>
                    <a:pt x="0" y="20542"/>
                  </a:lnTo>
                  <a:close/>
                </a:path>
                <a:path w="346710" h="328929">
                  <a:moveTo>
                    <a:pt x="0" y="328387"/>
                  </a:moveTo>
                  <a:lnTo>
                    <a:pt x="346530" y="328387"/>
                  </a:lnTo>
                  <a:lnTo>
                    <a:pt x="346530" y="41019"/>
                  </a:lnTo>
                  <a:lnTo>
                    <a:pt x="0" y="41019"/>
                  </a:lnTo>
                  <a:lnTo>
                    <a:pt x="0" y="328387"/>
                  </a:lnTo>
                  <a:close/>
                </a:path>
              </a:pathLst>
            </a:custGeom>
            <a:ln w="3175">
              <a:solidFill>
                <a:srgbClr val="000000"/>
              </a:solidFill>
            </a:ln>
          </p:spPr>
          <p:txBody>
            <a:bodyPr wrap="square" lIns="0" tIns="0" rIns="0" bIns="0" rtlCol="0"/>
            <a:lstStyle/>
            <a:p>
              <a:endParaRPr/>
            </a:p>
          </p:txBody>
        </p:sp>
        <p:sp>
          <p:nvSpPr>
            <p:cNvPr id="245" name="object 245"/>
            <p:cNvSpPr/>
            <p:nvPr/>
          </p:nvSpPr>
          <p:spPr>
            <a:xfrm>
              <a:off x="2822058" y="3702682"/>
              <a:ext cx="346710" cy="184785"/>
            </a:xfrm>
            <a:custGeom>
              <a:avLst/>
              <a:gdLst/>
              <a:ahLst/>
              <a:cxnLst/>
              <a:rect l="l" t="t" r="r" b="b"/>
              <a:pathLst>
                <a:path w="346710" h="184785">
                  <a:moveTo>
                    <a:pt x="346530" y="0"/>
                  </a:moveTo>
                  <a:lnTo>
                    <a:pt x="0" y="0"/>
                  </a:lnTo>
                  <a:lnTo>
                    <a:pt x="0" y="184731"/>
                  </a:lnTo>
                  <a:lnTo>
                    <a:pt x="346530" y="184731"/>
                  </a:lnTo>
                  <a:lnTo>
                    <a:pt x="346530" y="0"/>
                  </a:lnTo>
                  <a:close/>
                </a:path>
              </a:pathLst>
            </a:custGeom>
            <a:solidFill>
              <a:srgbClr val="B0A783"/>
            </a:solidFill>
          </p:spPr>
          <p:txBody>
            <a:bodyPr wrap="square" lIns="0" tIns="0" rIns="0" bIns="0" rtlCol="0"/>
            <a:lstStyle/>
            <a:p>
              <a:endParaRPr/>
            </a:p>
          </p:txBody>
        </p:sp>
        <p:sp>
          <p:nvSpPr>
            <p:cNvPr id="246" name="object 246"/>
            <p:cNvSpPr/>
            <p:nvPr/>
          </p:nvSpPr>
          <p:spPr>
            <a:xfrm>
              <a:off x="2822058" y="3702682"/>
              <a:ext cx="346710" cy="184785"/>
            </a:xfrm>
            <a:custGeom>
              <a:avLst/>
              <a:gdLst/>
              <a:ahLst/>
              <a:cxnLst/>
              <a:rect l="l" t="t" r="r" b="b"/>
              <a:pathLst>
                <a:path w="346710" h="184785">
                  <a:moveTo>
                    <a:pt x="0" y="184731"/>
                  </a:moveTo>
                  <a:lnTo>
                    <a:pt x="346530" y="184731"/>
                  </a:lnTo>
                  <a:lnTo>
                    <a:pt x="346530" y="0"/>
                  </a:lnTo>
                  <a:lnTo>
                    <a:pt x="0" y="0"/>
                  </a:lnTo>
                  <a:lnTo>
                    <a:pt x="0" y="184731"/>
                  </a:lnTo>
                  <a:close/>
                </a:path>
              </a:pathLst>
            </a:custGeom>
            <a:ln w="3175">
              <a:solidFill>
                <a:srgbClr val="000000"/>
              </a:solidFill>
            </a:ln>
          </p:spPr>
          <p:txBody>
            <a:bodyPr wrap="square" lIns="0" tIns="0" rIns="0" bIns="0" rtlCol="0"/>
            <a:lstStyle/>
            <a:p>
              <a:endParaRPr/>
            </a:p>
          </p:txBody>
        </p:sp>
        <p:sp>
          <p:nvSpPr>
            <p:cNvPr id="247" name="object 247"/>
            <p:cNvSpPr/>
            <p:nvPr/>
          </p:nvSpPr>
          <p:spPr>
            <a:xfrm>
              <a:off x="2822058" y="3353763"/>
              <a:ext cx="346710" cy="349250"/>
            </a:xfrm>
            <a:custGeom>
              <a:avLst/>
              <a:gdLst/>
              <a:ahLst/>
              <a:cxnLst/>
              <a:rect l="l" t="t" r="r" b="b"/>
              <a:pathLst>
                <a:path w="346710" h="349250">
                  <a:moveTo>
                    <a:pt x="346530" y="0"/>
                  </a:moveTo>
                  <a:lnTo>
                    <a:pt x="0" y="0"/>
                  </a:lnTo>
                  <a:lnTo>
                    <a:pt x="0" y="348919"/>
                  </a:lnTo>
                  <a:lnTo>
                    <a:pt x="346530" y="348919"/>
                  </a:lnTo>
                  <a:lnTo>
                    <a:pt x="346530" y="0"/>
                  </a:lnTo>
                  <a:close/>
                </a:path>
              </a:pathLst>
            </a:custGeom>
            <a:solidFill>
              <a:srgbClr val="FB8D61"/>
            </a:solidFill>
          </p:spPr>
          <p:txBody>
            <a:bodyPr wrap="square" lIns="0" tIns="0" rIns="0" bIns="0" rtlCol="0"/>
            <a:lstStyle/>
            <a:p>
              <a:endParaRPr/>
            </a:p>
          </p:txBody>
        </p:sp>
        <p:sp>
          <p:nvSpPr>
            <p:cNvPr id="248" name="object 248"/>
            <p:cNvSpPr/>
            <p:nvPr/>
          </p:nvSpPr>
          <p:spPr>
            <a:xfrm>
              <a:off x="2822058" y="3353763"/>
              <a:ext cx="346710" cy="349250"/>
            </a:xfrm>
            <a:custGeom>
              <a:avLst/>
              <a:gdLst/>
              <a:ahLst/>
              <a:cxnLst/>
              <a:rect l="l" t="t" r="r" b="b"/>
              <a:pathLst>
                <a:path w="346710" h="349250">
                  <a:moveTo>
                    <a:pt x="0" y="348919"/>
                  </a:moveTo>
                  <a:lnTo>
                    <a:pt x="346530" y="348919"/>
                  </a:lnTo>
                  <a:lnTo>
                    <a:pt x="346530" y="0"/>
                  </a:lnTo>
                  <a:lnTo>
                    <a:pt x="0" y="0"/>
                  </a:lnTo>
                  <a:lnTo>
                    <a:pt x="0" y="348919"/>
                  </a:lnTo>
                  <a:close/>
                </a:path>
              </a:pathLst>
            </a:custGeom>
            <a:ln w="3175">
              <a:solidFill>
                <a:srgbClr val="000000"/>
              </a:solidFill>
            </a:ln>
          </p:spPr>
          <p:txBody>
            <a:bodyPr wrap="square" lIns="0" tIns="0" rIns="0" bIns="0" rtlCol="0"/>
            <a:lstStyle/>
            <a:p>
              <a:endParaRPr/>
            </a:p>
          </p:txBody>
        </p:sp>
        <p:sp>
          <p:nvSpPr>
            <p:cNvPr id="249" name="object 249"/>
            <p:cNvSpPr/>
            <p:nvPr/>
          </p:nvSpPr>
          <p:spPr>
            <a:xfrm>
              <a:off x="2822058" y="4092633"/>
              <a:ext cx="346710" cy="123189"/>
            </a:xfrm>
            <a:custGeom>
              <a:avLst/>
              <a:gdLst/>
              <a:ahLst/>
              <a:cxnLst/>
              <a:rect l="l" t="t" r="r" b="b"/>
              <a:pathLst>
                <a:path w="346710" h="123189">
                  <a:moveTo>
                    <a:pt x="346530" y="0"/>
                  </a:moveTo>
                  <a:lnTo>
                    <a:pt x="0" y="0"/>
                  </a:lnTo>
                  <a:lnTo>
                    <a:pt x="0" y="123168"/>
                  </a:lnTo>
                  <a:lnTo>
                    <a:pt x="346530" y="123168"/>
                  </a:lnTo>
                  <a:lnTo>
                    <a:pt x="346530" y="0"/>
                  </a:lnTo>
                  <a:close/>
                </a:path>
              </a:pathLst>
            </a:custGeom>
            <a:solidFill>
              <a:srgbClr val="B994C6"/>
            </a:solidFill>
          </p:spPr>
          <p:txBody>
            <a:bodyPr wrap="square" lIns="0" tIns="0" rIns="0" bIns="0" rtlCol="0"/>
            <a:lstStyle/>
            <a:p>
              <a:endParaRPr/>
            </a:p>
          </p:txBody>
        </p:sp>
        <p:sp>
          <p:nvSpPr>
            <p:cNvPr id="250" name="object 250"/>
            <p:cNvSpPr/>
            <p:nvPr/>
          </p:nvSpPr>
          <p:spPr>
            <a:xfrm>
              <a:off x="2822058" y="4092633"/>
              <a:ext cx="346710" cy="123189"/>
            </a:xfrm>
            <a:custGeom>
              <a:avLst/>
              <a:gdLst/>
              <a:ahLst/>
              <a:cxnLst/>
              <a:rect l="l" t="t" r="r" b="b"/>
              <a:pathLst>
                <a:path w="346710" h="123189">
                  <a:moveTo>
                    <a:pt x="0" y="123168"/>
                  </a:moveTo>
                  <a:lnTo>
                    <a:pt x="346530" y="123168"/>
                  </a:lnTo>
                  <a:lnTo>
                    <a:pt x="346530" y="0"/>
                  </a:lnTo>
                  <a:lnTo>
                    <a:pt x="0" y="0"/>
                  </a:lnTo>
                  <a:lnTo>
                    <a:pt x="0" y="123168"/>
                  </a:lnTo>
                  <a:close/>
                </a:path>
              </a:pathLst>
            </a:custGeom>
            <a:ln w="3175">
              <a:solidFill>
                <a:srgbClr val="000000"/>
              </a:solidFill>
            </a:ln>
          </p:spPr>
          <p:txBody>
            <a:bodyPr wrap="square" lIns="0" tIns="0" rIns="0" bIns="0" rtlCol="0"/>
            <a:lstStyle/>
            <a:p>
              <a:endParaRPr/>
            </a:p>
          </p:txBody>
        </p:sp>
        <p:sp>
          <p:nvSpPr>
            <p:cNvPr id="251" name="object 251"/>
            <p:cNvSpPr/>
            <p:nvPr/>
          </p:nvSpPr>
          <p:spPr>
            <a:xfrm>
              <a:off x="2822058" y="4441608"/>
              <a:ext cx="346710" cy="61594"/>
            </a:xfrm>
            <a:custGeom>
              <a:avLst/>
              <a:gdLst/>
              <a:ahLst/>
              <a:cxnLst/>
              <a:rect l="l" t="t" r="r" b="b"/>
              <a:pathLst>
                <a:path w="346710" h="61595">
                  <a:moveTo>
                    <a:pt x="346530" y="0"/>
                  </a:moveTo>
                  <a:lnTo>
                    <a:pt x="0" y="0"/>
                  </a:lnTo>
                  <a:lnTo>
                    <a:pt x="0" y="61562"/>
                  </a:lnTo>
                  <a:lnTo>
                    <a:pt x="346530" y="61562"/>
                  </a:lnTo>
                  <a:lnTo>
                    <a:pt x="346530" y="0"/>
                  </a:lnTo>
                  <a:close/>
                </a:path>
              </a:pathLst>
            </a:custGeom>
            <a:solidFill>
              <a:srgbClr val="A6D753"/>
            </a:solidFill>
          </p:spPr>
          <p:txBody>
            <a:bodyPr wrap="square" lIns="0" tIns="0" rIns="0" bIns="0" rtlCol="0"/>
            <a:lstStyle/>
            <a:p>
              <a:endParaRPr/>
            </a:p>
          </p:txBody>
        </p:sp>
        <p:sp>
          <p:nvSpPr>
            <p:cNvPr id="252" name="object 252"/>
            <p:cNvSpPr/>
            <p:nvPr/>
          </p:nvSpPr>
          <p:spPr>
            <a:xfrm>
              <a:off x="2822058" y="4441608"/>
              <a:ext cx="346710" cy="61594"/>
            </a:xfrm>
            <a:custGeom>
              <a:avLst/>
              <a:gdLst/>
              <a:ahLst/>
              <a:cxnLst/>
              <a:rect l="l" t="t" r="r" b="b"/>
              <a:pathLst>
                <a:path w="346710" h="61595">
                  <a:moveTo>
                    <a:pt x="0" y="61562"/>
                  </a:moveTo>
                  <a:lnTo>
                    <a:pt x="346530" y="61562"/>
                  </a:lnTo>
                  <a:lnTo>
                    <a:pt x="346530" y="0"/>
                  </a:lnTo>
                  <a:lnTo>
                    <a:pt x="0" y="0"/>
                  </a:lnTo>
                  <a:lnTo>
                    <a:pt x="0" y="61562"/>
                  </a:lnTo>
                  <a:close/>
                </a:path>
              </a:pathLst>
            </a:custGeom>
            <a:ln w="3175">
              <a:solidFill>
                <a:srgbClr val="000000"/>
              </a:solidFill>
            </a:ln>
          </p:spPr>
          <p:txBody>
            <a:bodyPr wrap="square" lIns="0" tIns="0" rIns="0" bIns="0" rtlCol="0"/>
            <a:lstStyle/>
            <a:p>
              <a:endParaRPr/>
            </a:p>
          </p:txBody>
        </p:sp>
        <p:sp>
          <p:nvSpPr>
            <p:cNvPr id="253" name="object 253"/>
            <p:cNvSpPr/>
            <p:nvPr/>
          </p:nvSpPr>
          <p:spPr>
            <a:xfrm>
              <a:off x="2822058" y="4338982"/>
              <a:ext cx="346710" cy="82550"/>
            </a:xfrm>
            <a:custGeom>
              <a:avLst/>
              <a:gdLst/>
              <a:ahLst/>
              <a:cxnLst/>
              <a:rect l="l" t="t" r="r" b="b"/>
              <a:pathLst>
                <a:path w="346710" h="82550">
                  <a:moveTo>
                    <a:pt x="346530" y="0"/>
                  </a:moveTo>
                  <a:lnTo>
                    <a:pt x="0" y="0"/>
                  </a:lnTo>
                  <a:lnTo>
                    <a:pt x="0" y="82094"/>
                  </a:lnTo>
                  <a:lnTo>
                    <a:pt x="346530" y="82094"/>
                  </a:lnTo>
                  <a:lnTo>
                    <a:pt x="346530" y="0"/>
                  </a:lnTo>
                  <a:close/>
                </a:path>
              </a:pathLst>
            </a:custGeom>
            <a:solidFill>
              <a:srgbClr val="C49595"/>
            </a:solidFill>
          </p:spPr>
          <p:txBody>
            <a:bodyPr wrap="square" lIns="0" tIns="0" rIns="0" bIns="0" rtlCol="0"/>
            <a:lstStyle/>
            <a:p>
              <a:endParaRPr/>
            </a:p>
          </p:txBody>
        </p:sp>
        <p:sp>
          <p:nvSpPr>
            <p:cNvPr id="254" name="object 254"/>
            <p:cNvSpPr/>
            <p:nvPr/>
          </p:nvSpPr>
          <p:spPr>
            <a:xfrm>
              <a:off x="2822058" y="4338982"/>
              <a:ext cx="346710" cy="82550"/>
            </a:xfrm>
            <a:custGeom>
              <a:avLst/>
              <a:gdLst/>
              <a:ahLst/>
              <a:cxnLst/>
              <a:rect l="l" t="t" r="r" b="b"/>
              <a:pathLst>
                <a:path w="346710" h="82550">
                  <a:moveTo>
                    <a:pt x="0" y="82094"/>
                  </a:moveTo>
                  <a:lnTo>
                    <a:pt x="346530" y="82094"/>
                  </a:lnTo>
                  <a:lnTo>
                    <a:pt x="346530" y="0"/>
                  </a:lnTo>
                  <a:lnTo>
                    <a:pt x="0" y="0"/>
                  </a:lnTo>
                  <a:lnTo>
                    <a:pt x="0" y="82094"/>
                  </a:lnTo>
                  <a:close/>
                </a:path>
              </a:pathLst>
            </a:custGeom>
            <a:ln w="3175">
              <a:solidFill>
                <a:srgbClr val="000000"/>
              </a:solidFill>
            </a:ln>
          </p:spPr>
          <p:txBody>
            <a:bodyPr wrap="square" lIns="0" tIns="0" rIns="0" bIns="0" rtlCol="0"/>
            <a:lstStyle/>
            <a:p>
              <a:endParaRPr/>
            </a:p>
          </p:txBody>
        </p:sp>
        <p:sp>
          <p:nvSpPr>
            <p:cNvPr id="255" name="object 255"/>
            <p:cNvSpPr/>
            <p:nvPr/>
          </p:nvSpPr>
          <p:spPr>
            <a:xfrm>
              <a:off x="2822058" y="3887425"/>
              <a:ext cx="346710" cy="205740"/>
            </a:xfrm>
            <a:custGeom>
              <a:avLst/>
              <a:gdLst/>
              <a:ahLst/>
              <a:cxnLst/>
              <a:rect l="l" t="t" r="r" b="b"/>
              <a:pathLst>
                <a:path w="346710" h="205739">
                  <a:moveTo>
                    <a:pt x="346530" y="0"/>
                  </a:moveTo>
                  <a:lnTo>
                    <a:pt x="0" y="0"/>
                  </a:lnTo>
                  <a:lnTo>
                    <a:pt x="0" y="205263"/>
                  </a:lnTo>
                  <a:lnTo>
                    <a:pt x="346530" y="205263"/>
                  </a:lnTo>
                  <a:lnTo>
                    <a:pt x="346530" y="0"/>
                  </a:lnTo>
                  <a:close/>
                </a:path>
              </a:pathLst>
            </a:custGeom>
            <a:solidFill>
              <a:srgbClr val="8D9FCA"/>
            </a:solidFill>
          </p:spPr>
          <p:txBody>
            <a:bodyPr wrap="square" lIns="0" tIns="0" rIns="0" bIns="0" rtlCol="0"/>
            <a:lstStyle/>
            <a:p>
              <a:endParaRPr/>
            </a:p>
          </p:txBody>
        </p:sp>
        <p:sp>
          <p:nvSpPr>
            <p:cNvPr id="256" name="object 256"/>
            <p:cNvSpPr/>
            <p:nvPr/>
          </p:nvSpPr>
          <p:spPr>
            <a:xfrm>
              <a:off x="2822058" y="3887425"/>
              <a:ext cx="346710" cy="205740"/>
            </a:xfrm>
            <a:custGeom>
              <a:avLst/>
              <a:gdLst/>
              <a:ahLst/>
              <a:cxnLst/>
              <a:rect l="l" t="t" r="r" b="b"/>
              <a:pathLst>
                <a:path w="346710" h="205739">
                  <a:moveTo>
                    <a:pt x="0" y="205263"/>
                  </a:moveTo>
                  <a:lnTo>
                    <a:pt x="346530" y="205263"/>
                  </a:lnTo>
                  <a:lnTo>
                    <a:pt x="346530" y="0"/>
                  </a:lnTo>
                  <a:lnTo>
                    <a:pt x="0" y="0"/>
                  </a:lnTo>
                  <a:lnTo>
                    <a:pt x="0" y="205263"/>
                  </a:lnTo>
                  <a:close/>
                </a:path>
              </a:pathLst>
            </a:custGeom>
            <a:ln w="3175">
              <a:solidFill>
                <a:srgbClr val="000000"/>
              </a:solidFill>
            </a:ln>
          </p:spPr>
          <p:txBody>
            <a:bodyPr wrap="square" lIns="0" tIns="0" rIns="0" bIns="0" rtlCol="0"/>
            <a:lstStyle/>
            <a:p>
              <a:endParaRPr/>
            </a:p>
          </p:txBody>
        </p:sp>
        <p:sp>
          <p:nvSpPr>
            <p:cNvPr id="257" name="object 257"/>
            <p:cNvSpPr/>
            <p:nvPr/>
          </p:nvSpPr>
          <p:spPr>
            <a:xfrm>
              <a:off x="3207120" y="4225831"/>
              <a:ext cx="346710" cy="45085"/>
            </a:xfrm>
            <a:custGeom>
              <a:avLst/>
              <a:gdLst/>
              <a:ahLst/>
              <a:cxnLst/>
              <a:rect l="l" t="t" r="r" b="b"/>
              <a:pathLst>
                <a:path w="346710" h="45085">
                  <a:moveTo>
                    <a:pt x="346530" y="0"/>
                  </a:moveTo>
                  <a:lnTo>
                    <a:pt x="0" y="0"/>
                  </a:lnTo>
                  <a:lnTo>
                    <a:pt x="0" y="44740"/>
                  </a:lnTo>
                  <a:lnTo>
                    <a:pt x="346530" y="44740"/>
                  </a:lnTo>
                  <a:lnTo>
                    <a:pt x="346530" y="0"/>
                  </a:lnTo>
                  <a:close/>
                </a:path>
              </a:pathLst>
            </a:custGeom>
            <a:solidFill>
              <a:srgbClr val="D2D741"/>
            </a:solidFill>
          </p:spPr>
          <p:txBody>
            <a:bodyPr wrap="square" lIns="0" tIns="0" rIns="0" bIns="0" rtlCol="0"/>
            <a:lstStyle/>
            <a:p>
              <a:endParaRPr/>
            </a:p>
          </p:txBody>
        </p:sp>
        <p:sp>
          <p:nvSpPr>
            <p:cNvPr id="258" name="object 258"/>
            <p:cNvSpPr/>
            <p:nvPr/>
          </p:nvSpPr>
          <p:spPr>
            <a:xfrm>
              <a:off x="3207120" y="4225831"/>
              <a:ext cx="346710" cy="45085"/>
            </a:xfrm>
            <a:custGeom>
              <a:avLst/>
              <a:gdLst/>
              <a:ahLst/>
              <a:cxnLst/>
              <a:rect l="l" t="t" r="r" b="b"/>
              <a:pathLst>
                <a:path w="346710" h="45085">
                  <a:moveTo>
                    <a:pt x="0" y="44740"/>
                  </a:moveTo>
                  <a:lnTo>
                    <a:pt x="346530" y="44740"/>
                  </a:lnTo>
                  <a:lnTo>
                    <a:pt x="346530" y="0"/>
                  </a:lnTo>
                  <a:lnTo>
                    <a:pt x="0" y="0"/>
                  </a:lnTo>
                  <a:lnTo>
                    <a:pt x="0" y="44740"/>
                  </a:lnTo>
                  <a:close/>
                </a:path>
              </a:pathLst>
            </a:custGeom>
            <a:ln w="3175">
              <a:solidFill>
                <a:srgbClr val="000000"/>
              </a:solidFill>
            </a:ln>
          </p:spPr>
          <p:txBody>
            <a:bodyPr wrap="square" lIns="0" tIns="0" rIns="0" bIns="0" rtlCol="0"/>
            <a:lstStyle/>
            <a:p>
              <a:endParaRPr/>
            </a:p>
          </p:txBody>
        </p:sp>
        <p:sp>
          <p:nvSpPr>
            <p:cNvPr id="259" name="object 259"/>
            <p:cNvSpPr/>
            <p:nvPr/>
          </p:nvSpPr>
          <p:spPr>
            <a:xfrm>
              <a:off x="3207120" y="4270561"/>
              <a:ext cx="346710" cy="45085"/>
            </a:xfrm>
            <a:custGeom>
              <a:avLst/>
              <a:gdLst/>
              <a:ahLst/>
              <a:cxnLst/>
              <a:rect l="l" t="t" r="r" b="b"/>
              <a:pathLst>
                <a:path w="346710" h="45085">
                  <a:moveTo>
                    <a:pt x="346530" y="0"/>
                  </a:moveTo>
                  <a:lnTo>
                    <a:pt x="0" y="0"/>
                  </a:lnTo>
                  <a:lnTo>
                    <a:pt x="0" y="44740"/>
                  </a:lnTo>
                  <a:lnTo>
                    <a:pt x="346530" y="44740"/>
                  </a:lnTo>
                  <a:lnTo>
                    <a:pt x="346530" y="0"/>
                  </a:lnTo>
                  <a:close/>
                </a:path>
              </a:pathLst>
            </a:custGeom>
            <a:solidFill>
              <a:srgbClr val="C5B08A"/>
            </a:solidFill>
          </p:spPr>
          <p:txBody>
            <a:bodyPr wrap="square" lIns="0" tIns="0" rIns="0" bIns="0" rtlCol="0"/>
            <a:lstStyle/>
            <a:p>
              <a:endParaRPr/>
            </a:p>
          </p:txBody>
        </p:sp>
        <p:sp>
          <p:nvSpPr>
            <p:cNvPr id="260" name="object 260"/>
            <p:cNvSpPr/>
            <p:nvPr/>
          </p:nvSpPr>
          <p:spPr>
            <a:xfrm>
              <a:off x="3207120" y="4270561"/>
              <a:ext cx="346710" cy="45085"/>
            </a:xfrm>
            <a:custGeom>
              <a:avLst/>
              <a:gdLst/>
              <a:ahLst/>
              <a:cxnLst/>
              <a:rect l="l" t="t" r="r" b="b"/>
              <a:pathLst>
                <a:path w="346710" h="45085">
                  <a:moveTo>
                    <a:pt x="0" y="44740"/>
                  </a:moveTo>
                  <a:lnTo>
                    <a:pt x="346530" y="44740"/>
                  </a:lnTo>
                  <a:lnTo>
                    <a:pt x="346530" y="0"/>
                  </a:lnTo>
                  <a:lnTo>
                    <a:pt x="0" y="0"/>
                  </a:lnTo>
                  <a:lnTo>
                    <a:pt x="0" y="44740"/>
                  </a:lnTo>
                  <a:close/>
                </a:path>
              </a:pathLst>
            </a:custGeom>
            <a:ln w="3175">
              <a:solidFill>
                <a:srgbClr val="000000"/>
              </a:solidFill>
            </a:ln>
          </p:spPr>
          <p:txBody>
            <a:bodyPr wrap="square" lIns="0" tIns="0" rIns="0" bIns="0" rtlCol="0"/>
            <a:lstStyle/>
            <a:p>
              <a:endParaRPr/>
            </a:p>
          </p:txBody>
        </p:sp>
        <p:sp>
          <p:nvSpPr>
            <p:cNvPr id="261" name="object 261"/>
            <p:cNvSpPr/>
            <p:nvPr/>
          </p:nvSpPr>
          <p:spPr>
            <a:xfrm>
              <a:off x="3207120" y="3107480"/>
              <a:ext cx="346710" cy="290830"/>
            </a:xfrm>
            <a:custGeom>
              <a:avLst/>
              <a:gdLst/>
              <a:ahLst/>
              <a:cxnLst/>
              <a:rect l="l" t="t" r="r" b="b"/>
              <a:pathLst>
                <a:path w="346710" h="290829">
                  <a:moveTo>
                    <a:pt x="346530" y="0"/>
                  </a:moveTo>
                  <a:lnTo>
                    <a:pt x="0" y="0"/>
                  </a:lnTo>
                  <a:lnTo>
                    <a:pt x="0" y="290759"/>
                  </a:lnTo>
                  <a:lnTo>
                    <a:pt x="346530" y="290759"/>
                  </a:lnTo>
                  <a:lnTo>
                    <a:pt x="346530" y="0"/>
                  </a:lnTo>
                  <a:close/>
                </a:path>
              </a:pathLst>
            </a:custGeom>
            <a:solidFill>
              <a:srgbClr val="66C2A4"/>
            </a:solidFill>
          </p:spPr>
          <p:txBody>
            <a:bodyPr wrap="square" lIns="0" tIns="0" rIns="0" bIns="0" rtlCol="0"/>
            <a:lstStyle/>
            <a:p>
              <a:endParaRPr/>
            </a:p>
          </p:txBody>
        </p:sp>
        <p:sp>
          <p:nvSpPr>
            <p:cNvPr id="262" name="object 262"/>
            <p:cNvSpPr/>
            <p:nvPr/>
          </p:nvSpPr>
          <p:spPr>
            <a:xfrm>
              <a:off x="3207120" y="3107480"/>
              <a:ext cx="346710" cy="290830"/>
            </a:xfrm>
            <a:custGeom>
              <a:avLst/>
              <a:gdLst/>
              <a:ahLst/>
              <a:cxnLst/>
              <a:rect l="l" t="t" r="r" b="b"/>
              <a:pathLst>
                <a:path w="346710" h="290829">
                  <a:moveTo>
                    <a:pt x="0" y="290759"/>
                  </a:moveTo>
                  <a:lnTo>
                    <a:pt x="346530" y="290759"/>
                  </a:lnTo>
                  <a:lnTo>
                    <a:pt x="346530" y="0"/>
                  </a:lnTo>
                  <a:lnTo>
                    <a:pt x="0" y="0"/>
                  </a:lnTo>
                  <a:lnTo>
                    <a:pt x="0" y="290759"/>
                  </a:lnTo>
                  <a:close/>
                </a:path>
              </a:pathLst>
            </a:custGeom>
            <a:ln w="3175">
              <a:solidFill>
                <a:srgbClr val="000000"/>
              </a:solidFill>
            </a:ln>
          </p:spPr>
          <p:txBody>
            <a:bodyPr wrap="square" lIns="0" tIns="0" rIns="0" bIns="0" rtlCol="0"/>
            <a:lstStyle/>
            <a:p>
              <a:endParaRPr/>
            </a:p>
          </p:txBody>
        </p:sp>
        <p:sp>
          <p:nvSpPr>
            <p:cNvPr id="263" name="object 263"/>
            <p:cNvSpPr/>
            <p:nvPr/>
          </p:nvSpPr>
          <p:spPr>
            <a:xfrm>
              <a:off x="3207120" y="4427120"/>
              <a:ext cx="346710" cy="45085"/>
            </a:xfrm>
            <a:custGeom>
              <a:avLst/>
              <a:gdLst/>
              <a:ahLst/>
              <a:cxnLst/>
              <a:rect l="l" t="t" r="r" b="b"/>
              <a:pathLst>
                <a:path w="346710" h="45085">
                  <a:moveTo>
                    <a:pt x="346530" y="0"/>
                  </a:moveTo>
                  <a:lnTo>
                    <a:pt x="0" y="0"/>
                  </a:lnTo>
                  <a:lnTo>
                    <a:pt x="0" y="44740"/>
                  </a:lnTo>
                  <a:lnTo>
                    <a:pt x="346530" y="44740"/>
                  </a:lnTo>
                  <a:lnTo>
                    <a:pt x="346530" y="0"/>
                  </a:lnTo>
                  <a:close/>
                </a:path>
              </a:pathLst>
            </a:custGeom>
            <a:solidFill>
              <a:srgbClr val="E789C3"/>
            </a:solidFill>
          </p:spPr>
          <p:txBody>
            <a:bodyPr wrap="square" lIns="0" tIns="0" rIns="0" bIns="0" rtlCol="0"/>
            <a:lstStyle/>
            <a:p>
              <a:endParaRPr/>
            </a:p>
          </p:txBody>
        </p:sp>
        <p:sp>
          <p:nvSpPr>
            <p:cNvPr id="264" name="object 264"/>
            <p:cNvSpPr/>
            <p:nvPr/>
          </p:nvSpPr>
          <p:spPr>
            <a:xfrm>
              <a:off x="3207120" y="4427120"/>
              <a:ext cx="346710" cy="45085"/>
            </a:xfrm>
            <a:custGeom>
              <a:avLst/>
              <a:gdLst/>
              <a:ahLst/>
              <a:cxnLst/>
              <a:rect l="l" t="t" r="r" b="b"/>
              <a:pathLst>
                <a:path w="346710" h="45085">
                  <a:moveTo>
                    <a:pt x="0" y="44740"/>
                  </a:moveTo>
                  <a:lnTo>
                    <a:pt x="346530" y="44740"/>
                  </a:lnTo>
                  <a:lnTo>
                    <a:pt x="346530" y="0"/>
                  </a:lnTo>
                  <a:lnTo>
                    <a:pt x="0" y="0"/>
                  </a:lnTo>
                  <a:lnTo>
                    <a:pt x="0" y="44740"/>
                  </a:lnTo>
                  <a:close/>
                </a:path>
              </a:pathLst>
            </a:custGeom>
            <a:ln w="3175">
              <a:solidFill>
                <a:srgbClr val="000000"/>
              </a:solidFill>
            </a:ln>
          </p:spPr>
          <p:txBody>
            <a:bodyPr wrap="square" lIns="0" tIns="0" rIns="0" bIns="0" rtlCol="0"/>
            <a:lstStyle/>
            <a:p>
              <a:endParaRPr/>
            </a:p>
          </p:txBody>
        </p:sp>
        <p:sp>
          <p:nvSpPr>
            <p:cNvPr id="265" name="object 265"/>
            <p:cNvSpPr/>
            <p:nvPr/>
          </p:nvSpPr>
          <p:spPr>
            <a:xfrm>
              <a:off x="3207120" y="4606126"/>
              <a:ext cx="346710" cy="22860"/>
            </a:xfrm>
            <a:custGeom>
              <a:avLst/>
              <a:gdLst/>
              <a:ahLst/>
              <a:cxnLst/>
              <a:rect l="l" t="t" r="r" b="b"/>
              <a:pathLst>
                <a:path w="346710" h="22860">
                  <a:moveTo>
                    <a:pt x="346530" y="0"/>
                  </a:moveTo>
                  <a:lnTo>
                    <a:pt x="0" y="0"/>
                  </a:lnTo>
                  <a:lnTo>
                    <a:pt x="0" y="22337"/>
                  </a:lnTo>
                  <a:lnTo>
                    <a:pt x="346530" y="22337"/>
                  </a:lnTo>
                  <a:lnTo>
                    <a:pt x="346530" y="0"/>
                  </a:lnTo>
                  <a:close/>
                </a:path>
              </a:pathLst>
            </a:custGeom>
            <a:solidFill>
              <a:srgbClr val="CCBAA2"/>
            </a:solidFill>
          </p:spPr>
          <p:txBody>
            <a:bodyPr wrap="square" lIns="0" tIns="0" rIns="0" bIns="0" rtlCol="0"/>
            <a:lstStyle/>
            <a:p>
              <a:endParaRPr/>
            </a:p>
          </p:txBody>
        </p:sp>
        <p:sp>
          <p:nvSpPr>
            <p:cNvPr id="266" name="object 266"/>
            <p:cNvSpPr/>
            <p:nvPr/>
          </p:nvSpPr>
          <p:spPr>
            <a:xfrm>
              <a:off x="3207120" y="4606126"/>
              <a:ext cx="346710" cy="22860"/>
            </a:xfrm>
            <a:custGeom>
              <a:avLst/>
              <a:gdLst/>
              <a:ahLst/>
              <a:cxnLst/>
              <a:rect l="l" t="t" r="r" b="b"/>
              <a:pathLst>
                <a:path w="346710" h="22860">
                  <a:moveTo>
                    <a:pt x="0" y="22337"/>
                  </a:moveTo>
                  <a:lnTo>
                    <a:pt x="346530" y="22337"/>
                  </a:lnTo>
                  <a:lnTo>
                    <a:pt x="346530" y="0"/>
                  </a:lnTo>
                  <a:lnTo>
                    <a:pt x="0" y="0"/>
                  </a:lnTo>
                  <a:lnTo>
                    <a:pt x="0" y="22337"/>
                  </a:lnTo>
                  <a:close/>
                </a:path>
              </a:pathLst>
            </a:custGeom>
            <a:ln w="3175">
              <a:solidFill>
                <a:srgbClr val="000000"/>
              </a:solidFill>
            </a:ln>
          </p:spPr>
          <p:txBody>
            <a:bodyPr wrap="square" lIns="0" tIns="0" rIns="0" bIns="0" rtlCol="0"/>
            <a:lstStyle/>
            <a:p>
              <a:endParaRPr/>
            </a:p>
          </p:txBody>
        </p:sp>
        <p:sp>
          <p:nvSpPr>
            <p:cNvPr id="267" name="object 267"/>
            <p:cNvSpPr/>
            <p:nvPr/>
          </p:nvSpPr>
          <p:spPr>
            <a:xfrm>
              <a:off x="3207120" y="4628464"/>
              <a:ext cx="346710" cy="22860"/>
            </a:xfrm>
            <a:custGeom>
              <a:avLst/>
              <a:gdLst/>
              <a:ahLst/>
              <a:cxnLst/>
              <a:rect l="l" t="t" r="r" b="b"/>
              <a:pathLst>
                <a:path w="346710" h="22860">
                  <a:moveTo>
                    <a:pt x="346530" y="0"/>
                  </a:moveTo>
                  <a:lnTo>
                    <a:pt x="0" y="0"/>
                  </a:lnTo>
                  <a:lnTo>
                    <a:pt x="0" y="22337"/>
                  </a:lnTo>
                  <a:lnTo>
                    <a:pt x="346530" y="22337"/>
                  </a:lnTo>
                  <a:lnTo>
                    <a:pt x="346530" y="0"/>
                  </a:lnTo>
                  <a:close/>
                </a:path>
              </a:pathLst>
            </a:custGeom>
            <a:solidFill>
              <a:srgbClr val="B3B3B3"/>
            </a:solidFill>
          </p:spPr>
          <p:txBody>
            <a:bodyPr wrap="square" lIns="0" tIns="0" rIns="0" bIns="0" rtlCol="0"/>
            <a:lstStyle/>
            <a:p>
              <a:endParaRPr/>
            </a:p>
          </p:txBody>
        </p:sp>
        <p:sp>
          <p:nvSpPr>
            <p:cNvPr id="268" name="object 268"/>
            <p:cNvSpPr/>
            <p:nvPr/>
          </p:nvSpPr>
          <p:spPr>
            <a:xfrm>
              <a:off x="3207120" y="4628464"/>
              <a:ext cx="346710" cy="224154"/>
            </a:xfrm>
            <a:custGeom>
              <a:avLst/>
              <a:gdLst/>
              <a:ahLst/>
              <a:cxnLst/>
              <a:rect l="l" t="t" r="r" b="b"/>
              <a:pathLst>
                <a:path w="346710" h="224154">
                  <a:moveTo>
                    <a:pt x="0" y="22337"/>
                  </a:moveTo>
                  <a:lnTo>
                    <a:pt x="346530" y="22337"/>
                  </a:lnTo>
                  <a:lnTo>
                    <a:pt x="346530" y="0"/>
                  </a:lnTo>
                  <a:lnTo>
                    <a:pt x="0" y="0"/>
                  </a:lnTo>
                  <a:lnTo>
                    <a:pt x="0" y="22337"/>
                  </a:lnTo>
                  <a:close/>
                </a:path>
                <a:path w="346710" h="224154">
                  <a:moveTo>
                    <a:pt x="0" y="223626"/>
                  </a:moveTo>
                  <a:lnTo>
                    <a:pt x="346530" y="223626"/>
                  </a:lnTo>
                  <a:lnTo>
                    <a:pt x="346530" y="22337"/>
                  </a:lnTo>
                  <a:lnTo>
                    <a:pt x="0" y="22337"/>
                  </a:lnTo>
                  <a:lnTo>
                    <a:pt x="0" y="223626"/>
                  </a:lnTo>
                  <a:close/>
                </a:path>
              </a:pathLst>
            </a:custGeom>
            <a:ln w="3175">
              <a:solidFill>
                <a:srgbClr val="000000"/>
              </a:solidFill>
            </a:ln>
          </p:spPr>
          <p:txBody>
            <a:bodyPr wrap="square" lIns="0" tIns="0" rIns="0" bIns="0" rtlCol="0"/>
            <a:lstStyle/>
            <a:p>
              <a:endParaRPr/>
            </a:p>
          </p:txBody>
        </p:sp>
        <p:sp>
          <p:nvSpPr>
            <p:cNvPr id="269" name="object 269"/>
            <p:cNvSpPr/>
            <p:nvPr/>
          </p:nvSpPr>
          <p:spPr>
            <a:xfrm>
              <a:off x="3207120" y="3711380"/>
              <a:ext cx="346710" cy="246379"/>
            </a:xfrm>
            <a:custGeom>
              <a:avLst/>
              <a:gdLst/>
              <a:ahLst/>
              <a:cxnLst/>
              <a:rect l="l" t="t" r="r" b="b"/>
              <a:pathLst>
                <a:path w="346710" h="246379">
                  <a:moveTo>
                    <a:pt x="346530" y="0"/>
                  </a:moveTo>
                  <a:lnTo>
                    <a:pt x="0" y="0"/>
                  </a:lnTo>
                  <a:lnTo>
                    <a:pt x="0" y="246029"/>
                  </a:lnTo>
                  <a:lnTo>
                    <a:pt x="346530" y="246029"/>
                  </a:lnTo>
                  <a:lnTo>
                    <a:pt x="346530" y="0"/>
                  </a:lnTo>
                  <a:close/>
                </a:path>
              </a:pathLst>
            </a:custGeom>
            <a:solidFill>
              <a:srgbClr val="B0A783"/>
            </a:solidFill>
          </p:spPr>
          <p:txBody>
            <a:bodyPr wrap="square" lIns="0" tIns="0" rIns="0" bIns="0" rtlCol="0"/>
            <a:lstStyle/>
            <a:p>
              <a:endParaRPr/>
            </a:p>
          </p:txBody>
        </p:sp>
        <p:sp>
          <p:nvSpPr>
            <p:cNvPr id="270" name="object 270"/>
            <p:cNvSpPr/>
            <p:nvPr/>
          </p:nvSpPr>
          <p:spPr>
            <a:xfrm>
              <a:off x="3207120" y="3711380"/>
              <a:ext cx="346710" cy="246379"/>
            </a:xfrm>
            <a:custGeom>
              <a:avLst/>
              <a:gdLst/>
              <a:ahLst/>
              <a:cxnLst/>
              <a:rect l="l" t="t" r="r" b="b"/>
              <a:pathLst>
                <a:path w="346710" h="246379">
                  <a:moveTo>
                    <a:pt x="0" y="246029"/>
                  </a:moveTo>
                  <a:lnTo>
                    <a:pt x="346530" y="246029"/>
                  </a:lnTo>
                  <a:lnTo>
                    <a:pt x="346530" y="0"/>
                  </a:lnTo>
                  <a:lnTo>
                    <a:pt x="0" y="0"/>
                  </a:lnTo>
                  <a:lnTo>
                    <a:pt x="0" y="246029"/>
                  </a:lnTo>
                  <a:close/>
                </a:path>
              </a:pathLst>
            </a:custGeom>
            <a:ln w="3175">
              <a:solidFill>
                <a:srgbClr val="000000"/>
              </a:solidFill>
            </a:ln>
          </p:spPr>
          <p:txBody>
            <a:bodyPr wrap="square" lIns="0" tIns="0" rIns="0" bIns="0" rtlCol="0"/>
            <a:lstStyle/>
            <a:p>
              <a:endParaRPr/>
            </a:p>
          </p:txBody>
        </p:sp>
        <p:sp>
          <p:nvSpPr>
            <p:cNvPr id="271" name="object 271"/>
            <p:cNvSpPr/>
            <p:nvPr/>
          </p:nvSpPr>
          <p:spPr>
            <a:xfrm>
              <a:off x="3207120" y="3398239"/>
              <a:ext cx="346710" cy="313690"/>
            </a:xfrm>
            <a:custGeom>
              <a:avLst/>
              <a:gdLst/>
              <a:ahLst/>
              <a:cxnLst/>
              <a:rect l="l" t="t" r="r" b="b"/>
              <a:pathLst>
                <a:path w="346710" h="313689">
                  <a:moveTo>
                    <a:pt x="346530" y="0"/>
                  </a:moveTo>
                  <a:lnTo>
                    <a:pt x="0" y="0"/>
                  </a:lnTo>
                  <a:lnTo>
                    <a:pt x="0" y="313151"/>
                  </a:lnTo>
                  <a:lnTo>
                    <a:pt x="346530" y="313151"/>
                  </a:lnTo>
                  <a:lnTo>
                    <a:pt x="346530" y="0"/>
                  </a:lnTo>
                  <a:close/>
                </a:path>
              </a:pathLst>
            </a:custGeom>
            <a:solidFill>
              <a:srgbClr val="FB8D61"/>
            </a:solidFill>
          </p:spPr>
          <p:txBody>
            <a:bodyPr wrap="square" lIns="0" tIns="0" rIns="0" bIns="0" rtlCol="0"/>
            <a:lstStyle/>
            <a:p>
              <a:endParaRPr/>
            </a:p>
          </p:txBody>
        </p:sp>
        <p:sp>
          <p:nvSpPr>
            <p:cNvPr id="272" name="object 272"/>
            <p:cNvSpPr/>
            <p:nvPr/>
          </p:nvSpPr>
          <p:spPr>
            <a:xfrm>
              <a:off x="3207120" y="3398239"/>
              <a:ext cx="346710" cy="313690"/>
            </a:xfrm>
            <a:custGeom>
              <a:avLst/>
              <a:gdLst/>
              <a:ahLst/>
              <a:cxnLst/>
              <a:rect l="l" t="t" r="r" b="b"/>
              <a:pathLst>
                <a:path w="346710" h="313689">
                  <a:moveTo>
                    <a:pt x="0" y="313151"/>
                  </a:moveTo>
                  <a:lnTo>
                    <a:pt x="346530" y="313151"/>
                  </a:lnTo>
                  <a:lnTo>
                    <a:pt x="346530" y="0"/>
                  </a:lnTo>
                  <a:lnTo>
                    <a:pt x="0" y="0"/>
                  </a:lnTo>
                  <a:lnTo>
                    <a:pt x="0" y="313151"/>
                  </a:lnTo>
                  <a:close/>
                </a:path>
              </a:pathLst>
            </a:custGeom>
            <a:ln w="3175">
              <a:solidFill>
                <a:srgbClr val="000000"/>
              </a:solidFill>
            </a:ln>
          </p:spPr>
          <p:txBody>
            <a:bodyPr wrap="square" lIns="0" tIns="0" rIns="0" bIns="0" rtlCol="0"/>
            <a:lstStyle/>
            <a:p>
              <a:endParaRPr/>
            </a:p>
          </p:txBody>
        </p:sp>
        <p:sp>
          <p:nvSpPr>
            <p:cNvPr id="273" name="object 273"/>
            <p:cNvSpPr/>
            <p:nvPr/>
          </p:nvSpPr>
          <p:spPr>
            <a:xfrm>
              <a:off x="3207120" y="4136361"/>
              <a:ext cx="346710" cy="89535"/>
            </a:xfrm>
            <a:custGeom>
              <a:avLst/>
              <a:gdLst/>
              <a:ahLst/>
              <a:cxnLst/>
              <a:rect l="l" t="t" r="r" b="b"/>
              <a:pathLst>
                <a:path w="346710" h="89535">
                  <a:moveTo>
                    <a:pt x="346530" y="0"/>
                  </a:moveTo>
                  <a:lnTo>
                    <a:pt x="0" y="0"/>
                  </a:lnTo>
                  <a:lnTo>
                    <a:pt x="0" y="89470"/>
                  </a:lnTo>
                  <a:lnTo>
                    <a:pt x="346530" y="89470"/>
                  </a:lnTo>
                  <a:lnTo>
                    <a:pt x="346530" y="0"/>
                  </a:lnTo>
                  <a:close/>
                </a:path>
              </a:pathLst>
            </a:custGeom>
            <a:solidFill>
              <a:srgbClr val="B994C6"/>
            </a:solidFill>
          </p:spPr>
          <p:txBody>
            <a:bodyPr wrap="square" lIns="0" tIns="0" rIns="0" bIns="0" rtlCol="0"/>
            <a:lstStyle/>
            <a:p>
              <a:endParaRPr/>
            </a:p>
          </p:txBody>
        </p:sp>
        <p:sp>
          <p:nvSpPr>
            <p:cNvPr id="274" name="object 274"/>
            <p:cNvSpPr/>
            <p:nvPr/>
          </p:nvSpPr>
          <p:spPr>
            <a:xfrm>
              <a:off x="3207120" y="4136361"/>
              <a:ext cx="346710" cy="89535"/>
            </a:xfrm>
            <a:custGeom>
              <a:avLst/>
              <a:gdLst/>
              <a:ahLst/>
              <a:cxnLst/>
              <a:rect l="l" t="t" r="r" b="b"/>
              <a:pathLst>
                <a:path w="346710" h="89535">
                  <a:moveTo>
                    <a:pt x="0" y="89470"/>
                  </a:moveTo>
                  <a:lnTo>
                    <a:pt x="346530" y="89470"/>
                  </a:lnTo>
                  <a:lnTo>
                    <a:pt x="346530" y="0"/>
                  </a:lnTo>
                  <a:lnTo>
                    <a:pt x="0" y="0"/>
                  </a:lnTo>
                  <a:lnTo>
                    <a:pt x="0" y="89470"/>
                  </a:lnTo>
                  <a:close/>
                </a:path>
              </a:pathLst>
            </a:custGeom>
            <a:ln w="3175">
              <a:solidFill>
                <a:srgbClr val="000000"/>
              </a:solidFill>
            </a:ln>
          </p:spPr>
          <p:txBody>
            <a:bodyPr wrap="square" lIns="0" tIns="0" rIns="0" bIns="0" rtlCol="0"/>
            <a:lstStyle/>
            <a:p>
              <a:endParaRPr/>
            </a:p>
          </p:txBody>
        </p:sp>
        <p:sp>
          <p:nvSpPr>
            <p:cNvPr id="275" name="object 275"/>
            <p:cNvSpPr/>
            <p:nvPr/>
          </p:nvSpPr>
          <p:spPr>
            <a:xfrm>
              <a:off x="3207120" y="4471860"/>
              <a:ext cx="346710" cy="89535"/>
            </a:xfrm>
            <a:custGeom>
              <a:avLst/>
              <a:gdLst/>
              <a:ahLst/>
              <a:cxnLst/>
              <a:rect l="l" t="t" r="r" b="b"/>
              <a:pathLst>
                <a:path w="346710" h="89535">
                  <a:moveTo>
                    <a:pt x="346530" y="0"/>
                  </a:moveTo>
                  <a:lnTo>
                    <a:pt x="0" y="0"/>
                  </a:lnTo>
                  <a:lnTo>
                    <a:pt x="0" y="89470"/>
                  </a:lnTo>
                  <a:lnTo>
                    <a:pt x="346530" y="89470"/>
                  </a:lnTo>
                  <a:lnTo>
                    <a:pt x="346530" y="0"/>
                  </a:lnTo>
                  <a:close/>
                </a:path>
              </a:pathLst>
            </a:custGeom>
            <a:solidFill>
              <a:srgbClr val="A6D753"/>
            </a:solidFill>
          </p:spPr>
          <p:txBody>
            <a:bodyPr wrap="square" lIns="0" tIns="0" rIns="0" bIns="0" rtlCol="0"/>
            <a:lstStyle/>
            <a:p>
              <a:endParaRPr/>
            </a:p>
          </p:txBody>
        </p:sp>
        <p:sp>
          <p:nvSpPr>
            <p:cNvPr id="276" name="object 276"/>
            <p:cNvSpPr/>
            <p:nvPr/>
          </p:nvSpPr>
          <p:spPr>
            <a:xfrm>
              <a:off x="3207120" y="4471860"/>
              <a:ext cx="346710" cy="89535"/>
            </a:xfrm>
            <a:custGeom>
              <a:avLst/>
              <a:gdLst/>
              <a:ahLst/>
              <a:cxnLst/>
              <a:rect l="l" t="t" r="r" b="b"/>
              <a:pathLst>
                <a:path w="346710" h="89535">
                  <a:moveTo>
                    <a:pt x="0" y="89470"/>
                  </a:moveTo>
                  <a:lnTo>
                    <a:pt x="346530" y="89470"/>
                  </a:lnTo>
                  <a:lnTo>
                    <a:pt x="346530" y="0"/>
                  </a:lnTo>
                  <a:lnTo>
                    <a:pt x="0" y="0"/>
                  </a:lnTo>
                  <a:lnTo>
                    <a:pt x="0" y="89470"/>
                  </a:lnTo>
                  <a:close/>
                </a:path>
              </a:pathLst>
            </a:custGeom>
            <a:ln w="3175">
              <a:solidFill>
                <a:srgbClr val="000000"/>
              </a:solidFill>
            </a:ln>
          </p:spPr>
          <p:txBody>
            <a:bodyPr wrap="square" lIns="0" tIns="0" rIns="0" bIns="0" rtlCol="0"/>
            <a:lstStyle/>
            <a:p>
              <a:endParaRPr/>
            </a:p>
          </p:txBody>
        </p:sp>
        <p:sp>
          <p:nvSpPr>
            <p:cNvPr id="277" name="object 277"/>
            <p:cNvSpPr/>
            <p:nvPr/>
          </p:nvSpPr>
          <p:spPr>
            <a:xfrm>
              <a:off x="3207120" y="4315301"/>
              <a:ext cx="346710" cy="112395"/>
            </a:xfrm>
            <a:custGeom>
              <a:avLst/>
              <a:gdLst/>
              <a:ahLst/>
              <a:cxnLst/>
              <a:rect l="l" t="t" r="r" b="b"/>
              <a:pathLst>
                <a:path w="346710" h="112395">
                  <a:moveTo>
                    <a:pt x="346530" y="0"/>
                  </a:moveTo>
                  <a:lnTo>
                    <a:pt x="0" y="0"/>
                  </a:lnTo>
                  <a:lnTo>
                    <a:pt x="0" y="111818"/>
                  </a:lnTo>
                  <a:lnTo>
                    <a:pt x="346530" y="111818"/>
                  </a:lnTo>
                  <a:lnTo>
                    <a:pt x="346530" y="0"/>
                  </a:lnTo>
                  <a:close/>
                </a:path>
              </a:pathLst>
            </a:custGeom>
            <a:solidFill>
              <a:srgbClr val="C49595"/>
            </a:solidFill>
          </p:spPr>
          <p:txBody>
            <a:bodyPr wrap="square" lIns="0" tIns="0" rIns="0" bIns="0" rtlCol="0"/>
            <a:lstStyle/>
            <a:p>
              <a:endParaRPr/>
            </a:p>
          </p:txBody>
        </p:sp>
        <p:sp>
          <p:nvSpPr>
            <p:cNvPr id="278" name="object 278"/>
            <p:cNvSpPr/>
            <p:nvPr/>
          </p:nvSpPr>
          <p:spPr>
            <a:xfrm>
              <a:off x="3207120" y="4315301"/>
              <a:ext cx="346710" cy="112395"/>
            </a:xfrm>
            <a:custGeom>
              <a:avLst/>
              <a:gdLst/>
              <a:ahLst/>
              <a:cxnLst/>
              <a:rect l="l" t="t" r="r" b="b"/>
              <a:pathLst>
                <a:path w="346710" h="112395">
                  <a:moveTo>
                    <a:pt x="0" y="111818"/>
                  </a:moveTo>
                  <a:lnTo>
                    <a:pt x="346530" y="111818"/>
                  </a:lnTo>
                  <a:lnTo>
                    <a:pt x="346530" y="0"/>
                  </a:lnTo>
                  <a:lnTo>
                    <a:pt x="0" y="0"/>
                  </a:lnTo>
                  <a:lnTo>
                    <a:pt x="0" y="111818"/>
                  </a:lnTo>
                  <a:close/>
                </a:path>
              </a:pathLst>
            </a:custGeom>
            <a:ln w="3175">
              <a:solidFill>
                <a:srgbClr val="000000"/>
              </a:solidFill>
            </a:ln>
          </p:spPr>
          <p:txBody>
            <a:bodyPr wrap="square" lIns="0" tIns="0" rIns="0" bIns="0" rtlCol="0"/>
            <a:lstStyle/>
            <a:p>
              <a:endParaRPr/>
            </a:p>
          </p:txBody>
        </p:sp>
        <p:sp>
          <p:nvSpPr>
            <p:cNvPr id="279" name="object 279"/>
            <p:cNvSpPr/>
            <p:nvPr/>
          </p:nvSpPr>
          <p:spPr>
            <a:xfrm>
              <a:off x="3207120" y="3957420"/>
              <a:ext cx="346710" cy="179070"/>
            </a:xfrm>
            <a:custGeom>
              <a:avLst/>
              <a:gdLst/>
              <a:ahLst/>
              <a:cxnLst/>
              <a:rect l="l" t="t" r="r" b="b"/>
              <a:pathLst>
                <a:path w="346710" h="179070">
                  <a:moveTo>
                    <a:pt x="346530" y="0"/>
                  </a:moveTo>
                  <a:lnTo>
                    <a:pt x="0" y="0"/>
                  </a:lnTo>
                  <a:lnTo>
                    <a:pt x="0" y="178940"/>
                  </a:lnTo>
                  <a:lnTo>
                    <a:pt x="346530" y="178940"/>
                  </a:lnTo>
                  <a:lnTo>
                    <a:pt x="346530" y="0"/>
                  </a:lnTo>
                  <a:close/>
                </a:path>
              </a:pathLst>
            </a:custGeom>
            <a:solidFill>
              <a:srgbClr val="8D9FCA"/>
            </a:solidFill>
          </p:spPr>
          <p:txBody>
            <a:bodyPr wrap="square" lIns="0" tIns="0" rIns="0" bIns="0" rtlCol="0"/>
            <a:lstStyle/>
            <a:p>
              <a:endParaRPr/>
            </a:p>
          </p:txBody>
        </p:sp>
        <p:sp>
          <p:nvSpPr>
            <p:cNvPr id="280" name="object 280"/>
            <p:cNvSpPr/>
            <p:nvPr/>
          </p:nvSpPr>
          <p:spPr>
            <a:xfrm>
              <a:off x="3207120" y="3957420"/>
              <a:ext cx="346710" cy="179070"/>
            </a:xfrm>
            <a:custGeom>
              <a:avLst/>
              <a:gdLst/>
              <a:ahLst/>
              <a:cxnLst/>
              <a:rect l="l" t="t" r="r" b="b"/>
              <a:pathLst>
                <a:path w="346710" h="179070">
                  <a:moveTo>
                    <a:pt x="0" y="178940"/>
                  </a:moveTo>
                  <a:lnTo>
                    <a:pt x="346530" y="178940"/>
                  </a:lnTo>
                  <a:lnTo>
                    <a:pt x="346530" y="0"/>
                  </a:lnTo>
                  <a:lnTo>
                    <a:pt x="0" y="0"/>
                  </a:lnTo>
                  <a:lnTo>
                    <a:pt x="0" y="178940"/>
                  </a:lnTo>
                  <a:close/>
                </a:path>
              </a:pathLst>
            </a:custGeom>
            <a:ln w="3175">
              <a:solidFill>
                <a:srgbClr val="000000"/>
              </a:solidFill>
            </a:ln>
          </p:spPr>
          <p:txBody>
            <a:bodyPr wrap="square" lIns="0" tIns="0" rIns="0" bIns="0" rtlCol="0"/>
            <a:lstStyle/>
            <a:p>
              <a:endParaRPr/>
            </a:p>
          </p:txBody>
        </p:sp>
        <p:sp>
          <p:nvSpPr>
            <p:cNvPr id="281" name="object 281"/>
            <p:cNvSpPr/>
            <p:nvPr/>
          </p:nvSpPr>
          <p:spPr>
            <a:xfrm>
              <a:off x="3207120" y="4561331"/>
              <a:ext cx="346710" cy="45085"/>
            </a:xfrm>
            <a:custGeom>
              <a:avLst/>
              <a:gdLst/>
              <a:ahLst/>
              <a:cxnLst/>
              <a:rect l="l" t="t" r="r" b="b"/>
              <a:pathLst>
                <a:path w="346710" h="45085">
                  <a:moveTo>
                    <a:pt x="346530" y="0"/>
                  </a:moveTo>
                  <a:lnTo>
                    <a:pt x="0" y="0"/>
                  </a:lnTo>
                  <a:lnTo>
                    <a:pt x="0" y="44740"/>
                  </a:lnTo>
                  <a:lnTo>
                    <a:pt x="346530" y="44740"/>
                  </a:lnTo>
                  <a:lnTo>
                    <a:pt x="346530" y="0"/>
                  </a:lnTo>
                  <a:close/>
                </a:path>
              </a:pathLst>
            </a:custGeom>
            <a:solidFill>
              <a:srgbClr val="F1CE60"/>
            </a:solidFill>
          </p:spPr>
          <p:txBody>
            <a:bodyPr wrap="square" lIns="0" tIns="0" rIns="0" bIns="0" rtlCol="0"/>
            <a:lstStyle/>
            <a:p>
              <a:endParaRPr/>
            </a:p>
          </p:txBody>
        </p:sp>
        <p:sp>
          <p:nvSpPr>
            <p:cNvPr id="282" name="object 282"/>
            <p:cNvSpPr/>
            <p:nvPr/>
          </p:nvSpPr>
          <p:spPr>
            <a:xfrm>
              <a:off x="3207120" y="4561331"/>
              <a:ext cx="346710" cy="45085"/>
            </a:xfrm>
            <a:custGeom>
              <a:avLst/>
              <a:gdLst/>
              <a:ahLst/>
              <a:cxnLst/>
              <a:rect l="l" t="t" r="r" b="b"/>
              <a:pathLst>
                <a:path w="346710" h="45085">
                  <a:moveTo>
                    <a:pt x="0" y="44740"/>
                  </a:moveTo>
                  <a:lnTo>
                    <a:pt x="346530" y="44740"/>
                  </a:lnTo>
                  <a:lnTo>
                    <a:pt x="346530" y="0"/>
                  </a:lnTo>
                  <a:lnTo>
                    <a:pt x="0" y="0"/>
                  </a:lnTo>
                  <a:lnTo>
                    <a:pt x="0" y="44740"/>
                  </a:lnTo>
                  <a:close/>
                </a:path>
              </a:pathLst>
            </a:custGeom>
            <a:ln w="3175">
              <a:solidFill>
                <a:srgbClr val="000000"/>
              </a:solidFill>
            </a:ln>
          </p:spPr>
          <p:txBody>
            <a:bodyPr wrap="square" lIns="0" tIns="0" rIns="0" bIns="0" rtlCol="0"/>
            <a:lstStyle/>
            <a:p>
              <a:endParaRPr/>
            </a:p>
          </p:txBody>
        </p:sp>
      </p:grpSp>
      <p:sp>
        <p:nvSpPr>
          <p:cNvPr id="283" name="object 283"/>
          <p:cNvSpPr txBox="1"/>
          <p:nvPr/>
        </p:nvSpPr>
        <p:spPr>
          <a:xfrm>
            <a:off x="2711467" y="4801541"/>
            <a:ext cx="105410" cy="92075"/>
          </a:xfrm>
          <a:prstGeom prst="rect">
            <a:avLst/>
          </a:prstGeom>
        </p:spPr>
        <p:txBody>
          <a:bodyPr vert="horz" wrap="square" lIns="0" tIns="16510" rIns="0" bIns="0" rtlCol="0">
            <a:spAutoFit/>
          </a:bodyPr>
          <a:lstStyle/>
          <a:p>
            <a:pPr marL="12700">
              <a:lnSpc>
                <a:spcPct val="100000"/>
              </a:lnSpc>
              <a:spcBef>
                <a:spcPts val="130"/>
              </a:spcBef>
            </a:pPr>
            <a:r>
              <a:rPr sz="400" spc="-25" dirty="0">
                <a:solidFill>
                  <a:srgbClr val="4D4D4D"/>
                </a:solidFill>
                <a:latin typeface="Arial"/>
                <a:cs typeface="Arial"/>
              </a:rPr>
              <a:t>0%</a:t>
            </a:r>
            <a:endParaRPr sz="400">
              <a:latin typeface="Arial"/>
              <a:cs typeface="Arial"/>
            </a:endParaRPr>
          </a:p>
        </p:txBody>
      </p:sp>
      <p:sp>
        <p:nvSpPr>
          <p:cNvPr id="284" name="object 284"/>
          <p:cNvSpPr txBox="1"/>
          <p:nvPr/>
        </p:nvSpPr>
        <p:spPr>
          <a:xfrm>
            <a:off x="2684936" y="4278124"/>
            <a:ext cx="135890" cy="92075"/>
          </a:xfrm>
          <a:prstGeom prst="rect">
            <a:avLst/>
          </a:prstGeom>
        </p:spPr>
        <p:txBody>
          <a:bodyPr vert="horz" wrap="square" lIns="0" tIns="16510" rIns="0" bIns="0" rtlCol="0">
            <a:spAutoFit/>
          </a:bodyPr>
          <a:lstStyle/>
          <a:p>
            <a:pPr marL="12700">
              <a:lnSpc>
                <a:spcPct val="100000"/>
              </a:lnSpc>
              <a:spcBef>
                <a:spcPts val="130"/>
              </a:spcBef>
            </a:pPr>
            <a:r>
              <a:rPr sz="400" spc="-25" dirty="0">
                <a:solidFill>
                  <a:srgbClr val="4D4D4D"/>
                </a:solidFill>
                <a:latin typeface="Arial"/>
                <a:cs typeface="Arial"/>
              </a:rPr>
              <a:t>30%</a:t>
            </a:r>
            <a:endParaRPr sz="400">
              <a:latin typeface="Arial"/>
              <a:cs typeface="Arial"/>
            </a:endParaRPr>
          </a:p>
        </p:txBody>
      </p:sp>
      <p:sp>
        <p:nvSpPr>
          <p:cNvPr id="285" name="object 285"/>
          <p:cNvSpPr txBox="1"/>
          <p:nvPr/>
        </p:nvSpPr>
        <p:spPr>
          <a:xfrm>
            <a:off x="2684936" y="3754707"/>
            <a:ext cx="135890" cy="92075"/>
          </a:xfrm>
          <a:prstGeom prst="rect">
            <a:avLst/>
          </a:prstGeom>
        </p:spPr>
        <p:txBody>
          <a:bodyPr vert="horz" wrap="square" lIns="0" tIns="16510" rIns="0" bIns="0" rtlCol="0">
            <a:spAutoFit/>
          </a:bodyPr>
          <a:lstStyle/>
          <a:p>
            <a:pPr marL="12700">
              <a:lnSpc>
                <a:spcPct val="100000"/>
              </a:lnSpc>
              <a:spcBef>
                <a:spcPts val="130"/>
              </a:spcBef>
            </a:pPr>
            <a:r>
              <a:rPr sz="400" spc="-25" dirty="0">
                <a:solidFill>
                  <a:srgbClr val="4D4D4D"/>
                </a:solidFill>
                <a:latin typeface="Arial"/>
                <a:cs typeface="Arial"/>
              </a:rPr>
              <a:t>60%</a:t>
            </a:r>
            <a:endParaRPr sz="400">
              <a:latin typeface="Arial"/>
              <a:cs typeface="Arial"/>
            </a:endParaRPr>
          </a:p>
        </p:txBody>
      </p:sp>
      <p:sp>
        <p:nvSpPr>
          <p:cNvPr id="286" name="object 286"/>
          <p:cNvSpPr txBox="1"/>
          <p:nvPr/>
        </p:nvSpPr>
        <p:spPr>
          <a:xfrm>
            <a:off x="2684936" y="3231291"/>
            <a:ext cx="135890" cy="92075"/>
          </a:xfrm>
          <a:prstGeom prst="rect">
            <a:avLst/>
          </a:prstGeom>
        </p:spPr>
        <p:txBody>
          <a:bodyPr vert="horz" wrap="square" lIns="0" tIns="16510" rIns="0" bIns="0" rtlCol="0">
            <a:spAutoFit/>
          </a:bodyPr>
          <a:lstStyle/>
          <a:p>
            <a:pPr marL="12700">
              <a:lnSpc>
                <a:spcPct val="100000"/>
              </a:lnSpc>
              <a:spcBef>
                <a:spcPts val="130"/>
              </a:spcBef>
            </a:pPr>
            <a:r>
              <a:rPr sz="400" spc="-25" dirty="0">
                <a:solidFill>
                  <a:srgbClr val="4D4D4D"/>
                </a:solidFill>
                <a:latin typeface="Arial"/>
                <a:cs typeface="Arial"/>
              </a:rPr>
              <a:t>90%</a:t>
            </a:r>
            <a:endParaRPr sz="400">
              <a:latin typeface="Arial"/>
              <a:cs typeface="Arial"/>
            </a:endParaRPr>
          </a:p>
        </p:txBody>
      </p:sp>
      <p:sp>
        <p:nvSpPr>
          <p:cNvPr id="287" name="object 287"/>
          <p:cNvSpPr txBox="1"/>
          <p:nvPr/>
        </p:nvSpPr>
        <p:spPr>
          <a:xfrm rot="18900000">
            <a:off x="2549720" y="5046957"/>
            <a:ext cx="573580" cy="76835"/>
          </a:xfrm>
          <a:prstGeom prst="rect">
            <a:avLst/>
          </a:prstGeom>
        </p:spPr>
        <p:txBody>
          <a:bodyPr vert="horz" wrap="square" lIns="0" tIns="0" rIns="0" bIns="0" rtlCol="0">
            <a:spAutoFit/>
          </a:bodyPr>
          <a:lstStyle/>
          <a:p>
            <a:pPr>
              <a:lnSpc>
                <a:spcPts val="605"/>
              </a:lnSpc>
            </a:pPr>
            <a:r>
              <a:rPr sz="600" i="1" dirty="0">
                <a:latin typeface="Arial"/>
                <a:cs typeface="Arial"/>
              </a:rPr>
              <a:t>Tripsacum</a:t>
            </a:r>
            <a:r>
              <a:rPr sz="600" i="1" spc="120" dirty="0">
                <a:latin typeface="Arial"/>
                <a:cs typeface="Arial"/>
              </a:rPr>
              <a:t> </a:t>
            </a:r>
            <a:r>
              <a:rPr sz="600" spc="-20" dirty="0">
                <a:latin typeface="Arial"/>
                <a:cs typeface="Arial"/>
              </a:rPr>
              <a:t>2019</a:t>
            </a:r>
            <a:endParaRPr sz="600">
              <a:latin typeface="Arial"/>
              <a:cs typeface="Arial"/>
            </a:endParaRPr>
          </a:p>
        </p:txBody>
      </p:sp>
      <p:sp>
        <p:nvSpPr>
          <p:cNvPr id="288" name="object 288"/>
          <p:cNvSpPr txBox="1"/>
          <p:nvPr/>
        </p:nvSpPr>
        <p:spPr>
          <a:xfrm rot="18900000">
            <a:off x="3034630" y="5039437"/>
            <a:ext cx="552825" cy="76835"/>
          </a:xfrm>
          <a:prstGeom prst="rect">
            <a:avLst/>
          </a:prstGeom>
        </p:spPr>
        <p:txBody>
          <a:bodyPr vert="horz" wrap="square" lIns="0" tIns="0" rIns="0" bIns="0" rtlCol="0">
            <a:spAutoFit/>
          </a:bodyPr>
          <a:lstStyle/>
          <a:p>
            <a:pPr>
              <a:lnSpc>
                <a:spcPts val="605"/>
              </a:lnSpc>
            </a:pPr>
            <a:r>
              <a:rPr sz="600" i="1" dirty="0">
                <a:latin typeface="Arial"/>
                <a:cs typeface="Arial"/>
              </a:rPr>
              <a:t>Tripsacum</a:t>
            </a:r>
            <a:r>
              <a:rPr sz="600" i="1" spc="-40" dirty="0">
                <a:latin typeface="Arial"/>
                <a:cs typeface="Arial"/>
              </a:rPr>
              <a:t> </a:t>
            </a:r>
            <a:r>
              <a:rPr sz="600" spc="-20" dirty="0">
                <a:latin typeface="Arial"/>
                <a:cs typeface="Arial"/>
              </a:rPr>
              <a:t>2022</a:t>
            </a:r>
            <a:endParaRPr sz="600">
              <a:latin typeface="Arial"/>
              <a:cs typeface="Arial"/>
            </a:endParaRPr>
          </a:p>
        </p:txBody>
      </p:sp>
      <p:sp>
        <p:nvSpPr>
          <p:cNvPr id="289" name="object 289"/>
          <p:cNvSpPr txBox="1"/>
          <p:nvPr/>
        </p:nvSpPr>
        <p:spPr>
          <a:xfrm rot="18900000">
            <a:off x="3529596" y="4972859"/>
            <a:ext cx="359598" cy="76835"/>
          </a:xfrm>
          <a:prstGeom prst="rect">
            <a:avLst/>
          </a:prstGeom>
        </p:spPr>
        <p:txBody>
          <a:bodyPr vert="horz" wrap="square" lIns="0" tIns="0" rIns="0" bIns="0" rtlCol="0">
            <a:spAutoFit/>
          </a:bodyPr>
          <a:lstStyle/>
          <a:p>
            <a:pPr>
              <a:lnSpc>
                <a:spcPts val="605"/>
              </a:lnSpc>
            </a:pPr>
            <a:r>
              <a:rPr sz="600" i="1" dirty="0">
                <a:latin typeface="Arial"/>
                <a:cs typeface="Arial"/>
              </a:rPr>
              <a:t>A.</a:t>
            </a:r>
            <a:r>
              <a:rPr sz="600" i="1" spc="5" dirty="0">
                <a:latin typeface="Arial"/>
                <a:cs typeface="Arial"/>
              </a:rPr>
              <a:t> </a:t>
            </a:r>
            <a:r>
              <a:rPr sz="600" i="1" spc="-10" dirty="0">
                <a:latin typeface="Arial"/>
                <a:cs typeface="Arial"/>
              </a:rPr>
              <a:t>gerardii</a:t>
            </a:r>
            <a:endParaRPr sz="600">
              <a:latin typeface="Arial"/>
              <a:cs typeface="Arial"/>
            </a:endParaRPr>
          </a:p>
        </p:txBody>
      </p:sp>
      <p:sp>
        <p:nvSpPr>
          <p:cNvPr id="290" name="object 290"/>
          <p:cNvSpPr txBox="1"/>
          <p:nvPr/>
        </p:nvSpPr>
        <p:spPr>
          <a:xfrm rot="18900000">
            <a:off x="3848286" y="5002086"/>
            <a:ext cx="448072" cy="76835"/>
          </a:xfrm>
          <a:prstGeom prst="rect">
            <a:avLst/>
          </a:prstGeom>
        </p:spPr>
        <p:txBody>
          <a:bodyPr vert="horz" wrap="square" lIns="0" tIns="0" rIns="0" bIns="0" rtlCol="0">
            <a:spAutoFit/>
          </a:bodyPr>
          <a:lstStyle/>
          <a:p>
            <a:pPr>
              <a:lnSpc>
                <a:spcPts val="605"/>
              </a:lnSpc>
            </a:pPr>
            <a:r>
              <a:rPr sz="600" i="1" dirty="0">
                <a:latin typeface="Arial"/>
                <a:cs typeface="Arial"/>
              </a:rPr>
              <a:t>M.</a:t>
            </a:r>
            <a:r>
              <a:rPr sz="600" i="1" spc="5" dirty="0">
                <a:latin typeface="Arial"/>
                <a:cs typeface="Arial"/>
              </a:rPr>
              <a:t> </a:t>
            </a:r>
            <a:r>
              <a:rPr sz="600" i="1" spc="-10" dirty="0">
                <a:latin typeface="Arial"/>
                <a:cs typeface="Arial"/>
              </a:rPr>
              <a:t>giganteus</a:t>
            </a:r>
            <a:endParaRPr sz="600">
              <a:latin typeface="Arial"/>
              <a:cs typeface="Arial"/>
            </a:endParaRPr>
          </a:p>
        </p:txBody>
      </p:sp>
      <p:sp>
        <p:nvSpPr>
          <p:cNvPr id="291" name="object 291"/>
          <p:cNvSpPr txBox="1"/>
          <p:nvPr/>
        </p:nvSpPr>
        <p:spPr>
          <a:xfrm rot="18900000">
            <a:off x="4248880" y="4979242"/>
            <a:ext cx="388174" cy="76835"/>
          </a:xfrm>
          <a:prstGeom prst="rect">
            <a:avLst/>
          </a:prstGeom>
        </p:spPr>
        <p:txBody>
          <a:bodyPr vert="horz" wrap="square" lIns="0" tIns="0" rIns="0" bIns="0" rtlCol="0">
            <a:spAutoFit/>
          </a:bodyPr>
          <a:lstStyle/>
          <a:p>
            <a:pPr>
              <a:lnSpc>
                <a:spcPts val="605"/>
              </a:lnSpc>
            </a:pPr>
            <a:r>
              <a:rPr sz="600" i="1" spc="-35" dirty="0">
                <a:latin typeface="Arial"/>
                <a:cs typeface="Arial"/>
              </a:rPr>
              <a:t>P.</a:t>
            </a:r>
            <a:r>
              <a:rPr sz="600" i="1" spc="-5" dirty="0">
                <a:latin typeface="Arial"/>
                <a:cs typeface="Arial"/>
              </a:rPr>
              <a:t> </a:t>
            </a:r>
            <a:r>
              <a:rPr sz="600" i="1" spc="-10" dirty="0">
                <a:latin typeface="Arial"/>
                <a:cs typeface="Arial"/>
              </a:rPr>
              <a:t>virgatum</a:t>
            </a:r>
            <a:endParaRPr sz="600">
              <a:latin typeface="Arial"/>
              <a:cs typeface="Arial"/>
            </a:endParaRPr>
          </a:p>
        </p:txBody>
      </p:sp>
      <p:sp>
        <p:nvSpPr>
          <p:cNvPr id="292" name="object 292"/>
          <p:cNvSpPr txBox="1"/>
          <p:nvPr/>
        </p:nvSpPr>
        <p:spPr>
          <a:xfrm rot="18900000">
            <a:off x="4603106" y="4962722"/>
            <a:ext cx="339166" cy="76835"/>
          </a:xfrm>
          <a:prstGeom prst="rect">
            <a:avLst/>
          </a:prstGeom>
        </p:spPr>
        <p:txBody>
          <a:bodyPr vert="horz" wrap="square" lIns="0" tIns="0" rIns="0" bIns="0" rtlCol="0">
            <a:spAutoFit/>
          </a:bodyPr>
          <a:lstStyle/>
          <a:p>
            <a:pPr>
              <a:lnSpc>
                <a:spcPts val="605"/>
              </a:lnSpc>
            </a:pPr>
            <a:r>
              <a:rPr sz="600" i="1" dirty="0">
                <a:latin typeface="Arial"/>
                <a:cs typeface="Arial"/>
              </a:rPr>
              <a:t>S.</a:t>
            </a:r>
            <a:r>
              <a:rPr sz="600" i="1" spc="5" dirty="0">
                <a:latin typeface="Arial"/>
                <a:cs typeface="Arial"/>
              </a:rPr>
              <a:t> </a:t>
            </a:r>
            <a:r>
              <a:rPr sz="600" i="1" spc="-10" dirty="0">
                <a:latin typeface="Arial"/>
                <a:cs typeface="Arial"/>
              </a:rPr>
              <a:t>nutana</a:t>
            </a:r>
            <a:endParaRPr sz="600">
              <a:latin typeface="Arial"/>
              <a:cs typeface="Arial"/>
            </a:endParaRPr>
          </a:p>
        </p:txBody>
      </p:sp>
      <p:sp>
        <p:nvSpPr>
          <p:cNvPr id="293" name="object 293"/>
          <p:cNvSpPr txBox="1"/>
          <p:nvPr/>
        </p:nvSpPr>
        <p:spPr>
          <a:xfrm>
            <a:off x="2554752" y="3480930"/>
            <a:ext cx="111760" cy="1160145"/>
          </a:xfrm>
          <a:prstGeom prst="rect">
            <a:avLst/>
          </a:prstGeom>
        </p:spPr>
        <p:txBody>
          <a:bodyPr vert="vert270" wrap="square" lIns="0" tIns="6350" rIns="0" bIns="0" rtlCol="0">
            <a:spAutoFit/>
          </a:bodyPr>
          <a:lstStyle/>
          <a:p>
            <a:pPr marL="12700">
              <a:lnSpc>
                <a:spcPct val="100000"/>
              </a:lnSpc>
              <a:spcBef>
                <a:spcPts val="50"/>
              </a:spcBef>
            </a:pPr>
            <a:r>
              <a:rPr sz="600" b="1" dirty="0">
                <a:latin typeface="Arial"/>
                <a:cs typeface="Arial"/>
              </a:rPr>
              <a:t>Cumulative</a:t>
            </a:r>
            <a:r>
              <a:rPr sz="600" b="1" spc="-25" dirty="0">
                <a:latin typeface="Arial"/>
                <a:cs typeface="Arial"/>
              </a:rPr>
              <a:t> </a:t>
            </a:r>
            <a:r>
              <a:rPr sz="600" b="1" dirty="0">
                <a:latin typeface="Arial"/>
                <a:cs typeface="Arial"/>
              </a:rPr>
              <a:t>relative</a:t>
            </a:r>
            <a:r>
              <a:rPr sz="600" b="1" spc="-25" dirty="0">
                <a:latin typeface="Arial"/>
                <a:cs typeface="Arial"/>
              </a:rPr>
              <a:t> </a:t>
            </a:r>
            <a:r>
              <a:rPr sz="600" b="1" spc="-10" dirty="0">
                <a:latin typeface="Arial"/>
                <a:cs typeface="Arial"/>
              </a:rPr>
              <a:t>abundance</a:t>
            </a:r>
            <a:endParaRPr sz="600">
              <a:latin typeface="Arial"/>
              <a:cs typeface="Arial"/>
            </a:endParaRPr>
          </a:p>
        </p:txBody>
      </p:sp>
      <p:grpSp>
        <p:nvGrpSpPr>
          <p:cNvPr id="294" name="object 294"/>
          <p:cNvGrpSpPr/>
          <p:nvPr/>
        </p:nvGrpSpPr>
        <p:grpSpPr>
          <a:xfrm>
            <a:off x="5219871" y="3221385"/>
            <a:ext cx="85725" cy="85725"/>
            <a:chOff x="5219871" y="3221385"/>
            <a:chExt cx="85725" cy="85725"/>
          </a:xfrm>
        </p:grpSpPr>
        <p:sp>
          <p:nvSpPr>
            <p:cNvPr id="295" name="object 295"/>
            <p:cNvSpPr/>
            <p:nvPr/>
          </p:nvSpPr>
          <p:spPr>
            <a:xfrm>
              <a:off x="5220537" y="3222051"/>
              <a:ext cx="84455" cy="84455"/>
            </a:xfrm>
            <a:custGeom>
              <a:avLst/>
              <a:gdLst/>
              <a:ahLst/>
              <a:cxnLst/>
              <a:rect l="l" t="t" r="r" b="b"/>
              <a:pathLst>
                <a:path w="84454" h="84454">
                  <a:moveTo>
                    <a:pt x="84163" y="0"/>
                  </a:moveTo>
                  <a:lnTo>
                    <a:pt x="0" y="0"/>
                  </a:lnTo>
                  <a:lnTo>
                    <a:pt x="0" y="84163"/>
                  </a:lnTo>
                  <a:lnTo>
                    <a:pt x="84163" y="84163"/>
                  </a:lnTo>
                  <a:lnTo>
                    <a:pt x="84163" y="0"/>
                  </a:lnTo>
                  <a:close/>
                </a:path>
              </a:pathLst>
            </a:custGeom>
            <a:solidFill>
              <a:srgbClr val="66C2A4"/>
            </a:solidFill>
          </p:spPr>
          <p:txBody>
            <a:bodyPr wrap="square" lIns="0" tIns="0" rIns="0" bIns="0" rtlCol="0"/>
            <a:lstStyle/>
            <a:p>
              <a:endParaRPr/>
            </a:p>
          </p:txBody>
        </p:sp>
        <p:sp>
          <p:nvSpPr>
            <p:cNvPr id="296" name="object 296"/>
            <p:cNvSpPr/>
            <p:nvPr/>
          </p:nvSpPr>
          <p:spPr>
            <a:xfrm>
              <a:off x="5220537" y="3222051"/>
              <a:ext cx="84455" cy="84455"/>
            </a:xfrm>
            <a:custGeom>
              <a:avLst/>
              <a:gdLst/>
              <a:ahLst/>
              <a:cxnLst/>
              <a:rect l="l" t="t" r="r" b="b"/>
              <a:pathLst>
                <a:path w="84454" h="84454">
                  <a:moveTo>
                    <a:pt x="0" y="84163"/>
                  </a:moveTo>
                  <a:lnTo>
                    <a:pt x="84163" y="84163"/>
                  </a:lnTo>
                  <a:lnTo>
                    <a:pt x="84163" y="0"/>
                  </a:lnTo>
                  <a:lnTo>
                    <a:pt x="0" y="0"/>
                  </a:lnTo>
                  <a:lnTo>
                    <a:pt x="0" y="84163"/>
                  </a:lnTo>
                  <a:close/>
                </a:path>
              </a:pathLst>
            </a:custGeom>
            <a:ln w="3175">
              <a:solidFill>
                <a:srgbClr val="000000"/>
              </a:solidFill>
            </a:ln>
          </p:spPr>
          <p:txBody>
            <a:bodyPr wrap="square" lIns="0" tIns="0" rIns="0" bIns="0" rtlCol="0"/>
            <a:lstStyle/>
            <a:p>
              <a:endParaRPr/>
            </a:p>
          </p:txBody>
        </p:sp>
      </p:grpSp>
      <p:grpSp>
        <p:nvGrpSpPr>
          <p:cNvPr id="297" name="object 297"/>
          <p:cNvGrpSpPr/>
          <p:nvPr/>
        </p:nvGrpSpPr>
        <p:grpSpPr>
          <a:xfrm>
            <a:off x="5219871" y="3324088"/>
            <a:ext cx="85725" cy="85725"/>
            <a:chOff x="5219871" y="3324088"/>
            <a:chExt cx="85725" cy="85725"/>
          </a:xfrm>
        </p:grpSpPr>
        <p:sp>
          <p:nvSpPr>
            <p:cNvPr id="298" name="object 298"/>
            <p:cNvSpPr/>
            <p:nvPr/>
          </p:nvSpPr>
          <p:spPr>
            <a:xfrm>
              <a:off x="5220537" y="3324754"/>
              <a:ext cx="84455" cy="84455"/>
            </a:xfrm>
            <a:custGeom>
              <a:avLst/>
              <a:gdLst/>
              <a:ahLst/>
              <a:cxnLst/>
              <a:rect l="l" t="t" r="r" b="b"/>
              <a:pathLst>
                <a:path w="84454" h="84454">
                  <a:moveTo>
                    <a:pt x="84163" y="0"/>
                  </a:moveTo>
                  <a:lnTo>
                    <a:pt x="0" y="0"/>
                  </a:lnTo>
                  <a:lnTo>
                    <a:pt x="0" y="84163"/>
                  </a:lnTo>
                  <a:lnTo>
                    <a:pt x="84163" y="84163"/>
                  </a:lnTo>
                  <a:lnTo>
                    <a:pt x="84163" y="0"/>
                  </a:lnTo>
                  <a:close/>
                </a:path>
              </a:pathLst>
            </a:custGeom>
            <a:solidFill>
              <a:srgbClr val="FB8D61"/>
            </a:solidFill>
          </p:spPr>
          <p:txBody>
            <a:bodyPr wrap="square" lIns="0" tIns="0" rIns="0" bIns="0" rtlCol="0"/>
            <a:lstStyle/>
            <a:p>
              <a:endParaRPr/>
            </a:p>
          </p:txBody>
        </p:sp>
        <p:sp>
          <p:nvSpPr>
            <p:cNvPr id="299" name="object 299"/>
            <p:cNvSpPr/>
            <p:nvPr/>
          </p:nvSpPr>
          <p:spPr>
            <a:xfrm>
              <a:off x="5220537" y="3324754"/>
              <a:ext cx="84455" cy="84455"/>
            </a:xfrm>
            <a:custGeom>
              <a:avLst/>
              <a:gdLst/>
              <a:ahLst/>
              <a:cxnLst/>
              <a:rect l="l" t="t" r="r" b="b"/>
              <a:pathLst>
                <a:path w="84454" h="84454">
                  <a:moveTo>
                    <a:pt x="0" y="84163"/>
                  </a:moveTo>
                  <a:lnTo>
                    <a:pt x="84163" y="84163"/>
                  </a:lnTo>
                  <a:lnTo>
                    <a:pt x="84163" y="0"/>
                  </a:lnTo>
                  <a:lnTo>
                    <a:pt x="0" y="0"/>
                  </a:lnTo>
                  <a:lnTo>
                    <a:pt x="0" y="84163"/>
                  </a:lnTo>
                  <a:close/>
                </a:path>
              </a:pathLst>
            </a:custGeom>
            <a:ln w="3175">
              <a:solidFill>
                <a:srgbClr val="000000"/>
              </a:solidFill>
            </a:ln>
          </p:spPr>
          <p:txBody>
            <a:bodyPr wrap="square" lIns="0" tIns="0" rIns="0" bIns="0" rtlCol="0"/>
            <a:lstStyle/>
            <a:p>
              <a:endParaRPr/>
            </a:p>
          </p:txBody>
        </p:sp>
      </p:grpSp>
      <p:grpSp>
        <p:nvGrpSpPr>
          <p:cNvPr id="300" name="object 300"/>
          <p:cNvGrpSpPr/>
          <p:nvPr/>
        </p:nvGrpSpPr>
        <p:grpSpPr>
          <a:xfrm>
            <a:off x="5219871" y="3426802"/>
            <a:ext cx="85725" cy="85725"/>
            <a:chOff x="5219871" y="3426802"/>
            <a:chExt cx="85725" cy="85725"/>
          </a:xfrm>
        </p:grpSpPr>
        <p:sp>
          <p:nvSpPr>
            <p:cNvPr id="301" name="object 301"/>
            <p:cNvSpPr/>
            <p:nvPr/>
          </p:nvSpPr>
          <p:spPr>
            <a:xfrm>
              <a:off x="5220537" y="3427468"/>
              <a:ext cx="84455" cy="84455"/>
            </a:xfrm>
            <a:custGeom>
              <a:avLst/>
              <a:gdLst/>
              <a:ahLst/>
              <a:cxnLst/>
              <a:rect l="l" t="t" r="r" b="b"/>
              <a:pathLst>
                <a:path w="84454" h="84454">
                  <a:moveTo>
                    <a:pt x="84163" y="0"/>
                  </a:moveTo>
                  <a:lnTo>
                    <a:pt x="0" y="0"/>
                  </a:lnTo>
                  <a:lnTo>
                    <a:pt x="0" y="84163"/>
                  </a:lnTo>
                  <a:lnTo>
                    <a:pt x="84163" y="84163"/>
                  </a:lnTo>
                  <a:lnTo>
                    <a:pt x="84163" y="0"/>
                  </a:lnTo>
                  <a:close/>
                </a:path>
              </a:pathLst>
            </a:custGeom>
            <a:solidFill>
              <a:srgbClr val="B0A783"/>
            </a:solidFill>
          </p:spPr>
          <p:txBody>
            <a:bodyPr wrap="square" lIns="0" tIns="0" rIns="0" bIns="0" rtlCol="0"/>
            <a:lstStyle/>
            <a:p>
              <a:endParaRPr/>
            </a:p>
          </p:txBody>
        </p:sp>
        <p:sp>
          <p:nvSpPr>
            <p:cNvPr id="302" name="object 302"/>
            <p:cNvSpPr/>
            <p:nvPr/>
          </p:nvSpPr>
          <p:spPr>
            <a:xfrm>
              <a:off x="5220537" y="3427468"/>
              <a:ext cx="84455" cy="84455"/>
            </a:xfrm>
            <a:custGeom>
              <a:avLst/>
              <a:gdLst/>
              <a:ahLst/>
              <a:cxnLst/>
              <a:rect l="l" t="t" r="r" b="b"/>
              <a:pathLst>
                <a:path w="84454" h="84454">
                  <a:moveTo>
                    <a:pt x="0" y="84163"/>
                  </a:moveTo>
                  <a:lnTo>
                    <a:pt x="84163" y="84163"/>
                  </a:lnTo>
                  <a:lnTo>
                    <a:pt x="84163" y="0"/>
                  </a:lnTo>
                  <a:lnTo>
                    <a:pt x="0" y="0"/>
                  </a:lnTo>
                  <a:lnTo>
                    <a:pt x="0" y="84163"/>
                  </a:lnTo>
                  <a:close/>
                </a:path>
              </a:pathLst>
            </a:custGeom>
            <a:ln w="3175">
              <a:solidFill>
                <a:srgbClr val="000000"/>
              </a:solidFill>
            </a:ln>
          </p:spPr>
          <p:txBody>
            <a:bodyPr wrap="square" lIns="0" tIns="0" rIns="0" bIns="0" rtlCol="0"/>
            <a:lstStyle/>
            <a:p>
              <a:endParaRPr/>
            </a:p>
          </p:txBody>
        </p:sp>
      </p:grpSp>
      <p:grpSp>
        <p:nvGrpSpPr>
          <p:cNvPr id="303" name="object 303"/>
          <p:cNvGrpSpPr/>
          <p:nvPr/>
        </p:nvGrpSpPr>
        <p:grpSpPr>
          <a:xfrm>
            <a:off x="5219871" y="3529516"/>
            <a:ext cx="85725" cy="85725"/>
            <a:chOff x="5219871" y="3529516"/>
            <a:chExt cx="85725" cy="85725"/>
          </a:xfrm>
        </p:grpSpPr>
        <p:sp>
          <p:nvSpPr>
            <p:cNvPr id="304" name="object 304"/>
            <p:cNvSpPr/>
            <p:nvPr/>
          </p:nvSpPr>
          <p:spPr>
            <a:xfrm>
              <a:off x="5220537" y="3530182"/>
              <a:ext cx="84455" cy="84455"/>
            </a:xfrm>
            <a:custGeom>
              <a:avLst/>
              <a:gdLst/>
              <a:ahLst/>
              <a:cxnLst/>
              <a:rect l="l" t="t" r="r" b="b"/>
              <a:pathLst>
                <a:path w="84454" h="84454">
                  <a:moveTo>
                    <a:pt x="84163" y="0"/>
                  </a:moveTo>
                  <a:lnTo>
                    <a:pt x="0" y="0"/>
                  </a:lnTo>
                  <a:lnTo>
                    <a:pt x="0" y="84163"/>
                  </a:lnTo>
                  <a:lnTo>
                    <a:pt x="84163" y="84163"/>
                  </a:lnTo>
                  <a:lnTo>
                    <a:pt x="84163" y="0"/>
                  </a:lnTo>
                  <a:close/>
                </a:path>
              </a:pathLst>
            </a:custGeom>
            <a:solidFill>
              <a:srgbClr val="8D9FCA"/>
            </a:solidFill>
          </p:spPr>
          <p:txBody>
            <a:bodyPr wrap="square" lIns="0" tIns="0" rIns="0" bIns="0" rtlCol="0"/>
            <a:lstStyle/>
            <a:p>
              <a:endParaRPr/>
            </a:p>
          </p:txBody>
        </p:sp>
        <p:sp>
          <p:nvSpPr>
            <p:cNvPr id="305" name="object 305"/>
            <p:cNvSpPr/>
            <p:nvPr/>
          </p:nvSpPr>
          <p:spPr>
            <a:xfrm>
              <a:off x="5220537" y="3530182"/>
              <a:ext cx="84455" cy="84455"/>
            </a:xfrm>
            <a:custGeom>
              <a:avLst/>
              <a:gdLst/>
              <a:ahLst/>
              <a:cxnLst/>
              <a:rect l="l" t="t" r="r" b="b"/>
              <a:pathLst>
                <a:path w="84454" h="84454">
                  <a:moveTo>
                    <a:pt x="0" y="84163"/>
                  </a:moveTo>
                  <a:lnTo>
                    <a:pt x="84163" y="84163"/>
                  </a:lnTo>
                  <a:lnTo>
                    <a:pt x="84163" y="0"/>
                  </a:lnTo>
                  <a:lnTo>
                    <a:pt x="0" y="0"/>
                  </a:lnTo>
                  <a:lnTo>
                    <a:pt x="0" y="84163"/>
                  </a:lnTo>
                  <a:close/>
                </a:path>
              </a:pathLst>
            </a:custGeom>
            <a:ln w="3175">
              <a:solidFill>
                <a:srgbClr val="000000"/>
              </a:solidFill>
            </a:ln>
          </p:spPr>
          <p:txBody>
            <a:bodyPr wrap="square" lIns="0" tIns="0" rIns="0" bIns="0" rtlCol="0"/>
            <a:lstStyle/>
            <a:p>
              <a:endParaRPr/>
            </a:p>
          </p:txBody>
        </p:sp>
      </p:grpSp>
      <p:grpSp>
        <p:nvGrpSpPr>
          <p:cNvPr id="306" name="object 306"/>
          <p:cNvGrpSpPr/>
          <p:nvPr/>
        </p:nvGrpSpPr>
        <p:grpSpPr>
          <a:xfrm>
            <a:off x="5219871" y="3632219"/>
            <a:ext cx="85725" cy="85725"/>
            <a:chOff x="5219871" y="3632219"/>
            <a:chExt cx="85725" cy="85725"/>
          </a:xfrm>
        </p:grpSpPr>
        <p:sp>
          <p:nvSpPr>
            <p:cNvPr id="307" name="object 307"/>
            <p:cNvSpPr/>
            <p:nvPr/>
          </p:nvSpPr>
          <p:spPr>
            <a:xfrm>
              <a:off x="5220537" y="3632885"/>
              <a:ext cx="84455" cy="84455"/>
            </a:xfrm>
            <a:custGeom>
              <a:avLst/>
              <a:gdLst/>
              <a:ahLst/>
              <a:cxnLst/>
              <a:rect l="l" t="t" r="r" b="b"/>
              <a:pathLst>
                <a:path w="84454" h="84454">
                  <a:moveTo>
                    <a:pt x="84163" y="0"/>
                  </a:moveTo>
                  <a:lnTo>
                    <a:pt x="0" y="0"/>
                  </a:lnTo>
                  <a:lnTo>
                    <a:pt x="0" y="84163"/>
                  </a:lnTo>
                  <a:lnTo>
                    <a:pt x="84163" y="84163"/>
                  </a:lnTo>
                  <a:lnTo>
                    <a:pt x="84163" y="0"/>
                  </a:lnTo>
                  <a:close/>
                </a:path>
              </a:pathLst>
            </a:custGeom>
            <a:solidFill>
              <a:srgbClr val="B994C6"/>
            </a:solidFill>
          </p:spPr>
          <p:txBody>
            <a:bodyPr wrap="square" lIns="0" tIns="0" rIns="0" bIns="0" rtlCol="0"/>
            <a:lstStyle/>
            <a:p>
              <a:endParaRPr/>
            </a:p>
          </p:txBody>
        </p:sp>
        <p:sp>
          <p:nvSpPr>
            <p:cNvPr id="308" name="object 308"/>
            <p:cNvSpPr/>
            <p:nvPr/>
          </p:nvSpPr>
          <p:spPr>
            <a:xfrm>
              <a:off x="5220537" y="3632885"/>
              <a:ext cx="84455" cy="84455"/>
            </a:xfrm>
            <a:custGeom>
              <a:avLst/>
              <a:gdLst/>
              <a:ahLst/>
              <a:cxnLst/>
              <a:rect l="l" t="t" r="r" b="b"/>
              <a:pathLst>
                <a:path w="84454" h="84454">
                  <a:moveTo>
                    <a:pt x="0" y="84163"/>
                  </a:moveTo>
                  <a:lnTo>
                    <a:pt x="84163" y="84163"/>
                  </a:lnTo>
                  <a:lnTo>
                    <a:pt x="84163" y="0"/>
                  </a:lnTo>
                  <a:lnTo>
                    <a:pt x="0" y="0"/>
                  </a:lnTo>
                  <a:lnTo>
                    <a:pt x="0" y="84163"/>
                  </a:lnTo>
                  <a:close/>
                </a:path>
              </a:pathLst>
            </a:custGeom>
            <a:ln w="3175">
              <a:solidFill>
                <a:srgbClr val="000000"/>
              </a:solidFill>
            </a:ln>
          </p:spPr>
          <p:txBody>
            <a:bodyPr wrap="square" lIns="0" tIns="0" rIns="0" bIns="0" rtlCol="0"/>
            <a:lstStyle/>
            <a:p>
              <a:endParaRPr/>
            </a:p>
          </p:txBody>
        </p:sp>
      </p:grpSp>
      <p:grpSp>
        <p:nvGrpSpPr>
          <p:cNvPr id="309" name="object 309"/>
          <p:cNvGrpSpPr/>
          <p:nvPr/>
        </p:nvGrpSpPr>
        <p:grpSpPr>
          <a:xfrm>
            <a:off x="5219871" y="3734933"/>
            <a:ext cx="85725" cy="85725"/>
            <a:chOff x="5219871" y="3734933"/>
            <a:chExt cx="85725" cy="85725"/>
          </a:xfrm>
        </p:grpSpPr>
        <p:sp>
          <p:nvSpPr>
            <p:cNvPr id="310" name="object 310"/>
            <p:cNvSpPr/>
            <p:nvPr/>
          </p:nvSpPr>
          <p:spPr>
            <a:xfrm>
              <a:off x="5220537" y="3735599"/>
              <a:ext cx="84455" cy="84455"/>
            </a:xfrm>
            <a:custGeom>
              <a:avLst/>
              <a:gdLst/>
              <a:ahLst/>
              <a:cxnLst/>
              <a:rect l="l" t="t" r="r" b="b"/>
              <a:pathLst>
                <a:path w="84454" h="84454">
                  <a:moveTo>
                    <a:pt x="84163" y="0"/>
                  </a:moveTo>
                  <a:lnTo>
                    <a:pt x="0" y="0"/>
                  </a:lnTo>
                  <a:lnTo>
                    <a:pt x="0" y="84163"/>
                  </a:lnTo>
                  <a:lnTo>
                    <a:pt x="84163" y="84163"/>
                  </a:lnTo>
                  <a:lnTo>
                    <a:pt x="84163" y="0"/>
                  </a:lnTo>
                  <a:close/>
                </a:path>
              </a:pathLst>
            </a:custGeom>
            <a:solidFill>
              <a:srgbClr val="D2D741"/>
            </a:solidFill>
          </p:spPr>
          <p:txBody>
            <a:bodyPr wrap="square" lIns="0" tIns="0" rIns="0" bIns="0" rtlCol="0"/>
            <a:lstStyle/>
            <a:p>
              <a:endParaRPr/>
            </a:p>
          </p:txBody>
        </p:sp>
        <p:sp>
          <p:nvSpPr>
            <p:cNvPr id="311" name="object 311"/>
            <p:cNvSpPr/>
            <p:nvPr/>
          </p:nvSpPr>
          <p:spPr>
            <a:xfrm>
              <a:off x="5220537" y="3735599"/>
              <a:ext cx="84455" cy="84455"/>
            </a:xfrm>
            <a:custGeom>
              <a:avLst/>
              <a:gdLst/>
              <a:ahLst/>
              <a:cxnLst/>
              <a:rect l="l" t="t" r="r" b="b"/>
              <a:pathLst>
                <a:path w="84454" h="84454">
                  <a:moveTo>
                    <a:pt x="0" y="84163"/>
                  </a:moveTo>
                  <a:lnTo>
                    <a:pt x="84163" y="84163"/>
                  </a:lnTo>
                  <a:lnTo>
                    <a:pt x="84163" y="0"/>
                  </a:lnTo>
                  <a:lnTo>
                    <a:pt x="0" y="0"/>
                  </a:lnTo>
                  <a:lnTo>
                    <a:pt x="0" y="84163"/>
                  </a:lnTo>
                  <a:close/>
                </a:path>
              </a:pathLst>
            </a:custGeom>
            <a:ln w="3175">
              <a:solidFill>
                <a:srgbClr val="000000"/>
              </a:solidFill>
            </a:ln>
          </p:spPr>
          <p:txBody>
            <a:bodyPr wrap="square" lIns="0" tIns="0" rIns="0" bIns="0" rtlCol="0"/>
            <a:lstStyle/>
            <a:p>
              <a:endParaRPr/>
            </a:p>
          </p:txBody>
        </p:sp>
      </p:grpSp>
      <p:grpSp>
        <p:nvGrpSpPr>
          <p:cNvPr id="312" name="object 312"/>
          <p:cNvGrpSpPr/>
          <p:nvPr/>
        </p:nvGrpSpPr>
        <p:grpSpPr>
          <a:xfrm>
            <a:off x="5219871" y="3837647"/>
            <a:ext cx="85725" cy="85725"/>
            <a:chOff x="5219871" y="3837647"/>
            <a:chExt cx="85725" cy="85725"/>
          </a:xfrm>
        </p:grpSpPr>
        <p:sp>
          <p:nvSpPr>
            <p:cNvPr id="313" name="object 313"/>
            <p:cNvSpPr/>
            <p:nvPr/>
          </p:nvSpPr>
          <p:spPr>
            <a:xfrm>
              <a:off x="5220537" y="3838313"/>
              <a:ext cx="84455" cy="84455"/>
            </a:xfrm>
            <a:custGeom>
              <a:avLst/>
              <a:gdLst/>
              <a:ahLst/>
              <a:cxnLst/>
              <a:rect l="l" t="t" r="r" b="b"/>
              <a:pathLst>
                <a:path w="84454" h="84454">
                  <a:moveTo>
                    <a:pt x="84163" y="0"/>
                  </a:moveTo>
                  <a:lnTo>
                    <a:pt x="0" y="0"/>
                  </a:lnTo>
                  <a:lnTo>
                    <a:pt x="0" y="84163"/>
                  </a:lnTo>
                  <a:lnTo>
                    <a:pt x="84163" y="84163"/>
                  </a:lnTo>
                  <a:lnTo>
                    <a:pt x="84163" y="0"/>
                  </a:lnTo>
                  <a:close/>
                </a:path>
              </a:pathLst>
            </a:custGeom>
            <a:solidFill>
              <a:srgbClr val="C5B08A"/>
            </a:solidFill>
          </p:spPr>
          <p:txBody>
            <a:bodyPr wrap="square" lIns="0" tIns="0" rIns="0" bIns="0" rtlCol="0"/>
            <a:lstStyle/>
            <a:p>
              <a:endParaRPr/>
            </a:p>
          </p:txBody>
        </p:sp>
        <p:sp>
          <p:nvSpPr>
            <p:cNvPr id="314" name="object 314"/>
            <p:cNvSpPr/>
            <p:nvPr/>
          </p:nvSpPr>
          <p:spPr>
            <a:xfrm>
              <a:off x="5220537" y="3838313"/>
              <a:ext cx="84455" cy="84455"/>
            </a:xfrm>
            <a:custGeom>
              <a:avLst/>
              <a:gdLst/>
              <a:ahLst/>
              <a:cxnLst/>
              <a:rect l="l" t="t" r="r" b="b"/>
              <a:pathLst>
                <a:path w="84454" h="84454">
                  <a:moveTo>
                    <a:pt x="0" y="84163"/>
                  </a:moveTo>
                  <a:lnTo>
                    <a:pt x="84163" y="84163"/>
                  </a:lnTo>
                  <a:lnTo>
                    <a:pt x="84163" y="0"/>
                  </a:lnTo>
                  <a:lnTo>
                    <a:pt x="0" y="0"/>
                  </a:lnTo>
                  <a:lnTo>
                    <a:pt x="0" y="84163"/>
                  </a:lnTo>
                  <a:close/>
                </a:path>
              </a:pathLst>
            </a:custGeom>
            <a:ln w="3175">
              <a:solidFill>
                <a:srgbClr val="000000"/>
              </a:solidFill>
            </a:ln>
          </p:spPr>
          <p:txBody>
            <a:bodyPr wrap="square" lIns="0" tIns="0" rIns="0" bIns="0" rtlCol="0"/>
            <a:lstStyle/>
            <a:p>
              <a:endParaRPr/>
            </a:p>
          </p:txBody>
        </p:sp>
      </p:grpSp>
      <p:grpSp>
        <p:nvGrpSpPr>
          <p:cNvPr id="315" name="object 315"/>
          <p:cNvGrpSpPr/>
          <p:nvPr/>
        </p:nvGrpSpPr>
        <p:grpSpPr>
          <a:xfrm>
            <a:off x="5219871" y="3940350"/>
            <a:ext cx="85725" cy="85725"/>
            <a:chOff x="5219871" y="3940350"/>
            <a:chExt cx="85725" cy="85725"/>
          </a:xfrm>
        </p:grpSpPr>
        <p:sp>
          <p:nvSpPr>
            <p:cNvPr id="316" name="object 316"/>
            <p:cNvSpPr/>
            <p:nvPr/>
          </p:nvSpPr>
          <p:spPr>
            <a:xfrm>
              <a:off x="5220537" y="3941017"/>
              <a:ext cx="84455" cy="84455"/>
            </a:xfrm>
            <a:custGeom>
              <a:avLst/>
              <a:gdLst/>
              <a:ahLst/>
              <a:cxnLst/>
              <a:rect l="l" t="t" r="r" b="b"/>
              <a:pathLst>
                <a:path w="84454" h="84454">
                  <a:moveTo>
                    <a:pt x="84163" y="0"/>
                  </a:moveTo>
                  <a:lnTo>
                    <a:pt x="0" y="0"/>
                  </a:lnTo>
                  <a:lnTo>
                    <a:pt x="0" y="84163"/>
                  </a:lnTo>
                  <a:lnTo>
                    <a:pt x="84163" y="84163"/>
                  </a:lnTo>
                  <a:lnTo>
                    <a:pt x="84163" y="0"/>
                  </a:lnTo>
                  <a:close/>
                </a:path>
              </a:pathLst>
            </a:custGeom>
            <a:solidFill>
              <a:srgbClr val="C49595"/>
            </a:solidFill>
          </p:spPr>
          <p:txBody>
            <a:bodyPr wrap="square" lIns="0" tIns="0" rIns="0" bIns="0" rtlCol="0"/>
            <a:lstStyle/>
            <a:p>
              <a:endParaRPr/>
            </a:p>
          </p:txBody>
        </p:sp>
        <p:sp>
          <p:nvSpPr>
            <p:cNvPr id="317" name="object 317"/>
            <p:cNvSpPr/>
            <p:nvPr/>
          </p:nvSpPr>
          <p:spPr>
            <a:xfrm>
              <a:off x="5220537" y="3941017"/>
              <a:ext cx="84455" cy="84455"/>
            </a:xfrm>
            <a:custGeom>
              <a:avLst/>
              <a:gdLst/>
              <a:ahLst/>
              <a:cxnLst/>
              <a:rect l="l" t="t" r="r" b="b"/>
              <a:pathLst>
                <a:path w="84454" h="84454">
                  <a:moveTo>
                    <a:pt x="0" y="84163"/>
                  </a:moveTo>
                  <a:lnTo>
                    <a:pt x="84163" y="84163"/>
                  </a:lnTo>
                  <a:lnTo>
                    <a:pt x="84163" y="0"/>
                  </a:lnTo>
                  <a:lnTo>
                    <a:pt x="0" y="0"/>
                  </a:lnTo>
                  <a:lnTo>
                    <a:pt x="0" y="84163"/>
                  </a:lnTo>
                  <a:close/>
                </a:path>
              </a:pathLst>
            </a:custGeom>
            <a:ln w="3175">
              <a:solidFill>
                <a:srgbClr val="000000"/>
              </a:solidFill>
            </a:ln>
          </p:spPr>
          <p:txBody>
            <a:bodyPr wrap="square" lIns="0" tIns="0" rIns="0" bIns="0" rtlCol="0"/>
            <a:lstStyle/>
            <a:p>
              <a:endParaRPr/>
            </a:p>
          </p:txBody>
        </p:sp>
      </p:grpSp>
      <p:grpSp>
        <p:nvGrpSpPr>
          <p:cNvPr id="318" name="object 318"/>
          <p:cNvGrpSpPr/>
          <p:nvPr/>
        </p:nvGrpSpPr>
        <p:grpSpPr>
          <a:xfrm>
            <a:off x="5219871" y="4043065"/>
            <a:ext cx="85725" cy="85725"/>
            <a:chOff x="5219871" y="4043065"/>
            <a:chExt cx="85725" cy="85725"/>
          </a:xfrm>
        </p:grpSpPr>
        <p:sp>
          <p:nvSpPr>
            <p:cNvPr id="319" name="object 319"/>
            <p:cNvSpPr/>
            <p:nvPr/>
          </p:nvSpPr>
          <p:spPr>
            <a:xfrm>
              <a:off x="5220537" y="4043731"/>
              <a:ext cx="84455" cy="84455"/>
            </a:xfrm>
            <a:custGeom>
              <a:avLst/>
              <a:gdLst/>
              <a:ahLst/>
              <a:cxnLst/>
              <a:rect l="l" t="t" r="r" b="b"/>
              <a:pathLst>
                <a:path w="84454" h="84454">
                  <a:moveTo>
                    <a:pt x="84163" y="0"/>
                  </a:moveTo>
                  <a:lnTo>
                    <a:pt x="0" y="0"/>
                  </a:lnTo>
                  <a:lnTo>
                    <a:pt x="0" y="84163"/>
                  </a:lnTo>
                  <a:lnTo>
                    <a:pt x="84163" y="84163"/>
                  </a:lnTo>
                  <a:lnTo>
                    <a:pt x="84163" y="0"/>
                  </a:lnTo>
                  <a:close/>
                </a:path>
              </a:pathLst>
            </a:custGeom>
            <a:solidFill>
              <a:srgbClr val="E789C3"/>
            </a:solidFill>
          </p:spPr>
          <p:txBody>
            <a:bodyPr wrap="square" lIns="0" tIns="0" rIns="0" bIns="0" rtlCol="0"/>
            <a:lstStyle/>
            <a:p>
              <a:endParaRPr/>
            </a:p>
          </p:txBody>
        </p:sp>
        <p:sp>
          <p:nvSpPr>
            <p:cNvPr id="320" name="object 320"/>
            <p:cNvSpPr/>
            <p:nvPr/>
          </p:nvSpPr>
          <p:spPr>
            <a:xfrm>
              <a:off x="5220537" y="4043731"/>
              <a:ext cx="84455" cy="84455"/>
            </a:xfrm>
            <a:custGeom>
              <a:avLst/>
              <a:gdLst/>
              <a:ahLst/>
              <a:cxnLst/>
              <a:rect l="l" t="t" r="r" b="b"/>
              <a:pathLst>
                <a:path w="84454" h="84454">
                  <a:moveTo>
                    <a:pt x="0" y="84163"/>
                  </a:moveTo>
                  <a:lnTo>
                    <a:pt x="84163" y="84163"/>
                  </a:lnTo>
                  <a:lnTo>
                    <a:pt x="84163" y="0"/>
                  </a:lnTo>
                  <a:lnTo>
                    <a:pt x="0" y="0"/>
                  </a:lnTo>
                  <a:lnTo>
                    <a:pt x="0" y="84163"/>
                  </a:lnTo>
                  <a:close/>
                </a:path>
              </a:pathLst>
            </a:custGeom>
            <a:ln w="3175">
              <a:solidFill>
                <a:srgbClr val="000000"/>
              </a:solidFill>
            </a:ln>
          </p:spPr>
          <p:txBody>
            <a:bodyPr wrap="square" lIns="0" tIns="0" rIns="0" bIns="0" rtlCol="0"/>
            <a:lstStyle/>
            <a:p>
              <a:endParaRPr/>
            </a:p>
          </p:txBody>
        </p:sp>
      </p:grpSp>
      <p:grpSp>
        <p:nvGrpSpPr>
          <p:cNvPr id="321" name="object 321"/>
          <p:cNvGrpSpPr/>
          <p:nvPr/>
        </p:nvGrpSpPr>
        <p:grpSpPr>
          <a:xfrm>
            <a:off x="5219871" y="4145779"/>
            <a:ext cx="85725" cy="85725"/>
            <a:chOff x="5219871" y="4145779"/>
            <a:chExt cx="85725" cy="85725"/>
          </a:xfrm>
        </p:grpSpPr>
        <p:sp>
          <p:nvSpPr>
            <p:cNvPr id="322" name="object 322"/>
            <p:cNvSpPr/>
            <p:nvPr/>
          </p:nvSpPr>
          <p:spPr>
            <a:xfrm>
              <a:off x="5220537" y="4146445"/>
              <a:ext cx="84455" cy="84455"/>
            </a:xfrm>
            <a:custGeom>
              <a:avLst/>
              <a:gdLst/>
              <a:ahLst/>
              <a:cxnLst/>
              <a:rect l="l" t="t" r="r" b="b"/>
              <a:pathLst>
                <a:path w="84454" h="84454">
                  <a:moveTo>
                    <a:pt x="84163" y="0"/>
                  </a:moveTo>
                  <a:lnTo>
                    <a:pt x="0" y="0"/>
                  </a:lnTo>
                  <a:lnTo>
                    <a:pt x="0" y="84163"/>
                  </a:lnTo>
                  <a:lnTo>
                    <a:pt x="84163" y="84163"/>
                  </a:lnTo>
                  <a:lnTo>
                    <a:pt x="84163" y="0"/>
                  </a:lnTo>
                  <a:close/>
                </a:path>
              </a:pathLst>
            </a:custGeom>
            <a:solidFill>
              <a:srgbClr val="A6D753"/>
            </a:solidFill>
          </p:spPr>
          <p:txBody>
            <a:bodyPr wrap="square" lIns="0" tIns="0" rIns="0" bIns="0" rtlCol="0"/>
            <a:lstStyle/>
            <a:p>
              <a:endParaRPr/>
            </a:p>
          </p:txBody>
        </p:sp>
        <p:sp>
          <p:nvSpPr>
            <p:cNvPr id="323" name="object 323"/>
            <p:cNvSpPr/>
            <p:nvPr/>
          </p:nvSpPr>
          <p:spPr>
            <a:xfrm>
              <a:off x="5220537" y="4146445"/>
              <a:ext cx="84455" cy="84455"/>
            </a:xfrm>
            <a:custGeom>
              <a:avLst/>
              <a:gdLst/>
              <a:ahLst/>
              <a:cxnLst/>
              <a:rect l="l" t="t" r="r" b="b"/>
              <a:pathLst>
                <a:path w="84454" h="84454">
                  <a:moveTo>
                    <a:pt x="0" y="84163"/>
                  </a:moveTo>
                  <a:lnTo>
                    <a:pt x="84163" y="84163"/>
                  </a:lnTo>
                  <a:lnTo>
                    <a:pt x="84163" y="0"/>
                  </a:lnTo>
                  <a:lnTo>
                    <a:pt x="0" y="0"/>
                  </a:lnTo>
                  <a:lnTo>
                    <a:pt x="0" y="84163"/>
                  </a:lnTo>
                  <a:close/>
                </a:path>
              </a:pathLst>
            </a:custGeom>
            <a:ln w="3175">
              <a:solidFill>
                <a:srgbClr val="000000"/>
              </a:solidFill>
            </a:ln>
          </p:spPr>
          <p:txBody>
            <a:bodyPr wrap="square" lIns="0" tIns="0" rIns="0" bIns="0" rtlCol="0"/>
            <a:lstStyle/>
            <a:p>
              <a:endParaRPr/>
            </a:p>
          </p:txBody>
        </p:sp>
      </p:grpSp>
      <p:grpSp>
        <p:nvGrpSpPr>
          <p:cNvPr id="324" name="object 324"/>
          <p:cNvGrpSpPr/>
          <p:nvPr/>
        </p:nvGrpSpPr>
        <p:grpSpPr>
          <a:xfrm>
            <a:off x="5219871" y="4248493"/>
            <a:ext cx="85725" cy="85725"/>
            <a:chOff x="5219871" y="4248493"/>
            <a:chExt cx="85725" cy="85725"/>
          </a:xfrm>
        </p:grpSpPr>
        <p:sp>
          <p:nvSpPr>
            <p:cNvPr id="325" name="object 325"/>
            <p:cNvSpPr/>
            <p:nvPr/>
          </p:nvSpPr>
          <p:spPr>
            <a:xfrm>
              <a:off x="5220537" y="4249159"/>
              <a:ext cx="84455" cy="84455"/>
            </a:xfrm>
            <a:custGeom>
              <a:avLst/>
              <a:gdLst/>
              <a:ahLst/>
              <a:cxnLst/>
              <a:rect l="l" t="t" r="r" b="b"/>
              <a:pathLst>
                <a:path w="84454" h="84454">
                  <a:moveTo>
                    <a:pt x="84163" y="0"/>
                  </a:moveTo>
                  <a:lnTo>
                    <a:pt x="0" y="0"/>
                  </a:lnTo>
                  <a:lnTo>
                    <a:pt x="0" y="84163"/>
                  </a:lnTo>
                  <a:lnTo>
                    <a:pt x="84163" y="84163"/>
                  </a:lnTo>
                  <a:lnTo>
                    <a:pt x="84163" y="0"/>
                  </a:lnTo>
                  <a:close/>
                </a:path>
              </a:pathLst>
            </a:custGeom>
            <a:solidFill>
              <a:srgbClr val="F1CE60"/>
            </a:solidFill>
          </p:spPr>
          <p:txBody>
            <a:bodyPr wrap="square" lIns="0" tIns="0" rIns="0" bIns="0" rtlCol="0"/>
            <a:lstStyle/>
            <a:p>
              <a:endParaRPr/>
            </a:p>
          </p:txBody>
        </p:sp>
        <p:sp>
          <p:nvSpPr>
            <p:cNvPr id="326" name="object 326"/>
            <p:cNvSpPr/>
            <p:nvPr/>
          </p:nvSpPr>
          <p:spPr>
            <a:xfrm>
              <a:off x="5220537" y="4249159"/>
              <a:ext cx="84455" cy="84455"/>
            </a:xfrm>
            <a:custGeom>
              <a:avLst/>
              <a:gdLst/>
              <a:ahLst/>
              <a:cxnLst/>
              <a:rect l="l" t="t" r="r" b="b"/>
              <a:pathLst>
                <a:path w="84454" h="84454">
                  <a:moveTo>
                    <a:pt x="0" y="84163"/>
                  </a:moveTo>
                  <a:lnTo>
                    <a:pt x="84163" y="84163"/>
                  </a:lnTo>
                  <a:lnTo>
                    <a:pt x="84163" y="0"/>
                  </a:lnTo>
                  <a:lnTo>
                    <a:pt x="0" y="0"/>
                  </a:lnTo>
                  <a:lnTo>
                    <a:pt x="0" y="84163"/>
                  </a:lnTo>
                  <a:close/>
                </a:path>
              </a:pathLst>
            </a:custGeom>
            <a:ln w="3175">
              <a:solidFill>
                <a:srgbClr val="000000"/>
              </a:solidFill>
            </a:ln>
          </p:spPr>
          <p:txBody>
            <a:bodyPr wrap="square" lIns="0" tIns="0" rIns="0" bIns="0" rtlCol="0"/>
            <a:lstStyle/>
            <a:p>
              <a:endParaRPr/>
            </a:p>
          </p:txBody>
        </p:sp>
      </p:grpSp>
      <p:grpSp>
        <p:nvGrpSpPr>
          <p:cNvPr id="327" name="object 327"/>
          <p:cNvGrpSpPr/>
          <p:nvPr/>
        </p:nvGrpSpPr>
        <p:grpSpPr>
          <a:xfrm>
            <a:off x="5219871" y="4351196"/>
            <a:ext cx="85725" cy="85725"/>
            <a:chOff x="5219871" y="4351196"/>
            <a:chExt cx="85725" cy="85725"/>
          </a:xfrm>
        </p:grpSpPr>
        <p:sp>
          <p:nvSpPr>
            <p:cNvPr id="328" name="object 328"/>
            <p:cNvSpPr/>
            <p:nvPr/>
          </p:nvSpPr>
          <p:spPr>
            <a:xfrm>
              <a:off x="5220537" y="4351862"/>
              <a:ext cx="84455" cy="84455"/>
            </a:xfrm>
            <a:custGeom>
              <a:avLst/>
              <a:gdLst/>
              <a:ahLst/>
              <a:cxnLst/>
              <a:rect l="l" t="t" r="r" b="b"/>
              <a:pathLst>
                <a:path w="84454" h="84454">
                  <a:moveTo>
                    <a:pt x="84163" y="0"/>
                  </a:moveTo>
                  <a:lnTo>
                    <a:pt x="0" y="0"/>
                  </a:lnTo>
                  <a:lnTo>
                    <a:pt x="0" y="84163"/>
                  </a:lnTo>
                  <a:lnTo>
                    <a:pt x="84163" y="84163"/>
                  </a:lnTo>
                  <a:lnTo>
                    <a:pt x="84163" y="0"/>
                  </a:lnTo>
                  <a:close/>
                </a:path>
              </a:pathLst>
            </a:custGeom>
            <a:solidFill>
              <a:srgbClr val="CCBAA2"/>
            </a:solidFill>
          </p:spPr>
          <p:txBody>
            <a:bodyPr wrap="square" lIns="0" tIns="0" rIns="0" bIns="0" rtlCol="0"/>
            <a:lstStyle/>
            <a:p>
              <a:endParaRPr/>
            </a:p>
          </p:txBody>
        </p:sp>
        <p:sp>
          <p:nvSpPr>
            <p:cNvPr id="329" name="object 329"/>
            <p:cNvSpPr/>
            <p:nvPr/>
          </p:nvSpPr>
          <p:spPr>
            <a:xfrm>
              <a:off x="5220537" y="4351862"/>
              <a:ext cx="84455" cy="84455"/>
            </a:xfrm>
            <a:custGeom>
              <a:avLst/>
              <a:gdLst/>
              <a:ahLst/>
              <a:cxnLst/>
              <a:rect l="l" t="t" r="r" b="b"/>
              <a:pathLst>
                <a:path w="84454" h="84454">
                  <a:moveTo>
                    <a:pt x="0" y="84163"/>
                  </a:moveTo>
                  <a:lnTo>
                    <a:pt x="84163" y="84163"/>
                  </a:lnTo>
                  <a:lnTo>
                    <a:pt x="84163" y="0"/>
                  </a:lnTo>
                  <a:lnTo>
                    <a:pt x="0" y="0"/>
                  </a:lnTo>
                  <a:lnTo>
                    <a:pt x="0" y="84163"/>
                  </a:lnTo>
                  <a:close/>
                </a:path>
              </a:pathLst>
            </a:custGeom>
            <a:ln w="3175">
              <a:solidFill>
                <a:srgbClr val="000000"/>
              </a:solidFill>
            </a:ln>
          </p:spPr>
          <p:txBody>
            <a:bodyPr wrap="square" lIns="0" tIns="0" rIns="0" bIns="0" rtlCol="0"/>
            <a:lstStyle/>
            <a:p>
              <a:endParaRPr/>
            </a:p>
          </p:txBody>
        </p:sp>
      </p:grpSp>
      <p:grpSp>
        <p:nvGrpSpPr>
          <p:cNvPr id="330" name="object 330"/>
          <p:cNvGrpSpPr/>
          <p:nvPr/>
        </p:nvGrpSpPr>
        <p:grpSpPr>
          <a:xfrm>
            <a:off x="5219871" y="4453910"/>
            <a:ext cx="85725" cy="85725"/>
            <a:chOff x="5219871" y="4453910"/>
            <a:chExt cx="85725" cy="85725"/>
          </a:xfrm>
        </p:grpSpPr>
        <p:sp>
          <p:nvSpPr>
            <p:cNvPr id="331" name="object 331"/>
            <p:cNvSpPr/>
            <p:nvPr/>
          </p:nvSpPr>
          <p:spPr>
            <a:xfrm>
              <a:off x="5220537" y="4454576"/>
              <a:ext cx="84455" cy="84455"/>
            </a:xfrm>
            <a:custGeom>
              <a:avLst/>
              <a:gdLst/>
              <a:ahLst/>
              <a:cxnLst/>
              <a:rect l="l" t="t" r="r" b="b"/>
              <a:pathLst>
                <a:path w="84454" h="84454">
                  <a:moveTo>
                    <a:pt x="84163" y="0"/>
                  </a:moveTo>
                  <a:lnTo>
                    <a:pt x="0" y="0"/>
                  </a:lnTo>
                  <a:lnTo>
                    <a:pt x="0" y="84163"/>
                  </a:lnTo>
                  <a:lnTo>
                    <a:pt x="84163" y="84163"/>
                  </a:lnTo>
                  <a:lnTo>
                    <a:pt x="84163" y="0"/>
                  </a:lnTo>
                  <a:close/>
                </a:path>
              </a:pathLst>
            </a:custGeom>
            <a:solidFill>
              <a:srgbClr val="FFD92E"/>
            </a:solidFill>
          </p:spPr>
          <p:txBody>
            <a:bodyPr wrap="square" lIns="0" tIns="0" rIns="0" bIns="0" rtlCol="0"/>
            <a:lstStyle/>
            <a:p>
              <a:endParaRPr/>
            </a:p>
          </p:txBody>
        </p:sp>
        <p:sp>
          <p:nvSpPr>
            <p:cNvPr id="332" name="object 332"/>
            <p:cNvSpPr/>
            <p:nvPr/>
          </p:nvSpPr>
          <p:spPr>
            <a:xfrm>
              <a:off x="5220537" y="4454576"/>
              <a:ext cx="84455" cy="84455"/>
            </a:xfrm>
            <a:custGeom>
              <a:avLst/>
              <a:gdLst/>
              <a:ahLst/>
              <a:cxnLst/>
              <a:rect l="l" t="t" r="r" b="b"/>
              <a:pathLst>
                <a:path w="84454" h="84454">
                  <a:moveTo>
                    <a:pt x="0" y="84163"/>
                  </a:moveTo>
                  <a:lnTo>
                    <a:pt x="84163" y="84163"/>
                  </a:lnTo>
                  <a:lnTo>
                    <a:pt x="84163" y="0"/>
                  </a:lnTo>
                  <a:lnTo>
                    <a:pt x="0" y="0"/>
                  </a:lnTo>
                  <a:lnTo>
                    <a:pt x="0" y="84163"/>
                  </a:lnTo>
                  <a:close/>
                </a:path>
              </a:pathLst>
            </a:custGeom>
            <a:ln w="3175">
              <a:solidFill>
                <a:srgbClr val="000000"/>
              </a:solidFill>
            </a:ln>
          </p:spPr>
          <p:txBody>
            <a:bodyPr wrap="square" lIns="0" tIns="0" rIns="0" bIns="0" rtlCol="0"/>
            <a:lstStyle/>
            <a:p>
              <a:endParaRPr/>
            </a:p>
          </p:txBody>
        </p:sp>
      </p:grpSp>
      <p:grpSp>
        <p:nvGrpSpPr>
          <p:cNvPr id="333" name="object 333"/>
          <p:cNvGrpSpPr/>
          <p:nvPr/>
        </p:nvGrpSpPr>
        <p:grpSpPr>
          <a:xfrm>
            <a:off x="5219871" y="4556624"/>
            <a:ext cx="85725" cy="85725"/>
            <a:chOff x="5219871" y="4556624"/>
            <a:chExt cx="85725" cy="85725"/>
          </a:xfrm>
        </p:grpSpPr>
        <p:sp>
          <p:nvSpPr>
            <p:cNvPr id="334" name="object 334"/>
            <p:cNvSpPr/>
            <p:nvPr/>
          </p:nvSpPr>
          <p:spPr>
            <a:xfrm>
              <a:off x="5220537" y="4557291"/>
              <a:ext cx="84455" cy="84455"/>
            </a:xfrm>
            <a:custGeom>
              <a:avLst/>
              <a:gdLst/>
              <a:ahLst/>
              <a:cxnLst/>
              <a:rect l="l" t="t" r="r" b="b"/>
              <a:pathLst>
                <a:path w="84454" h="84454">
                  <a:moveTo>
                    <a:pt x="84163" y="0"/>
                  </a:moveTo>
                  <a:lnTo>
                    <a:pt x="0" y="0"/>
                  </a:lnTo>
                  <a:lnTo>
                    <a:pt x="0" y="84163"/>
                  </a:lnTo>
                  <a:lnTo>
                    <a:pt x="84163" y="84163"/>
                  </a:lnTo>
                  <a:lnTo>
                    <a:pt x="84163" y="0"/>
                  </a:lnTo>
                  <a:close/>
                </a:path>
              </a:pathLst>
            </a:custGeom>
            <a:solidFill>
              <a:srgbClr val="B3B3B3"/>
            </a:solidFill>
          </p:spPr>
          <p:txBody>
            <a:bodyPr wrap="square" lIns="0" tIns="0" rIns="0" bIns="0" rtlCol="0"/>
            <a:lstStyle/>
            <a:p>
              <a:endParaRPr/>
            </a:p>
          </p:txBody>
        </p:sp>
        <p:sp>
          <p:nvSpPr>
            <p:cNvPr id="335" name="object 335"/>
            <p:cNvSpPr/>
            <p:nvPr/>
          </p:nvSpPr>
          <p:spPr>
            <a:xfrm>
              <a:off x="5220537" y="4557291"/>
              <a:ext cx="84455" cy="84455"/>
            </a:xfrm>
            <a:custGeom>
              <a:avLst/>
              <a:gdLst/>
              <a:ahLst/>
              <a:cxnLst/>
              <a:rect l="l" t="t" r="r" b="b"/>
              <a:pathLst>
                <a:path w="84454" h="84454">
                  <a:moveTo>
                    <a:pt x="0" y="84163"/>
                  </a:moveTo>
                  <a:lnTo>
                    <a:pt x="84163" y="84163"/>
                  </a:lnTo>
                  <a:lnTo>
                    <a:pt x="84163" y="0"/>
                  </a:lnTo>
                  <a:lnTo>
                    <a:pt x="0" y="0"/>
                  </a:lnTo>
                  <a:lnTo>
                    <a:pt x="0" y="84163"/>
                  </a:lnTo>
                  <a:close/>
                </a:path>
              </a:pathLst>
            </a:custGeom>
            <a:ln w="3175">
              <a:solidFill>
                <a:srgbClr val="000000"/>
              </a:solidFill>
            </a:ln>
          </p:spPr>
          <p:txBody>
            <a:bodyPr wrap="square" lIns="0" tIns="0" rIns="0" bIns="0" rtlCol="0"/>
            <a:lstStyle/>
            <a:p>
              <a:endParaRPr/>
            </a:p>
          </p:txBody>
        </p:sp>
      </p:grpSp>
      <p:sp>
        <p:nvSpPr>
          <p:cNvPr id="336" name="object 336"/>
          <p:cNvSpPr/>
          <p:nvPr/>
        </p:nvSpPr>
        <p:spPr>
          <a:xfrm>
            <a:off x="5220537" y="4659994"/>
            <a:ext cx="84455" cy="84455"/>
          </a:xfrm>
          <a:custGeom>
            <a:avLst/>
            <a:gdLst/>
            <a:ahLst/>
            <a:cxnLst/>
            <a:rect l="l" t="t" r="r" b="b"/>
            <a:pathLst>
              <a:path w="84454" h="84454">
                <a:moveTo>
                  <a:pt x="0" y="84163"/>
                </a:moveTo>
                <a:lnTo>
                  <a:pt x="84163" y="84163"/>
                </a:lnTo>
                <a:lnTo>
                  <a:pt x="84163" y="0"/>
                </a:lnTo>
                <a:lnTo>
                  <a:pt x="0" y="0"/>
                </a:lnTo>
                <a:lnTo>
                  <a:pt x="0" y="84163"/>
                </a:lnTo>
                <a:close/>
              </a:path>
            </a:pathLst>
          </a:custGeom>
          <a:ln w="3175">
            <a:solidFill>
              <a:srgbClr val="000000"/>
            </a:solidFill>
          </a:ln>
        </p:spPr>
        <p:txBody>
          <a:bodyPr wrap="square" lIns="0" tIns="0" rIns="0" bIns="0" rtlCol="0"/>
          <a:lstStyle/>
          <a:p>
            <a:endParaRPr/>
          </a:p>
        </p:txBody>
      </p:sp>
      <p:sp>
        <p:nvSpPr>
          <p:cNvPr id="337" name="object 337"/>
          <p:cNvSpPr txBox="1"/>
          <p:nvPr/>
        </p:nvSpPr>
        <p:spPr>
          <a:xfrm>
            <a:off x="5204029" y="3044149"/>
            <a:ext cx="1679575" cy="1714500"/>
          </a:xfrm>
          <a:prstGeom prst="rect">
            <a:avLst/>
          </a:prstGeom>
        </p:spPr>
        <p:txBody>
          <a:bodyPr vert="horz" wrap="square" lIns="0" tIns="40640" rIns="0" bIns="0" rtlCol="0">
            <a:spAutoFit/>
          </a:bodyPr>
          <a:lstStyle/>
          <a:p>
            <a:pPr marL="12700">
              <a:lnSpc>
                <a:spcPct val="100000"/>
              </a:lnSpc>
              <a:spcBef>
                <a:spcPts val="320"/>
              </a:spcBef>
            </a:pPr>
            <a:r>
              <a:rPr sz="600" b="1" dirty="0">
                <a:latin typeface="Arial"/>
                <a:cs typeface="Arial"/>
              </a:rPr>
              <a:t>Consolidated</a:t>
            </a:r>
            <a:r>
              <a:rPr sz="600" b="1" spc="30" dirty="0">
                <a:latin typeface="Arial"/>
                <a:cs typeface="Arial"/>
              </a:rPr>
              <a:t> </a:t>
            </a:r>
            <a:r>
              <a:rPr sz="600" b="1" dirty="0">
                <a:latin typeface="Arial"/>
                <a:cs typeface="Arial"/>
              </a:rPr>
              <a:t>Biological</a:t>
            </a:r>
            <a:r>
              <a:rPr sz="600" b="1" spc="35" dirty="0">
                <a:latin typeface="Arial"/>
                <a:cs typeface="Arial"/>
              </a:rPr>
              <a:t> </a:t>
            </a:r>
            <a:r>
              <a:rPr sz="600" b="1" spc="-10" dirty="0">
                <a:latin typeface="Arial"/>
                <a:cs typeface="Arial"/>
              </a:rPr>
              <a:t>Process</a:t>
            </a:r>
            <a:endParaRPr sz="600">
              <a:latin typeface="Arial"/>
              <a:cs typeface="Arial"/>
            </a:endParaRPr>
          </a:p>
          <a:p>
            <a:pPr marL="133350">
              <a:lnSpc>
                <a:spcPct val="100000"/>
              </a:lnSpc>
              <a:spcBef>
                <a:spcPts val="225"/>
              </a:spcBef>
            </a:pPr>
            <a:r>
              <a:rPr sz="600" spc="-10" dirty="0">
                <a:latin typeface="Arial"/>
                <a:cs typeface="Arial"/>
              </a:rPr>
              <a:t>Carbohydrate</a:t>
            </a:r>
            <a:r>
              <a:rPr sz="600" spc="65" dirty="0">
                <a:latin typeface="Arial"/>
                <a:cs typeface="Arial"/>
              </a:rPr>
              <a:t> </a:t>
            </a:r>
            <a:r>
              <a:rPr sz="600" spc="-10" dirty="0">
                <a:latin typeface="Arial"/>
                <a:cs typeface="Arial"/>
              </a:rPr>
              <a:t>metabolism</a:t>
            </a:r>
            <a:endParaRPr sz="600">
              <a:latin typeface="Arial"/>
              <a:cs typeface="Arial"/>
            </a:endParaRPr>
          </a:p>
          <a:p>
            <a:pPr marL="133350" marR="102870">
              <a:lnSpc>
                <a:spcPct val="112300"/>
              </a:lnSpc>
            </a:pPr>
            <a:r>
              <a:rPr sz="600" dirty="0">
                <a:latin typeface="Arial"/>
                <a:cs typeface="Arial"/>
              </a:rPr>
              <a:t>Protein</a:t>
            </a:r>
            <a:r>
              <a:rPr sz="600" spc="-15" dirty="0">
                <a:latin typeface="Arial"/>
                <a:cs typeface="Arial"/>
              </a:rPr>
              <a:t> </a:t>
            </a:r>
            <a:r>
              <a:rPr sz="600" dirty="0">
                <a:latin typeface="Arial"/>
                <a:cs typeface="Arial"/>
              </a:rPr>
              <a:t>folding</a:t>
            </a:r>
            <a:r>
              <a:rPr sz="600" spc="-15" dirty="0">
                <a:latin typeface="Arial"/>
                <a:cs typeface="Arial"/>
              </a:rPr>
              <a:t> </a:t>
            </a:r>
            <a:r>
              <a:rPr sz="600" dirty="0">
                <a:latin typeface="Arial"/>
                <a:cs typeface="Arial"/>
              </a:rPr>
              <a:t>and</a:t>
            </a:r>
            <a:r>
              <a:rPr sz="600" spc="-15" dirty="0">
                <a:latin typeface="Arial"/>
                <a:cs typeface="Arial"/>
              </a:rPr>
              <a:t> </a:t>
            </a:r>
            <a:r>
              <a:rPr sz="600" dirty="0">
                <a:latin typeface="Arial"/>
                <a:cs typeface="Arial"/>
              </a:rPr>
              <a:t>stress</a:t>
            </a:r>
            <a:r>
              <a:rPr sz="600" spc="-10" dirty="0">
                <a:latin typeface="Arial"/>
                <a:cs typeface="Arial"/>
              </a:rPr>
              <a:t> chaperones</a:t>
            </a:r>
            <a:r>
              <a:rPr sz="600" spc="500" dirty="0">
                <a:latin typeface="Arial"/>
                <a:cs typeface="Arial"/>
              </a:rPr>
              <a:t> </a:t>
            </a:r>
            <a:r>
              <a:rPr sz="600" dirty="0">
                <a:latin typeface="Arial"/>
                <a:cs typeface="Arial"/>
              </a:rPr>
              <a:t>Oxidative</a:t>
            </a:r>
            <a:r>
              <a:rPr sz="600" spc="-15" dirty="0">
                <a:latin typeface="Arial"/>
                <a:cs typeface="Arial"/>
              </a:rPr>
              <a:t> </a:t>
            </a:r>
            <a:r>
              <a:rPr sz="600" dirty="0">
                <a:latin typeface="Arial"/>
                <a:cs typeface="Arial"/>
              </a:rPr>
              <a:t>stress</a:t>
            </a:r>
            <a:r>
              <a:rPr sz="600" spc="-10" dirty="0">
                <a:latin typeface="Arial"/>
                <a:cs typeface="Arial"/>
              </a:rPr>
              <a:t> </a:t>
            </a:r>
            <a:r>
              <a:rPr sz="600" dirty="0">
                <a:latin typeface="Arial"/>
                <a:cs typeface="Arial"/>
              </a:rPr>
              <a:t>response</a:t>
            </a:r>
            <a:r>
              <a:rPr sz="600" spc="-10" dirty="0">
                <a:latin typeface="Arial"/>
                <a:cs typeface="Arial"/>
              </a:rPr>
              <a:t> </a:t>
            </a:r>
            <a:r>
              <a:rPr sz="600" dirty="0">
                <a:latin typeface="Arial"/>
                <a:cs typeface="Arial"/>
              </a:rPr>
              <a:t>and</a:t>
            </a:r>
            <a:r>
              <a:rPr sz="600" spc="-10" dirty="0">
                <a:latin typeface="Arial"/>
                <a:cs typeface="Arial"/>
              </a:rPr>
              <a:t> </a:t>
            </a:r>
            <a:r>
              <a:rPr sz="600" dirty="0">
                <a:latin typeface="Arial"/>
                <a:cs typeface="Arial"/>
              </a:rPr>
              <a:t>ROS</a:t>
            </a:r>
            <a:r>
              <a:rPr sz="600" spc="-15" dirty="0">
                <a:latin typeface="Arial"/>
                <a:cs typeface="Arial"/>
              </a:rPr>
              <a:t> </a:t>
            </a:r>
            <a:r>
              <a:rPr sz="600" spc="-10" dirty="0">
                <a:latin typeface="Arial"/>
                <a:cs typeface="Arial"/>
              </a:rPr>
              <a:t>detox</a:t>
            </a:r>
            <a:endParaRPr sz="600">
              <a:latin typeface="Arial"/>
              <a:cs typeface="Arial"/>
            </a:endParaRPr>
          </a:p>
          <a:p>
            <a:pPr marL="133350" marR="195580">
              <a:lnSpc>
                <a:spcPct val="112300"/>
              </a:lnSpc>
              <a:spcBef>
                <a:spcPts val="90"/>
              </a:spcBef>
            </a:pPr>
            <a:r>
              <a:rPr sz="600" dirty="0">
                <a:latin typeface="Arial"/>
                <a:cs typeface="Arial"/>
              </a:rPr>
              <a:t>Water</a:t>
            </a:r>
            <a:r>
              <a:rPr sz="600" spc="-10" dirty="0">
                <a:latin typeface="Arial"/>
                <a:cs typeface="Arial"/>
              </a:rPr>
              <a:t> </a:t>
            </a:r>
            <a:r>
              <a:rPr sz="600" dirty="0">
                <a:latin typeface="Arial"/>
                <a:cs typeface="Arial"/>
              </a:rPr>
              <a:t>deficit</a:t>
            </a:r>
            <a:r>
              <a:rPr sz="600" spc="-5" dirty="0">
                <a:latin typeface="Arial"/>
                <a:cs typeface="Arial"/>
              </a:rPr>
              <a:t> </a:t>
            </a:r>
            <a:r>
              <a:rPr sz="600" dirty="0">
                <a:latin typeface="Arial"/>
                <a:cs typeface="Arial"/>
              </a:rPr>
              <a:t>and</a:t>
            </a:r>
            <a:r>
              <a:rPr sz="600" spc="-5" dirty="0">
                <a:latin typeface="Arial"/>
                <a:cs typeface="Arial"/>
              </a:rPr>
              <a:t> </a:t>
            </a:r>
            <a:r>
              <a:rPr sz="600" dirty="0">
                <a:latin typeface="Arial"/>
                <a:cs typeface="Arial"/>
              </a:rPr>
              <a:t>cold</a:t>
            </a:r>
            <a:r>
              <a:rPr sz="600" spc="-5" dirty="0">
                <a:latin typeface="Arial"/>
                <a:cs typeface="Arial"/>
              </a:rPr>
              <a:t> </a:t>
            </a:r>
            <a:r>
              <a:rPr sz="600" dirty="0">
                <a:latin typeface="Arial"/>
                <a:cs typeface="Arial"/>
              </a:rPr>
              <a:t>stress</a:t>
            </a:r>
            <a:r>
              <a:rPr sz="600" spc="-5" dirty="0">
                <a:latin typeface="Arial"/>
                <a:cs typeface="Arial"/>
              </a:rPr>
              <a:t> </a:t>
            </a:r>
            <a:r>
              <a:rPr sz="600" spc="-10" dirty="0">
                <a:latin typeface="Arial"/>
                <a:cs typeface="Arial"/>
              </a:rPr>
              <a:t>responses</a:t>
            </a:r>
            <a:r>
              <a:rPr sz="600" spc="500" dirty="0">
                <a:latin typeface="Arial"/>
                <a:cs typeface="Arial"/>
              </a:rPr>
              <a:t> </a:t>
            </a:r>
            <a:r>
              <a:rPr sz="600" dirty="0">
                <a:latin typeface="Arial"/>
                <a:cs typeface="Arial"/>
              </a:rPr>
              <a:t>RNA</a:t>
            </a:r>
            <a:r>
              <a:rPr sz="600" spc="-30" dirty="0">
                <a:latin typeface="Arial"/>
                <a:cs typeface="Arial"/>
              </a:rPr>
              <a:t> </a:t>
            </a:r>
            <a:r>
              <a:rPr sz="600" spc="-10" dirty="0">
                <a:latin typeface="Arial"/>
                <a:cs typeface="Arial"/>
              </a:rPr>
              <a:t>processing</a:t>
            </a:r>
            <a:r>
              <a:rPr sz="600" spc="5" dirty="0">
                <a:latin typeface="Arial"/>
                <a:cs typeface="Arial"/>
              </a:rPr>
              <a:t> </a:t>
            </a:r>
            <a:r>
              <a:rPr sz="600" dirty="0">
                <a:latin typeface="Arial"/>
                <a:cs typeface="Arial"/>
              </a:rPr>
              <a:t>and</a:t>
            </a:r>
            <a:r>
              <a:rPr sz="600" spc="10" dirty="0">
                <a:latin typeface="Arial"/>
                <a:cs typeface="Arial"/>
              </a:rPr>
              <a:t> </a:t>
            </a:r>
            <a:r>
              <a:rPr sz="600" dirty="0">
                <a:latin typeface="Arial"/>
                <a:cs typeface="Arial"/>
              </a:rPr>
              <a:t>gene</a:t>
            </a:r>
            <a:r>
              <a:rPr sz="600" spc="10" dirty="0">
                <a:latin typeface="Arial"/>
                <a:cs typeface="Arial"/>
              </a:rPr>
              <a:t> </a:t>
            </a:r>
            <a:r>
              <a:rPr sz="600" spc="-10" dirty="0">
                <a:latin typeface="Arial"/>
                <a:cs typeface="Arial"/>
              </a:rPr>
              <a:t>regulation</a:t>
            </a:r>
            <a:r>
              <a:rPr sz="600" spc="500" dirty="0">
                <a:latin typeface="Arial"/>
                <a:cs typeface="Arial"/>
              </a:rPr>
              <a:t> </a:t>
            </a:r>
            <a:r>
              <a:rPr sz="600" dirty="0">
                <a:latin typeface="Arial"/>
                <a:cs typeface="Arial"/>
              </a:rPr>
              <a:t>ABA</a:t>
            </a:r>
            <a:r>
              <a:rPr sz="600" spc="-45" dirty="0">
                <a:latin typeface="Arial"/>
                <a:cs typeface="Arial"/>
              </a:rPr>
              <a:t> </a:t>
            </a:r>
            <a:r>
              <a:rPr sz="600" dirty="0">
                <a:latin typeface="Arial"/>
                <a:cs typeface="Arial"/>
              </a:rPr>
              <a:t>hormone</a:t>
            </a:r>
            <a:r>
              <a:rPr sz="600" spc="-10" dirty="0">
                <a:latin typeface="Arial"/>
                <a:cs typeface="Arial"/>
              </a:rPr>
              <a:t> signaling</a:t>
            </a:r>
            <a:endParaRPr sz="600">
              <a:latin typeface="Arial"/>
              <a:cs typeface="Arial"/>
            </a:endParaRPr>
          </a:p>
          <a:p>
            <a:pPr marL="133350" marR="47625">
              <a:lnSpc>
                <a:spcPct val="112300"/>
              </a:lnSpc>
            </a:pPr>
            <a:r>
              <a:rPr sz="600" dirty="0">
                <a:latin typeface="Arial"/>
                <a:cs typeface="Arial"/>
              </a:rPr>
              <a:t>Amino</a:t>
            </a:r>
            <a:r>
              <a:rPr sz="600" spc="-20" dirty="0">
                <a:latin typeface="Arial"/>
                <a:cs typeface="Arial"/>
              </a:rPr>
              <a:t> </a:t>
            </a:r>
            <a:r>
              <a:rPr sz="600" dirty="0">
                <a:latin typeface="Arial"/>
                <a:cs typeface="Arial"/>
              </a:rPr>
              <a:t>acid</a:t>
            </a:r>
            <a:r>
              <a:rPr sz="600" spc="-20" dirty="0">
                <a:latin typeface="Arial"/>
                <a:cs typeface="Arial"/>
              </a:rPr>
              <a:t> </a:t>
            </a:r>
            <a:r>
              <a:rPr sz="600" dirty="0">
                <a:latin typeface="Arial"/>
                <a:cs typeface="Arial"/>
              </a:rPr>
              <a:t>and</a:t>
            </a:r>
            <a:r>
              <a:rPr sz="600" spc="-20" dirty="0">
                <a:latin typeface="Arial"/>
                <a:cs typeface="Arial"/>
              </a:rPr>
              <a:t> </a:t>
            </a:r>
            <a:r>
              <a:rPr sz="600" dirty="0">
                <a:latin typeface="Arial"/>
                <a:cs typeface="Arial"/>
              </a:rPr>
              <a:t>peptide</a:t>
            </a:r>
            <a:r>
              <a:rPr sz="600" spc="-15" dirty="0">
                <a:latin typeface="Arial"/>
                <a:cs typeface="Arial"/>
              </a:rPr>
              <a:t> </a:t>
            </a:r>
            <a:r>
              <a:rPr sz="600" spc="-10" dirty="0">
                <a:latin typeface="Arial"/>
                <a:cs typeface="Arial"/>
              </a:rPr>
              <a:t>biosynthesis</a:t>
            </a:r>
            <a:r>
              <a:rPr sz="600" spc="500" dirty="0">
                <a:latin typeface="Arial"/>
                <a:cs typeface="Arial"/>
              </a:rPr>
              <a:t> </a:t>
            </a:r>
            <a:r>
              <a:rPr sz="600" spc="-10" dirty="0">
                <a:latin typeface="Arial"/>
                <a:cs typeface="Arial"/>
              </a:rPr>
              <a:t>Specialized</a:t>
            </a:r>
            <a:r>
              <a:rPr sz="600" spc="55" dirty="0">
                <a:latin typeface="Arial"/>
                <a:cs typeface="Arial"/>
              </a:rPr>
              <a:t> </a:t>
            </a:r>
            <a:r>
              <a:rPr sz="600" spc="-10" dirty="0">
                <a:latin typeface="Arial"/>
                <a:cs typeface="Arial"/>
              </a:rPr>
              <a:t>metabolite</a:t>
            </a:r>
            <a:r>
              <a:rPr sz="600" spc="60" dirty="0">
                <a:latin typeface="Arial"/>
                <a:cs typeface="Arial"/>
              </a:rPr>
              <a:t> </a:t>
            </a:r>
            <a:r>
              <a:rPr sz="600" spc="-10" dirty="0">
                <a:latin typeface="Arial"/>
                <a:cs typeface="Arial"/>
              </a:rPr>
              <a:t>biosynthesis</a:t>
            </a:r>
            <a:r>
              <a:rPr sz="600" spc="500" dirty="0">
                <a:latin typeface="Arial"/>
                <a:cs typeface="Arial"/>
              </a:rPr>
              <a:t> </a:t>
            </a:r>
            <a:r>
              <a:rPr sz="600" dirty="0">
                <a:latin typeface="Arial"/>
                <a:cs typeface="Arial"/>
              </a:rPr>
              <a:t>Defense</a:t>
            </a:r>
            <a:r>
              <a:rPr sz="600" spc="-40" dirty="0">
                <a:latin typeface="Arial"/>
                <a:cs typeface="Arial"/>
              </a:rPr>
              <a:t> </a:t>
            </a:r>
            <a:r>
              <a:rPr sz="600" dirty="0">
                <a:latin typeface="Arial"/>
                <a:cs typeface="Arial"/>
              </a:rPr>
              <a:t>response</a:t>
            </a:r>
            <a:r>
              <a:rPr sz="600" spc="-25" dirty="0">
                <a:latin typeface="Arial"/>
                <a:cs typeface="Arial"/>
              </a:rPr>
              <a:t> </a:t>
            </a:r>
            <a:r>
              <a:rPr sz="600" dirty="0">
                <a:latin typeface="Arial"/>
                <a:cs typeface="Arial"/>
              </a:rPr>
              <a:t>and</a:t>
            </a:r>
            <a:r>
              <a:rPr sz="600" spc="-30" dirty="0">
                <a:latin typeface="Arial"/>
                <a:cs typeface="Arial"/>
              </a:rPr>
              <a:t> </a:t>
            </a:r>
            <a:r>
              <a:rPr sz="600" dirty="0">
                <a:latin typeface="Arial"/>
                <a:cs typeface="Arial"/>
              </a:rPr>
              <a:t>pathogen</a:t>
            </a:r>
            <a:r>
              <a:rPr sz="600" spc="-25" dirty="0">
                <a:latin typeface="Arial"/>
                <a:cs typeface="Arial"/>
              </a:rPr>
              <a:t> </a:t>
            </a:r>
            <a:r>
              <a:rPr sz="600" spc="-10" dirty="0">
                <a:latin typeface="Arial"/>
                <a:cs typeface="Arial"/>
              </a:rPr>
              <a:t>resistance</a:t>
            </a:r>
            <a:r>
              <a:rPr sz="600" spc="500" dirty="0">
                <a:latin typeface="Arial"/>
                <a:cs typeface="Arial"/>
              </a:rPr>
              <a:t> </a:t>
            </a:r>
            <a:r>
              <a:rPr sz="600" dirty="0">
                <a:latin typeface="Arial"/>
                <a:cs typeface="Arial"/>
              </a:rPr>
              <a:t>Response</a:t>
            </a:r>
            <a:r>
              <a:rPr sz="600" spc="-20" dirty="0">
                <a:latin typeface="Arial"/>
                <a:cs typeface="Arial"/>
              </a:rPr>
              <a:t> </a:t>
            </a:r>
            <a:r>
              <a:rPr sz="600" dirty="0">
                <a:latin typeface="Arial"/>
                <a:cs typeface="Arial"/>
              </a:rPr>
              <a:t>to</a:t>
            </a:r>
            <a:r>
              <a:rPr sz="600" spc="-15" dirty="0">
                <a:latin typeface="Arial"/>
                <a:cs typeface="Arial"/>
              </a:rPr>
              <a:t> </a:t>
            </a:r>
            <a:r>
              <a:rPr sz="600" spc="-20" dirty="0">
                <a:latin typeface="Arial"/>
                <a:cs typeface="Arial"/>
              </a:rPr>
              <a:t>heat</a:t>
            </a:r>
            <a:endParaRPr sz="600">
              <a:latin typeface="Arial"/>
              <a:cs typeface="Arial"/>
            </a:endParaRPr>
          </a:p>
          <a:p>
            <a:pPr marL="133350">
              <a:lnSpc>
                <a:spcPct val="100000"/>
              </a:lnSpc>
              <a:spcBef>
                <a:spcPts val="85"/>
              </a:spcBef>
            </a:pPr>
            <a:r>
              <a:rPr sz="600" spc="-10" dirty="0">
                <a:latin typeface="Arial"/>
                <a:cs typeface="Arial"/>
              </a:rPr>
              <a:t>Polysaccharide</a:t>
            </a:r>
            <a:r>
              <a:rPr sz="600" spc="75" dirty="0">
                <a:latin typeface="Arial"/>
                <a:cs typeface="Arial"/>
              </a:rPr>
              <a:t> </a:t>
            </a:r>
            <a:r>
              <a:rPr sz="600" spc="-10" dirty="0">
                <a:latin typeface="Arial"/>
                <a:cs typeface="Arial"/>
              </a:rPr>
              <a:t>catabolism</a:t>
            </a:r>
            <a:endParaRPr sz="600">
              <a:latin typeface="Arial"/>
              <a:cs typeface="Arial"/>
            </a:endParaRPr>
          </a:p>
          <a:p>
            <a:pPr marL="133350" marR="5080">
              <a:lnSpc>
                <a:spcPct val="112300"/>
              </a:lnSpc>
            </a:pPr>
            <a:r>
              <a:rPr sz="600" dirty="0">
                <a:latin typeface="Arial"/>
                <a:cs typeface="Arial"/>
              </a:rPr>
              <a:t>Energy</a:t>
            </a:r>
            <a:r>
              <a:rPr sz="600" spc="20" dirty="0">
                <a:latin typeface="Arial"/>
                <a:cs typeface="Arial"/>
              </a:rPr>
              <a:t> </a:t>
            </a:r>
            <a:r>
              <a:rPr sz="600" spc="-10" dirty="0">
                <a:latin typeface="Arial"/>
                <a:cs typeface="Arial"/>
              </a:rPr>
              <a:t>generation</a:t>
            </a:r>
            <a:r>
              <a:rPr sz="600" spc="25" dirty="0">
                <a:latin typeface="Arial"/>
                <a:cs typeface="Arial"/>
              </a:rPr>
              <a:t> </a:t>
            </a:r>
            <a:r>
              <a:rPr sz="600" spc="-10" dirty="0">
                <a:latin typeface="Arial"/>
                <a:cs typeface="Arial"/>
              </a:rPr>
              <a:t>(glyoxylate</a:t>
            </a:r>
            <a:r>
              <a:rPr sz="600" spc="20" dirty="0">
                <a:latin typeface="Arial"/>
                <a:cs typeface="Arial"/>
              </a:rPr>
              <a:t> </a:t>
            </a:r>
            <a:r>
              <a:rPr sz="600" dirty="0">
                <a:latin typeface="Arial"/>
                <a:cs typeface="Arial"/>
              </a:rPr>
              <a:t>malate</a:t>
            </a:r>
            <a:r>
              <a:rPr sz="600" spc="25" dirty="0">
                <a:latin typeface="Arial"/>
                <a:cs typeface="Arial"/>
              </a:rPr>
              <a:t> </a:t>
            </a:r>
            <a:r>
              <a:rPr sz="600" spc="-10" dirty="0">
                <a:latin typeface="Arial"/>
                <a:cs typeface="Arial"/>
              </a:rPr>
              <a:t>cycles)</a:t>
            </a:r>
            <a:r>
              <a:rPr sz="600" spc="500" dirty="0">
                <a:latin typeface="Arial"/>
                <a:cs typeface="Arial"/>
              </a:rPr>
              <a:t> </a:t>
            </a:r>
            <a:r>
              <a:rPr sz="600" spc="-10" dirty="0">
                <a:latin typeface="Arial"/>
                <a:cs typeface="Arial"/>
              </a:rPr>
              <a:t>Nucleotide</a:t>
            </a:r>
            <a:r>
              <a:rPr sz="600" spc="15" dirty="0">
                <a:latin typeface="Arial"/>
                <a:cs typeface="Arial"/>
              </a:rPr>
              <a:t> </a:t>
            </a:r>
            <a:r>
              <a:rPr sz="600" dirty="0">
                <a:latin typeface="Arial"/>
                <a:cs typeface="Arial"/>
              </a:rPr>
              <a:t>biosynthesis</a:t>
            </a:r>
            <a:r>
              <a:rPr sz="600" spc="15" dirty="0">
                <a:latin typeface="Arial"/>
                <a:cs typeface="Arial"/>
              </a:rPr>
              <a:t> </a:t>
            </a:r>
            <a:r>
              <a:rPr sz="600" dirty="0">
                <a:latin typeface="Arial"/>
                <a:cs typeface="Arial"/>
              </a:rPr>
              <a:t>and</a:t>
            </a:r>
            <a:r>
              <a:rPr sz="600" spc="15" dirty="0">
                <a:latin typeface="Arial"/>
                <a:cs typeface="Arial"/>
              </a:rPr>
              <a:t> </a:t>
            </a:r>
            <a:r>
              <a:rPr sz="600" spc="-10" dirty="0">
                <a:latin typeface="Arial"/>
                <a:cs typeface="Arial"/>
              </a:rPr>
              <a:t>metabolism</a:t>
            </a:r>
            <a:r>
              <a:rPr sz="600" spc="500" dirty="0">
                <a:latin typeface="Arial"/>
                <a:cs typeface="Arial"/>
              </a:rPr>
              <a:t> </a:t>
            </a:r>
            <a:r>
              <a:rPr sz="600" dirty="0">
                <a:latin typeface="Arial"/>
                <a:cs typeface="Arial"/>
              </a:rPr>
              <a:t>Lipid</a:t>
            </a:r>
            <a:r>
              <a:rPr sz="600" spc="-15" dirty="0">
                <a:latin typeface="Arial"/>
                <a:cs typeface="Arial"/>
              </a:rPr>
              <a:t> </a:t>
            </a:r>
            <a:r>
              <a:rPr sz="600" dirty="0">
                <a:latin typeface="Arial"/>
                <a:cs typeface="Arial"/>
              </a:rPr>
              <a:t>transport</a:t>
            </a:r>
            <a:r>
              <a:rPr sz="600" spc="-15" dirty="0">
                <a:latin typeface="Arial"/>
                <a:cs typeface="Arial"/>
              </a:rPr>
              <a:t> </a:t>
            </a:r>
            <a:r>
              <a:rPr sz="600" dirty="0">
                <a:latin typeface="Arial"/>
                <a:cs typeface="Arial"/>
              </a:rPr>
              <a:t>and</a:t>
            </a:r>
            <a:r>
              <a:rPr sz="600" spc="-15" dirty="0">
                <a:latin typeface="Arial"/>
                <a:cs typeface="Arial"/>
              </a:rPr>
              <a:t> </a:t>
            </a:r>
            <a:r>
              <a:rPr sz="600" spc="-10" dirty="0">
                <a:latin typeface="Arial"/>
                <a:cs typeface="Arial"/>
              </a:rPr>
              <a:t>metabolism</a:t>
            </a:r>
            <a:endParaRPr sz="600">
              <a:latin typeface="Arial"/>
              <a:cs typeface="Arial"/>
            </a:endParaRPr>
          </a:p>
          <a:p>
            <a:pPr marL="133350">
              <a:lnSpc>
                <a:spcPct val="100000"/>
              </a:lnSpc>
              <a:spcBef>
                <a:spcPts val="90"/>
              </a:spcBef>
            </a:pPr>
            <a:r>
              <a:rPr sz="600" spc="-20" dirty="0">
                <a:latin typeface="Arial"/>
                <a:cs typeface="Arial"/>
              </a:rPr>
              <a:t>Other</a:t>
            </a:r>
            <a:endParaRPr sz="600">
              <a:latin typeface="Arial"/>
              <a:cs typeface="Arial"/>
            </a:endParaRPr>
          </a:p>
        </p:txBody>
      </p:sp>
      <p:grpSp>
        <p:nvGrpSpPr>
          <p:cNvPr id="338" name="object 338"/>
          <p:cNvGrpSpPr/>
          <p:nvPr/>
        </p:nvGrpSpPr>
        <p:grpSpPr>
          <a:xfrm>
            <a:off x="4562688" y="4731657"/>
            <a:ext cx="495300" cy="87630"/>
            <a:chOff x="4562688" y="4731657"/>
            <a:chExt cx="495300" cy="87630"/>
          </a:xfrm>
        </p:grpSpPr>
        <p:sp>
          <p:nvSpPr>
            <p:cNvPr id="339" name="object 339"/>
            <p:cNvSpPr/>
            <p:nvPr/>
          </p:nvSpPr>
          <p:spPr>
            <a:xfrm>
              <a:off x="4563354" y="4732323"/>
              <a:ext cx="494030" cy="85725"/>
            </a:xfrm>
            <a:custGeom>
              <a:avLst/>
              <a:gdLst/>
              <a:ahLst/>
              <a:cxnLst/>
              <a:rect l="l" t="t" r="r" b="b"/>
              <a:pathLst>
                <a:path w="494029" h="85725">
                  <a:moveTo>
                    <a:pt x="493952" y="0"/>
                  </a:moveTo>
                  <a:lnTo>
                    <a:pt x="0" y="0"/>
                  </a:lnTo>
                  <a:lnTo>
                    <a:pt x="0" y="85672"/>
                  </a:lnTo>
                  <a:lnTo>
                    <a:pt x="493952" y="85672"/>
                  </a:lnTo>
                  <a:lnTo>
                    <a:pt x="493952" y="0"/>
                  </a:lnTo>
                  <a:close/>
                </a:path>
              </a:pathLst>
            </a:custGeom>
            <a:solidFill>
              <a:srgbClr val="C0C0C0"/>
            </a:solidFill>
          </p:spPr>
          <p:txBody>
            <a:bodyPr wrap="square" lIns="0" tIns="0" rIns="0" bIns="0" rtlCol="0"/>
            <a:lstStyle/>
            <a:p>
              <a:endParaRPr/>
            </a:p>
          </p:txBody>
        </p:sp>
        <p:sp>
          <p:nvSpPr>
            <p:cNvPr id="340" name="object 340"/>
            <p:cNvSpPr/>
            <p:nvPr/>
          </p:nvSpPr>
          <p:spPr>
            <a:xfrm>
              <a:off x="4563354" y="4732323"/>
              <a:ext cx="494030" cy="85725"/>
            </a:xfrm>
            <a:custGeom>
              <a:avLst/>
              <a:gdLst/>
              <a:ahLst/>
              <a:cxnLst/>
              <a:rect l="l" t="t" r="r" b="b"/>
              <a:pathLst>
                <a:path w="494029" h="85725">
                  <a:moveTo>
                    <a:pt x="0" y="85672"/>
                  </a:moveTo>
                  <a:lnTo>
                    <a:pt x="493952" y="85672"/>
                  </a:lnTo>
                  <a:lnTo>
                    <a:pt x="493952" y="0"/>
                  </a:lnTo>
                  <a:lnTo>
                    <a:pt x="0" y="0"/>
                  </a:lnTo>
                  <a:lnTo>
                    <a:pt x="0" y="85672"/>
                  </a:lnTo>
                  <a:close/>
                </a:path>
              </a:pathLst>
            </a:custGeom>
            <a:ln w="3175">
              <a:solidFill>
                <a:srgbClr val="000000"/>
              </a:solidFill>
            </a:ln>
          </p:spPr>
          <p:txBody>
            <a:bodyPr wrap="square" lIns="0" tIns="0" rIns="0" bIns="0" rtlCol="0"/>
            <a:lstStyle/>
            <a:p>
              <a:endParaRPr/>
            </a:p>
          </p:txBody>
        </p:sp>
      </p:grpSp>
      <p:sp>
        <p:nvSpPr>
          <p:cNvPr id="341" name="object 341"/>
          <p:cNvSpPr txBox="1"/>
          <p:nvPr/>
        </p:nvSpPr>
        <p:spPr>
          <a:xfrm>
            <a:off x="4543691" y="4726548"/>
            <a:ext cx="537845" cy="85090"/>
          </a:xfrm>
          <a:prstGeom prst="rect">
            <a:avLst/>
          </a:prstGeom>
        </p:spPr>
        <p:txBody>
          <a:bodyPr vert="horz" wrap="square" lIns="0" tIns="11430" rIns="0" bIns="0" rtlCol="0">
            <a:spAutoFit/>
          </a:bodyPr>
          <a:lstStyle/>
          <a:p>
            <a:pPr marL="38100">
              <a:lnSpc>
                <a:spcPct val="100000"/>
              </a:lnSpc>
              <a:spcBef>
                <a:spcPts val="90"/>
              </a:spcBef>
            </a:pPr>
            <a:r>
              <a:rPr sz="400" spc="-20" dirty="0">
                <a:solidFill>
                  <a:srgbClr val="221F1F"/>
                </a:solidFill>
                <a:latin typeface="Symbol"/>
                <a:cs typeface="Symbol"/>
              </a:rPr>
              <a:t></a:t>
            </a:r>
            <a:r>
              <a:rPr sz="300" spc="-30" baseline="41666" dirty="0">
                <a:solidFill>
                  <a:srgbClr val="221F1F"/>
                </a:solidFill>
                <a:latin typeface="Symbol"/>
                <a:cs typeface="Symbol"/>
              </a:rPr>
              <a:t></a:t>
            </a:r>
            <a:r>
              <a:rPr sz="400" spc="-20" dirty="0">
                <a:solidFill>
                  <a:srgbClr val="221F1F"/>
                </a:solidFill>
                <a:latin typeface="Arial"/>
                <a:cs typeface="Arial"/>
              </a:rPr>
              <a:t>(70)=97.5,</a:t>
            </a:r>
            <a:r>
              <a:rPr sz="400" spc="75" dirty="0">
                <a:solidFill>
                  <a:srgbClr val="221F1F"/>
                </a:solidFill>
                <a:latin typeface="Arial"/>
                <a:cs typeface="Arial"/>
              </a:rPr>
              <a:t> </a:t>
            </a:r>
            <a:r>
              <a:rPr sz="400" i="1" spc="-10" dirty="0">
                <a:solidFill>
                  <a:srgbClr val="221F1F"/>
                </a:solidFill>
                <a:latin typeface="Arial"/>
                <a:cs typeface="Arial"/>
              </a:rPr>
              <a:t>p</a:t>
            </a:r>
            <a:r>
              <a:rPr sz="400" spc="-10" dirty="0">
                <a:solidFill>
                  <a:srgbClr val="221F1F"/>
                </a:solidFill>
                <a:latin typeface="Arial"/>
                <a:cs typeface="Arial"/>
              </a:rPr>
              <a:t>=0.017</a:t>
            </a:r>
            <a:endParaRPr sz="400">
              <a:latin typeface="Arial"/>
              <a:cs typeface="Arial"/>
            </a:endParaRPr>
          </a:p>
        </p:txBody>
      </p:sp>
      <p:sp>
        <p:nvSpPr>
          <p:cNvPr id="342" name="object 342"/>
          <p:cNvSpPr txBox="1"/>
          <p:nvPr/>
        </p:nvSpPr>
        <p:spPr>
          <a:xfrm>
            <a:off x="2477738" y="-8492"/>
            <a:ext cx="89535" cy="131445"/>
          </a:xfrm>
          <a:prstGeom prst="rect">
            <a:avLst/>
          </a:prstGeom>
        </p:spPr>
        <p:txBody>
          <a:bodyPr vert="horz" wrap="square" lIns="0" tIns="11430" rIns="0" bIns="0" rtlCol="0">
            <a:spAutoFit/>
          </a:bodyPr>
          <a:lstStyle/>
          <a:p>
            <a:pPr marL="12700">
              <a:lnSpc>
                <a:spcPct val="100000"/>
              </a:lnSpc>
              <a:spcBef>
                <a:spcPts val="90"/>
              </a:spcBef>
            </a:pPr>
            <a:r>
              <a:rPr sz="700" b="1" spc="-50" dirty="0">
                <a:latin typeface="Arial"/>
                <a:cs typeface="Arial"/>
              </a:rPr>
              <a:t>A</a:t>
            </a:r>
            <a:endParaRPr sz="700">
              <a:latin typeface="Arial"/>
              <a:cs typeface="Arial"/>
            </a:endParaRPr>
          </a:p>
        </p:txBody>
      </p:sp>
      <p:sp>
        <p:nvSpPr>
          <p:cNvPr id="343" name="object 343"/>
          <p:cNvSpPr txBox="1"/>
          <p:nvPr/>
        </p:nvSpPr>
        <p:spPr>
          <a:xfrm>
            <a:off x="2477738" y="2963936"/>
            <a:ext cx="89535" cy="131445"/>
          </a:xfrm>
          <a:prstGeom prst="rect">
            <a:avLst/>
          </a:prstGeom>
        </p:spPr>
        <p:txBody>
          <a:bodyPr vert="horz" wrap="square" lIns="0" tIns="11430" rIns="0" bIns="0" rtlCol="0">
            <a:spAutoFit/>
          </a:bodyPr>
          <a:lstStyle/>
          <a:p>
            <a:pPr marL="12700">
              <a:lnSpc>
                <a:spcPct val="100000"/>
              </a:lnSpc>
              <a:spcBef>
                <a:spcPts val="90"/>
              </a:spcBef>
            </a:pPr>
            <a:r>
              <a:rPr sz="700" b="1" spc="-50" dirty="0">
                <a:latin typeface="Arial"/>
                <a:cs typeface="Arial"/>
              </a:rPr>
              <a:t>B</a:t>
            </a:r>
            <a:endParaRPr sz="7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93392" y="213232"/>
            <a:ext cx="5931408" cy="4858659"/>
          </a:xfrm>
          <a:prstGeom prst="rect">
            <a:avLst/>
          </a:prstGeom>
        </p:spPr>
      </p:pic>
      <p:sp>
        <p:nvSpPr>
          <p:cNvPr id="3" name="object 3"/>
          <p:cNvSpPr txBox="1"/>
          <p:nvPr/>
        </p:nvSpPr>
        <p:spPr>
          <a:xfrm>
            <a:off x="76200" y="5334000"/>
            <a:ext cx="9766477" cy="1490152"/>
          </a:xfrm>
          <a:prstGeom prst="rect">
            <a:avLst/>
          </a:prstGeom>
        </p:spPr>
        <p:txBody>
          <a:bodyPr vert="horz" wrap="square" lIns="0" tIns="12700" rIns="0" bIns="0" rtlCol="0">
            <a:spAutoFit/>
          </a:bodyPr>
          <a:lstStyle/>
          <a:p>
            <a:pPr algn="just"/>
            <a:r>
              <a:rPr lang="en-IL" sz="1200" b="1" dirty="0">
                <a:latin typeface="Times New Roman" panose="02020603050405020304" pitchFamily="18" charset="0"/>
                <a:cs typeface="Times New Roman" panose="02020603050405020304" pitchFamily="18" charset="0"/>
              </a:rPr>
              <a:t>Fig. S5.</a:t>
            </a:r>
            <a:r>
              <a:rPr lang="en-IL" sz="1200" dirty="0">
                <a:latin typeface="Times New Roman" panose="02020603050405020304" pitchFamily="18" charset="0"/>
                <a:cs typeface="Times New Roman" panose="02020603050405020304" pitchFamily="18" charset="0"/>
              </a:rPr>
              <a:t> </a:t>
            </a:r>
            <a:r>
              <a:rPr lang="en-IL" sz="1200" b="1" dirty="0">
                <a:latin typeface="Times New Roman" panose="02020603050405020304" pitchFamily="18" charset="0"/>
                <a:cs typeface="Times New Roman" panose="02020603050405020304" pitchFamily="18" charset="0"/>
              </a:rPr>
              <a:t>Relationship between seasonal protein abundance in rhizomes of </a:t>
            </a:r>
            <a:r>
              <a:rPr lang="en-IL" sz="1200" b="1" i="1" dirty="0">
                <a:latin typeface="Times New Roman" panose="02020603050405020304" pitchFamily="18" charset="0"/>
                <a:cs typeface="Times New Roman" panose="02020603050405020304" pitchFamily="18" charset="0"/>
              </a:rPr>
              <a:t>Tripsacum dactyloides</a:t>
            </a:r>
            <a:r>
              <a:rPr lang="en-IL" sz="1200" b="1" dirty="0">
                <a:latin typeface="Times New Roman" panose="02020603050405020304" pitchFamily="18" charset="0"/>
                <a:cs typeface="Times New Roman" panose="02020603050405020304" pitchFamily="18" charset="0"/>
              </a:rPr>
              <a:t> and </a:t>
            </a:r>
            <a:r>
              <a:rPr lang="en-IL" sz="1200" b="1" i="1" dirty="0">
                <a:latin typeface="Times New Roman" panose="02020603050405020304" pitchFamily="18" charset="0"/>
                <a:cs typeface="Times New Roman" panose="02020603050405020304" pitchFamily="18" charset="0"/>
              </a:rPr>
              <a:t>T. floridanum</a:t>
            </a:r>
            <a:r>
              <a:rPr lang="en-IL" sz="1200" b="1" dirty="0">
                <a:latin typeface="Times New Roman" panose="02020603050405020304" pitchFamily="18" charset="0"/>
                <a:cs typeface="Times New Roman" panose="02020603050405020304" pitchFamily="18" charset="0"/>
              </a:rPr>
              <a:t> hybrids and cold-responsive RNA expression in </a:t>
            </a:r>
            <a:r>
              <a:rPr lang="en-IL" sz="1200" b="1" i="1" dirty="0">
                <a:latin typeface="Times New Roman" panose="02020603050405020304" pitchFamily="18" charset="0"/>
                <a:cs typeface="Times New Roman" panose="02020603050405020304" pitchFamily="18" charset="0"/>
              </a:rPr>
              <a:t>Tripsacum</a:t>
            </a:r>
            <a:r>
              <a:rPr lang="en-IL" sz="1200" b="1" dirty="0">
                <a:latin typeface="Times New Roman" panose="02020603050405020304" pitchFamily="18" charset="0"/>
                <a:cs typeface="Times New Roman" panose="02020603050405020304" pitchFamily="18" charset="0"/>
              </a:rPr>
              <a:t> hybrids, </a:t>
            </a:r>
            <a:r>
              <a:rPr lang="en-IL" sz="1200" b="1" i="1" dirty="0">
                <a:latin typeface="Times New Roman" panose="02020603050405020304" pitchFamily="18" charset="0"/>
                <a:cs typeface="Times New Roman" panose="02020603050405020304" pitchFamily="18" charset="0"/>
              </a:rPr>
              <a:t>Tripsacum dactyloides</a:t>
            </a:r>
            <a:r>
              <a:rPr lang="en-IL" sz="1200" b="1" dirty="0">
                <a:latin typeface="Times New Roman" panose="02020603050405020304" pitchFamily="18" charset="0"/>
                <a:cs typeface="Times New Roman" panose="02020603050405020304" pitchFamily="18" charset="0"/>
              </a:rPr>
              <a:t>, and </a:t>
            </a:r>
            <a:r>
              <a:rPr lang="en-IL" sz="1200" b="1" i="1" dirty="0">
                <a:latin typeface="Times New Roman" panose="02020603050405020304" pitchFamily="18" charset="0"/>
                <a:cs typeface="Times New Roman" panose="02020603050405020304" pitchFamily="18" charset="0"/>
              </a:rPr>
              <a:t>Zea mays</a:t>
            </a:r>
            <a:r>
              <a:rPr lang="en-IL" sz="1200" b="1" dirty="0">
                <a:latin typeface="Times New Roman" panose="02020603050405020304" pitchFamily="18" charset="0"/>
                <a:cs typeface="Times New Roman" panose="02020603050405020304" pitchFamily="18" charset="0"/>
              </a:rPr>
              <a:t>. (A) </a:t>
            </a:r>
            <a:r>
              <a:rPr lang="en-IL" sz="1200" dirty="0">
                <a:latin typeface="Times New Roman" panose="02020603050405020304" pitchFamily="18" charset="0"/>
                <a:cs typeface="Times New Roman" panose="02020603050405020304" pitchFamily="18" charset="0"/>
              </a:rPr>
              <a:t>Scatterplots showing the relationship between </a:t>
            </a:r>
            <a:r>
              <a:rPr lang="en-IL" sz="1200" i="1" dirty="0">
                <a:latin typeface="Times New Roman" panose="02020603050405020304" pitchFamily="18" charset="0"/>
                <a:cs typeface="Times New Roman" panose="02020603050405020304" pitchFamily="18" charset="0"/>
              </a:rPr>
              <a:t>Tripsacum</a:t>
            </a:r>
            <a:r>
              <a:rPr lang="en-IL" sz="1200" dirty="0">
                <a:latin typeface="Times New Roman" panose="02020603050405020304" pitchFamily="18" charset="0"/>
                <a:cs typeface="Times New Roman" panose="02020603050405020304" pitchFamily="18" charset="0"/>
              </a:rPr>
              <a:t> rhizome proteins (x-axis, log2FC Winter/Summer, 2-year average) and </a:t>
            </a:r>
            <a:r>
              <a:rPr lang="en-IL" sz="1200" i="1" dirty="0">
                <a:latin typeface="Times New Roman" panose="02020603050405020304" pitchFamily="18" charset="0"/>
                <a:cs typeface="Times New Roman" panose="02020603050405020304" pitchFamily="18" charset="0"/>
              </a:rPr>
              <a:t>Tripsacum</a:t>
            </a:r>
            <a:r>
              <a:rPr lang="en-IL" sz="1200" dirty="0">
                <a:latin typeface="Times New Roman" panose="02020603050405020304" pitchFamily="18" charset="0"/>
                <a:cs typeface="Times New Roman" panose="02020603050405020304" pitchFamily="18" charset="0"/>
              </a:rPr>
              <a:t> leaf mRNA from a freezing tolerant F₂ bulk before and after 7 days cold acclimation (tol_5°C/tol_22°C) descended from the same </a:t>
            </a:r>
            <a:r>
              <a:rPr lang="en-IL" sz="1200" i="1" dirty="0">
                <a:latin typeface="Times New Roman" panose="02020603050405020304" pitchFamily="18" charset="0"/>
                <a:cs typeface="Times New Roman" panose="02020603050405020304" pitchFamily="18" charset="0"/>
              </a:rPr>
              <a:t>Tripsacum</a:t>
            </a:r>
            <a:r>
              <a:rPr lang="en-IL" sz="1200" dirty="0">
                <a:latin typeface="Times New Roman" panose="02020603050405020304" pitchFamily="18" charset="0"/>
                <a:cs typeface="Times New Roman" panose="02020603050405020304" pitchFamily="18" charset="0"/>
              </a:rPr>
              <a:t> hybrids used for rhizome proteomic analysis. </a:t>
            </a:r>
            <a:r>
              <a:rPr lang="en-IL" sz="1200" b="1" dirty="0">
                <a:latin typeface="Times New Roman" panose="02020603050405020304" pitchFamily="18" charset="0"/>
                <a:cs typeface="Times New Roman" panose="02020603050405020304" pitchFamily="18" charset="0"/>
              </a:rPr>
              <a:t>(B–E) </a:t>
            </a:r>
            <a:r>
              <a:rPr lang="en-IL" sz="1200" i="1" dirty="0">
                <a:latin typeface="Times New Roman" panose="02020603050405020304" pitchFamily="18" charset="0"/>
                <a:cs typeface="Times New Roman" panose="02020603050405020304" pitchFamily="18" charset="0"/>
              </a:rPr>
              <a:t>Tripsacum dactyloides</a:t>
            </a:r>
            <a:r>
              <a:rPr lang="en-IL" sz="1200" dirty="0">
                <a:latin typeface="Times New Roman" panose="02020603050405020304" pitchFamily="18" charset="0"/>
                <a:cs typeface="Times New Roman" panose="02020603050405020304" pitchFamily="18" charset="0"/>
              </a:rPr>
              <a:t> (cv. 'Pete') tissues (5°C/22°C): leaf, top-crown, bottom-crown, and root.</a:t>
            </a:r>
            <a:r>
              <a:rPr lang="en-IL" sz="1200" b="1" dirty="0">
                <a:latin typeface="Times New Roman" panose="02020603050405020304" pitchFamily="18" charset="0"/>
                <a:cs typeface="Times New Roman" panose="02020603050405020304" pitchFamily="18" charset="0"/>
              </a:rPr>
              <a:t> (F–I) </a:t>
            </a:r>
            <a:r>
              <a:rPr lang="en-IL" sz="1200" i="1" dirty="0">
                <a:latin typeface="Times New Roman" panose="02020603050405020304" pitchFamily="18" charset="0"/>
                <a:cs typeface="Times New Roman" panose="02020603050405020304" pitchFamily="18" charset="0"/>
              </a:rPr>
              <a:t>Zea mays</a:t>
            </a:r>
            <a:r>
              <a:rPr lang="en-IL" sz="1200" dirty="0">
                <a:latin typeface="Times New Roman" panose="02020603050405020304" pitchFamily="18" charset="0"/>
                <a:cs typeface="Times New Roman" panose="02020603050405020304" pitchFamily="18" charset="0"/>
              </a:rPr>
              <a:t> tissues (5°C/22°C): leaf, top-crown, bottom-crown, and root. Points are colored by shared differential expression status: blue for upregulated, pink for downregulated, and gray for non-significant changes. Dashed horizontal lines indicate the ±1 log2FC thresholds. Spearman's correlation coefficient (</a:t>
            </a:r>
            <a:r>
              <a:rPr lang="en-IL" sz="1200" i="1" dirty="0">
                <a:latin typeface="Times New Roman" panose="02020603050405020304" pitchFamily="18" charset="0"/>
                <a:cs typeface="Times New Roman" panose="02020603050405020304" pitchFamily="18" charset="0"/>
              </a:rPr>
              <a:t>ρ</a:t>
            </a:r>
            <a:r>
              <a:rPr lang="en-IL" sz="1200" dirty="0">
                <a:latin typeface="Times New Roman" panose="02020603050405020304" pitchFamily="18" charset="0"/>
                <a:cs typeface="Times New Roman" panose="02020603050405020304" pitchFamily="18" charset="0"/>
              </a:rPr>
              <a:t>) and </a:t>
            </a:r>
            <a:r>
              <a:rPr lang="en-IL" sz="1200" i="1" dirty="0">
                <a:latin typeface="Times New Roman" panose="02020603050405020304" pitchFamily="18" charset="0"/>
                <a:cs typeface="Times New Roman" panose="02020603050405020304" pitchFamily="18" charset="0"/>
              </a:rPr>
              <a:t>P</a:t>
            </a:r>
            <a:r>
              <a:rPr lang="en-IL" sz="1200" dirty="0">
                <a:latin typeface="Times New Roman" panose="02020603050405020304" pitchFamily="18" charset="0"/>
                <a:cs typeface="Times New Roman" panose="02020603050405020304" pitchFamily="18" charset="0"/>
              </a:rPr>
              <a:t>-value are shown in the upper left of each panel, along with the number of genes analyzed (</a:t>
            </a:r>
            <a:r>
              <a:rPr lang="en-IL" sz="1200" i="1" dirty="0">
                <a:latin typeface="Times New Roman" panose="02020603050405020304" pitchFamily="18" charset="0"/>
                <a:cs typeface="Times New Roman" panose="02020603050405020304" pitchFamily="18" charset="0"/>
              </a:rPr>
              <a:t>n</a:t>
            </a:r>
            <a:r>
              <a:rPr lang="en-IL" sz="1200" dirty="0">
                <a:latin typeface="Times New Roman" panose="02020603050405020304" pitchFamily="18" charset="0"/>
                <a:cs typeface="Times New Roman" panose="02020603050405020304" pitchFamily="18" charset="0"/>
              </a:rPr>
              <a:t>). The LEA3 gene is labeled in each panel.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538144" y="4979643"/>
            <a:ext cx="1713864" cy="3810"/>
            <a:chOff x="3538144" y="4979643"/>
            <a:chExt cx="1713864" cy="3810"/>
          </a:xfrm>
        </p:grpSpPr>
        <p:sp>
          <p:nvSpPr>
            <p:cNvPr id="3" name="object 3"/>
            <p:cNvSpPr/>
            <p:nvPr/>
          </p:nvSpPr>
          <p:spPr>
            <a:xfrm>
              <a:off x="3540056" y="4981548"/>
              <a:ext cx="1710055" cy="0"/>
            </a:xfrm>
            <a:custGeom>
              <a:avLst/>
              <a:gdLst/>
              <a:ahLst/>
              <a:cxnLst/>
              <a:rect l="l" t="t" r="r" b="b"/>
              <a:pathLst>
                <a:path w="1710054">
                  <a:moveTo>
                    <a:pt x="0" y="0"/>
                  </a:moveTo>
                  <a:lnTo>
                    <a:pt x="1709661" y="0"/>
                  </a:lnTo>
                </a:path>
              </a:pathLst>
            </a:custGeom>
            <a:ln w="3777">
              <a:solidFill>
                <a:srgbClr val="000000"/>
              </a:solidFill>
              <a:prstDash val="dash"/>
            </a:ln>
          </p:spPr>
          <p:txBody>
            <a:bodyPr wrap="square" lIns="0" tIns="0" rIns="0" bIns="0" rtlCol="0"/>
            <a:lstStyle/>
            <a:p>
              <a:endParaRPr/>
            </a:p>
          </p:txBody>
        </p:sp>
        <p:sp>
          <p:nvSpPr>
            <p:cNvPr id="4" name="object 4"/>
            <p:cNvSpPr/>
            <p:nvPr/>
          </p:nvSpPr>
          <p:spPr>
            <a:xfrm>
              <a:off x="3540049" y="4981548"/>
              <a:ext cx="1710055" cy="0"/>
            </a:xfrm>
            <a:custGeom>
              <a:avLst/>
              <a:gdLst/>
              <a:ahLst/>
              <a:cxnLst/>
              <a:rect l="l" t="t" r="r" b="b"/>
              <a:pathLst>
                <a:path w="1710054">
                  <a:moveTo>
                    <a:pt x="1709661" y="0"/>
                  </a:moveTo>
                  <a:lnTo>
                    <a:pt x="1692463" y="0"/>
                  </a:lnTo>
                </a:path>
                <a:path w="1710054">
                  <a:moveTo>
                    <a:pt x="0" y="0"/>
                  </a:moveTo>
                  <a:lnTo>
                    <a:pt x="17213" y="0"/>
                  </a:lnTo>
                </a:path>
              </a:pathLst>
            </a:custGeom>
            <a:ln w="3776">
              <a:solidFill>
                <a:srgbClr val="000000"/>
              </a:solidFill>
            </a:ln>
          </p:spPr>
          <p:txBody>
            <a:bodyPr wrap="square" lIns="0" tIns="0" rIns="0" bIns="0" rtlCol="0"/>
            <a:lstStyle/>
            <a:p>
              <a:endParaRPr/>
            </a:p>
          </p:txBody>
        </p:sp>
      </p:grpSp>
      <p:sp>
        <p:nvSpPr>
          <p:cNvPr id="5" name="object 5"/>
          <p:cNvSpPr txBox="1"/>
          <p:nvPr/>
        </p:nvSpPr>
        <p:spPr>
          <a:xfrm>
            <a:off x="3470436" y="4943354"/>
            <a:ext cx="5969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3</a:t>
            </a:r>
            <a:endParaRPr sz="300">
              <a:latin typeface="Arial"/>
              <a:cs typeface="Arial"/>
            </a:endParaRPr>
          </a:p>
        </p:txBody>
      </p:sp>
      <p:grpSp>
        <p:nvGrpSpPr>
          <p:cNvPr id="6" name="object 6"/>
          <p:cNvGrpSpPr/>
          <p:nvPr/>
        </p:nvGrpSpPr>
        <p:grpSpPr>
          <a:xfrm>
            <a:off x="3538144" y="3839912"/>
            <a:ext cx="1713864" cy="1143635"/>
            <a:chOff x="3538144" y="3839912"/>
            <a:chExt cx="1713864" cy="1143635"/>
          </a:xfrm>
        </p:grpSpPr>
        <p:sp>
          <p:nvSpPr>
            <p:cNvPr id="7" name="object 7"/>
            <p:cNvSpPr/>
            <p:nvPr/>
          </p:nvSpPr>
          <p:spPr>
            <a:xfrm>
              <a:off x="3540056" y="4855033"/>
              <a:ext cx="1710055" cy="0"/>
            </a:xfrm>
            <a:custGeom>
              <a:avLst/>
              <a:gdLst/>
              <a:ahLst/>
              <a:cxnLst/>
              <a:rect l="l" t="t" r="r" b="b"/>
              <a:pathLst>
                <a:path w="1710054">
                  <a:moveTo>
                    <a:pt x="0" y="0"/>
                  </a:moveTo>
                  <a:lnTo>
                    <a:pt x="1709661" y="0"/>
                  </a:lnTo>
                </a:path>
              </a:pathLst>
            </a:custGeom>
            <a:ln w="3777">
              <a:solidFill>
                <a:srgbClr val="000000"/>
              </a:solidFill>
              <a:prstDash val="dash"/>
            </a:ln>
          </p:spPr>
          <p:txBody>
            <a:bodyPr wrap="square" lIns="0" tIns="0" rIns="0" bIns="0" rtlCol="0"/>
            <a:lstStyle/>
            <a:p>
              <a:endParaRPr/>
            </a:p>
          </p:txBody>
        </p:sp>
        <p:sp>
          <p:nvSpPr>
            <p:cNvPr id="8" name="object 8"/>
            <p:cNvSpPr/>
            <p:nvPr/>
          </p:nvSpPr>
          <p:spPr>
            <a:xfrm>
              <a:off x="3540049" y="4855033"/>
              <a:ext cx="1710055" cy="0"/>
            </a:xfrm>
            <a:custGeom>
              <a:avLst/>
              <a:gdLst/>
              <a:ahLst/>
              <a:cxnLst/>
              <a:rect l="l" t="t" r="r" b="b"/>
              <a:pathLst>
                <a:path w="1710054">
                  <a:moveTo>
                    <a:pt x="1709661" y="0"/>
                  </a:moveTo>
                  <a:lnTo>
                    <a:pt x="1692463" y="0"/>
                  </a:lnTo>
                </a:path>
                <a:path w="1710054">
                  <a:moveTo>
                    <a:pt x="0" y="0"/>
                  </a:moveTo>
                  <a:lnTo>
                    <a:pt x="17213" y="0"/>
                  </a:lnTo>
                </a:path>
              </a:pathLst>
            </a:custGeom>
            <a:ln w="3776">
              <a:solidFill>
                <a:srgbClr val="000000"/>
              </a:solidFill>
            </a:ln>
          </p:spPr>
          <p:txBody>
            <a:bodyPr wrap="square" lIns="0" tIns="0" rIns="0" bIns="0" rtlCol="0"/>
            <a:lstStyle/>
            <a:p>
              <a:endParaRPr/>
            </a:p>
          </p:txBody>
        </p:sp>
        <p:sp>
          <p:nvSpPr>
            <p:cNvPr id="9" name="object 9"/>
            <p:cNvSpPr/>
            <p:nvPr/>
          </p:nvSpPr>
          <p:spPr>
            <a:xfrm>
              <a:off x="3540056" y="4728244"/>
              <a:ext cx="1710055" cy="0"/>
            </a:xfrm>
            <a:custGeom>
              <a:avLst/>
              <a:gdLst/>
              <a:ahLst/>
              <a:cxnLst/>
              <a:rect l="l" t="t" r="r" b="b"/>
              <a:pathLst>
                <a:path w="1710054">
                  <a:moveTo>
                    <a:pt x="0" y="0"/>
                  </a:moveTo>
                  <a:lnTo>
                    <a:pt x="1709661" y="0"/>
                  </a:lnTo>
                </a:path>
              </a:pathLst>
            </a:custGeom>
            <a:ln w="3777">
              <a:solidFill>
                <a:srgbClr val="000000"/>
              </a:solidFill>
              <a:prstDash val="dash"/>
            </a:ln>
          </p:spPr>
          <p:txBody>
            <a:bodyPr wrap="square" lIns="0" tIns="0" rIns="0" bIns="0" rtlCol="0"/>
            <a:lstStyle/>
            <a:p>
              <a:endParaRPr/>
            </a:p>
          </p:txBody>
        </p:sp>
        <p:sp>
          <p:nvSpPr>
            <p:cNvPr id="10" name="object 10"/>
            <p:cNvSpPr/>
            <p:nvPr/>
          </p:nvSpPr>
          <p:spPr>
            <a:xfrm>
              <a:off x="3540049" y="4728244"/>
              <a:ext cx="1710055" cy="0"/>
            </a:xfrm>
            <a:custGeom>
              <a:avLst/>
              <a:gdLst/>
              <a:ahLst/>
              <a:cxnLst/>
              <a:rect l="l" t="t" r="r" b="b"/>
              <a:pathLst>
                <a:path w="1710054">
                  <a:moveTo>
                    <a:pt x="1709661" y="0"/>
                  </a:moveTo>
                  <a:lnTo>
                    <a:pt x="1692463" y="0"/>
                  </a:lnTo>
                </a:path>
                <a:path w="1710054">
                  <a:moveTo>
                    <a:pt x="0" y="0"/>
                  </a:moveTo>
                  <a:lnTo>
                    <a:pt x="17213" y="0"/>
                  </a:lnTo>
                </a:path>
              </a:pathLst>
            </a:custGeom>
            <a:ln w="3776">
              <a:solidFill>
                <a:srgbClr val="000000"/>
              </a:solidFill>
            </a:ln>
          </p:spPr>
          <p:txBody>
            <a:bodyPr wrap="square" lIns="0" tIns="0" rIns="0" bIns="0" rtlCol="0"/>
            <a:lstStyle/>
            <a:p>
              <a:endParaRPr/>
            </a:p>
          </p:txBody>
        </p:sp>
        <p:sp>
          <p:nvSpPr>
            <p:cNvPr id="11" name="object 11"/>
            <p:cNvSpPr/>
            <p:nvPr/>
          </p:nvSpPr>
          <p:spPr>
            <a:xfrm>
              <a:off x="3540056" y="4601729"/>
              <a:ext cx="1710055" cy="0"/>
            </a:xfrm>
            <a:custGeom>
              <a:avLst/>
              <a:gdLst/>
              <a:ahLst/>
              <a:cxnLst/>
              <a:rect l="l" t="t" r="r" b="b"/>
              <a:pathLst>
                <a:path w="1710054">
                  <a:moveTo>
                    <a:pt x="0" y="0"/>
                  </a:moveTo>
                  <a:lnTo>
                    <a:pt x="1709661" y="0"/>
                  </a:lnTo>
                </a:path>
              </a:pathLst>
            </a:custGeom>
            <a:ln w="3777">
              <a:solidFill>
                <a:srgbClr val="000000"/>
              </a:solidFill>
              <a:prstDash val="dash"/>
            </a:ln>
          </p:spPr>
          <p:txBody>
            <a:bodyPr wrap="square" lIns="0" tIns="0" rIns="0" bIns="0" rtlCol="0"/>
            <a:lstStyle/>
            <a:p>
              <a:endParaRPr/>
            </a:p>
          </p:txBody>
        </p:sp>
        <p:sp>
          <p:nvSpPr>
            <p:cNvPr id="12" name="object 12"/>
            <p:cNvSpPr/>
            <p:nvPr/>
          </p:nvSpPr>
          <p:spPr>
            <a:xfrm>
              <a:off x="3540049" y="4601729"/>
              <a:ext cx="1710055" cy="0"/>
            </a:xfrm>
            <a:custGeom>
              <a:avLst/>
              <a:gdLst/>
              <a:ahLst/>
              <a:cxnLst/>
              <a:rect l="l" t="t" r="r" b="b"/>
              <a:pathLst>
                <a:path w="1710054">
                  <a:moveTo>
                    <a:pt x="1709661" y="0"/>
                  </a:moveTo>
                  <a:lnTo>
                    <a:pt x="1692463" y="0"/>
                  </a:lnTo>
                </a:path>
                <a:path w="1710054">
                  <a:moveTo>
                    <a:pt x="0" y="0"/>
                  </a:moveTo>
                  <a:lnTo>
                    <a:pt x="17213" y="0"/>
                  </a:lnTo>
                </a:path>
              </a:pathLst>
            </a:custGeom>
            <a:ln w="3776">
              <a:solidFill>
                <a:srgbClr val="000000"/>
              </a:solidFill>
            </a:ln>
          </p:spPr>
          <p:txBody>
            <a:bodyPr wrap="square" lIns="0" tIns="0" rIns="0" bIns="0" rtlCol="0"/>
            <a:lstStyle/>
            <a:p>
              <a:endParaRPr/>
            </a:p>
          </p:txBody>
        </p:sp>
        <p:sp>
          <p:nvSpPr>
            <p:cNvPr id="13" name="object 13"/>
            <p:cNvSpPr/>
            <p:nvPr/>
          </p:nvSpPr>
          <p:spPr>
            <a:xfrm>
              <a:off x="3540056" y="4474940"/>
              <a:ext cx="1710055" cy="0"/>
            </a:xfrm>
            <a:custGeom>
              <a:avLst/>
              <a:gdLst/>
              <a:ahLst/>
              <a:cxnLst/>
              <a:rect l="l" t="t" r="r" b="b"/>
              <a:pathLst>
                <a:path w="1710054">
                  <a:moveTo>
                    <a:pt x="0" y="0"/>
                  </a:moveTo>
                  <a:lnTo>
                    <a:pt x="1709661" y="0"/>
                  </a:lnTo>
                </a:path>
              </a:pathLst>
            </a:custGeom>
            <a:ln w="3777">
              <a:solidFill>
                <a:srgbClr val="000000"/>
              </a:solidFill>
              <a:prstDash val="dash"/>
            </a:ln>
          </p:spPr>
          <p:txBody>
            <a:bodyPr wrap="square" lIns="0" tIns="0" rIns="0" bIns="0" rtlCol="0"/>
            <a:lstStyle/>
            <a:p>
              <a:endParaRPr/>
            </a:p>
          </p:txBody>
        </p:sp>
        <p:sp>
          <p:nvSpPr>
            <p:cNvPr id="14" name="object 14"/>
            <p:cNvSpPr/>
            <p:nvPr/>
          </p:nvSpPr>
          <p:spPr>
            <a:xfrm>
              <a:off x="3540049" y="4474940"/>
              <a:ext cx="1710055" cy="0"/>
            </a:xfrm>
            <a:custGeom>
              <a:avLst/>
              <a:gdLst/>
              <a:ahLst/>
              <a:cxnLst/>
              <a:rect l="l" t="t" r="r" b="b"/>
              <a:pathLst>
                <a:path w="1710054">
                  <a:moveTo>
                    <a:pt x="1709661" y="0"/>
                  </a:moveTo>
                  <a:lnTo>
                    <a:pt x="1692463" y="0"/>
                  </a:lnTo>
                </a:path>
                <a:path w="1710054">
                  <a:moveTo>
                    <a:pt x="0" y="0"/>
                  </a:moveTo>
                  <a:lnTo>
                    <a:pt x="17213" y="0"/>
                  </a:lnTo>
                </a:path>
              </a:pathLst>
            </a:custGeom>
            <a:ln w="3776">
              <a:solidFill>
                <a:srgbClr val="000000"/>
              </a:solidFill>
            </a:ln>
          </p:spPr>
          <p:txBody>
            <a:bodyPr wrap="square" lIns="0" tIns="0" rIns="0" bIns="0" rtlCol="0"/>
            <a:lstStyle/>
            <a:p>
              <a:endParaRPr/>
            </a:p>
          </p:txBody>
        </p:sp>
        <p:sp>
          <p:nvSpPr>
            <p:cNvPr id="15" name="object 15"/>
            <p:cNvSpPr/>
            <p:nvPr/>
          </p:nvSpPr>
          <p:spPr>
            <a:xfrm>
              <a:off x="3540056" y="4348425"/>
              <a:ext cx="1710055" cy="0"/>
            </a:xfrm>
            <a:custGeom>
              <a:avLst/>
              <a:gdLst/>
              <a:ahLst/>
              <a:cxnLst/>
              <a:rect l="l" t="t" r="r" b="b"/>
              <a:pathLst>
                <a:path w="1710054">
                  <a:moveTo>
                    <a:pt x="0" y="0"/>
                  </a:moveTo>
                  <a:lnTo>
                    <a:pt x="1709661" y="0"/>
                  </a:lnTo>
                </a:path>
              </a:pathLst>
            </a:custGeom>
            <a:ln w="3777">
              <a:solidFill>
                <a:srgbClr val="000000"/>
              </a:solidFill>
              <a:prstDash val="dash"/>
            </a:ln>
          </p:spPr>
          <p:txBody>
            <a:bodyPr wrap="square" lIns="0" tIns="0" rIns="0" bIns="0" rtlCol="0"/>
            <a:lstStyle/>
            <a:p>
              <a:endParaRPr/>
            </a:p>
          </p:txBody>
        </p:sp>
        <p:sp>
          <p:nvSpPr>
            <p:cNvPr id="16" name="object 16"/>
            <p:cNvSpPr/>
            <p:nvPr/>
          </p:nvSpPr>
          <p:spPr>
            <a:xfrm>
              <a:off x="3540049" y="4348425"/>
              <a:ext cx="1710055" cy="0"/>
            </a:xfrm>
            <a:custGeom>
              <a:avLst/>
              <a:gdLst/>
              <a:ahLst/>
              <a:cxnLst/>
              <a:rect l="l" t="t" r="r" b="b"/>
              <a:pathLst>
                <a:path w="1710054">
                  <a:moveTo>
                    <a:pt x="1709661" y="0"/>
                  </a:moveTo>
                  <a:lnTo>
                    <a:pt x="1692463" y="0"/>
                  </a:lnTo>
                </a:path>
                <a:path w="1710054">
                  <a:moveTo>
                    <a:pt x="0" y="0"/>
                  </a:moveTo>
                  <a:lnTo>
                    <a:pt x="17213" y="0"/>
                  </a:lnTo>
                </a:path>
              </a:pathLst>
            </a:custGeom>
            <a:ln w="3776">
              <a:solidFill>
                <a:srgbClr val="000000"/>
              </a:solidFill>
            </a:ln>
          </p:spPr>
          <p:txBody>
            <a:bodyPr wrap="square" lIns="0" tIns="0" rIns="0" bIns="0" rtlCol="0"/>
            <a:lstStyle/>
            <a:p>
              <a:endParaRPr/>
            </a:p>
          </p:txBody>
        </p:sp>
        <p:sp>
          <p:nvSpPr>
            <p:cNvPr id="17" name="object 17"/>
            <p:cNvSpPr/>
            <p:nvPr/>
          </p:nvSpPr>
          <p:spPr>
            <a:xfrm>
              <a:off x="3540056" y="4221636"/>
              <a:ext cx="1710055" cy="0"/>
            </a:xfrm>
            <a:custGeom>
              <a:avLst/>
              <a:gdLst/>
              <a:ahLst/>
              <a:cxnLst/>
              <a:rect l="l" t="t" r="r" b="b"/>
              <a:pathLst>
                <a:path w="1710054">
                  <a:moveTo>
                    <a:pt x="0" y="0"/>
                  </a:moveTo>
                  <a:lnTo>
                    <a:pt x="1709661" y="0"/>
                  </a:lnTo>
                </a:path>
              </a:pathLst>
            </a:custGeom>
            <a:ln w="3777">
              <a:solidFill>
                <a:srgbClr val="000000"/>
              </a:solidFill>
              <a:prstDash val="dash"/>
            </a:ln>
          </p:spPr>
          <p:txBody>
            <a:bodyPr wrap="square" lIns="0" tIns="0" rIns="0" bIns="0" rtlCol="0"/>
            <a:lstStyle/>
            <a:p>
              <a:endParaRPr/>
            </a:p>
          </p:txBody>
        </p:sp>
        <p:sp>
          <p:nvSpPr>
            <p:cNvPr id="18" name="object 18"/>
            <p:cNvSpPr/>
            <p:nvPr/>
          </p:nvSpPr>
          <p:spPr>
            <a:xfrm>
              <a:off x="3540049" y="4221636"/>
              <a:ext cx="1710055" cy="0"/>
            </a:xfrm>
            <a:custGeom>
              <a:avLst/>
              <a:gdLst/>
              <a:ahLst/>
              <a:cxnLst/>
              <a:rect l="l" t="t" r="r" b="b"/>
              <a:pathLst>
                <a:path w="1710054">
                  <a:moveTo>
                    <a:pt x="1709661" y="0"/>
                  </a:moveTo>
                  <a:lnTo>
                    <a:pt x="1692463" y="0"/>
                  </a:lnTo>
                </a:path>
                <a:path w="1710054">
                  <a:moveTo>
                    <a:pt x="0" y="0"/>
                  </a:moveTo>
                  <a:lnTo>
                    <a:pt x="17213" y="0"/>
                  </a:lnTo>
                </a:path>
              </a:pathLst>
            </a:custGeom>
            <a:ln w="3776">
              <a:solidFill>
                <a:srgbClr val="000000"/>
              </a:solidFill>
            </a:ln>
          </p:spPr>
          <p:txBody>
            <a:bodyPr wrap="square" lIns="0" tIns="0" rIns="0" bIns="0" rtlCol="0"/>
            <a:lstStyle/>
            <a:p>
              <a:endParaRPr/>
            </a:p>
          </p:txBody>
        </p:sp>
        <p:sp>
          <p:nvSpPr>
            <p:cNvPr id="19" name="object 19"/>
            <p:cNvSpPr/>
            <p:nvPr/>
          </p:nvSpPr>
          <p:spPr>
            <a:xfrm>
              <a:off x="3540056" y="4095121"/>
              <a:ext cx="1710055" cy="0"/>
            </a:xfrm>
            <a:custGeom>
              <a:avLst/>
              <a:gdLst/>
              <a:ahLst/>
              <a:cxnLst/>
              <a:rect l="l" t="t" r="r" b="b"/>
              <a:pathLst>
                <a:path w="1710054">
                  <a:moveTo>
                    <a:pt x="0" y="0"/>
                  </a:moveTo>
                  <a:lnTo>
                    <a:pt x="1709661" y="0"/>
                  </a:lnTo>
                </a:path>
              </a:pathLst>
            </a:custGeom>
            <a:ln w="3777">
              <a:solidFill>
                <a:srgbClr val="000000"/>
              </a:solidFill>
              <a:prstDash val="dash"/>
            </a:ln>
          </p:spPr>
          <p:txBody>
            <a:bodyPr wrap="square" lIns="0" tIns="0" rIns="0" bIns="0" rtlCol="0"/>
            <a:lstStyle/>
            <a:p>
              <a:endParaRPr/>
            </a:p>
          </p:txBody>
        </p:sp>
        <p:sp>
          <p:nvSpPr>
            <p:cNvPr id="20" name="object 20"/>
            <p:cNvSpPr/>
            <p:nvPr/>
          </p:nvSpPr>
          <p:spPr>
            <a:xfrm>
              <a:off x="3540049" y="4095121"/>
              <a:ext cx="1710055" cy="0"/>
            </a:xfrm>
            <a:custGeom>
              <a:avLst/>
              <a:gdLst/>
              <a:ahLst/>
              <a:cxnLst/>
              <a:rect l="l" t="t" r="r" b="b"/>
              <a:pathLst>
                <a:path w="1710054">
                  <a:moveTo>
                    <a:pt x="1709661" y="0"/>
                  </a:moveTo>
                  <a:lnTo>
                    <a:pt x="1692463" y="0"/>
                  </a:lnTo>
                </a:path>
                <a:path w="1710054">
                  <a:moveTo>
                    <a:pt x="0" y="0"/>
                  </a:moveTo>
                  <a:lnTo>
                    <a:pt x="17213" y="0"/>
                  </a:lnTo>
                </a:path>
              </a:pathLst>
            </a:custGeom>
            <a:ln w="3776">
              <a:solidFill>
                <a:srgbClr val="000000"/>
              </a:solidFill>
            </a:ln>
          </p:spPr>
          <p:txBody>
            <a:bodyPr wrap="square" lIns="0" tIns="0" rIns="0" bIns="0" rtlCol="0"/>
            <a:lstStyle/>
            <a:p>
              <a:endParaRPr/>
            </a:p>
          </p:txBody>
        </p:sp>
        <p:sp>
          <p:nvSpPr>
            <p:cNvPr id="21" name="object 21"/>
            <p:cNvSpPr/>
            <p:nvPr/>
          </p:nvSpPr>
          <p:spPr>
            <a:xfrm>
              <a:off x="3540056" y="3968333"/>
              <a:ext cx="1710055" cy="0"/>
            </a:xfrm>
            <a:custGeom>
              <a:avLst/>
              <a:gdLst/>
              <a:ahLst/>
              <a:cxnLst/>
              <a:rect l="l" t="t" r="r" b="b"/>
              <a:pathLst>
                <a:path w="1710054">
                  <a:moveTo>
                    <a:pt x="0" y="0"/>
                  </a:moveTo>
                  <a:lnTo>
                    <a:pt x="1709661" y="0"/>
                  </a:lnTo>
                </a:path>
              </a:pathLst>
            </a:custGeom>
            <a:ln w="3777">
              <a:solidFill>
                <a:srgbClr val="000000"/>
              </a:solidFill>
              <a:prstDash val="dash"/>
            </a:ln>
          </p:spPr>
          <p:txBody>
            <a:bodyPr wrap="square" lIns="0" tIns="0" rIns="0" bIns="0" rtlCol="0"/>
            <a:lstStyle/>
            <a:p>
              <a:endParaRPr/>
            </a:p>
          </p:txBody>
        </p:sp>
        <p:sp>
          <p:nvSpPr>
            <p:cNvPr id="22" name="object 22"/>
            <p:cNvSpPr/>
            <p:nvPr/>
          </p:nvSpPr>
          <p:spPr>
            <a:xfrm>
              <a:off x="3540049" y="3968333"/>
              <a:ext cx="1710055" cy="0"/>
            </a:xfrm>
            <a:custGeom>
              <a:avLst/>
              <a:gdLst/>
              <a:ahLst/>
              <a:cxnLst/>
              <a:rect l="l" t="t" r="r" b="b"/>
              <a:pathLst>
                <a:path w="1710054">
                  <a:moveTo>
                    <a:pt x="1709661" y="0"/>
                  </a:moveTo>
                  <a:lnTo>
                    <a:pt x="1692463" y="0"/>
                  </a:lnTo>
                </a:path>
                <a:path w="1710054">
                  <a:moveTo>
                    <a:pt x="0" y="0"/>
                  </a:moveTo>
                  <a:lnTo>
                    <a:pt x="17213" y="0"/>
                  </a:lnTo>
                </a:path>
              </a:pathLst>
            </a:custGeom>
            <a:ln w="3776">
              <a:solidFill>
                <a:srgbClr val="000000"/>
              </a:solidFill>
            </a:ln>
          </p:spPr>
          <p:txBody>
            <a:bodyPr wrap="square" lIns="0" tIns="0" rIns="0" bIns="0" rtlCol="0"/>
            <a:lstStyle/>
            <a:p>
              <a:endParaRPr/>
            </a:p>
          </p:txBody>
        </p:sp>
        <p:sp>
          <p:nvSpPr>
            <p:cNvPr id="23" name="object 23"/>
            <p:cNvSpPr/>
            <p:nvPr/>
          </p:nvSpPr>
          <p:spPr>
            <a:xfrm>
              <a:off x="3540056" y="3841817"/>
              <a:ext cx="1710055" cy="0"/>
            </a:xfrm>
            <a:custGeom>
              <a:avLst/>
              <a:gdLst/>
              <a:ahLst/>
              <a:cxnLst/>
              <a:rect l="l" t="t" r="r" b="b"/>
              <a:pathLst>
                <a:path w="1710054">
                  <a:moveTo>
                    <a:pt x="0" y="0"/>
                  </a:moveTo>
                  <a:lnTo>
                    <a:pt x="1709661" y="0"/>
                  </a:lnTo>
                </a:path>
              </a:pathLst>
            </a:custGeom>
            <a:ln w="3777">
              <a:solidFill>
                <a:srgbClr val="000000"/>
              </a:solidFill>
              <a:prstDash val="dash"/>
            </a:ln>
          </p:spPr>
          <p:txBody>
            <a:bodyPr wrap="square" lIns="0" tIns="0" rIns="0" bIns="0" rtlCol="0"/>
            <a:lstStyle/>
            <a:p>
              <a:endParaRPr/>
            </a:p>
          </p:txBody>
        </p:sp>
        <p:sp>
          <p:nvSpPr>
            <p:cNvPr id="24" name="object 24"/>
            <p:cNvSpPr/>
            <p:nvPr/>
          </p:nvSpPr>
          <p:spPr>
            <a:xfrm>
              <a:off x="3540049" y="3841817"/>
              <a:ext cx="1710055" cy="0"/>
            </a:xfrm>
            <a:custGeom>
              <a:avLst/>
              <a:gdLst/>
              <a:ahLst/>
              <a:cxnLst/>
              <a:rect l="l" t="t" r="r" b="b"/>
              <a:pathLst>
                <a:path w="1710054">
                  <a:moveTo>
                    <a:pt x="1709661" y="0"/>
                  </a:moveTo>
                  <a:lnTo>
                    <a:pt x="1692463" y="0"/>
                  </a:lnTo>
                </a:path>
                <a:path w="1710054">
                  <a:moveTo>
                    <a:pt x="0" y="0"/>
                  </a:moveTo>
                  <a:lnTo>
                    <a:pt x="17213" y="0"/>
                  </a:lnTo>
                </a:path>
              </a:pathLst>
            </a:custGeom>
            <a:ln w="3776">
              <a:solidFill>
                <a:srgbClr val="000000"/>
              </a:solidFill>
            </a:ln>
          </p:spPr>
          <p:txBody>
            <a:bodyPr wrap="square" lIns="0" tIns="0" rIns="0" bIns="0" rtlCol="0"/>
            <a:lstStyle/>
            <a:p>
              <a:endParaRPr/>
            </a:p>
          </p:txBody>
        </p:sp>
        <p:sp>
          <p:nvSpPr>
            <p:cNvPr id="25" name="object 25"/>
            <p:cNvSpPr/>
            <p:nvPr/>
          </p:nvSpPr>
          <p:spPr>
            <a:xfrm>
              <a:off x="3540056" y="3841823"/>
              <a:ext cx="0" cy="1139825"/>
            </a:xfrm>
            <a:custGeom>
              <a:avLst/>
              <a:gdLst/>
              <a:ahLst/>
              <a:cxnLst/>
              <a:rect l="l" t="t" r="r" b="b"/>
              <a:pathLst>
                <a:path h="1139825">
                  <a:moveTo>
                    <a:pt x="0" y="1139724"/>
                  </a:moveTo>
                  <a:lnTo>
                    <a:pt x="0" y="0"/>
                  </a:lnTo>
                </a:path>
              </a:pathLst>
            </a:custGeom>
            <a:ln w="3774">
              <a:solidFill>
                <a:srgbClr val="000000"/>
              </a:solidFill>
              <a:prstDash val="dash"/>
            </a:ln>
          </p:spPr>
          <p:txBody>
            <a:bodyPr wrap="square" lIns="0" tIns="0" rIns="0" bIns="0" rtlCol="0"/>
            <a:lstStyle/>
            <a:p>
              <a:endParaRPr/>
            </a:p>
          </p:txBody>
        </p:sp>
        <p:sp>
          <p:nvSpPr>
            <p:cNvPr id="26" name="object 26"/>
            <p:cNvSpPr/>
            <p:nvPr/>
          </p:nvSpPr>
          <p:spPr>
            <a:xfrm>
              <a:off x="3540056" y="3841817"/>
              <a:ext cx="0" cy="1139825"/>
            </a:xfrm>
            <a:custGeom>
              <a:avLst/>
              <a:gdLst/>
              <a:ahLst/>
              <a:cxnLst/>
              <a:rect l="l" t="t" r="r" b="b"/>
              <a:pathLst>
                <a:path h="1139825">
                  <a:moveTo>
                    <a:pt x="0" y="0"/>
                  </a:moveTo>
                  <a:lnTo>
                    <a:pt x="0" y="17209"/>
                  </a:lnTo>
                </a:path>
                <a:path h="1139825">
                  <a:moveTo>
                    <a:pt x="0" y="1139724"/>
                  </a:moveTo>
                  <a:lnTo>
                    <a:pt x="0" y="1122514"/>
                  </a:lnTo>
                </a:path>
              </a:pathLst>
            </a:custGeom>
            <a:ln w="3776">
              <a:solidFill>
                <a:srgbClr val="000000"/>
              </a:solidFill>
            </a:ln>
          </p:spPr>
          <p:txBody>
            <a:bodyPr wrap="square" lIns="0" tIns="0" rIns="0" bIns="0" rtlCol="0"/>
            <a:lstStyle/>
            <a:p>
              <a:endParaRPr/>
            </a:p>
          </p:txBody>
        </p:sp>
        <p:sp>
          <p:nvSpPr>
            <p:cNvPr id="27" name="object 27"/>
            <p:cNvSpPr/>
            <p:nvPr/>
          </p:nvSpPr>
          <p:spPr>
            <a:xfrm>
              <a:off x="3712634" y="3841823"/>
              <a:ext cx="0" cy="1139825"/>
            </a:xfrm>
            <a:custGeom>
              <a:avLst/>
              <a:gdLst/>
              <a:ahLst/>
              <a:cxnLst/>
              <a:rect l="l" t="t" r="r" b="b"/>
              <a:pathLst>
                <a:path h="1139825">
                  <a:moveTo>
                    <a:pt x="0" y="1139724"/>
                  </a:moveTo>
                  <a:lnTo>
                    <a:pt x="0" y="0"/>
                  </a:lnTo>
                </a:path>
              </a:pathLst>
            </a:custGeom>
            <a:ln w="3774">
              <a:solidFill>
                <a:srgbClr val="000000"/>
              </a:solidFill>
              <a:prstDash val="dash"/>
            </a:ln>
          </p:spPr>
          <p:txBody>
            <a:bodyPr wrap="square" lIns="0" tIns="0" rIns="0" bIns="0" rtlCol="0"/>
            <a:lstStyle/>
            <a:p>
              <a:endParaRPr/>
            </a:p>
          </p:txBody>
        </p:sp>
        <p:sp>
          <p:nvSpPr>
            <p:cNvPr id="28" name="object 28"/>
            <p:cNvSpPr/>
            <p:nvPr/>
          </p:nvSpPr>
          <p:spPr>
            <a:xfrm>
              <a:off x="3712634" y="3841817"/>
              <a:ext cx="0" cy="1139825"/>
            </a:xfrm>
            <a:custGeom>
              <a:avLst/>
              <a:gdLst/>
              <a:ahLst/>
              <a:cxnLst/>
              <a:rect l="l" t="t" r="r" b="b"/>
              <a:pathLst>
                <a:path h="1139825">
                  <a:moveTo>
                    <a:pt x="0" y="0"/>
                  </a:moveTo>
                  <a:lnTo>
                    <a:pt x="0" y="17209"/>
                  </a:lnTo>
                </a:path>
                <a:path h="1139825">
                  <a:moveTo>
                    <a:pt x="0" y="1139724"/>
                  </a:moveTo>
                  <a:lnTo>
                    <a:pt x="0" y="1122514"/>
                  </a:lnTo>
                </a:path>
              </a:pathLst>
            </a:custGeom>
            <a:ln w="3776">
              <a:solidFill>
                <a:srgbClr val="000000"/>
              </a:solidFill>
            </a:ln>
          </p:spPr>
          <p:txBody>
            <a:bodyPr wrap="square" lIns="0" tIns="0" rIns="0" bIns="0" rtlCol="0"/>
            <a:lstStyle/>
            <a:p>
              <a:endParaRPr/>
            </a:p>
          </p:txBody>
        </p:sp>
        <p:sp>
          <p:nvSpPr>
            <p:cNvPr id="29" name="object 29"/>
            <p:cNvSpPr/>
            <p:nvPr/>
          </p:nvSpPr>
          <p:spPr>
            <a:xfrm>
              <a:off x="3885482" y="3841823"/>
              <a:ext cx="0" cy="1139825"/>
            </a:xfrm>
            <a:custGeom>
              <a:avLst/>
              <a:gdLst/>
              <a:ahLst/>
              <a:cxnLst/>
              <a:rect l="l" t="t" r="r" b="b"/>
              <a:pathLst>
                <a:path h="1139825">
                  <a:moveTo>
                    <a:pt x="0" y="1139724"/>
                  </a:moveTo>
                  <a:lnTo>
                    <a:pt x="0" y="0"/>
                  </a:lnTo>
                </a:path>
              </a:pathLst>
            </a:custGeom>
            <a:ln w="3774">
              <a:solidFill>
                <a:srgbClr val="000000"/>
              </a:solidFill>
              <a:prstDash val="dash"/>
            </a:ln>
          </p:spPr>
          <p:txBody>
            <a:bodyPr wrap="square" lIns="0" tIns="0" rIns="0" bIns="0" rtlCol="0"/>
            <a:lstStyle/>
            <a:p>
              <a:endParaRPr/>
            </a:p>
          </p:txBody>
        </p:sp>
        <p:sp>
          <p:nvSpPr>
            <p:cNvPr id="30" name="object 30"/>
            <p:cNvSpPr/>
            <p:nvPr/>
          </p:nvSpPr>
          <p:spPr>
            <a:xfrm>
              <a:off x="3885482" y="3841817"/>
              <a:ext cx="0" cy="1139825"/>
            </a:xfrm>
            <a:custGeom>
              <a:avLst/>
              <a:gdLst/>
              <a:ahLst/>
              <a:cxnLst/>
              <a:rect l="l" t="t" r="r" b="b"/>
              <a:pathLst>
                <a:path h="1139825">
                  <a:moveTo>
                    <a:pt x="0" y="0"/>
                  </a:moveTo>
                  <a:lnTo>
                    <a:pt x="0" y="17209"/>
                  </a:lnTo>
                </a:path>
                <a:path h="1139825">
                  <a:moveTo>
                    <a:pt x="0" y="1139724"/>
                  </a:moveTo>
                  <a:lnTo>
                    <a:pt x="0" y="1122514"/>
                  </a:lnTo>
                </a:path>
              </a:pathLst>
            </a:custGeom>
            <a:ln w="3776">
              <a:solidFill>
                <a:srgbClr val="000000"/>
              </a:solidFill>
            </a:ln>
          </p:spPr>
          <p:txBody>
            <a:bodyPr wrap="square" lIns="0" tIns="0" rIns="0" bIns="0" rtlCol="0"/>
            <a:lstStyle/>
            <a:p>
              <a:endParaRPr/>
            </a:p>
          </p:txBody>
        </p:sp>
        <p:sp>
          <p:nvSpPr>
            <p:cNvPr id="31" name="object 31"/>
            <p:cNvSpPr/>
            <p:nvPr/>
          </p:nvSpPr>
          <p:spPr>
            <a:xfrm>
              <a:off x="4058060" y="3841823"/>
              <a:ext cx="0" cy="1139825"/>
            </a:xfrm>
            <a:custGeom>
              <a:avLst/>
              <a:gdLst/>
              <a:ahLst/>
              <a:cxnLst/>
              <a:rect l="l" t="t" r="r" b="b"/>
              <a:pathLst>
                <a:path h="1139825">
                  <a:moveTo>
                    <a:pt x="0" y="1139724"/>
                  </a:moveTo>
                  <a:lnTo>
                    <a:pt x="0" y="0"/>
                  </a:lnTo>
                </a:path>
              </a:pathLst>
            </a:custGeom>
            <a:ln w="3774">
              <a:solidFill>
                <a:srgbClr val="000000"/>
              </a:solidFill>
              <a:prstDash val="dash"/>
            </a:ln>
          </p:spPr>
          <p:txBody>
            <a:bodyPr wrap="square" lIns="0" tIns="0" rIns="0" bIns="0" rtlCol="0"/>
            <a:lstStyle/>
            <a:p>
              <a:endParaRPr/>
            </a:p>
          </p:txBody>
        </p:sp>
        <p:sp>
          <p:nvSpPr>
            <p:cNvPr id="32" name="object 32"/>
            <p:cNvSpPr/>
            <p:nvPr/>
          </p:nvSpPr>
          <p:spPr>
            <a:xfrm>
              <a:off x="4058060" y="3841817"/>
              <a:ext cx="0" cy="1139825"/>
            </a:xfrm>
            <a:custGeom>
              <a:avLst/>
              <a:gdLst/>
              <a:ahLst/>
              <a:cxnLst/>
              <a:rect l="l" t="t" r="r" b="b"/>
              <a:pathLst>
                <a:path h="1139825">
                  <a:moveTo>
                    <a:pt x="0" y="0"/>
                  </a:moveTo>
                  <a:lnTo>
                    <a:pt x="0" y="17209"/>
                  </a:lnTo>
                </a:path>
                <a:path h="1139825">
                  <a:moveTo>
                    <a:pt x="0" y="1139724"/>
                  </a:moveTo>
                  <a:lnTo>
                    <a:pt x="0" y="1122514"/>
                  </a:lnTo>
                </a:path>
              </a:pathLst>
            </a:custGeom>
            <a:ln w="3776">
              <a:solidFill>
                <a:srgbClr val="000000"/>
              </a:solidFill>
            </a:ln>
          </p:spPr>
          <p:txBody>
            <a:bodyPr wrap="square" lIns="0" tIns="0" rIns="0" bIns="0" rtlCol="0"/>
            <a:lstStyle/>
            <a:p>
              <a:endParaRPr/>
            </a:p>
          </p:txBody>
        </p:sp>
        <p:sp>
          <p:nvSpPr>
            <p:cNvPr id="33" name="object 33"/>
            <p:cNvSpPr/>
            <p:nvPr/>
          </p:nvSpPr>
          <p:spPr>
            <a:xfrm>
              <a:off x="4230908" y="3841823"/>
              <a:ext cx="0" cy="1139825"/>
            </a:xfrm>
            <a:custGeom>
              <a:avLst/>
              <a:gdLst/>
              <a:ahLst/>
              <a:cxnLst/>
              <a:rect l="l" t="t" r="r" b="b"/>
              <a:pathLst>
                <a:path h="1139825">
                  <a:moveTo>
                    <a:pt x="0" y="1139724"/>
                  </a:moveTo>
                  <a:lnTo>
                    <a:pt x="0" y="0"/>
                  </a:lnTo>
                </a:path>
              </a:pathLst>
            </a:custGeom>
            <a:ln w="3774">
              <a:solidFill>
                <a:srgbClr val="000000"/>
              </a:solidFill>
              <a:prstDash val="dash"/>
            </a:ln>
          </p:spPr>
          <p:txBody>
            <a:bodyPr wrap="square" lIns="0" tIns="0" rIns="0" bIns="0" rtlCol="0"/>
            <a:lstStyle/>
            <a:p>
              <a:endParaRPr/>
            </a:p>
          </p:txBody>
        </p:sp>
        <p:sp>
          <p:nvSpPr>
            <p:cNvPr id="34" name="object 34"/>
            <p:cNvSpPr/>
            <p:nvPr/>
          </p:nvSpPr>
          <p:spPr>
            <a:xfrm>
              <a:off x="4230908" y="3841817"/>
              <a:ext cx="0" cy="1139825"/>
            </a:xfrm>
            <a:custGeom>
              <a:avLst/>
              <a:gdLst/>
              <a:ahLst/>
              <a:cxnLst/>
              <a:rect l="l" t="t" r="r" b="b"/>
              <a:pathLst>
                <a:path h="1139825">
                  <a:moveTo>
                    <a:pt x="0" y="0"/>
                  </a:moveTo>
                  <a:lnTo>
                    <a:pt x="0" y="17209"/>
                  </a:lnTo>
                </a:path>
                <a:path h="1139825">
                  <a:moveTo>
                    <a:pt x="0" y="1139724"/>
                  </a:moveTo>
                  <a:lnTo>
                    <a:pt x="0" y="1122514"/>
                  </a:lnTo>
                </a:path>
              </a:pathLst>
            </a:custGeom>
            <a:ln w="3776">
              <a:solidFill>
                <a:srgbClr val="000000"/>
              </a:solidFill>
            </a:ln>
          </p:spPr>
          <p:txBody>
            <a:bodyPr wrap="square" lIns="0" tIns="0" rIns="0" bIns="0" rtlCol="0"/>
            <a:lstStyle/>
            <a:p>
              <a:endParaRPr/>
            </a:p>
          </p:txBody>
        </p:sp>
        <p:sp>
          <p:nvSpPr>
            <p:cNvPr id="35" name="object 35"/>
            <p:cNvSpPr/>
            <p:nvPr/>
          </p:nvSpPr>
          <p:spPr>
            <a:xfrm>
              <a:off x="4403483" y="3841823"/>
              <a:ext cx="0" cy="1139825"/>
            </a:xfrm>
            <a:custGeom>
              <a:avLst/>
              <a:gdLst/>
              <a:ahLst/>
              <a:cxnLst/>
              <a:rect l="l" t="t" r="r" b="b"/>
              <a:pathLst>
                <a:path h="1139825">
                  <a:moveTo>
                    <a:pt x="0" y="1139724"/>
                  </a:moveTo>
                  <a:lnTo>
                    <a:pt x="0" y="0"/>
                  </a:lnTo>
                </a:path>
              </a:pathLst>
            </a:custGeom>
            <a:ln w="3774">
              <a:solidFill>
                <a:srgbClr val="000000"/>
              </a:solidFill>
              <a:prstDash val="dash"/>
            </a:ln>
          </p:spPr>
          <p:txBody>
            <a:bodyPr wrap="square" lIns="0" tIns="0" rIns="0" bIns="0" rtlCol="0"/>
            <a:lstStyle/>
            <a:p>
              <a:endParaRPr/>
            </a:p>
          </p:txBody>
        </p:sp>
        <p:sp>
          <p:nvSpPr>
            <p:cNvPr id="36" name="object 36"/>
            <p:cNvSpPr/>
            <p:nvPr/>
          </p:nvSpPr>
          <p:spPr>
            <a:xfrm>
              <a:off x="4403483" y="3841817"/>
              <a:ext cx="0" cy="1139825"/>
            </a:xfrm>
            <a:custGeom>
              <a:avLst/>
              <a:gdLst/>
              <a:ahLst/>
              <a:cxnLst/>
              <a:rect l="l" t="t" r="r" b="b"/>
              <a:pathLst>
                <a:path h="1139825">
                  <a:moveTo>
                    <a:pt x="0" y="0"/>
                  </a:moveTo>
                  <a:lnTo>
                    <a:pt x="0" y="17209"/>
                  </a:lnTo>
                </a:path>
                <a:path h="1139825">
                  <a:moveTo>
                    <a:pt x="0" y="1139724"/>
                  </a:moveTo>
                  <a:lnTo>
                    <a:pt x="0" y="1122514"/>
                  </a:lnTo>
                </a:path>
              </a:pathLst>
            </a:custGeom>
            <a:ln w="3776">
              <a:solidFill>
                <a:srgbClr val="000000"/>
              </a:solidFill>
            </a:ln>
          </p:spPr>
          <p:txBody>
            <a:bodyPr wrap="square" lIns="0" tIns="0" rIns="0" bIns="0" rtlCol="0"/>
            <a:lstStyle/>
            <a:p>
              <a:endParaRPr/>
            </a:p>
          </p:txBody>
        </p:sp>
        <p:sp>
          <p:nvSpPr>
            <p:cNvPr id="37" name="object 37"/>
            <p:cNvSpPr/>
            <p:nvPr/>
          </p:nvSpPr>
          <p:spPr>
            <a:xfrm>
              <a:off x="4576334" y="3841823"/>
              <a:ext cx="0" cy="1139825"/>
            </a:xfrm>
            <a:custGeom>
              <a:avLst/>
              <a:gdLst/>
              <a:ahLst/>
              <a:cxnLst/>
              <a:rect l="l" t="t" r="r" b="b"/>
              <a:pathLst>
                <a:path h="1139825">
                  <a:moveTo>
                    <a:pt x="0" y="17209"/>
                  </a:moveTo>
                  <a:lnTo>
                    <a:pt x="0" y="0"/>
                  </a:lnTo>
                </a:path>
                <a:path h="1139825">
                  <a:moveTo>
                    <a:pt x="0" y="1139724"/>
                  </a:moveTo>
                  <a:lnTo>
                    <a:pt x="0" y="55466"/>
                  </a:lnTo>
                </a:path>
              </a:pathLst>
            </a:custGeom>
            <a:ln w="3776">
              <a:solidFill>
                <a:srgbClr val="000000"/>
              </a:solidFill>
              <a:prstDash val="dash"/>
            </a:ln>
          </p:spPr>
          <p:txBody>
            <a:bodyPr wrap="square" lIns="0" tIns="0" rIns="0" bIns="0" rtlCol="0"/>
            <a:lstStyle/>
            <a:p>
              <a:endParaRPr/>
            </a:p>
          </p:txBody>
        </p:sp>
        <p:sp>
          <p:nvSpPr>
            <p:cNvPr id="38" name="object 38"/>
            <p:cNvSpPr/>
            <p:nvPr/>
          </p:nvSpPr>
          <p:spPr>
            <a:xfrm>
              <a:off x="4576334" y="3841817"/>
              <a:ext cx="0" cy="1139825"/>
            </a:xfrm>
            <a:custGeom>
              <a:avLst/>
              <a:gdLst/>
              <a:ahLst/>
              <a:cxnLst/>
              <a:rect l="l" t="t" r="r" b="b"/>
              <a:pathLst>
                <a:path h="1139825">
                  <a:moveTo>
                    <a:pt x="0" y="0"/>
                  </a:moveTo>
                  <a:lnTo>
                    <a:pt x="0" y="17209"/>
                  </a:lnTo>
                </a:path>
                <a:path h="1139825">
                  <a:moveTo>
                    <a:pt x="0" y="1139724"/>
                  </a:moveTo>
                  <a:lnTo>
                    <a:pt x="0" y="1122514"/>
                  </a:lnTo>
                </a:path>
              </a:pathLst>
            </a:custGeom>
            <a:ln w="3776">
              <a:solidFill>
                <a:srgbClr val="000000"/>
              </a:solidFill>
            </a:ln>
          </p:spPr>
          <p:txBody>
            <a:bodyPr wrap="square" lIns="0" tIns="0" rIns="0" bIns="0" rtlCol="0"/>
            <a:lstStyle/>
            <a:p>
              <a:endParaRPr/>
            </a:p>
          </p:txBody>
        </p:sp>
        <p:sp>
          <p:nvSpPr>
            <p:cNvPr id="39" name="object 39"/>
            <p:cNvSpPr/>
            <p:nvPr/>
          </p:nvSpPr>
          <p:spPr>
            <a:xfrm>
              <a:off x="4748909" y="3841823"/>
              <a:ext cx="0" cy="1139825"/>
            </a:xfrm>
            <a:custGeom>
              <a:avLst/>
              <a:gdLst/>
              <a:ahLst/>
              <a:cxnLst/>
              <a:rect l="l" t="t" r="r" b="b"/>
              <a:pathLst>
                <a:path h="1139825">
                  <a:moveTo>
                    <a:pt x="0" y="17209"/>
                  </a:moveTo>
                  <a:lnTo>
                    <a:pt x="0" y="0"/>
                  </a:lnTo>
                </a:path>
                <a:path h="1139825">
                  <a:moveTo>
                    <a:pt x="0" y="1139724"/>
                  </a:moveTo>
                  <a:lnTo>
                    <a:pt x="0" y="55466"/>
                  </a:lnTo>
                </a:path>
              </a:pathLst>
            </a:custGeom>
            <a:ln w="3776">
              <a:solidFill>
                <a:srgbClr val="000000"/>
              </a:solidFill>
              <a:prstDash val="dash"/>
            </a:ln>
          </p:spPr>
          <p:txBody>
            <a:bodyPr wrap="square" lIns="0" tIns="0" rIns="0" bIns="0" rtlCol="0"/>
            <a:lstStyle/>
            <a:p>
              <a:endParaRPr/>
            </a:p>
          </p:txBody>
        </p:sp>
        <p:sp>
          <p:nvSpPr>
            <p:cNvPr id="40" name="object 40"/>
            <p:cNvSpPr/>
            <p:nvPr/>
          </p:nvSpPr>
          <p:spPr>
            <a:xfrm>
              <a:off x="4748909" y="3841817"/>
              <a:ext cx="0" cy="1139825"/>
            </a:xfrm>
            <a:custGeom>
              <a:avLst/>
              <a:gdLst/>
              <a:ahLst/>
              <a:cxnLst/>
              <a:rect l="l" t="t" r="r" b="b"/>
              <a:pathLst>
                <a:path h="1139825">
                  <a:moveTo>
                    <a:pt x="0" y="0"/>
                  </a:moveTo>
                  <a:lnTo>
                    <a:pt x="0" y="17209"/>
                  </a:lnTo>
                </a:path>
                <a:path h="1139825">
                  <a:moveTo>
                    <a:pt x="0" y="1139724"/>
                  </a:moveTo>
                  <a:lnTo>
                    <a:pt x="0" y="1122514"/>
                  </a:lnTo>
                </a:path>
              </a:pathLst>
            </a:custGeom>
            <a:ln w="3776">
              <a:solidFill>
                <a:srgbClr val="000000"/>
              </a:solidFill>
            </a:ln>
          </p:spPr>
          <p:txBody>
            <a:bodyPr wrap="square" lIns="0" tIns="0" rIns="0" bIns="0" rtlCol="0"/>
            <a:lstStyle/>
            <a:p>
              <a:endParaRPr/>
            </a:p>
          </p:txBody>
        </p:sp>
        <p:sp>
          <p:nvSpPr>
            <p:cNvPr id="41" name="object 41"/>
            <p:cNvSpPr/>
            <p:nvPr/>
          </p:nvSpPr>
          <p:spPr>
            <a:xfrm>
              <a:off x="4921487" y="3841823"/>
              <a:ext cx="0" cy="1139825"/>
            </a:xfrm>
            <a:custGeom>
              <a:avLst/>
              <a:gdLst/>
              <a:ahLst/>
              <a:cxnLst/>
              <a:rect l="l" t="t" r="r" b="b"/>
              <a:pathLst>
                <a:path h="1139825">
                  <a:moveTo>
                    <a:pt x="0" y="17209"/>
                  </a:moveTo>
                  <a:lnTo>
                    <a:pt x="0" y="0"/>
                  </a:lnTo>
                </a:path>
                <a:path h="1139825">
                  <a:moveTo>
                    <a:pt x="0" y="1139724"/>
                  </a:moveTo>
                  <a:lnTo>
                    <a:pt x="0" y="55466"/>
                  </a:lnTo>
                </a:path>
              </a:pathLst>
            </a:custGeom>
            <a:ln w="3776">
              <a:solidFill>
                <a:srgbClr val="000000"/>
              </a:solidFill>
              <a:prstDash val="dash"/>
            </a:ln>
          </p:spPr>
          <p:txBody>
            <a:bodyPr wrap="square" lIns="0" tIns="0" rIns="0" bIns="0" rtlCol="0"/>
            <a:lstStyle/>
            <a:p>
              <a:endParaRPr/>
            </a:p>
          </p:txBody>
        </p:sp>
        <p:sp>
          <p:nvSpPr>
            <p:cNvPr id="42" name="object 42"/>
            <p:cNvSpPr/>
            <p:nvPr/>
          </p:nvSpPr>
          <p:spPr>
            <a:xfrm>
              <a:off x="4921487" y="3841817"/>
              <a:ext cx="0" cy="1139825"/>
            </a:xfrm>
            <a:custGeom>
              <a:avLst/>
              <a:gdLst/>
              <a:ahLst/>
              <a:cxnLst/>
              <a:rect l="l" t="t" r="r" b="b"/>
              <a:pathLst>
                <a:path h="1139825">
                  <a:moveTo>
                    <a:pt x="0" y="0"/>
                  </a:moveTo>
                  <a:lnTo>
                    <a:pt x="0" y="17209"/>
                  </a:lnTo>
                </a:path>
                <a:path h="1139825">
                  <a:moveTo>
                    <a:pt x="0" y="1139724"/>
                  </a:moveTo>
                  <a:lnTo>
                    <a:pt x="0" y="1122514"/>
                  </a:lnTo>
                </a:path>
              </a:pathLst>
            </a:custGeom>
            <a:ln w="3776">
              <a:solidFill>
                <a:srgbClr val="000000"/>
              </a:solidFill>
            </a:ln>
          </p:spPr>
          <p:txBody>
            <a:bodyPr wrap="square" lIns="0" tIns="0" rIns="0" bIns="0" rtlCol="0"/>
            <a:lstStyle/>
            <a:p>
              <a:endParaRPr/>
            </a:p>
          </p:txBody>
        </p:sp>
        <p:sp>
          <p:nvSpPr>
            <p:cNvPr id="43" name="object 43"/>
            <p:cNvSpPr/>
            <p:nvPr/>
          </p:nvSpPr>
          <p:spPr>
            <a:xfrm>
              <a:off x="5094335" y="3841823"/>
              <a:ext cx="0" cy="1139825"/>
            </a:xfrm>
            <a:custGeom>
              <a:avLst/>
              <a:gdLst/>
              <a:ahLst/>
              <a:cxnLst/>
              <a:rect l="l" t="t" r="r" b="b"/>
              <a:pathLst>
                <a:path h="1139825">
                  <a:moveTo>
                    <a:pt x="0" y="17209"/>
                  </a:moveTo>
                  <a:lnTo>
                    <a:pt x="0" y="0"/>
                  </a:lnTo>
                </a:path>
                <a:path h="1139825">
                  <a:moveTo>
                    <a:pt x="0" y="1139724"/>
                  </a:moveTo>
                  <a:lnTo>
                    <a:pt x="0" y="55466"/>
                  </a:lnTo>
                </a:path>
              </a:pathLst>
            </a:custGeom>
            <a:ln w="3776">
              <a:solidFill>
                <a:srgbClr val="000000"/>
              </a:solidFill>
              <a:prstDash val="dash"/>
            </a:ln>
          </p:spPr>
          <p:txBody>
            <a:bodyPr wrap="square" lIns="0" tIns="0" rIns="0" bIns="0" rtlCol="0"/>
            <a:lstStyle/>
            <a:p>
              <a:endParaRPr/>
            </a:p>
          </p:txBody>
        </p:sp>
        <p:sp>
          <p:nvSpPr>
            <p:cNvPr id="44" name="object 44"/>
            <p:cNvSpPr/>
            <p:nvPr/>
          </p:nvSpPr>
          <p:spPr>
            <a:xfrm>
              <a:off x="5094335" y="3841817"/>
              <a:ext cx="0" cy="1139825"/>
            </a:xfrm>
            <a:custGeom>
              <a:avLst/>
              <a:gdLst/>
              <a:ahLst/>
              <a:cxnLst/>
              <a:rect l="l" t="t" r="r" b="b"/>
              <a:pathLst>
                <a:path h="1139825">
                  <a:moveTo>
                    <a:pt x="0" y="0"/>
                  </a:moveTo>
                  <a:lnTo>
                    <a:pt x="0" y="17209"/>
                  </a:lnTo>
                </a:path>
                <a:path h="1139825">
                  <a:moveTo>
                    <a:pt x="0" y="1139724"/>
                  </a:moveTo>
                  <a:lnTo>
                    <a:pt x="0" y="1122514"/>
                  </a:lnTo>
                </a:path>
              </a:pathLst>
            </a:custGeom>
            <a:ln w="3776">
              <a:solidFill>
                <a:srgbClr val="000000"/>
              </a:solidFill>
            </a:ln>
          </p:spPr>
          <p:txBody>
            <a:bodyPr wrap="square" lIns="0" tIns="0" rIns="0" bIns="0" rtlCol="0"/>
            <a:lstStyle/>
            <a:p>
              <a:endParaRPr/>
            </a:p>
          </p:txBody>
        </p:sp>
        <p:sp>
          <p:nvSpPr>
            <p:cNvPr id="45" name="object 45"/>
            <p:cNvSpPr/>
            <p:nvPr/>
          </p:nvSpPr>
          <p:spPr>
            <a:xfrm>
              <a:off x="3540052" y="3841821"/>
              <a:ext cx="1710055" cy="1139825"/>
            </a:xfrm>
            <a:custGeom>
              <a:avLst/>
              <a:gdLst/>
              <a:ahLst/>
              <a:cxnLst/>
              <a:rect l="l" t="t" r="r" b="b"/>
              <a:pathLst>
                <a:path w="1710054" h="1139825">
                  <a:moveTo>
                    <a:pt x="0" y="1139724"/>
                  </a:moveTo>
                  <a:lnTo>
                    <a:pt x="1709661" y="1139724"/>
                  </a:lnTo>
                  <a:lnTo>
                    <a:pt x="1709661" y="0"/>
                  </a:lnTo>
                  <a:lnTo>
                    <a:pt x="0" y="0"/>
                  </a:lnTo>
                  <a:lnTo>
                    <a:pt x="0" y="1139724"/>
                  </a:lnTo>
                  <a:close/>
                </a:path>
              </a:pathLst>
            </a:custGeom>
            <a:ln w="3776">
              <a:solidFill>
                <a:srgbClr val="000000"/>
              </a:solidFill>
            </a:ln>
          </p:spPr>
          <p:txBody>
            <a:bodyPr wrap="square" lIns="0" tIns="0" rIns="0" bIns="0" rtlCol="0"/>
            <a:lstStyle/>
            <a:p>
              <a:endParaRPr/>
            </a:p>
          </p:txBody>
        </p:sp>
      </p:grpSp>
      <p:sp>
        <p:nvSpPr>
          <p:cNvPr id="46" name="object 46"/>
          <p:cNvSpPr txBox="1"/>
          <p:nvPr/>
        </p:nvSpPr>
        <p:spPr>
          <a:xfrm>
            <a:off x="3438542" y="4816811"/>
            <a:ext cx="9144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2.5</a:t>
            </a:r>
            <a:endParaRPr sz="300">
              <a:latin typeface="Arial"/>
              <a:cs typeface="Arial"/>
            </a:endParaRPr>
          </a:p>
        </p:txBody>
      </p:sp>
      <p:sp>
        <p:nvSpPr>
          <p:cNvPr id="47" name="object 47"/>
          <p:cNvSpPr txBox="1"/>
          <p:nvPr/>
        </p:nvSpPr>
        <p:spPr>
          <a:xfrm>
            <a:off x="3470436" y="4690047"/>
            <a:ext cx="5969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2</a:t>
            </a:r>
            <a:endParaRPr sz="300">
              <a:latin typeface="Arial"/>
              <a:cs typeface="Arial"/>
            </a:endParaRPr>
          </a:p>
        </p:txBody>
      </p:sp>
      <p:sp>
        <p:nvSpPr>
          <p:cNvPr id="48" name="object 48"/>
          <p:cNvSpPr txBox="1"/>
          <p:nvPr/>
        </p:nvSpPr>
        <p:spPr>
          <a:xfrm>
            <a:off x="3438542" y="4563520"/>
            <a:ext cx="9144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1.5</a:t>
            </a:r>
            <a:endParaRPr sz="300">
              <a:latin typeface="Arial"/>
              <a:cs typeface="Arial"/>
            </a:endParaRPr>
          </a:p>
        </p:txBody>
      </p:sp>
      <p:sp>
        <p:nvSpPr>
          <p:cNvPr id="49" name="object 49"/>
          <p:cNvSpPr txBox="1"/>
          <p:nvPr/>
        </p:nvSpPr>
        <p:spPr>
          <a:xfrm>
            <a:off x="3470436" y="4436727"/>
            <a:ext cx="5969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1</a:t>
            </a:r>
            <a:endParaRPr sz="300">
              <a:latin typeface="Arial"/>
              <a:cs typeface="Arial"/>
            </a:endParaRPr>
          </a:p>
        </p:txBody>
      </p:sp>
      <p:sp>
        <p:nvSpPr>
          <p:cNvPr id="50" name="object 50"/>
          <p:cNvSpPr txBox="1"/>
          <p:nvPr/>
        </p:nvSpPr>
        <p:spPr>
          <a:xfrm>
            <a:off x="3438542" y="4310207"/>
            <a:ext cx="9144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0.5</a:t>
            </a:r>
            <a:endParaRPr sz="300">
              <a:latin typeface="Arial"/>
              <a:cs typeface="Arial"/>
            </a:endParaRPr>
          </a:p>
        </p:txBody>
      </p:sp>
      <p:sp>
        <p:nvSpPr>
          <p:cNvPr id="51" name="object 51"/>
          <p:cNvSpPr txBox="1"/>
          <p:nvPr/>
        </p:nvSpPr>
        <p:spPr>
          <a:xfrm>
            <a:off x="3483158" y="4183421"/>
            <a:ext cx="46990" cy="71755"/>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0</a:t>
            </a:r>
            <a:endParaRPr sz="300">
              <a:latin typeface="Arial"/>
              <a:cs typeface="Arial"/>
            </a:endParaRPr>
          </a:p>
        </p:txBody>
      </p:sp>
      <p:sp>
        <p:nvSpPr>
          <p:cNvPr id="52" name="object 52"/>
          <p:cNvSpPr txBox="1"/>
          <p:nvPr/>
        </p:nvSpPr>
        <p:spPr>
          <a:xfrm>
            <a:off x="3451280" y="4056917"/>
            <a:ext cx="78740"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0.5</a:t>
            </a:r>
            <a:endParaRPr sz="300">
              <a:latin typeface="Arial"/>
              <a:cs typeface="Arial"/>
            </a:endParaRPr>
          </a:p>
        </p:txBody>
      </p:sp>
      <p:sp>
        <p:nvSpPr>
          <p:cNvPr id="53" name="object 53"/>
          <p:cNvSpPr txBox="1"/>
          <p:nvPr/>
        </p:nvSpPr>
        <p:spPr>
          <a:xfrm>
            <a:off x="3483158" y="3930124"/>
            <a:ext cx="46990" cy="71755"/>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1</a:t>
            </a:r>
            <a:endParaRPr sz="300">
              <a:latin typeface="Arial"/>
              <a:cs typeface="Arial"/>
            </a:endParaRPr>
          </a:p>
        </p:txBody>
      </p:sp>
      <p:sp>
        <p:nvSpPr>
          <p:cNvPr id="54" name="object 54"/>
          <p:cNvSpPr txBox="1"/>
          <p:nvPr/>
        </p:nvSpPr>
        <p:spPr>
          <a:xfrm>
            <a:off x="3451280" y="3803604"/>
            <a:ext cx="78740"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1.5</a:t>
            </a:r>
            <a:endParaRPr sz="300">
              <a:latin typeface="Arial"/>
              <a:cs typeface="Arial"/>
            </a:endParaRPr>
          </a:p>
        </p:txBody>
      </p:sp>
      <p:sp>
        <p:nvSpPr>
          <p:cNvPr id="55" name="object 55"/>
          <p:cNvSpPr txBox="1"/>
          <p:nvPr/>
        </p:nvSpPr>
        <p:spPr>
          <a:xfrm>
            <a:off x="3522041" y="4970109"/>
            <a:ext cx="1622425" cy="140335"/>
          </a:xfrm>
          <a:prstGeom prst="rect">
            <a:avLst/>
          </a:prstGeom>
        </p:spPr>
        <p:txBody>
          <a:bodyPr vert="horz" wrap="square" lIns="0" tIns="24130" rIns="0" bIns="0" rtlCol="0">
            <a:spAutoFit/>
          </a:bodyPr>
          <a:lstStyle/>
          <a:p>
            <a:pPr marL="12700">
              <a:lnSpc>
                <a:spcPct val="100000"/>
              </a:lnSpc>
              <a:spcBef>
                <a:spcPts val="190"/>
              </a:spcBef>
              <a:tabLst>
                <a:tab pos="173990" algn="l"/>
                <a:tab pos="347345" algn="l"/>
                <a:tab pos="519430" algn="l"/>
                <a:tab pos="692785" algn="l"/>
              </a:tabLst>
            </a:pPr>
            <a:r>
              <a:rPr sz="300" spc="-50" dirty="0">
                <a:latin typeface="Arial"/>
                <a:cs typeface="Arial"/>
              </a:rPr>
              <a:t>0</a:t>
            </a:r>
            <a:r>
              <a:rPr sz="300" dirty="0">
                <a:latin typeface="Arial"/>
                <a:cs typeface="Arial"/>
              </a:rPr>
              <a:t>	</a:t>
            </a:r>
            <a:r>
              <a:rPr sz="300" spc="-25" dirty="0">
                <a:latin typeface="Arial"/>
                <a:cs typeface="Arial"/>
              </a:rPr>
              <a:t>20</a:t>
            </a:r>
            <a:r>
              <a:rPr sz="300" dirty="0">
                <a:latin typeface="Arial"/>
                <a:cs typeface="Arial"/>
              </a:rPr>
              <a:t>	</a:t>
            </a:r>
            <a:r>
              <a:rPr sz="300" spc="-25" dirty="0">
                <a:latin typeface="Arial"/>
                <a:cs typeface="Arial"/>
              </a:rPr>
              <a:t>40</a:t>
            </a:r>
            <a:r>
              <a:rPr sz="300" dirty="0">
                <a:latin typeface="Arial"/>
                <a:cs typeface="Arial"/>
              </a:rPr>
              <a:t>	</a:t>
            </a:r>
            <a:r>
              <a:rPr sz="300" spc="-25" dirty="0">
                <a:latin typeface="Arial"/>
                <a:cs typeface="Arial"/>
              </a:rPr>
              <a:t>60</a:t>
            </a:r>
            <a:r>
              <a:rPr sz="300" dirty="0">
                <a:latin typeface="Arial"/>
                <a:cs typeface="Arial"/>
              </a:rPr>
              <a:t>	80</a:t>
            </a:r>
            <a:r>
              <a:rPr sz="300" spc="409" dirty="0">
                <a:latin typeface="Arial"/>
                <a:cs typeface="Arial"/>
              </a:rPr>
              <a:t>  </a:t>
            </a:r>
            <a:r>
              <a:rPr sz="300" dirty="0">
                <a:latin typeface="Arial"/>
                <a:cs typeface="Arial"/>
              </a:rPr>
              <a:t>100</a:t>
            </a:r>
            <a:r>
              <a:rPr sz="300" spc="365" dirty="0">
                <a:latin typeface="Arial"/>
                <a:cs typeface="Arial"/>
              </a:rPr>
              <a:t>  </a:t>
            </a:r>
            <a:r>
              <a:rPr sz="300" dirty="0">
                <a:latin typeface="Arial"/>
                <a:cs typeface="Arial"/>
              </a:rPr>
              <a:t>120</a:t>
            </a:r>
            <a:r>
              <a:rPr sz="300" spc="365" dirty="0">
                <a:latin typeface="Arial"/>
                <a:cs typeface="Arial"/>
              </a:rPr>
              <a:t>  </a:t>
            </a:r>
            <a:r>
              <a:rPr sz="300" dirty="0">
                <a:latin typeface="Arial"/>
                <a:cs typeface="Arial"/>
              </a:rPr>
              <a:t>140</a:t>
            </a:r>
            <a:r>
              <a:rPr sz="300" spc="365" dirty="0">
                <a:latin typeface="Arial"/>
                <a:cs typeface="Arial"/>
              </a:rPr>
              <a:t>  </a:t>
            </a:r>
            <a:r>
              <a:rPr sz="300" dirty="0">
                <a:latin typeface="Arial"/>
                <a:cs typeface="Arial"/>
              </a:rPr>
              <a:t>160</a:t>
            </a:r>
            <a:r>
              <a:rPr sz="300" spc="370" dirty="0">
                <a:latin typeface="Arial"/>
                <a:cs typeface="Arial"/>
              </a:rPr>
              <a:t>  </a:t>
            </a:r>
            <a:r>
              <a:rPr sz="300" spc="-50" dirty="0">
                <a:latin typeface="Arial"/>
                <a:cs typeface="Arial"/>
              </a:rPr>
              <a:t>180</a:t>
            </a:r>
            <a:endParaRPr sz="300">
              <a:latin typeface="Arial"/>
              <a:cs typeface="Arial"/>
            </a:endParaRPr>
          </a:p>
          <a:p>
            <a:pPr marL="804545">
              <a:lnSpc>
                <a:spcPct val="100000"/>
              </a:lnSpc>
              <a:spcBef>
                <a:spcPts val="90"/>
              </a:spcBef>
            </a:pPr>
            <a:r>
              <a:rPr sz="300" spc="-10" dirty="0">
                <a:latin typeface="Arial"/>
                <a:cs typeface="Arial"/>
              </a:rPr>
              <a:t>Position</a:t>
            </a:r>
            <a:endParaRPr sz="300">
              <a:latin typeface="Arial"/>
              <a:cs typeface="Arial"/>
            </a:endParaRPr>
          </a:p>
        </p:txBody>
      </p:sp>
      <p:sp>
        <p:nvSpPr>
          <p:cNvPr id="56" name="object 56"/>
          <p:cNvSpPr txBox="1"/>
          <p:nvPr/>
        </p:nvSpPr>
        <p:spPr>
          <a:xfrm>
            <a:off x="3354493" y="4349195"/>
            <a:ext cx="68580" cy="125730"/>
          </a:xfrm>
          <a:prstGeom prst="rect">
            <a:avLst/>
          </a:prstGeom>
        </p:spPr>
        <p:txBody>
          <a:bodyPr vert="vert270" wrap="square" lIns="0" tIns="8890" rIns="0" bIns="0" rtlCol="0">
            <a:spAutoFit/>
          </a:bodyPr>
          <a:lstStyle/>
          <a:p>
            <a:pPr marL="12700">
              <a:lnSpc>
                <a:spcPct val="100000"/>
              </a:lnSpc>
              <a:spcBef>
                <a:spcPts val="70"/>
              </a:spcBef>
            </a:pPr>
            <a:r>
              <a:rPr sz="300" spc="-20" dirty="0">
                <a:latin typeface="Arial"/>
                <a:cs typeface="Arial"/>
              </a:rPr>
              <a:t>Score</a:t>
            </a:r>
            <a:endParaRPr sz="300">
              <a:latin typeface="Arial"/>
              <a:cs typeface="Arial"/>
            </a:endParaRPr>
          </a:p>
        </p:txBody>
      </p:sp>
      <p:sp>
        <p:nvSpPr>
          <p:cNvPr id="57" name="object 57"/>
          <p:cNvSpPr txBox="1"/>
          <p:nvPr/>
        </p:nvSpPr>
        <p:spPr>
          <a:xfrm>
            <a:off x="4604564" y="3839893"/>
            <a:ext cx="480695"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Hydropath. /</a:t>
            </a:r>
            <a:r>
              <a:rPr sz="300" spc="5" dirty="0">
                <a:latin typeface="Arial"/>
                <a:cs typeface="Arial"/>
              </a:rPr>
              <a:t> </a:t>
            </a:r>
            <a:r>
              <a:rPr sz="300" dirty="0">
                <a:latin typeface="Arial"/>
                <a:cs typeface="Arial"/>
              </a:rPr>
              <a:t>Kyte</a:t>
            </a:r>
            <a:r>
              <a:rPr sz="300" spc="90" dirty="0">
                <a:latin typeface="Arial"/>
                <a:cs typeface="Arial"/>
              </a:rPr>
              <a:t> </a:t>
            </a:r>
            <a:r>
              <a:rPr sz="300" spc="-10" dirty="0">
                <a:latin typeface="Arial"/>
                <a:cs typeface="Arial"/>
              </a:rPr>
              <a:t>Doolittle</a:t>
            </a:r>
            <a:endParaRPr sz="300">
              <a:latin typeface="Arial"/>
              <a:cs typeface="Arial"/>
            </a:endParaRPr>
          </a:p>
        </p:txBody>
      </p:sp>
      <p:grpSp>
        <p:nvGrpSpPr>
          <p:cNvPr id="58" name="object 58"/>
          <p:cNvGrpSpPr/>
          <p:nvPr/>
        </p:nvGrpSpPr>
        <p:grpSpPr>
          <a:xfrm>
            <a:off x="3538147" y="3839916"/>
            <a:ext cx="1713864" cy="1143635"/>
            <a:chOff x="3538147" y="3839916"/>
            <a:chExt cx="1713864" cy="1143635"/>
          </a:xfrm>
        </p:grpSpPr>
        <p:sp>
          <p:nvSpPr>
            <p:cNvPr id="59" name="object 59"/>
            <p:cNvSpPr/>
            <p:nvPr/>
          </p:nvSpPr>
          <p:spPr>
            <a:xfrm>
              <a:off x="3583201" y="3878156"/>
              <a:ext cx="1621155" cy="1082040"/>
            </a:xfrm>
            <a:custGeom>
              <a:avLst/>
              <a:gdLst/>
              <a:ahLst/>
              <a:cxnLst/>
              <a:rect l="l" t="t" r="r" b="b"/>
              <a:pathLst>
                <a:path w="1621154" h="1082039">
                  <a:moveTo>
                    <a:pt x="0" y="886156"/>
                  </a:moveTo>
                  <a:lnTo>
                    <a:pt x="8742" y="871394"/>
                  </a:lnTo>
                  <a:lnTo>
                    <a:pt x="17197" y="744610"/>
                  </a:lnTo>
                  <a:lnTo>
                    <a:pt x="25940" y="665648"/>
                  </a:lnTo>
                  <a:lnTo>
                    <a:pt x="34682" y="634764"/>
                  </a:lnTo>
                  <a:lnTo>
                    <a:pt x="43138" y="621105"/>
                  </a:lnTo>
                  <a:lnTo>
                    <a:pt x="51880" y="608534"/>
                  </a:lnTo>
                  <a:lnTo>
                    <a:pt x="60351" y="655525"/>
                  </a:lnTo>
                  <a:lnTo>
                    <a:pt x="69078" y="722203"/>
                  </a:lnTo>
                  <a:lnTo>
                    <a:pt x="77820" y="734230"/>
                  </a:lnTo>
                  <a:lnTo>
                    <a:pt x="86291" y="780133"/>
                  </a:lnTo>
                  <a:lnTo>
                    <a:pt x="95018" y="817030"/>
                  </a:lnTo>
                  <a:lnTo>
                    <a:pt x="103761" y="910195"/>
                  </a:lnTo>
                  <a:lnTo>
                    <a:pt x="112231" y="900087"/>
                  </a:lnTo>
                  <a:lnTo>
                    <a:pt x="120974" y="915121"/>
                  </a:lnTo>
                  <a:lnTo>
                    <a:pt x="129429" y="900918"/>
                  </a:lnTo>
                  <a:lnTo>
                    <a:pt x="138172" y="836431"/>
                  </a:lnTo>
                  <a:lnTo>
                    <a:pt x="146914" y="662098"/>
                  </a:lnTo>
                  <a:lnTo>
                    <a:pt x="155370" y="567814"/>
                  </a:lnTo>
                  <a:lnTo>
                    <a:pt x="164112" y="457968"/>
                  </a:lnTo>
                  <a:lnTo>
                    <a:pt x="172855" y="320260"/>
                  </a:lnTo>
                  <a:lnTo>
                    <a:pt x="181310" y="291567"/>
                  </a:lnTo>
                  <a:lnTo>
                    <a:pt x="190052" y="372177"/>
                  </a:lnTo>
                  <a:lnTo>
                    <a:pt x="198523" y="435561"/>
                  </a:lnTo>
                  <a:lnTo>
                    <a:pt x="207250" y="522456"/>
                  </a:lnTo>
                  <a:lnTo>
                    <a:pt x="215993" y="662913"/>
                  </a:lnTo>
                  <a:lnTo>
                    <a:pt x="224463" y="740244"/>
                  </a:lnTo>
                  <a:lnTo>
                    <a:pt x="233191" y="714558"/>
                  </a:lnTo>
                  <a:lnTo>
                    <a:pt x="241933" y="715918"/>
                  </a:lnTo>
                  <a:lnTo>
                    <a:pt x="250404" y="771672"/>
                  </a:lnTo>
                  <a:lnTo>
                    <a:pt x="259131" y="805275"/>
                  </a:lnTo>
                  <a:lnTo>
                    <a:pt x="267602" y="795711"/>
                  </a:lnTo>
                  <a:lnTo>
                    <a:pt x="276344" y="865940"/>
                  </a:lnTo>
                  <a:lnTo>
                    <a:pt x="285071" y="899543"/>
                  </a:lnTo>
                  <a:lnTo>
                    <a:pt x="293542" y="829042"/>
                  </a:lnTo>
                  <a:lnTo>
                    <a:pt x="302284" y="684777"/>
                  </a:lnTo>
                  <a:lnTo>
                    <a:pt x="310740" y="613445"/>
                  </a:lnTo>
                  <a:lnTo>
                    <a:pt x="319482" y="540224"/>
                  </a:lnTo>
                  <a:lnTo>
                    <a:pt x="328225" y="415344"/>
                  </a:lnTo>
                  <a:lnTo>
                    <a:pt x="336680" y="344572"/>
                  </a:lnTo>
                  <a:lnTo>
                    <a:pt x="345423" y="359062"/>
                  </a:lnTo>
                  <a:lnTo>
                    <a:pt x="354165" y="388026"/>
                  </a:lnTo>
                  <a:lnTo>
                    <a:pt x="362636" y="365347"/>
                  </a:lnTo>
                  <a:lnTo>
                    <a:pt x="371363" y="443493"/>
                  </a:lnTo>
                  <a:lnTo>
                    <a:pt x="379834" y="574372"/>
                  </a:lnTo>
                  <a:lnTo>
                    <a:pt x="388576" y="664545"/>
                  </a:lnTo>
                  <a:lnTo>
                    <a:pt x="397303" y="718652"/>
                  </a:lnTo>
                  <a:lnTo>
                    <a:pt x="405774" y="827139"/>
                  </a:lnTo>
                  <a:lnTo>
                    <a:pt x="414516" y="840254"/>
                  </a:lnTo>
                  <a:lnTo>
                    <a:pt x="423244" y="774663"/>
                  </a:lnTo>
                  <a:lnTo>
                    <a:pt x="431714" y="786146"/>
                  </a:lnTo>
                  <a:lnTo>
                    <a:pt x="440457" y="792160"/>
                  </a:lnTo>
                  <a:lnTo>
                    <a:pt x="448912" y="770297"/>
                  </a:lnTo>
                  <a:lnTo>
                    <a:pt x="457655" y="797630"/>
                  </a:lnTo>
                  <a:lnTo>
                    <a:pt x="466397" y="855272"/>
                  </a:lnTo>
                  <a:lnTo>
                    <a:pt x="474853" y="853369"/>
                  </a:lnTo>
                  <a:lnTo>
                    <a:pt x="483595" y="824948"/>
                  </a:lnTo>
                  <a:lnTo>
                    <a:pt x="492337" y="758269"/>
                  </a:lnTo>
                  <a:lnTo>
                    <a:pt x="500793" y="720012"/>
                  </a:lnTo>
                  <a:lnTo>
                    <a:pt x="509535" y="682314"/>
                  </a:lnTo>
                  <a:lnTo>
                    <a:pt x="518006" y="576291"/>
                  </a:lnTo>
                  <a:lnTo>
                    <a:pt x="526733" y="497041"/>
                  </a:lnTo>
                  <a:lnTo>
                    <a:pt x="535476" y="483110"/>
                  </a:lnTo>
                  <a:lnTo>
                    <a:pt x="543946" y="475465"/>
                  </a:lnTo>
                  <a:lnTo>
                    <a:pt x="552674" y="457152"/>
                  </a:lnTo>
                  <a:lnTo>
                    <a:pt x="561144" y="582032"/>
                  </a:lnTo>
                  <a:lnTo>
                    <a:pt x="569887" y="739141"/>
                  </a:lnTo>
                  <a:lnTo>
                    <a:pt x="578629" y="814839"/>
                  </a:lnTo>
                  <a:lnTo>
                    <a:pt x="587084" y="829042"/>
                  </a:lnTo>
                  <a:lnTo>
                    <a:pt x="595827" y="880687"/>
                  </a:lnTo>
                  <a:lnTo>
                    <a:pt x="604569" y="859654"/>
                  </a:lnTo>
                  <a:lnTo>
                    <a:pt x="613025" y="807194"/>
                  </a:lnTo>
                  <a:lnTo>
                    <a:pt x="621767" y="806635"/>
                  </a:lnTo>
                  <a:lnTo>
                    <a:pt x="630238" y="836144"/>
                  </a:lnTo>
                  <a:lnTo>
                    <a:pt x="638965" y="830145"/>
                  </a:lnTo>
                  <a:lnTo>
                    <a:pt x="647708" y="800908"/>
                  </a:lnTo>
                  <a:lnTo>
                    <a:pt x="656178" y="737509"/>
                  </a:lnTo>
                  <a:lnTo>
                    <a:pt x="664905" y="726585"/>
                  </a:lnTo>
                  <a:lnTo>
                    <a:pt x="673648" y="696789"/>
                  </a:lnTo>
                  <a:lnTo>
                    <a:pt x="682118" y="643513"/>
                  </a:lnTo>
                  <a:lnTo>
                    <a:pt x="690846" y="646248"/>
                  </a:lnTo>
                  <a:lnTo>
                    <a:pt x="699316" y="705809"/>
                  </a:lnTo>
                  <a:lnTo>
                    <a:pt x="708059" y="716733"/>
                  </a:lnTo>
                  <a:lnTo>
                    <a:pt x="716786" y="749536"/>
                  </a:lnTo>
                  <a:lnTo>
                    <a:pt x="725257" y="806907"/>
                  </a:lnTo>
                  <a:lnTo>
                    <a:pt x="733999" y="828770"/>
                  </a:lnTo>
                  <a:lnTo>
                    <a:pt x="742726" y="800908"/>
                  </a:lnTo>
                  <a:lnTo>
                    <a:pt x="751197" y="737509"/>
                  </a:lnTo>
                  <a:lnTo>
                    <a:pt x="759939" y="726585"/>
                  </a:lnTo>
                  <a:lnTo>
                    <a:pt x="768395" y="698436"/>
                  </a:lnTo>
                  <a:lnTo>
                    <a:pt x="777137" y="669743"/>
                  </a:lnTo>
                  <a:lnTo>
                    <a:pt x="785880" y="642697"/>
                  </a:lnTo>
                  <a:lnTo>
                    <a:pt x="794335" y="648695"/>
                  </a:lnTo>
                  <a:lnTo>
                    <a:pt x="803078" y="608534"/>
                  </a:lnTo>
                  <a:lnTo>
                    <a:pt x="811820" y="642138"/>
                  </a:lnTo>
                  <a:lnTo>
                    <a:pt x="820291" y="675213"/>
                  </a:lnTo>
                  <a:lnTo>
                    <a:pt x="829018" y="735590"/>
                  </a:lnTo>
                  <a:lnTo>
                    <a:pt x="837489" y="794351"/>
                  </a:lnTo>
                  <a:lnTo>
                    <a:pt x="846231" y="842429"/>
                  </a:lnTo>
                  <a:lnTo>
                    <a:pt x="854958" y="812921"/>
                  </a:lnTo>
                  <a:lnTo>
                    <a:pt x="863429" y="746529"/>
                  </a:lnTo>
                  <a:lnTo>
                    <a:pt x="872171" y="732855"/>
                  </a:lnTo>
                  <a:lnTo>
                    <a:pt x="880627" y="698708"/>
                  </a:lnTo>
                  <a:lnTo>
                    <a:pt x="889369" y="617555"/>
                  </a:lnTo>
                  <a:lnTo>
                    <a:pt x="898112" y="595691"/>
                  </a:lnTo>
                  <a:lnTo>
                    <a:pt x="906567" y="633405"/>
                  </a:lnTo>
                  <a:lnTo>
                    <a:pt x="915310" y="623840"/>
                  </a:lnTo>
                  <a:lnTo>
                    <a:pt x="924052" y="658260"/>
                  </a:lnTo>
                  <a:lnTo>
                    <a:pt x="932508" y="746529"/>
                  </a:lnTo>
                  <a:lnTo>
                    <a:pt x="941250" y="797902"/>
                  </a:lnTo>
                  <a:lnTo>
                    <a:pt x="949721" y="770025"/>
                  </a:lnTo>
                  <a:lnTo>
                    <a:pt x="958448" y="706897"/>
                  </a:lnTo>
                  <a:lnTo>
                    <a:pt x="967190" y="650342"/>
                  </a:lnTo>
                  <a:lnTo>
                    <a:pt x="975661" y="593772"/>
                  </a:lnTo>
                  <a:lnTo>
                    <a:pt x="984388" y="488852"/>
                  </a:lnTo>
                  <a:lnTo>
                    <a:pt x="993131" y="492675"/>
                  </a:lnTo>
                  <a:lnTo>
                    <a:pt x="1001601" y="556074"/>
                  </a:lnTo>
                  <a:lnTo>
                    <a:pt x="1010329" y="586671"/>
                  </a:lnTo>
                  <a:lnTo>
                    <a:pt x="1018799" y="618371"/>
                  </a:lnTo>
                  <a:lnTo>
                    <a:pt x="1027542" y="702531"/>
                  </a:lnTo>
                  <a:lnTo>
                    <a:pt x="1036284" y="726298"/>
                  </a:lnTo>
                  <a:lnTo>
                    <a:pt x="1044740" y="669743"/>
                  </a:lnTo>
                  <a:lnTo>
                    <a:pt x="1053482" y="578482"/>
                  </a:lnTo>
                  <a:lnTo>
                    <a:pt x="1062224" y="541312"/>
                  </a:lnTo>
                  <a:lnTo>
                    <a:pt x="1070680" y="533395"/>
                  </a:lnTo>
                  <a:lnTo>
                    <a:pt x="1079422" y="476825"/>
                  </a:lnTo>
                  <a:lnTo>
                    <a:pt x="1087893" y="529285"/>
                  </a:lnTo>
                  <a:lnTo>
                    <a:pt x="1096620" y="645689"/>
                  </a:lnTo>
                  <a:lnTo>
                    <a:pt x="1105363" y="684490"/>
                  </a:lnTo>
                  <a:lnTo>
                    <a:pt x="1113833" y="660451"/>
                  </a:lnTo>
                  <a:lnTo>
                    <a:pt x="1122561" y="663729"/>
                  </a:lnTo>
                  <a:lnTo>
                    <a:pt x="1131031" y="557706"/>
                  </a:lnTo>
                  <a:lnTo>
                    <a:pt x="1139774" y="391018"/>
                  </a:lnTo>
                  <a:lnTo>
                    <a:pt x="1148501" y="280084"/>
                  </a:lnTo>
                  <a:lnTo>
                    <a:pt x="1156971" y="253582"/>
                  </a:lnTo>
                  <a:lnTo>
                    <a:pt x="1165714" y="331185"/>
                  </a:lnTo>
                  <a:lnTo>
                    <a:pt x="1174441" y="486933"/>
                  </a:lnTo>
                  <a:lnTo>
                    <a:pt x="1182912" y="673838"/>
                  </a:lnTo>
                  <a:lnTo>
                    <a:pt x="1191654" y="799534"/>
                  </a:lnTo>
                  <a:lnTo>
                    <a:pt x="1200110" y="820022"/>
                  </a:lnTo>
                  <a:lnTo>
                    <a:pt x="1208852" y="682042"/>
                  </a:lnTo>
                  <a:lnTo>
                    <a:pt x="1217595" y="545966"/>
                  </a:lnTo>
                  <a:lnTo>
                    <a:pt x="1226050" y="436936"/>
                  </a:lnTo>
                  <a:lnTo>
                    <a:pt x="1234792" y="332272"/>
                  </a:lnTo>
                  <a:lnTo>
                    <a:pt x="1243535" y="306314"/>
                  </a:lnTo>
                  <a:lnTo>
                    <a:pt x="1251990" y="442949"/>
                  </a:lnTo>
                  <a:lnTo>
                    <a:pt x="1260733" y="549517"/>
                  </a:lnTo>
                  <a:lnTo>
                    <a:pt x="1269203" y="553339"/>
                  </a:lnTo>
                  <a:lnTo>
                    <a:pt x="1277946" y="637499"/>
                  </a:lnTo>
                  <a:lnTo>
                    <a:pt x="1286673" y="697892"/>
                  </a:lnTo>
                  <a:lnTo>
                    <a:pt x="1295144" y="627935"/>
                  </a:lnTo>
                  <a:lnTo>
                    <a:pt x="1303886" y="500320"/>
                  </a:lnTo>
                  <a:lnTo>
                    <a:pt x="1312613" y="451139"/>
                  </a:lnTo>
                  <a:lnTo>
                    <a:pt x="1321084" y="312328"/>
                  </a:lnTo>
                  <a:lnTo>
                    <a:pt x="1329826" y="148375"/>
                  </a:lnTo>
                  <a:lnTo>
                    <a:pt x="1338282" y="91820"/>
                  </a:lnTo>
                  <a:lnTo>
                    <a:pt x="1347024" y="137995"/>
                  </a:lnTo>
                  <a:lnTo>
                    <a:pt x="1355767" y="210127"/>
                  </a:lnTo>
                  <a:lnTo>
                    <a:pt x="1364222" y="268888"/>
                  </a:lnTo>
                  <a:lnTo>
                    <a:pt x="1372965" y="354952"/>
                  </a:lnTo>
                  <a:lnTo>
                    <a:pt x="1381707" y="355224"/>
                  </a:lnTo>
                  <a:lnTo>
                    <a:pt x="1390163" y="272983"/>
                  </a:lnTo>
                  <a:lnTo>
                    <a:pt x="1398905" y="150294"/>
                  </a:lnTo>
                  <a:lnTo>
                    <a:pt x="1407376" y="115587"/>
                  </a:lnTo>
                  <a:lnTo>
                    <a:pt x="1416103" y="84159"/>
                  </a:lnTo>
                  <a:lnTo>
                    <a:pt x="1424845" y="80337"/>
                  </a:lnTo>
                  <a:lnTo>
                    <a:pt x="1433316" y="103288"/>
                  </a:lnTo>
                  <a:lnTo>
                    <a:pt x="1442043" y="220795"/>
                  </a:lnTo>
                  <a:lnTo>
                    <a:pt x="1450514" y="324899"/>
                  </a:lnTo>
                  <a:lnTo>
                    <a:pt x="1459256" y="485301"/>
                  </a:lnTo>
                  <a:lnTo>
                    <a:pt x="1467984" y="669471"/>
                  </a:lnTo>
                  <a:lnTo>
                    <a:pt x="1476454" y="856647"/>
                  </a:lnTo>
                  <a:lnTo>
                    <a:pt x="1485197" y="941895"/>
                  </a:lnTo>
                  <a:lnTo>
                    <a:pt x="1493939" y="942726"/>
                  </a:lnTo>
                  <a:lnTo>
                    <a:pt x="1502395" y="854185"/>
                  </a:lnTo>
                  <a:lnTo>
                    <a:pt x="1511137" y="736134"/>
                  </a:lnTo>
                  <a:lnTo>
                    <a:pt x="1519608" y="620002"/>
                  </a:lnTo>
                  <a:lnTo>
                    <a:pt x="1528335" y="567542"/>
                  </a:lnTo>
                  <a:lnTo>
                    <a:pt x="1537077" y="620002"/>
                  </a:lnTo>
                  <a:lnTo>
                    <a:pt x="1545548" y="737781"/>
                  </a:lnTo>
                  <a:lnTo>
                    <a:pt x="1554275" y="855560"/>
                  </a:lnTo>
                  <a:lnTo>
                    <a:pt x="1563018" y="1001472"/>
                  </a:lnTo>
                  <a:lnTo>
                    <a:pt x="1571488" y="1081809"/>
                  </a:lnTo>
                  <a:lnTo>
                    <a:pt x="1580216" y="1080434"/>
                  </a:lnTo>
                  <a:lnTo>
                    <a:pt x="1588686" y="970588"/>
                  </a:lnTo>
                  <a:lnTo>
                    <a:pt x="1597429" y="833424"/>
                  </a:lnTo>
                  <a:lnTo>
                    <a:pt x="1606156" y="682314"/>
                  </a:lnTo>
                  <a:lnTo>
                    <a:pt x="1614627" y="586943"/>
                  </a:lnTo>
                </a:path>
                <a:path w="1621154" h="1082039">
                  <a:moveTo>
                    <a:pt x="1511681" y="0"/>
                  </a:moveTo>
                  <a:lnTo>
                    <a:pt x="1620636" y="0"/>
                  </a:lnTo>
                </a:path>
              </a:pathLst>
            </a:custGeom>
            <a:ln w="7552">
              <a:solidFill>
                <a:srgbClr val="004FE9"/>
              </a:solidFill>
            </a:ln>
          </p:spPr>
          <p:txBody>
            <a:bodyPr wrap="square" lIns="0" tIns="0" rIns="0" bIns="0" rtlCol="0"/>
            <a:lstStyle/>
            <a:p>
              <a:endParaRPr/>
            </a:p>
          </p:txBody>
        </p:sp>
        <p:sp>
          <p:nvSpPr>
            <p:cNvPr id="60" name="object 60"/>
            <p:cNvSpPr/>
            <p:nvPr/>
          </p:nvSpPr>
          <p:spPr>
            <a:xfrm>
              <a:off x="3540052" y="3841821"/>
              <a:ext cx="1710055" cy="1139825"/>
            </a:xfrm>
            <a:custGeom>
              <a:avLst/>
              <a:gdLst/>
              <a:ahLst/>
              <a:cxnLst/>
              <a:rect l="l" t="t" r="r" b="b"/>
              <a:pathLst>
                <a:path w="1710054" h="1139825">
                  <a:moveTo>
                    <a:pt x="0" y="1139724"/>
                  </a:moveTo>
                  <a:lnTo>
                    <a:pt x="1709661" y="1139724"/>
                  </a:lnTo>
                  <a:lnTo>
                    <a:pt x="1709661" y="0"/>
                  </a:lnTo>
                  <a:lnTo>
                    <a:pt x="0" y="0"/>
                  </a:lnTo>
                  <a:lnTo>
                    <a:pt x="0" y="1139724"/>
                  </a:lnTo>
                  <a:close/>
                </a:path>
              </a:pathLst>
            </a:custGeom>
            <a:ln w="3776">
              <a:solidFill>
                <a:srgbClr val="000000"/>
              </a:solidFill>
            </a:ln>
          </p:spPr>
          <p:txBody>
            <a:bodyPr wrap="square" lIns="0" tIns="0" rIns="0" bIns="0" rtlCol="0"/>
            <a:lstStyle/>
            <a:p>
              <a:endParaRPr/>
            </a:p>
          </p:txBody>
        </p:sp>
      </p:grpSp>
      <p:sp>
        <p:nvSpPr>
          <p:cNvPr id="61" name="object 61"/>
          <p:cNvSpPr txBox="1"/>
          <p:nvPr/>
        </p:nvSpPr>
        <p:spPr>
          <a:xfrm>
            <a:off x="3570512" y="3852197"/>
            <a:ext cx="81915" cy="91440"/>
          </a:xfrm>
          <a:prstGeom prst="rect">
            <a:avLst/>
          </a:prstGeom>
        </p:spPr>
        <p:txBody>
          <a:bodyPr vert="horz" wrap="square" lIns="0" tIns="16510" rIns="0" bIns="0" rtlCol="0">
            <a:spAutoFit/>
          </a:bodyPr>
          <a:lstStyle/>
          <a:p>
            <a:pPr marL="12700">
              <a:lnSpc>
                <a:spcPct val="100000"/>
              </a:lnSpc>
              <a:spcBef>
                <a:spcPts val="130"/>
              </a:spcBef>
            </a:pPr>
            <a:r>
              <a:rPr sz="400" spc="-25" dirty="0">
                <a:latin typeface="Arial"/>
                <a:cs typeface="Arial"/>
              </a:rPr>
              <a:t>Pv</a:t>
            </a:r>
            <a:endParaRPr sz="400">
              <a:latin typeface="Arial"/>
              <a:cs typeface="Arial"/>
            </a:endParaRPr>
          </a:p>
        </p:txBody>
      </p:sp>
      <p:sp>
        <p:nvSpPr>
          <p:cNvPr id="62" name="object 62"/>
          <p:cNvSpPr/>
          <p:nvPr/>
        </p:nvSpPr>
        <p:spPr>
          <a:xfrm>
            <a:off x="3933732" y="4188206"/>
            <a:ext cx="751840" cy="587375"/>
          </a:xfrm>
          <a:custGeom>
            <a:avLst/>
            <a:gdLst/>
            <a:ahLst/>
            <a:cxnLst/>
            <a:rect l="l" t="t" r="r" b="b"/>
            <a:pathLst>
              <a:path w="751839" h="587375">
                <a:moveTo>
                  <a:pt x="0" y="586943"/>
                </a:moveTo>
                <a:lnTo>
                  <a:pt x="751227" y="586943"/>
                </a:lnTo>
                <a:lnTo>
                  <a:pt x="751227" y="0"/>
                </a:lnTo>
                <a:lnTo>
                  <a:pt x="0" y="0"/>
                </a:lnTo>
                <a:lnTo>
                  <a:pt x="0" y="586943"/>
                </a:lnTo>
                <a:close/>
              </a:path>
            </a:pathLst>
          </a:custGeom>
          <a:ln w="7552">
            <a:solidFill>
              <a:srgbClr val="ED1C24"/>
            </a:solidFill>
          </a:ln>
        </p:spPr>
        <p:txBody>
          <a:bodyPr wrap="square" lIns="0" tIns="0" rIns="0" bIns="0" rtlCol="0"/>
          <a:lstStyle/>
          <a:p>
            <a:endParaRPr/>
          </a:p>
        </p:txBody>
      </p:sp>
      <p:grpSp>
        <p:nvGrpSpPr>
          <p:cNvPr id="63" name="object 63"/>
          <p:cNvGrpSpPr/>
          <p:nvPr/>
        </p:nvGrpSpPr>
        <p:grpSpPr>
          <a:xfrm>
            <a:off x="6063853" y="956555"/>
            <a:ext cx="1706245" cy="703580"/>
            <a:chOff x="6063853" y="956555"/>
            <a:chExt cx="1706245" cy="703580"/>
          </a:xfrm>
        </p:grpSpPr>
        <p:sp>
          <p:nvSpPr>
            <p:cNvPr id="64" name="object 64"/>
            <p:cNvSpPr/>
            <p:nvPr/>
          </p:nvSpPr>
          <p:spPr>
            <a:xfrm>
              <a:off x="6316498" y="960365"/>
              <a:ext cx="586740" cy="530860"/>
            </a:xfrm>
            <a:custGeom>
              <a:avLst/>
              <a:gdLst/>
              <a:ahLst/>
              <a:cxnLst/>
              <a:rect l="l" t="t" r="r" b="b"/>
              <a:pathLst>
                <a:path w="586740" h="530860">
                  <a:moveTo>
                    <a:pt x="0" y="530388"/>
                  </a:moveTo>
                  <a:lnTo>
                    <a:pt x="586541" y="530388"/>
                  </a:lnTo>
                  <a:lnTo>
                    <a:pt x="586541" y="0"/>
                  </a:lnTo>
                  <a:lnTo>
                    <a:pt x="0" y="0"/>
                  </a:lnTo>
                  <a:lnTo>
                    <a:pt x="0" y="530388"/>
                  </a:lnTo>
                  <a:close/>
                </a:path>
              </a:pathLst>
            </a:custGeom>
            <a:ln w="7552">
              <a:solidFill>
                <a:srgbClr val="ED1C24"/>
              </a:solidFill>
            </a:ln>
          </p:spPr>
          <p:txBody>
            <a:bodyPr wrap="square" lIns="0" tIns="0" rIns="0" bIns="0" rtlCol="0"/>
            <a:lstStyle/>
            <a:p>
              <a:endParaRPr/>
            </a:p>
          </p:txBody>
        </p:sp>
        <p:sp>
          <p:nvSpPr>
            <p:cNvPr id="65" name="object 65"/>
            <p:cNvSpPr/>
            <p:nvPr/>
          </p:nvSpPr>
          <p:spPr>
            <a:xfrm>
              <a:off x="6065758" y="1658205"/>
              <a:ext cx="1702435" cy="0"/>
            </a:xfrm>
            <a:custGeom>
              <a:avLst/>
              <a:gdLst/>
              <a:ahLst/>
              <a:cxnLst/>
              <a:rect l="l" t="t" r="r" b="b"/>
              <a:pathLst>
                <a:path w="1702434">
                  <a:moveTo>
                    <a:pt x="0" y="0"/>
                  </a:moveTo>
                  <a:lnTo>
                    <a:pt x="1702428" y="0"/>
                  </a:lnTo>
                </a:path>
              </a:pathLst>
            </a:custGeom>
            <a:ln w="3777">
              <a:solidFill>
                <a:srgbClr val="000000"/>
              </a:solidFill>
              <a:prstDash val="dash"/>
            </a:ln>
          </p:spPr>
          <p:txBody>
            <a:bodyPr wrap="square" lIns="0" tIns="0" rIns="0" bIns="0" rtlCol="0"/>
            <a:lstStyle/>
            <a:p>
              <a:endParaRPr/>
            </a:p>
          </p:txBody>
        </p:sp>
        <p:sp>
          <p:nvSpPr>
            <p:cNvPr id="66" name="object 66"/>
            <p:cNvSpPr/>
            <p:nvPr/>
          </p:nvSpPr>
          <p:spPr>
            <a:xfrm>
              <a:off x="6065762" y="1658205"/>
              <a:ext cx="1702435" cy="0"/>
            </a:xfrm>
            <a:custGeom>
              <a:avLst/>
              <a:gdLst/>
              <a:ahLst/>
              <a:cxnLst/>
              <a:rect l="l" t="t" r="r" b="b"/>
              <a:pathLst>
                <a:path w="1702434">
                  <a:moveTo>
                    <a:pt x="1702428" y="0"/>
                  </a:moveTo>
                  <a:lnTo>
                    <a:pt x="1685291" y="0"/>
                  </a:lnTo>
                </a:path>
                <a:path w="1702434">
                  <a:moveTo>
                    <a:pt x="0" y="0"/>
                  </a:moveTo>
                  <a:lnTo>
                    <a:pt x="17122" y="0"/>
                  </a:lnTo>
                </a:path>
              </a:pathLst>
            </a:custGeom>
            <a:ln w="3776">
              <a:solidFill>
                <a:srgbClr val="000000"/>
              </a:solidFill>
            </a:ln>
          </p:spPr>
          <p:txBody>
            <a:bodyPr wrap="square" lIns="0" tIns="0" rIns="0" bIns="0" rtlCol="0"/>
            <a:lstStyle/>
            <a:p>
              <a:endParaRPr/>
            </a:p>
          </p:txBody>
        </p:sp>
      </p:grpSp>
      <p:grpSp>
        <p:nvGrpSpPr>
          <p:cNvPr id="67" name="object 67"/>
          <p:cNvGrpSpPr/>
          <p:nvPr/>
        </p:nvGrpSpPr>
        <p:grpSpPr>
          <a:xfrm>
            <a:off x="1409528" y="508414"/>
            <a:ext cx="1703705" cy="1130935"/>
            <a:chOff x="1409528" y="508414"/>
            <a:chExt cx="1703705" cy="1130935"/>
          </a:xfrm>
        </p:grpSpPr>
        <p:sp>
          <p:nvSpPr>
            <p:cNvPr id="68" name="object 68"/>
            <p:cNvSpPr/>
            <p:nvPr/>
          </p:nvSpPr>
          <p:spPr>
            <a:xfrm>
              <a:off x="1411433" y="1637291"/>
              <a:ext cx="1699895" cy="0"/>
            </a:xfrm>
            <a:custGeom>
              <a:avLst/>
              <a:gdLst/>
              <a:ahLst/>
              <a:cxnLst/>
              <a:rect l="l" t="t" r="r" b="b"/>
              <a:pathLst>
                <a:path w="1699895">
                  <a:moveTo>
                    <a:pt x="0" y="0"/>
                  </a:moveTo>
                  <a:lnTo>
                    <a:pt x="1699408" y="0"/>
                  </a:lnTo>
                </a:path>
              </a:pathLst>
            </a:custGeom>
            <a:ln w="3777">
              <a:solidFill>
                <a:srgbClr val="000000"/>
              </a:solidFill>
              <a:prstDash val="dash"/>
            </a:ln>
          </p:spPr>
          <p:txBody>
            <a:bodyPr wrap="square" lIns="0" tIns="0" rIns="0" bIns="0" rtlCol="0"/>
            <a:lstStyle/>
            <a:p>
              <a:endParaRPr/>
            </a:p>
          </p:txBody>
        </p:sp>
        <p:sp>
          <p:nvSpPr>
            <p:cNvPr id="69" name="object 69"/>
            <p:cNvSpPr/>
            <p:nvPr/>
          </p:nvSpPr>
          <p:spPr>
            <a:xfrm>
              <a:off x="1411439" y="1637291"/>
              <a:ext cx="1699895" cy="0"/>
            </a:xfrm>
            <a:custGeom>
              <a:avLst/>
              <a:gdLst/>
              <a:ahLst/>
              <a:cxnLst/>
              <a:rect l="l" t="t" r="r" b="b"/>
              <a:pathLst>
                <a:path w="1699895">
                  <a:moveTo>
                    <a:pt x="1699408" y="0"/>
                  </a:moveTo>
                  <a:lnTo>
                    <a:pt x="1682301" y="0"/>
                  </a:lnTo>
                </a:path>
                <a:path w="1699895">
                  <a:moveTo>
                    <a:pt x="0" y="0"/>
                  </a:moveTo>
                  <a:lnTo>
                    <a:pt x="17092" y="0"/>
                  </a:lnTo>
                </a:path>
              </a:pathLst>
            </a:custGeom>
            <a:ln w="3776">
              <a:solidFill>
                <a:srgbClr val="000000"/>
              </a:solidFill>
            </a:ln>
          </p:spPr>
          <p:txBody>
            <a:bodyPr wrap="square" lIns="0" tIns="0" rIns="0" bIns="0" rtlCol="0"/>
            <a:lstStyle/>
            <a:p>
              <a:endParaRPr/>
            </a:p>
          </p:txBody>
        </p:sp>
        <p:sp>
          <p:nvSpPr>
            <p:cNvPr id="70" name="object 70"/>
            <p:cNvSpPr/>
            <p:nvPr/>
          </p:nvSpPr>
          <p:spPr>
            <a:xfrm>
              <a:off x="1411433" y="1476258"/>
              <a:ext cx="1699895" cy="0"/>
            </a:xfrm>
            <a:custGeom>
              <a:avLst/>
              <a:gdLst/>
              <a:ahLst/>
              <a:cxnLst/>
              <a:rect l="l" t="t" r="r" b="b"/>
              <a:pathLst>
                <a:path w="1699895">
                  <a:moveTo>
                    <a:pt x="0" y="0"/>
                  </a:moveTo>
                  <a:lnTo>
                    <a:pt x="1699408" y="0"/>
                  </a:lnTo>
                </a:path>
              </a:pathLst>
            </a:custGeom>
            <a:ln w="3777">
              <a:solidFill>
                <a:srgbClr val="000000"/>
              </a:solidFill>
              <a:prstDash val="dash"/>
            </a:ln>
          </p:spPr>
          <p:txBody>
            <a:bodyPr wrap="square" lIns="0" tIns="0" rIns="0" bIns="0" rtlCol="0"/>
            <a:lstStyle/>
            <a:p>
              <a:endParaRPr/>
            </a:p>
          </p:txBody>
        </p:sp>
        <p:sp>
          <p:nvSpPr>
            <p:cNvPr id="71" name="object 71"/>
            <p:cNvSpPr/>
            <p:nvPr/>
          </p:nvSpPr>
          <p:spPr>
            <a:xfrm>
              <a:off x="1411439" y="1476258"/>
              <a:ext cx="1699895" cy="0"/>
            </a:xfrm>
            <a:custGeom>
              <a:avLst/>
              <a:gdLst/>
              <a:ahLst/>
              <a:cxnLst/>
              <a:rect l="l" t="t" r="r" b="b"/>
              <a:pathLst>
                <a:path w="1699895">
                  <a:moveTo>
                    <a:pt x="1699408" y="0"/>
                  </a:moveTo>
                  <a:lnTo>
                    <a:pt x="1682301" y="0"/>
                  </a:lnTo>
                </a:path>
                <a:path w="1699895">
                  <a:moveTo>
                    <a:pt x="0" y="0"/>
                  </a:moveTo>
                  <a:lnTo>
                    <a:pt x="17092" y="0"/>
                  </a:lnTo>
                </a:path>
              </a:pathLst>
            </a:custGeom>
            <a:ln w="3776">
              <a:solidFill>
                <a:srgbClr val="000000"/>
              </a:solidFill>
            </a:ln>
          </p:spPr>
          <p:txBody>
            <a:bodyPr wrap="square" lIns="0" tIns="0" rIns="0" bIns="0" rtlCol="0"/>
            <a:lstStyle/>
            <a:p>
              <a:endParaRPr/>
            </a:p>
          </p:txBody>
        </p:sp>
        <p:sp>
          <p:nvSpPr>
            <p:cNvPr id="72" name="object 72"/>
            <p:cNvSpPr/>
            <p:nvPr/>
          </p:nvSpPr>
          <p:spPr>
            <a:xfrm>
              <a:off x="1411433" y="1315223"/>
              <a:ext cx="1699895" cy="0"/>
            </a:xfrm>
            <a:custGeom>
              <a:avLst/>
              <a:gdLst/>
              <a:ahLst/>
              <a:cxnLst/>
              <a:rect l="l" t="t" r="r" b="b"/>
              <a:pathLst>
                <a:path w="1699895">
                  <a:moveTo>
                    <a:pt x="0" y="0"/>
                  </a:moveTo>
                  <a:lnTo>
                    <a:pt x="1699408" y="0"/>
                  </a:lnTo>
                </a:path>
              </a:pathLst>
            </a:custGeom>
            <a:ln w="3777">
              <a:solidFill>
                <a:srgbClr val="000000"/>
              </a:solidFill>
              <a:prstDash val="dash"/>
            </a:ln>
          </p:spPr>
          <p:txBody>
            <a:bodyPr wrap="square" lIns="0" tIns="0" rIns="0" bIns="0" rtlCol="0"/>
            <a:lstStyle/>
            <a:p>
              <a:endParaRPr/>
            </a:p>
          </p:txBody>
        </p:sp>
        <p:sp>
          <p:nvSpPr>
            <p:cNvPr id="73" name="object 73"/>
            <p:cNvSpPr/>
            <p:nvPr/>
          </p:nvSpPr>
          <p:spPr>
            <a:xfrm>
              <a:off x="1411439" y="1315223"/>
              <a:ext cx="1699895" cy="0"/>
            </a:xfrm>
            <a:custGeom>
              <a:avLst/>
              <a:gdLst/>
              <a:ahLst/>
              <a:cxnLst/>
              <a:rect l="l" t="t" r="r" b="b"/>
              <a:pathLst>
                <a:path w="1699895">
                  <a:moveTo>
                    <a:pt x="1699408" y="0"/>
                  </a:moveTo>
                  <a:lnTo>
                    <a:pt x="1682301" y="0"/>
                  </a:lnTo>
                </a:path>
                <a:path w="1699895">
                  <a:moveTo>
                    <a:pt x="0" y="0"/>
                  </a:moveTo>
                  <a:lnTo>
                    <a:pt x="17092" y="0"/>
                  </a:lnTo>
                </a:path>
              </a:pathLst>
            </a:custGeom>
            <a:ln w="3776">
              <a:solidFill>
                <a:srgbClr val="000000"/>
              </a:solidFill>
            </a:ln>
          </p:spPr>
          <p:txBody>
            <a:bodyPr wrap="square" lIns="0" tIns="0" rIns="0" bIns="0" rtlCol="0"/>
            <a:lstStyle/>
            <a:p>
              <a:endParaRPr/>
            </a:p>
          </p:txBody>
        </p:sp>
        <p:sp>
          <p:nvSpPr>
            <p:cNvPr id="74" name="object 74"/>
            <p:cNvSpPr/>
            <p:nvPr/>
          </p:nvSpPr>
          <p:spPr>
            <a:xfrm>
              <a:off x="1411433" y="1154188"/>
              <a:ext cx="1699895" cy="0"/>
            </a:xfrm>
            <a:custGeom>
              <a:avLst/>
              <a:gdLst/>
              <a:ahLst/>
              <a:cxnLst/>
              <a:rect l="l" t="t" r="r" b="b"/>
              <a:pathLst>
                <a:path w="1699895">
                  <a:moveTo>
                    <a:pt x="0" y="0"/>
                  </a:moveTo>
                  <a:lnTo>
                    <a:pt x="1699408" y="0"/>
                  </a:lnTo>
                </a:path>
              </a:pathLst>
            </a:custGeom>
            <a:ln w="3777">
              <a:solidFill>
                <a:srgbClr val="000000"/>
              </a:solidFill>
              <a:prstDash val="dash"/>
            </a:ln>
          </p:spPr>
          <p:txBody>
            <a:bodyPr wrap="square" lIns="0" tIns="0" rIns="0" bIns="0" rtlCol="0"/>
            <a:lstStyle/>
            <a:p>
              <a:endParaRPr/>
            </a:p>
          </p:txBody>
        </p:sp>
        <p:sp>
          <p:nvSpPr>
            <p:cNvPr id="75" name="object 75"/>
            <p:cNvSpPr/>
            <p:nvPr/>
          </p:nvSpPr>
          <p:spPr>
            <a:xfrm>
              <a:off x="1411439" y="1154188"/>
              <a:ext cx="1699895" cy="0"/>
            </a:xfrm>
            <a:custGeom>
              <a:avLst/>
              <a:gdLst/>
              <a:ahLst/>
              <a:cxnLst/>
              <a:rect l="l" t="t" r="r" b="b"/>
              <a:pathLst>
                <a:path w="1699895">
                  <a:moveTo>
                    <a:pt x="1699408" y="0"/>
                  </a:moveTo>
                  <a:lnTo>
                    <a:pt x="1682301" y="0"/>
                  </a:lnTo>
                </a:path>
                <a:path w="1699895">
                  <a:moveTo>
                    <a:pt x="0" y="0"/>
                  </a:moveTo>
                  <a:lnTo>
                    <a:pt x="17092" y="0"/>
                  </a:lnTo>
                </a:path>
              </a:pathLst>
            </a:custGeom>
            <a:ln w="3776">
              <a:solidFill>
                <a:srgbClr val="000000"/>
              </a:solidFill>
            </a:ln>
          </p:spPr>
          <p:txBody>
            <a:bodyPr wrap="square" lIns="0" tIns="0" rIns="0" bIns="0" rtlCol="0"/>
            <a:lstStyle/>
            <a:p>
              <a:endParaRPr/>
            </a:p>
          </p:txBody>
        </p:sp>
        <p:sp>
          <p:nvSpPr>
            <p:cNvPr id="76" name="object 76"/>
            <p:cNvSpPr/>
            <p:nvPr/>
          </p:nvSpPr>
          <p:spPr>
            <a:xfrm>
              <a:off x="1411433" y="993423"/>
              <a:ext cx="1699895" cy="0"/>
            </a:xfrm>
            <a:custGeom>
              <a:avLst/>
              <a:gdLst/>
              <a:ahLst/>
              <a:cxnLst/>
              <a:rect l="l" t="t" r="r" b="b"/>
              <a:pathLst>
                <a:path w="1699895">
                  <a:moveTo>
                    <a:pt x="0" y="0"/>
                  </a:moveTo>
                  <a:lnTo>
                    <a:pt x="1699408" y="0"/>
                  </a:lnTo>
                </a:path>
              </a:pathLst>
            </a:custGeom>
            <a:ln w="3777">
              <a:solidFill>
                <a:srgbClr val="000000"/>
              </a:solidFill>
              <a:prstDash val="dash"/>
            </a:ln>
          </p:spPr>
          <p:txBody>
            <a:bodyPr wrap="square" lIns="0" tIns="0" rIns="0" bIns="0" rtlCol="0"/>
            <a:lstStyle/>
            <a:p>
              <a:endParaRPr/>
            </a:p>
          </p:txBody>
        </p:sp>
        <p:sp>
          <p:nvSpPr>
            <p:cNvPr id="77" name="object 77"/>
            <p:cNvSpPr/>
            <p:nvPr/>
          </p:nvSpPr>
          <p:spPr>
            <a:xfrm>
              <a:off x="1411439" y="993423"/>
              <a:ext cx="1699895" cy="0"/>
            </a:xfrm>
            <a:custGeom>
              <a:avLst/>
              <a:gdLst/>
              <a:ahLst/>
              <a:cxnLst/>
              <a:rect l="l" t="t" r="r" b="b"/>
              <a:pathLst>
                <a:path w="1699895">
                  <a:moveTo>
                    <a:pt x="1699408" y="0"/>
                  </a:moveTo>
                  <a:lnTo>
                    <a:pt x="1682301" y="0"/>
                  </a:lnTo>
                </a:path>
                <a:path w="1699895">
                  <a:moveTo>
                    <a:pt x="0" y="0"/>
                  </a:moveTo>
                  <a:lnTo>
                    <a:pt x="17092" y="0"/>
                  </a:lnTo>
                </a:path>
              </a:pathLst>
            </a:custGeom>
            <a:ln w="3776">
              <a:solidFill>
                <a:srgbClr val="000000"/>
              </a:solidFill>
            </a:ln>
          </p:spPr>
          <p:txBody>
            <a:bodyPr wrap="square" lIns="0" tIns="0" rIns="0" bIns="0" rtlCol="0"/>
            <a:lstStyle/>
            <a:p>
              <a:endParaRPr/>
            </a:p>
          </p:txBody>
        </p:sp>
        <p:sp>
          <p:nvSpPr>
            <p:cNvPr id="78" name="object 78"/>
            <p:cNvSpPr/>
            <p:nvPr/>
          </p:nvSpPr>
          <p:spPr>
            <a:xfrm>
              <a:off x="1411433" y="832388"/>
              <a:ext cx="1699895" cy="0"/>
            </a:xfrm>
            <a:custGeom>
              <a:avLst/>
              <a:gdLst/>
              <a:ahLst/>
              <a:cxnLst/>
              <a:rect l="l" t="t" r="r" b="b"/>
              <a:pathLst>
                <a:path w="1699895">
                  <a:moveTo>
                    <a:pt x="0" y="0"/>
                  </a:moveTo>
                  <a:lnTo>
                    <a:pt x="1699408" y="0"/>
                  </a:lnTo>
                </a:path>
              </a:pathLst>
            </a:custGeom>
            <a:ln w="3777">
              <a:solidFill>
                <a:srgbClr val="000000"/>
              </a:solidFill>
              <a:prstDash val="dash"/>
            </a:ln>
          </p:spPr>
          <p:txBody>
            <a:bodyPr wrap="square" lIns="0" tIns="0" rIns="0" bIns="0" rtlCol="0"/>
            <a:lstStyle/>
            <a:p>
              <a:endParaRPr/>
            </a:p>
          </p:txBody>
        </p:sp>
        <p:sp>
          <p:nvSpPr>
            <p:cNvPr id="79" name="object 79"/>
            <p:cNvSpPr/>
            <p:nvPr/>
          </p:nvSpPr>
          <p:spPr>
            <a:xfrm>
              <a:off x="1411439" y="832388"/>
              <a:ext cx="1699895" cy="0"/>
            </a:xfrm>
            <a:custGeom>
              <a:avLst/>
              <a:gdLst/>
              <a:ahLst/>
              <a:cxnLst/>
              <a:rect l="l" t="t" r="r" b="b"/>
              <a:pathLst>
                <a:path w="1699895">
                  <a:moveTo>
                    <a:pt x="1699408" y="0"/>
                  </a:moveTo>
                  <a:lnTo>
                    <a:pt x="1682301" y="0"/>
                  </a:lnTo>
                </a:path>
                <a:path w="1699895">
                  <a:moveTo>
                    <a:pt x="0" y="0"/>
                  </a:moveTo>
                  <a:lnTo>
                    <a:pt x="17092" y="0"/>
                  </a:lnTo>
                </a:path>
              </a:pathLst>
            </a:custGeom>
            <a:ln w="3776">
              <a:solidFill>
                <a:srgbClr val="000000"/>
              </a:solidFill>
            </a:ln>
          </p:spPr>
          <p:txBody>
            <a:bodyPr wrap="square" lIns="0" tIns="0" rIns="0" bIns="0" rtlCol="0"/>
            <a:lstStyle/>
            <a:p>
              <a:endParaRPr/>
            </a:p>
          </p:txBody>
        </p:sp>
        <p:sp>
          <p:nvSpPr>
            <p:cNvPr id="80" name="object 80"/>
            <p:cNvSpPr/>
            <p:nvPr/>
          </p:nvSpPr>
          <p:spPr>
            <a:xfrm>
              <a:off x="1411433" y="671353"/>
              <a:ext cx="1699895" cy="0"/>
            </a:xfrm>
            <a:custGeom>
              <a:avLst/>
              <a:gdLst/>
              <a:ahLst/>
              <a:cxnLst/>
              <a:rect l="l" t="t" r="r" b="b"/>
              <a:pathLst>
                <a:path w="1699895">
                  <a:moveTo>
                    <a:pt x="0" y="0"/>
                  </a:moveTo>
                  <a:lnTo>
                    <a:pt x="1699408" y="0"/>
                  </a:lnTo>
                </a:path>
              </a:pathLst>
            </a:custGeom>
            <a:ln w="3777">
              <a:solidFill>
                <a:srgbClr val="000000"/>
              </a:solidFill>
              <a:prstDash val="dash"/>
            </a:ln>
          </p:spPr>
          <p:txBody>
            <a:bodyPr wrap="square" lIns="0" tIns="0" rIns="0" bIns="0" rtlCol="0"/>
            <a:lstStyle/>
            <a:p>
              <a:endParaRPr/>
            </a:p>
          </p:txBody>
        </p:sp>
        <p:sp>
          <p:nvSpPr>
            <p:cNvPr id="81" name="object 81"/>
            <p:cNvSpPr/>
            <p:nvPr/>
          </p:nvSpPr>
          <p:spPr>
            <a:xfrm>
              <a:off x="1411439" y="671353"/>
              <a:ext cx="1699895" cy="0"/>
            </a:xfrm>
            <a:custGeom>
              <a:avLst/>
              <a:gdLst/>
              <a:ahLst/>
              <a:cxnLst/>
              <a:rect l="l" t="t" r="r" b="b"/>
              <a:pathLst>
                <a:path w="1699895">
                  <a:moveTo>
                    <a:pt x="1699408" y="0"/>
                  </a:moveTo>
                  <a:lnTo>
                    <a:pt x="1682301" y="0"/>
                  </a:lnTo>
                </a:path>
                <a:path w="1699895">
                  <a:moveTo>
                    <a:pt x="0" y="0"/>
                  </a:moveTo>
                  <a:lnTo>
                    <a:pt x="17092" y="0"/>
                  </a:lnTo>
                </a:path>
              </a:pathLst>
            </a:custGeom>
            <a:ln w="3776">
              <a:solidFill>
                <a:srgbClr val="000000"/>
              </a:solidFill>
            </a:ln>
          </p:spPr>
          <p:txBody>
            <a:bodyPr wrap="square" lIns="0" tIns="0" rIns="0" bIns="0" rtlCol="0"/>
            <a:lstStyle/>
            <a:p>
              <a:endParaRPr/>
            </a:p>
          </p:txBody>
        </p:sp>
        <p:sp>
          <p:nvSpPr>
            <p:cNvPr id="82" name="object 82"/>
            <p:cNvSpPr/>
            <p:nvPr/>
          </p:nvSpPr>
          <p:spPr>
            <a:xfrm>
              <a:off x="1411433" y="510319"/>
              <a:ext cx="1699895" cy="0"/>
            </a:xfrm>
            <a:custGeom>
              <a:avLst/>
              <a:gdLst/>
              <a:ahLst/>
              <a:cxnLst/>
              <a:rect l="l" t="t" r="r" b="b"/>
              <a:pathLst>
                <a:path w="1699895">
                  <a:moveTo>
                    <a:pt x="0" y="0"/>
                  </a:moveTo>
                  <a:lnTo>
                    <a:pt x="1699408" y="0"/>
                  </a:lnTo>
                </a:path>
              </a:pathLst>
            </a:custGeom>
            <a:ln w="3777">
              <a:solidFill>
                <a:srgbClr val="000000"/>
              </a:solidFill>
              <a:prstDash val="dash"/>
            </a:ln>
          </p:spPr>
          <p:txBody>
            <a:bodyPr wrap="square" lIns="0" tIns="0" rIns="0" bIns="0" rtlCol="0"/>
            <a:lstStyle/>
            <a:p>
              <a:endParaRPr/>
            </a:p>
          </p:txBody>
        </p:sp>
        <p:sp>
          <p:nvSpPr>
            <p:cNvPr id="83" name="object 83"/>
            <p:cNvSpPr/>
            <p:nvPr/>
          </p:nvSpPr>
          <p:spPr>
            <a:xfrm>
              <a:off x="1411439" y="510319"/>
              <a:ext cx="1699895" cy="0"/>
            </a:xfrm>
            <a:custGeom>
              <a:avLst/>
              <a:gdLst/>
              <a:ahLst/>
              <a:cxnLst/>
              <a:rect l="l" t="t" r="r" b="b"/>
              <a:pathLst>
                <a:path w="1699895">
                  <a:moveTo>
                    <a:pt x="1699408" y="0"/>
                  </a:moveTo>
                  <a:lnTo>
                    <a:pt x="1682301" y="0"/>
                  </a:lnTo>
                </a:path>
                <a:path w="1699895">
                  <a:moveTo>
                    <a:pt x="0" y="0"/>
                  </a:moveTo>
                  <a:lnTo>
                    <a:pt x="17092" y="0"/>
                  </a:lnTo>
                </a:path>
              </a:pathLst>
            </a:custGeom>
            <a:ln w="3776">
              <a:solidFill>
                <a:srgbClr val="000000"/>
              </a:solidFill>
            </a:ln>
          </p:spPr>
          <p:txBody>
            <a:bodyPr wrap="square" lIns="0" tIns="0" rIns="0" bIns="0" rtlCol="0"/>
            <a:lstStyle/>
            <a:p>
              <a:endParaRPr/>
            </a:p>
          </p:txBody>
        </p:sp>
        <p:sp>
          <p:nvSpPr>
            <p:cNvPr id="84" name="object 84"/>
            <p:cNvSpPr/>
            <p:nvPr/>
          </p:nvSpPr>
          <p:spPr>
            <a:xfrm>
              <a:off x="1411433" y="510319"/>
              <a:ext cx="0" cy="1127125"/>
            </a:xfrm>
            <a:custGeom>
              <a:avLst/>
              <a:gdLst/>
              <a:ahLst/>
              <a:cxnLst/>
              <a:rect l="l" t="t" r="r" b="b"/>
              <a:pathLst>
                <a:path h="1127125">
                  <a:moveTo>
                    <a:pt x="0" y="1126971"/>
                  </a:moveTo>
                  <a:lnTo>
                    <a:pt x="0" y="0"/>
                  </a:lnTo>
                </a:path>
              </a:pathLst>
            </a:custGeom>
            <a:ln w="3774">
              <a:solidFill>
                <a:srgbClr val="000000"/>
              </a:solidFill>
              <a:prstDash val="dash"/>
            </a:ln>
          </p:spPr>
          <p:txBody>
            <a:bodyPr wrap="square" lIns="0" tIns="0" rIns="0" bIns="0" rtlCol="0"/>
            <a:lstStyle/>
            <a:p>
              <a:endParaRPr/>
            </a:p>
          </p:txBody>
        </p:sp>
        <p:sp>
          <p:nvSpPr>
            <p:cNvPr id="85" name="object 85"/>
            <p:cNvSpPr/>
            <p:nvPr/>
          </p:nvSpPr>
          <p:spPr>
            <a:xfrm>
              <a:off x="1411433" y="510319"/>
              <a:ext cx="0" cy="1127125"/>
            </a:xfrm>
            <a:custGeom>
              <a:avLst/>
              <a:gdLst/>
              <a:ahLst/>
              <a:cxnLst/>
              <a:rect l="l" t="t" r="r" b="b"/>
              <a:pathLst>
                <a:path h="1127125">
                  <a:moveTo>
                    <a:pt x="0" y="0"/>
                  </a:moveTo>
                  <a:lnTo>
                    <a:pt x="0" y="17028"/>
                  </a:lnTo>
                </a:path>
                <a:path h="1127125">
                  <a:moveTo>
                    <a:pt x="0" y="1126971"/>
                  </a:moveTo>
                  <a:lnTo>
                    <a:pt x="0" y="1109943"/>
                  </a:lnTo>
                </a:path>
              </a:pathLst>
            </a:custGeom>
            <a:ln w="3776">
              <a:solidFill>
                <a:srgbClr val="000000"/>
              </a:solidFill>
            </a:ln>
          </p:spPr>
          <p:txBody>
            <a:bodyPr wrap="square" lIns="0" tIns="0" rIns="0" bIns="0" rtlCol="0"/>
            <a:lstStyle/>
            <a:p>
              <a:endParaRPr/>
            </a:p>
          </p:txBody>
        </p:sp>
      </p:grpSp>
      <p:sp>
        <p:nvSpPr>
          <p:cNvPr id="86" name="object 86"/>
          <p:cNvSpPr txBox="1"/>
          <p:nvPr/>
        </p:nvSpPr>
        <p:spPr>
          <a:xfrm>
            <a:off x="1310463" y="1599397"/>
            <a:ext cx="130175" cy="109220"/>
          </a:xfrm>
          <a:prstGeom prst="rect">
            <a:avLst/>
          </a:prstGeom>
        </p:spPr>
        <p:txBody>
          <a:bodyPr vert="horz" wrap="square" lIns="0" tIns="12065" rIns="0" bIns="0" rtlCol="0">
            <a:spAutoFit/>
          </a:bodyPr>
          <a:lstStyle/>
          <a:p>
            <a:pPr marR="43180" algn="r">
              <a:lnSpc>
                <a:spcPts val="330"/>
              </a:lnSpc>
              <a:spcBef>
                <a:spcPts val="95"/>
              </a:spcBef>
            </a:pPr>
            <a:r>
              <a:rPr sz="300" dirty="0">
                <a:latin typeface="Arial"/>
                <a:cs typeface="Arial"/>
              </a:rPr>
              <a:t>-</a:t>
            </a:r>
            <a:r>
              <a:rPr sz="300" spc="-25" dirty="0">
                <a:latin typeface="Arial"/>
                <a:cs typeface="Arial"/>
              </a:rPr>
              <a:t>2.5</a:t>
            </a:r>
            <a:endParaRPr sz="300">
              <a:latin typeface="Arial"/>
              <a:cs typeface="Arial"/>
            </a:endParaRPr>
          </a:p>
          <a:p>
            <a:pPr marR="5080" algn="r">
              <a:lnSpc>
                <a:spcPts val="330"/>
              </a:lnSpc>
            </a:pPr>
            <a:r>
              <a:rPr sz="300" spc="-50" dirty="0">
                <a:latin typeface="Arial"/>
                <a:cs typeface="Arial"/>
              </a:rPr>
              <a:t>0</a:t>
            </a:r>
            <a:endParaRPr sz="300">
              <a:latin typeface="Arial"/>
              <a:cs typeface="Arial"/>
            </a:endParaRPr>
          </a:p>
        </p:txBody>
      </p:sp>
      <p:sp>
        <p:nvSpPr>
          <p:cNvPr id="87" name="object 87"/>
          <p:cNvSpPr txBox="1"/>
          <p:nvPr/>
        </p:nvSpPr>
        <p:spPr>
          <a:xfrm>
            <a:off x="1342180" y="1438349"/>
            <a:ext cx="59690" cy="71120"/>
          </a:xfrm>
          <a:prstGeom prst="rect">
            <a:avLst/>
          </a:prstGeom>
        </p:spPr>
        <p:txBody>
          <a:bodyPr vert="horz" wrap="square" lIns="0" tIns="12065" rIns="0" bIns="0" rtlCol="0">
            <a:spAutoFit/>
          </a:bodyPr>
          <a:lstStyle/>
          <a:p>
            <a:pPr marL="12700">
              <a:lnSpc>
                <a:spcPct val="100000"/>
              </a:lnSpc>
              <a:spcBef>
                <a:spcPts val="95"/>
              </a:spcBef>
            </a:pPr>
            <a:r>
              <a:rPr sz="300" dirty="0">
                <a:latin typeface="Arial"/>
                <a:cs typeface="Arial"/>
              </a:rPr>
              <a:t>-</a:t>
            </a:r>
            <a:r>
              <a:rPr sz="300" spc="-50" dirty="0">
                <a:latin typeface="Arial"/>
                <a:cs typeface="Arial"/>
              </a:rPr>
              <a:t>2</a:t>
            </a:r>
            <a:endParaRPr sz="300">
              <a:latin typeface="Arial"/>
              <a:cs typeface="Arial"/>
            </a:endParaRPr>
          </a:p>
        </p:txBody>
      </p:sp>
      <p:sp>
        <p:nvSpPr>
          <p:cNvPr id="88" name="object 88"/>
          <p:cNvSpPr txBox="1"/>
          <p:nvPr/>
        </p:nvSpPr>
        <p:spPr>
          <a:xfrm>
            <a:off x="1310463" y="1277294"/>
            <a:ext cx="91440" cy="71120"/>
          </a:xfrm>
          <a:prstGeom prst="rect">
            <a:avLst/>
          </a:prstGeom>
        </p:spPr>
        <p:txBody>
          <a:bodyPr vert="horz" wrap="square" lIns="0" tIns="12065" rIns="0" bIns="0" rtlCol="0">
            <a:spAutoFit/>
          </a:bodyPr>
          <a:lstStyle/>
          <a:p>
            <a:pPr marL="12700">
              <a:lnSpc>
                <a:spcPct val="100000"/>
              </a:lnSpc>
              <a:spcBef>
                <a:spcPts val="95"/>
              </a:spcBef>
            </a:pPr>
            <a:r>
              <a:rPr sz="300" dirty="0">
                <a:latin typeface="Arial"/>
                <a:cs typeface="Arial"/>
              </a:rPr>
              <a:t>-</a:t>
            </a:r>
            <a:r>
              <a:rPr sz="300" spc="-25" dirty="0">
                <a:latin typeface="Arial"/>
                <a:cs typeface="Arial"/>
              </a:rPr>
              <a:t>1.5</a:t>
            </a:r>
            <a:endParaRPr sz="300">
              <a:latin typeface="Arial"/>
              <a:cs typeface="Arial"/>
            </a:endParaRPr>
          </a:p>
        </p:txBody>
      </p:sp>
      <p:sp>
        <p:nvSpPr>
          <p:cNvPr id="89" name="object 89"/>
          <p:cNvSpPr txBox="1"/>
          <p:nvPr/>
        </p:nvSpPr>
        <p:spPr>
          <a:xfrm>
            <a:off x="1342180" y="1116262"/>
            <a:ext cx="59690" cy="71120"/>
          </a:xfrm>
          <a:prstGeom prst="rect">
            <a:avLst/>
          </a:prstGeom>
        </p:spPr>
        <p:txBody>
          <a:bodyPr vert="horz" wrap="square" lIns="0" tIns="12065" rIns="0" bIns="0" rtlCol="0">
            <a:spAutoFit/>
          </a:bodyPr>
          <a:lstStyle/>
          <a:p>
            <a:pPr marL="12700">
              <a:lnSpc>
                <a:spcPct val="100000"/>
              </a:lnSpc>
              <a:spcBef>
                <a:spcPts val="95"/>
              </a:spcBef>
            </a:pPr>
            <a:r>
              <a:rPr sz="300" dirty="0">
                <a:latin typeface="Arial"/>
                <a:cs typeface="Arial"/>
              </a:rPr>
              <a:t>-</a:t>
            </a:r>
            <a:r>
              <a:rPr sz="300" spc="-50" dirty="0">
                <a:latin typeface="Arial"/>
                <a:cs typeface="Arial"/>
              </a:rPr>
              <a:t>1</a:t>
            </a:r>
            <a:endParaRPr sz="300">
              <a:latin typeface="Arial"/>
              <a:cs typeface="Arial"/>
            </a:endParaRPr>
          </a:p>
        </p:txBody>
      </p:sp>
      <p:sp>
        <p:nvSpPr>
          <p:cNvPr id="90" name="object 90"/>
          <p:cNvSpPr txBox="1"/>
          <p:nvPr/>
        </p:nvSpPr>
        <p:spPr>
          <a:xfrm>
            <a:off x="1310463" y="955511"/>
            <a:ext cx="91440" cy="71120"/>
          </a:xfrm>
          <a:prstGeom prst="rect">
            <a:avLst/>
          </a:prstGeom>
        </p:spPr>
        <p:txBody>
          <a:bodyPr vert="horz" wrap="square" lIns="0" tIns="12065" rIns="0" bIns="0" rtlCol="0">
            <a:spAutoFit/>
          </a:bodyPr>
          <a:lstStyle/>
          <a:p>
            <a:pPr marL="12700">
              <a:lnSpc>
                <a:spcPct val="100000"/>
              </a:lnSpc>
              <a:spcBef>
                <a:spcPts val="95"/>
              </a:spcBef>
            </a:pPr>
            <a:r>
              <a:rPr sz="300" dirty="0">
                <a:latin typeface="Arial"/>
                <a:cs typeface="Arial"/>
              </a:rPr>
              <a:t>-</a:t>
            </a:r>
            <a:r>
              <a:rPr sz="300" spc="-25" dirty="0">
                <a:latin typeface="Arial"/>
                <a:cs typeface="Arial"/>
              </a:rPr>
              <a:t>0.5</a:t>
            </a:r>
            <a:endParaRPr sz="300">
              <a:latin typeface="Arial"/>
              <a:cs typeface="Arial"/>
            </a:endParaRPr>
          </a:p>
        </p:txBody>
      </p:sp>
      <p:sp>
        <p:nvSpPr>
          <p:cNvPr id="91" name="object 91"/>
          <p:cNvSpPr txBox="1"/>
          <p:nvPr/>
        </p:nvSpPr>
        <p:spPr>
          <a:xfrm>
            <a:off x="1354808" y="794483"/>
            <a:ext cx="46990" cy="71120"/>
          </a:xfrm>
          <a:prstGeom prst="rect">
            <a:avLst/>
          </a:prstGeom>
        </p:spPr>
        <p:txBody>
          <a:bodyPr vert="horz" wrap="square" lIns="0" tIns="12065" rIns="0" bIns="0" rtlCol="0">
            <a:spAutoFit/>
          </a:bodyPr>
          <a:lstStyle/>
          <a:p>
            <a:pPr marL="12700">
              <a:lnSpc>
                <a:spcPct val="100000"/>
              </a:lnSpc>
              <a:spcBef>
                <a:spcPts val="95"/>
              </a:spcBef>
            </a:pPr>
            <a:r>
              <a:rPr sz="300" spc="-50" dirty="0">
                <a:latin typeface="Arial"/>
                <a:cs typeface="Arial"/>
              </a:rPr>
              <a:t>0</a:t>
            </a:r>
            <a:endParaRPr sz="300">
              <a:latin typeface="Arial"/>
              <a:cs typeface="Arial"/>
            </a:endParaRPr>
          </a:p>
        </p:txBody>
      </p:sp>
      <p:sp>
        <p:nvSpPr>
          <p:cNvPr id="92" name="object 92"/>
          <p:cNvSpPr txBox="1"/>
          <p:nvPr/>
        </p:nvSpPr>
        <p:spPr>
          <a:xfrm>
            <a:off x="1323134" y="633466"/>
            <a:ext cx="78740" cy="71120"/>
          </a:xfrm>
          <a:prstGeom prst="rect">
            <a:avLst/>
          </a:prstGeom>
        </p:spPr>
        <p:txBody>
          <a:bodyPr vert="horz" wrap="square" lIns="0" tIns="12065" rIns="0" bIns="0" rtlCol="0">
            <a:spAutoFit/>
          </a:bodyPr>
          <a:lstStyle/>
          <a:p>
            <a:pPr marL="12700">
              <a:lnSpc>
                <a:spcPct val="100000"/>
              </a:lnSpc>
              <a:spcBef>
                <a:spcPts val="95"/>
              </a:spcBef>
            </a:pPr>
            <a:r>
              <a:rPr sz="300" spc="-25" dirty="0">
                <a:latin typeface="Arial"/>
                <a:cs typeface="Arial"/>
              </a:rPr>
              <a:t>0.5</a:t>
            </a:r>
            <a:endParaRPr sz="300">
              <a:latin typeface="Arial"/>
              <a:cs typeface="Arial"/>
            </a:endParaRPr>
          </a:p>
        </p:txBody>
      </p:sp>
      <p:sp>
        <p:nvSpPr>
          <p:cNvPr id="93" name="object 93"/>
          <p:cNvSpPr txBox="1"/>
          <p:nvPr/>
        </p:nvSpPr>
        <p:spPr>
          <a:xfrm>
            <a:off x="1354808" y="472404"/>
            <a:ext cx="46990" cy="71120"/>
          </a:xfrm>
          <a:prstGeom prst="rect">
            <a:avLst/>
          </a:prstGeom>
        </p:spPr>
        <p:txBody>
          <a:bodyPr vert="horz" wrap="square" lIns="0" tIns="12065" rIns="0" bIns="0" rtlCol="0">
            <a:spAutoFit/>
          </a:bodyPr>
          <a:lstStyle/>
          <a:p>
            <a:pPr marL="12700">
              <a:lnSpc>
                <a:spcPct val="100000"/>
              </a:lnSpc>
              <a:spcBef>
                <a:spcPts val="95"/>
              </a:spcBef>
            </a:pPr>
            <a:r>
              <a:rPr sz="300" spc="-50" dirty="0">
                <a:latin typeface="Arial"/>
                <a:cs typeface="Arial"/>
              </a:rPr>
              <a:t>1</a:t>
            </a:r>
            <a:endParaRPr sz="300">
              <a:latin typeface="Arial"/>
              <a:cs typeface="Arial"/>
            </a:endParaRPr>
          </a:p>
        </p:txBody>
      </p:sp>
      <p:grpSp>
        <p:nvGrpSpPr>
          <p:cNvPr id="94" name="object 94"/>
          <p:cNvGrpSpPr/>
          <p:nvPr/>
        </p:nvGrpSpPr>
        <p:grpSpPr>
          <a:xfrm>
            <a:off x="1596271" y="508408"/>
            <a:ext cx="1311275" cy="1130935"/>
            <a:chOff x="1596271" y="508408"/>
            <a:chExt cx="1311275" cy="1130935"/>
          </a:xfrm>
        </p:grpSpPr>
        <p:sp>
          <p:nvSpPr>
            <p:cNvPr id="95" name="object 95"/>
            <p:cNvSpPr/>
            <p:nvPr/>
          </p:nvSpPr>
          <p:spPr>
            <a:xfrm>
              <a:off x="1598176" y="510319"/>
              <a:ext cx="0" cy="1127125"/>
            </a:xfrm>
            <a:custGeom>
              <a:avLst/>
              <a:gdLst/>
              <a:ahLst/>
              <a:cxnLst/>
              <a:rect l="l" t="t" r="r" b="b"/>
              <a:pathLst>
                <a:path h="1127125">
                  <a:moveTo>
                    <a:pt x="0" y="1126971"/>
                  </a:moveTo>
                  <a:lnTo>
                    <a:pt x="0" y="0"/>
                  </a:lnTo>
                </a:path>
              </a:pathLst>
            </a:custGeom>
            <a:ln w="3774">
              <a:solidFill>
                <a:srgbClr val="000000"/>
              </a:solidFill>
              <a:prstDash val="dash"/>
            </a:ln>
          </p:spPr>
          <p:txBody>
            <a:bodyPr wrap="square" lIns="0" tIns="0" rIns="0" bIns="0" rtlCol="0"/>
            <a:lstStyle/>
            <a:p>
              <a:endParaRPr/>
            </a:p>
          </p:txBody>
        </p:sp>
        <p:sp>
          <p:nvSpPr>
            <p:cNvPr id="96" name="object 96"/>
            <p:cNvSpPr/>
            <p:nvPr/>
          </p:nvSpPr>
          <p:spPr>
            <a:xfrm>
              <a:off x="1598176" y="510319"/>
              <a:ext cx="0" cy="1127125"/>
            </a:xfrm>
            <a:custGeom>
              <a:avLst/>
              <a:gdLst/>
              <a:ahLst/>
              <a:cxnLst/>
              <a:rect l="l" t="t" r="r" b="b"/>
              <a:pathLst>
                <a:path h="1127125">
                  <a:moveTo>
                    <a:pt x="0" y="0"/>
                  </a:moveTo>
                  <a:lnTo>
                    <a:pt x="0" y="17028"/>
                  </a:lnTo>
                </a:path>
                <a:path h="1127125">
                  <a:moveTo>
                    <a:pt x="0" y="1126971"/>
                  </a:moveTo>
                  <a:lnTo>
                    <a:pt x="0" y="1109943"/>
                  </a:lnTo>
                </a:path>
              </a:pathLst>
            </a:custGeom>
            <a:ln w="3776">
              <a:solidFill>
                <a:srgbClr val="000000"/>
              </a:solidFill>
            </a:ln>
          </p:spPr>
          <p:txBody>
            <a:bodyPr wrap="square" lIns="0" tIns="0" rIns="0" bIns="0" rtlCol="0"/>
            <a:lstStyle/>
            <a:p>
              <a:endParaRPr/>
            </a:p>
          </p:txBody>
        </p:sp>
        <p:sp>
          <p:nvSpPr>
            <p:cNvPr id="97" name="object 97"/>
            <p:cNvSpPr/>
            <p:nvPr/>
          </p:nvSpPr>
          <p:spPr>
            <a:xfrm>
              <a:off x="1784920" y="510319"/>
              <a:ext cx="0" cy="1127125"/>
            </a:xfrm>
            <a:custGeom>
              <a:avLst/>
              <a:gdLst/>
              <a:ahLst/>
              <a:cxnLst/>
              <a:rect l="l" t="t" r="r" b="b"/>
              <a:pathLst>
                <a:path h="1127125">
                  <a:moveTo>
                    <a:pt x="0" y="1126971"/>
                  </a:moveTo>
                  <a:lnTo>
                    <a:pt x="0" y="0"/>
                  </a:lnTo>
                </a:path>
              </a:pathLst>
            </a:custGeom>
            <a:ln w="3774">
              <a:solidFill>
                <a:srgbClr val="000000"/>
              </a:solidFill>
              <a:prstDash val="dash"/>
            </a:ln>
          </p:spPr>
          <p:txBody>
            <a:bodyPr wrap="square" lIns="0" tIns="0" rIns="0" bIns="0" rtlCol="0"/>
            <a:lstStyle/>
            <a:p>
              <a:endParaRPr/>
            </a:p>
          </p:txBody>
        </p:sp>
        <p:sp>
          <p:nvSpPr>
            <p:cNvPr id="98" name="object 98"/>
            <p:cNvSpPr/>
            <p:nvPr/>
          </p:nvSpPr>
          <p:spPr>
            <a:xfrm>
              <a:off x="1784920" y="510319"/>
              <a:ext cx="0" cy="1127125"/>
            </a:xfrm>
            <a:custGeom>
              <a:avLst/>
              <a:gdLst/>
              <a:ahLst/>
              <a:cxnLst/>
              <a:rect l="l" t="t" r="r" b="b"/>
              <a:pathLst>
                <a:path h="1127125">
                  <a:moveTo>
                    <a:pt x="0" y="0"/>
                  </a:moveTo>
                  <a:lnTo>
                    <a:pt x="0" y="17028"/>
                  </a:lnTo>
                </a:path>
                <a:path h="1127125">
                  <a:moveTo>
                    <a:pt x="0" y="1126971"/>
                  </a:moveTo>
                  <a:lnTo>
                    <a:pt x="0" y="1109943"/>
                  </a:lnTo>
                </a:path>
              </a:pathLst>
            </a:custGeom>
            <a:ln w="3776">
              <a:solidFill>
                <a:srgbClr val="000000"/>
              </a:solidFill>
            </a:ln>
          </p:spPr>
          <p:txBody>
            <a:bodyPr wrap="square" lIns="0" tIns="0" rIns="0" bIns="0" rtlCol="0"/>
            <a:lstStyle/>
            <a:p>
              <a:endParaRPr/>
            </a:p>
          </p:txBody>
        </p:sp>
        <p:sp>
          <p:nvSpPr>
            <p:cNvPr id="99" name="object 99"/>
            <p:cNvSpPr/>
            <p:nvPr/>
          </p:nvSpPr>
          <p:spPr>
            <a:xfrm>
              <a:off x="1971662" y="510319"/>
              <a:ext cx="0" cy="1127125"/>
            </a:xfrm>
            <a:custGeom>
              <a:avLst/>
              <a:gdLst/>
              <a:ahLst/>
              <a:cxnLst/>
              <a:rect l="l" t="t" r="r" b="b"/>
              <a:pathLst>
                <a:path h="1127125">
                  <a:moveTo>
                    <a:pt x="0" y="1126971"/>
                  </a:moveTo>
                  <a:lnTo>
                    <a:pt x="0" y="0"/>
                  </a:lnTo>
                </a:path>
              </a:pathLst>
            </a:custGeom>
            <a:ln w="3774">
              <a:solidFill>
                <a:srgbClr val="000000"/>
              </a:solidFill>
              <a:prstDash val="dash"/>
            </a:ln>
          </p:spPr>
          <p:txBody>
            <a:bodyPr wrap="square" lIns="0" tIns="0" rIns="0" bIns="0" rtlCol="0"/>
            <a:lstStyle/>
            <a:p>
              <a:endParaRPr/>
            </a:p>
          </p:txBody>
        </p:sp>
        <p:sp>
          <p:nvSpPr>
            <p:cNvPr id="100" name="object 100"/>
            <p:cNvSpPr/>
            <p:nvPr/>
          </p:nvSpPr>
          <p:spPr>
            <a:xfrm>
              <a:off x="1971662" y="510319"/>
              <a:ext cx="0" cy="1127125"/>
            </a:xfrm>
            <a:custGeom>
              <a:avLst/>
              <a:gdLst/>
              <a:ahLst/>
              <a:cxnLst/>
              <a:rect l="l" t="t" r="r" b="b"/>
              <a:pathLst>
                <a:path h="1127125">
                  <a:moveTo>
                    <a:pt x="0" y="0"/>
                  </a:moveTo>
                  <a:lnTo>
                    <a:pt x="0" y="17028"/>
                  </a:lnTo>
                </a:path>
                <a:path h="1127125">
                  <a:moveTo>
                    <a:pt x="0" y="1126971"/>
                  </a:moveTo>
                  <a:lnTo>
                    <a:pt x="0" y="1109943"/>
                  </a:lnTo>
                </a:path>
              </a:pathLst>
            </a:custGeom>
            <a:ln w="3776">
              <a:solidFill>
                <a:srgbClr val="000000"/>
              </a:solidFill>
            </a:ln>
          </p:spPr>
          <p:txBody>
            <a:bodyPr wrap="square" lIns="0" tIns="0" rIns="0" bIns="0" rtlCol="0"/>
            <a:lstStyle/>
            <a:p>
              <a:endParaRPr/>
            </a:p>
          </p:txBody>
        </p:sp>
        <p:sp>
          <p:nvSpPr>
            <p:cNvPr id="101" name="object 101"/>
            <p:cNvSpPr/>
            <p:nvPr/>
          </p:nvSpPr>
          <p:spPr>
            <a:xfrm>
              <a:off x="2158405" y="510319"/>
              <a:ext cx="0" cy="1127125"/>
            </a:xfrm>
            <a:custGeom>
              <a:avLst/>
              <a:gdLst/>
              <a:ahLst/>
              <a:cxnLst/>
              <a:rect l="l" t="t" r="r" b="b"/>
              <a:pathLst>
                <a:path h="1127125">
                  <a:moveTo>
                    <a:pt x="0" y="1126971"/>
                  </a:moveTo>
                  <a:lnTo>
                    <a:pt x="0" y="0"/>
                  </a:lnTo>
                </a:path>
              </a:pathLst>
            </a:custGeom>
            <a:ln w="3774">
              <a:solidFill>
                <a:srgbClr val="000000"/>
              </a:solidFill>
              <a:prstDash val="dash"/>
            </a:ln>
          </p:spPr>
          <p:txBody>
            <a:bodyPr wrap="square" lIns="0" tIns="0" rIns="0" bIns="0" rtlCol="0"/>
            <a:lstStyle/>
            <a:p>
              <a:endParaRPr/>
            </a:p>
          </p:txBody>
        </p:sp>
        <p:sp>
          <p:nvSpPr>
            <p:cNvPr id="102" name="object 102"/>
            <p:cNvSpPr/>
            <p:nvPr/>
          </p:nvSpPr>
          <p:spPr>
            <a:xfrm>
              <a:off x="2158405" y="510319"/>
              <a:ext cx="0" cy="1127125"/>
            </a:xfrm>
            <a:custGeom>
              <a:avLst/>
              <a:gdLst/>
              <a:ahLst/>
              <a:cxnLst/>
              <a:rect l="l" t="t" r="r" b="b"/>
              <a:pathLst>
                <a:path h="1127125">
                  <a:moveTo>
                    <a:pt x="0" y="0"/>
                  </a:moveTo>
                  <a:lnTo>
                    <a:pt x="0" y="17028"/>
                  </a:lnTo>
                </a:path>
                <a:path h="1127125">
                  <a:moveTo>
                    <a:pt x="0" y="1126971"/>
                  </a:moveTo>
                  <a:lnTo>
                    <a:pt x="0" y="1109943"/>
                  </a:lnTo>
                </a:path>
              </a:pathLst>
            </a:custGeom>
            <a:ln w="3776">
              <a:solidFill>
                <a:srgbClr val="000000"/>
              </a:solidFill>
            </a:ln>
          </p:spPr>
          <p:txBody>
            <a:bodyPr wrap="square" lIns="0" tIns="0" rIns="0" bIns="0" rtlCol="0"/>
            <a:lstStyle/>
            <a:p>
              <a:endParaRPr/>
            </a:p>
          </p:txBody>
        </p:sp>
        <p:sp>
          <p:nvSpPr>
            <p:cNvPr id="103" name="object 103"/>
            <p:cNvSpPr/>
            <p:nvPr/>
          </p:nvSpPr>
          <p:spPr>
            <a:xfrm>
              <a:off x="2345148" y="510313"/>
              <a:ext cx="0" cy="1127125"/>
            </a:xfrm>
            <a:custGeom>
              <a:avLst/>
              <a:gdLst/>
              <a:ahLst/>
              <a:cxnLst/>
              <a:rect l="l" t="t" r="r" b="b"/>
              <a:pathLst>
                <a:path h="1127125">
                  <a:moveTo>
                    <a:pt x="0" y="17028"/>
                  </a:moveTo>
                  <a:lnTo>
                    <a:pt x="0" y="0"/>
                  </a:lnTo>
                </a:path>
                <a:path h="1127125">
                  <a:moveTo>
                    <a:pt x="0" y="1126971"/>
                  </a:moveTo>
                  <a:lnTo>
                    <a:pt x="0" y="54862"/>
                  </a:lnTo>
                </a:path>
              </a:pathLst>
            </a:custGeom>
            <a:ln w="3776">
              <a:solidFill>
                <a:srgbClr val="000000"/>
              </a:solidFill>
              <a:prstDash val="dash"/>
            </a:ln>
          </p:spPr>
          <p:txBody>
            <a:bodyPr wrap="square" lIns="0" tIns="0" rIns="0" bIns="0" rtlCol="0"/>
            <a:lstStyle/>
            <a:p>
              <a:endParaRPr/>
            </a:p>
          </p:txBody>
        </p:sp>
        <p:sp>
          <p:nvSpPr>
            <p:cNvPr id="104" name="object 104"/>
            <p:cNvSpPr/>
            <p:nvPr/>
          </p:nvSpPr>
          <p:spPr>
            <a:xfrm>
              <a:off x="2345148" y="510319"/>
              <a:ext cx="0" cy="1127125"/>
            </a:xfrm>
            <a:custGeom>
              <a:avLst/>
              <a:gdLst/>
              <a:ahLst/>
              <a:cxnLst/>
              <a:rect l="l" t="t" r="r" b="b"/>
              <a:pathLst>
                <a:path h="1127125">
                  <a:moveTo>
                    <a:pt x="0" y="0"/>
                  </a:moveTo>
                  <a:lnTo>
                    <a:pt x="0" y="17028"/>
                  </a:lnTo>
                </a:path>
                <a:path h="1127125">
                  <a:moveTo>
                    <a:pt x="0" y="1126971"/>
                  </a:moveTo>
                  <a:lnTo>
                    <a:pt x="0" y="1109943"/>
                  </a:lnTo>
                </a:path>
              </a:pathLst>
            </a:custGeom>
            <a:ln w="3776">
              <a:solidFill>
                <a:srgbClr val="000000"/>
              </a:solidFill>
            </a:ln>
          </p:spPr>
          <p:txBody>
            <a:bodyPr wrap="square" lIns="0" tIns="0" rIns="0" bIns="0" rtlCol="0"/>
            <a:lstStyle/>
            <a:p>
              <a:endParaRPr/>
            </a:p>
          </p:txBody>
        </p:sp>
        <p:sp>
          <p:nvSpPr>
            <p:cNvPr id="105" name="object 105"/>
            <p:cNvSpPr/>
            <p:nvPr/>
          </p:nvSpPr>
          <p:spPr>
            <a:xfrm>
              <a:off x="2531890" y="510313"/>
              <a:ext cx="0" cy="1127125"/>
            </a:xfrm>
            <a:custGeom>
              <a:avLst/>
              <a:gdLst/>
              <a:ahLst/>
              <a:cxnLst/>
              <a:rect l="l" t="t" r="r" b="b"/>
              <a:pathLst>
                <a:path h="1127125">
                  <a:moveTo>
                    <a:pt x="0" y="17028"/>
                  </a:moveTo>
                  <a:lnTo>
                    <a:pt x="0" y="0"/>
                  </a:lnTo>
                </a:path>
                <a:path h="1127125">
                  <a:moveTo>
                    <a:pt x="0" y="1126971"/>
                  </a:moveTo>
                  <a:lnTo>
                    <a:pt x="0" y="54862"/>
                  </a:lnTo>
                </a:path>
              </a:pathLst>
            </a:custGeom>
            <a:ln w="3776">
              <a:solidFill>
                <a:srgbClr val="000000"/>
              </a:solidFill>
              <a:prstDash val="dash"/>
            </a:ln>
          </p:spPr>
          <p:txBody>
            <a:bodyPr wrap="square" lIns="0" tIns="0" rIns="0" bIns="0" rtlCol="0"/>
            <a:lstStyle/>
            <a:p>
              <a:endParaRPr/>
            </a:p>
          </p:txBody>
        </p:sp>
        <p:sp>
          <p:nvSpPr>
            <p:cNvPr id="106" name="object 106"/>
            <p:cNvSpPr/>
            <p:nvPr/>
          </p:nvSpPr>
          <p:spPr>
            <a:xfrm>
              <a:off x="2531890" y="510319"/>
              <a:ext cx="0" cy="1127125"/>
            </a:xfrm>
            <a:custGeom>
              <a:avLst/>
              <a:gdLst/>
              <a:ahLst/>
              <a:cxnLst/>
              <a:rect l="l" t="t" r="r" b="b"/>
              <a:pathLst>
                <a:path h="1127125">
                  <a:moveTo>
                    <a:pt x="0" y="0"/>
                  </a:moveTo>
                  <a:lnTo>
                    <a:pt x="0" y="17028"/>
                  </a:lnTo>
                </a:path>
                <a:path h="1127125">
                  <a:moveTo>
                    <a:pt x="0" y="1126971"/>
                  </a:moveTo>
                  <a:lnTo>
                    <a:pt x="0" y="1109943"/>
                  </a:lnTo>
                </a:path>
              </a:pathLst>
            </a:custGeom>
            <a:ln w="3776">
              <a:solidFill>
                <a:srgbClr val="000000"/>
              </a:solidFill>
            </a:ln>
          </p:spPr>
          <p:txBody>
            <a:bodyPr wrap="square" lIns="0" tIns="0" rIns="0" bIns="0" rtlCol="0"/>
            <a:lstStyle/>
            <a:p>
              <a:endParaRPr/>
            </a:p>
          </p:txBody>
        </p:sp>
        <p:sp>
          <p:nvSpPr>
            <p:cNvPr id="107" name="object 107"/>
            <p:cNvSpPr/>
            <p:nvPr/>
          </p:nvSpPr>
          <p:spPr>
            <a:xfrm>
              <a:off x="2718634" y="510313"/>
              <a:ext cx="0" cy="1127125"/>
            </a:xfrm>
            <a:custGeom>
              <a:avLst/>
              <a:gdLst/>
              <a:ahLst/>
              <a:cxnLst/>
              <a:rect l="l" t="t" r="r" b="b"/>
              <a:pathLst>
                <a:path h="1127125">
                  <a:moveTo>
                    <a:pt x="0" y="17028"/>
                  </a:moveTo>
                  <a:lnTo>
                    <a:pt x="0" y="0"/>
                  </a:lnTo>
                </a:path>
                <a:path h="1127125">
                  <a:moveTo>
                    <a:pt x="0" y="1126971"/>
                  </a:moveTo>
                  <a:lnTo>
                    <a:pt x="0" y="54862"/>
                  </a:lnTo>
                </a:path>
              </a:pathLst>
            </a:custGeom>
            <a:ln w="3776">
              <a:solidFill>
                <a:srgbClr val="000000"/>
              </a:solidFill>
              <a:prstDash val="dash"/>
            </a:ln>
          </p:spPr>
          <p:txBody>
            <a:bodyPr wrap="square" lIns="0" tIns="0" rIns="0" bIns="0" rtlCol="0"/>
            <a:lstStyle/>
            <a:p>
              <a:endParaRPr/>
            </a:p>
          </p:txBody>
        </p:sp>
        <p:sp>
          <p:nvSpPr>
            <p:cNvPr id="108" name="object 108"/>
            <p:cNvSpPr/>
            <p:nvPr/>
          </p:nvSpPr>
          <p:spPr>
            <a:xfrm>
              <a:off x="2718634" y="510319"/>
              <a:ext cx="0" cy="1127125"/>
            </a:xfrm>
            <a:custGeom>
              <a:avLst/>
              <a:gdLst/>
              <a:ahLst/>
              <a:cxnLst/>
              <a:rect l="l" t="t" r="r" b="b"/>
              <a:pathLst>
                <a:path h="1127125">
                  <a:moveTo>
                    <a:pt x="0" y="0"/>
                  </a:moveTo>
                  <a:lnTo>
                    <a:pt x="0" y="17028"/>
                  </a:lnTo>
                </a:path>
                <a:path h="1127125">
                  <a:moveTo>
                    <a:pt x="0" y="1126971"/>
                  </a:moveTo>
                  <a:lnTo>
                    <a:pt x="0" y="1109943"/>
                  </a:lnTo>
                </a:path>
              </a:pathLst>
            </a:custGeom>
            <a:ln w="3776">
              <a:solidFill>
                <a:srgbClr val="000000"/>
              </a:solidFill>
            </a:ln>
          </p:spPr>
          <p:txBody>
            <a:bodyPr wrap="square" lIns="0" tIns="0" rIns="0" bIns="0" rtlCol="0"/>
            <a:lstStyle/>
            <a:p>
              <a:endParaRPr/>
            </a:p>
          </p:txBody>
        </p:sp>
        <p:sp>
          <p:nvSpPr>
            <p:cNvPr id="109" name="object 109"/>
            <p:cNvSpPr/>
            <p:nvPr/>
          </p:nvSpPr>
          <p:spPr>
            <a:xfrm>
              <a:off x="2905377" y="510313"/>
              <a:ext cx="0" cy="1127125"/>
            </a:xfrm>
            <a:custGeom>
              <a:avLst/>
              <a:gdLst/>
              <a:ahLst/>
              <a:cxnLst/>
              <a:rect l="l" t="t" r="r" b="b"/>
              <a:pathLst>
                <a:path h="1127125">
                  <a:moveTo>
                    <a:pt x="0" y="17028"/>
                  </a:moveTo>
                  <a:lnTo>
                    <a:pt x="0" y="0"/>
                  </a:lnTo>
                </a:path>
                <a:path h="1127125">
                  <a:moveTo>
                    <a:pt x="0" y="1126971"/>
                  </a:moveTo>
                  <a:lnTo>
                    <a:pt x="0" y="54862"/>
                  </a:lnTo>
                </a:path>
              </a:pathLst>
            </a:custGeom>
            <a:ln w="3776">
              <a:solidFill>
                <a:srgbClr val="000000"/>
              </a:solidFill>
              <a:prstDash val="dash"/>
            </a:ln>
          </p:spPr>
          <p:txBody>
            <a:bodyPr wrap="square" lIns="0" tIns="0" rIns="0" bIns="0" rtlCol="0"/>
            <a:lstStyle/>
            <a:p>
              <a:endParaRPr/>
            </a:p>
          </p:txBody>
        </p:sp>
        <p:sp>
          <p:nvSpPr>
            <p:cNvPr id="110" name="object 110"/>
            <p:cNvSpPr/>
            <p:nvPr/>
          </p:nvSpPr>
          <p:spPr>
            <a:xfrm>
              <a:off x="2905377" y="510319"/>
              <a:ext cx="0" cy="1127125"/>
            </a:xfrm>
            <a:custGeom>
              <a:avLst/>
              <a:gdLst/>
              <a:ahLst/>
              <a:cxnLst/>
              <a:rect l="l" t="t" r="r" b="b"/>
              <a:pathLst>
                <a:path h="1127125">
                  <a:moveTo>
                    <a:pt x="0" y="0"/>
                  </a:moveTo>
                  <a:lnTo>
                    <a:pt x="0" y="17028"/>
                  </a:lnTo>
                </a:path>
                <a:path h="1127125">
                  <a:moveTo>
                    <a:pt x="0" y="1126971"/>
                  </a:moveTo>
                  <a:lnTo>
                    <a:pt x="0" y="1109943"/>
                  </a:lnTo>
                </a:path>
              </a:pathLst>
            </a:custGeom>
            <a:ln w="3776">
              <a:solidFill>
                <a:srgbClr val="000000"/>
              </a:solidFill>
            </a:ln>
          </p:spPr>
          <p:txBody>
            <a:bodyPr wrap="square" lIns="0" tIns="0" rIns="0" bIns="0" rtlCol="0"/>
            <a:lstStyle/>
            <a:p>
              <a:endParaRPr/>
            </a:p>
          </p:txBody>
        </p:sp>
      </p:grpSp>
      <p:sp>
        <p:nvSpPr>
          <p:cNvPr id="111" name="object 111"/>
          <p:cNvSpPr txBox="1"/>
          <p:nvPr/>
        </p:nvSpPr>
        <p:spPr>
          <a:xfrm>
            <a:off x="2866255" y="1637207"/>
            <a:ext cx="88900" cy="71120"/>
          </a:xfrm>
          <a:prstGeom prst="rect">
            <a:avLst/>
          </a:prstGeom>
        </p:spPr>
        <p:txBody>
          <a:bodyPr vert="horz" wrap="square" lIns="0" tIns="12065" rIns="0" bIns="0" rtlCol="0">
            <a:spAutoFit/>
          </a:bodyPr>
          <a:lstStyle/>
          <a:p>
            <a:pPr marL="12700">
              <a:lnSpc>
                <a:spcPct val="100000"/>
              </a:lnSpc>
              <a:spcBef>
                <a:spcPts val="95"/>
              </a:spcBef>
            </a:pPr>
            <a:r>
              <a:rPr sz="300" spc="-25" dirty="0">
                <a:latin typeface="Arial"/>
                <a:cs typeface="Arial"/>
              </a:rPr>
              <a:t>160</a:t>
            </a:r>
            <a:endParaRPr sz="300">
              <a:latin typeface="Arial"/>
              <a:cs typeface="Arial"/>
            </a:endParaRPr>
          </a:p>
        </p:txBody>
      </p:sp>
      <p:grpSp>
        <p:nvGrpSpPr>
          <p:cNvPr id="112" name="object 112"/>
          <p:cNvGrpSpPr/>
          <p:nvPr/>
        </p:nvGrpSpPr>
        <p:grpSpPr>
          <a:xfrm>
            <a:off x="3090216" y="508414"/>
            <a:ext cx="3810" cy="1130935"/>
            <a:chOff x="3090216" y="508414"/>
            <a:chExt cx="3810" cy="1130935"/>
          </a:xfrm>
        </p:grpSpPr>
        <p:sp>
          <p:nvSpPr>
            <p:cNvPr id="113" name="object 113"/>
            <p:cNvSpPr/>
            <p:nvPr/>
          </p:nvSpPr>
          <p:spPr>
            <a:xfrm>
              <a:off x="3092121" y="510319"/>
              <a:ext cx="0" cy="1127125"/>
            </a:xfrm>
            <a:custGeom>
              <a:avLst/>
              <a:gdLst/>
              <a:ahLst/>
              <a:cxnLst/>
              <a:rect l="l" t="t" r="r" b="b"/>
              <a:pathLst>
                <a:path h="1127125">
                  <a:moveTo>
                    <a:pt x="0" y="1126971"/>
                  </a:moveTo>
                  <a:lnTo>
                    <a:pt x="0" y="0"/>
                  </a:lnTo>
                </a:path>
              </a:pathLst>
            </a:custGeom>
            <a:ln w="3774">
              <a:solidFill>
                <a:srgbClr val="000000"/>
              </a:solidFill>
              <a:prstDash val="dash"/>
            </a:ln>
          </p:spPr>
          <p:txBody>
            <a:bodyPr wrap="square" lIns="0" tIns="0" rIns="0" bIns="0" rtlCol="0"/>
            <a:lstStyle/>
            <a:p>
              <a:endParaRPr/>
            </a:p>
          </p:txBody>
        </p:sp>
        <p:sp>
          <p:nvSpPr>
            <p:cNvPr id="114" name="object 114"/>
            <p:cNvSpPr/>
            <p:nvPr/>
          </p:nvSpPr>
          <p:spPr>
            <a:xfrm>
              <a:off x="3092121" y="510319"/>
              <a:ext cx="0" cy="1127125"/>
            </a:xfrm>
            <a:custGeom>
              <a:avLst/>
              <a:gdLst/>
              <a:ahLst/>
              <a:cxnLst/>
              <a:rect l="l" t="t" r="r" b="b"/>
              <a:pathLst>
                <a:path h="1127125">
                  <a:moveTo>
                    <a:pt x="0" y="0"/>
                  </a:moveTo>
                  <a:lnTo>
                    <a:pt x="0" y="17028"/>
                  </a:lnTo>
                </a:path>
                <a:path h="1127125">
                  <a:moveTo>
                    <a:pt x="0" y="1126971"/>
                  </a:moveTo>
                  <a:lnTo>
                    <a:pt x="0" y="1109943"/>
                  </a:lnTo>
                </a:path>
              </a:pathLst>
            </a:custGeom>
            <a:ln w="3776">
              <a:solidFill>
                <a:srgbClr val="000000"/>
              </a:solidFill>
            </a:ln>
          </p:spPr>
          <p:txBody>
            <a:bodyPr wrap="square" lIns="0" tIns="0" rIns="0" bIns="0" rtlCol="0"/>
            <a:lstStyle/>
            <a:p>
              <a:endParaRPr/>
            </a:p>
          </p:txBody>
        </p:sp>
      </p:grpSp>
      <p:sp>
        <p:nvSpPr>
          <p:cNvPr id="115" name="object 115"/>
          <p:cNvSpPr txBox="1"/>
          <p:nvPr/>
        </p:nvSpPr>
        <p:spPr>
          <a:xfrm>
            <a:off x="3053034" y="1637207"/>
            <a:ext cx="88900" cy="71120"/>
          </a:xfrm>
          <a:prstGeom prst="rect">
            <a:avLst/>
          </a:prstGeom>
        </p:spPr>
        <p:txBody>
          <a:bodyPr vert="horz" wrap="square" lIns="0" tIns="12065" rIns="0" bIns="0" rtlCol="0">
            <a:spAutoFit/>
          </a:bodyPr>
          <a:lstStyle/>
          <a:p>
            <a:pPr marL="12700">
              <a:lnSpc>
                <a:spcPct val="100000"/>
              </a:lnSpc>
              <a:spcBef>
                <a:spcPts val="95"/>
              </a:spcBef>
            </a:pPr>
            <a:r>
              <a:rPr sz="300" spc="-25" dirty="0">
                <a:latin typeface="Arial"/>
                <a:cs typeface="Arial"/>
              </a:rPr>
              <a:t>180</a:t>
            </a:r>
            <a:endParaRPr sz="300">
              <a:latin typeface="Arial"/>
              <a:cs typeface="Arial"/>
            </a:endParaRPr>
          </a:p>
        </p:txBody>
      </p:sp>
      <p:sp>
        <p:nvSpPr>
          <p:cNvPr id="116" name="object 116"/>
          <p:cNvSpPr/>
          <p:nvPr/>
        </p:nvSpPr>
        <p:spPr>
          <a:xfrm>
            <a:off x="1411435" y="510328"/>
            <a:ext cx="1699895" cy="1127125"/>
          </a:xfrm>
          <a:custGeom>
            <a:avLst/>
            <a:gdLst/>
            <a:ahLst/>
            <a:cxnLst/>
            <a:rect l="l" t="t" r="r" b="b"/>
            <a:pathLst>
              <a:path w="1699895" h="1127125">
                <a:moveTo>
                  <a:pt x="0" y="1126971"/>
                </a:moveTo>
                <a:lnTo>
                  <a:pt x="1699408" y="1126971"/>
                </a:lnTo>
                <a:lnTo>
                  <a:pt x="1699408" y="0"/>
                </a:lnTo>
                <a:lnTo>
                  <a:pt x="0" y="0"/>
                </a:lnTo>
                <a:lnTo>
                  <a:pt x="0" y="1126971"/>
                </a:lnTo>
                <a:close/>
              </a:path>
            </a:pathLst>
          </a:custGeom>
          <a:ln w="3776">
            <a:solidFill>
              <a:srgbClr val="000000"/>
            </a:solidFill>
          </a:ln>
        </p:spPr>
        <p:txBody>
          <a:bodyPr wrap="square" lIns="0" tIns="0" rIns="0" bIns="0" rtlCol="0"/>
          <a:lstStyle/>
          <a:p>
            <a:endParaRPr/>
          </a:p>
        </p:txBody>
      </p:sp>
      <p:sp>
        <p:nvSpPr>
          <p:cNvPr id="117" name="object 117"/>
          <p:cNvSpPr txBox="1"/>
          <p:nvPr/>
        </p:nvSpPr>
        <p:spPr>
          <a:xfrm>
            <a:off x="1569675" y="1625842"/>
            <a:ext cx="1198880" cy="139065"/>
          </a:xfrm>
          <a:prstGeom prst="rect">
            <a:avLst/>
          </a:prstGeom>
        </p:spPr>
        <p:txBody>
          <a:bodyPr vert="horz" wrap="square" lIns="0" tIns="23495" rIns="0" bIns="0" rtlCol="0">
            <a:spAutoFit/>
          </a:bodyPr>
          <a:lstStyle/>
          <a:p>
            <a:pPr marL="12700">
              <a:lnSpc>
                <a:spcPct val="100000"/>
              </a:lnSpc>
              <a:spcBef>
                <a:spcPts val="185"/>
              </a:spcBef>
              <a:tabLst>
                <a:tab pos="198755" algn="l"/>
                <a:tab pos="386080" algn="l"/>
                <a:tab pos="572770" algn="l"/>
                <a:tab pos="748665" algn="l"/>
              </a:tabLst>
            </a:pPr>
            <a:r>
              <a:rPr sz="300" spc="-25" dirty="0">
                <a:latin typeface="Arial"/>
                <a:cs typeface="Arial"/>
              </a:rPr>
              <a:t>20</a:t>
            </a:r>
            <a:r>
              <a:rPr sz="300" dirty="0">
                <a:latin typeface="Arial"/>
                <a:cs typeface="Arial"/>
              </a:rPr>
              <a:t>	</a:t>
            </a:r>
            <a:r>
              <a:rPr sz="300" spc="-25" dirty="0">
                <a:latin typeface="Arial"/>
                <a:cs typeface="Arial"/>
              </a:rPr>
              <a:t>40</a:t>
            </a:r>
            <a:r>
              <a:rPr sz="300" dirty="0">
                <a:latin typeface="Arial"/>
                <a:cs typeface="Arial"/>
              </a:rPr>
              <a:t>	</a:t>
            </a:r>
            <a:r>
              <a:rPr sz="300" spc="-25" dirty="0">
                <a:latin typeface="Arial"/>
                <a:cs typeface="Arial"/>
              </a:rPr>
              <a:t>60</a:t>
            </a:r>
            <a:r>
              <a:rPr sz="300" dirty="0">
                <a:latin typeface="Arial"/>
                <a:cs typeface="Arial"/>
              </a:rPr>
              <a:t>	</a:t>
            </a:r>
            <a:r>
              <a:rPr sz="300" spc="-25" dirty="0">
                <a:latin typeface="Arial"/>
                <a:cs typeface="Arial"/>
              </a:rPr>
              <a:t>80</a:t>
            </a:r>
            <a:r>
              <a:rPr sz="300" dirty="0">
                <a:latin typeface="Arial"/>
                <a:cs typeface="Arial"/>
              </a:rPr>
              <a:t>	100</a:t>
            </a:r>
            <a:r>
              <a:rPr sz="300" spc="425" dirty="0">
                <a:latin typeface="Arial"/>
                <a:cs typeface="Arial"/>
              </a:rPr>
              <a:t>  </a:t>
            </a:r>
            <a:r>
              <a:rPr sz="300" dirty="0">
                <a:latin typeface="Arial"/>
                <a:cs typeface="Arial"/>
              </a:rPr>
              <a:t>120</a:t>
            </a:r>
            <a:r>
              <a:rPr sz="300" spc="425" dirty="0">
                <a:latin typeface="Arial"/>
                <a:cs typeface="Arial"/>
              </a:rPr>
              <a:t>  </a:t>
            </a:r>
            <a:r>
              <a:rPr sz="300" spc="-25" dirty="0">
                <a:latin typeface="Arial"/>
                <a:cs typeface="Arial"/>
              </a:rPr>
              <a:t>140</a:t>
            </a:r>
            <a:endParaRPr sz="300">
              <a:latin typeface="Arial"/>
              <a:cs typeface="Arial"/>
            </a:endParaRPr>
          </a:p>
          <a:p>
            <a:pPr marL="623570">
              <a:lnSpc>
                <a:spcPct val="100000"/>
              </a:lnSpc>
              <a:spcBef>
                <a:spcPts val="90"/>
              </a:spcBef>
            </a:pPr>
            <a:r>
              <a:rPr sz="300" spc="-10" dirty="0">
                <a:latin typeface="Arial"/>
                <a:cs typeface="Arial"/>
              </a:rPr>
              <a:t>Position</a:t>
            </a:r>
            <a:endParaRPr sz="300">
              <a:latin typeface="Arial"/>
              <a:cs typeface="Arial"/>
            </a:endParaRPr>
          </a:p>
        </p:txBody>
      </p:sp>
      <p:sp>
        <p:nvSpPr>
          <p:cNvPr id="118" name="object 118"/>
          <p:cNvSpPr txBox="1"/>
          <p:nvPr/>
        </p:nvSpPr>
        <p:spPr>
          <a:xfrm>
            <a:off x="1226901" y="1011893"/>
            <a:ext cx="67945" cy="124460"/>
          </a:xfrm>
          <a:prstGeom prst="rect">
            <a:avLst/>
          </a:prstGeom>
        </p:spPr>
        <p:txBody>
          <a:bodyPr vert="vert270" wrap="square" lIns="0" tIns="8890" rIns="0" bIns="0" rtlCol="0">
            <a:spAutoFit/>
          </a:bodyPr>
          <a:lstStyle/>
          <a:p>
            <a:pPr marL="12700">
              <a:lnSpc>
                <a:spcPct val="100000"/>
              </a:lnSpc>
              <a:spcBef>
                <a:spcPts val="70"/>
              </a:spcBef>
            </a:pPr>
            <a:r>
              <a:rPr sz="300" spc="-20" dirty="0">
                <a:latin typeface="Arial"/>
                <a:cs typeface="Arial"/>
              </a:rPr>
              <a:t>Score</a:t>
            </a:r>
            <a:endParaRPr sz="300">
              <a:latin typeface="Arial"/>
              <a:cs typeface="Arial"/>
            </a:endParaRPr>
          </a:p>
        </p:txBody>
      </p:sp>
      <p:sp>
        <p:nvSpPr>
          <p:cNvPr id="119" name="object 119"/>
          <p:cNvSpPr txBox="1"/>
          <p:nvPr/>
        </p:nvSpPr>
        <p:spPr>
          <a:xfrm>
            <a:off x="2469465" y="508317"/>
            <a:ext cx="477520" cy="71120"/>
          </a:xfrm>
          <a:prstGeom prst="rect">
            <a:avLst/>
          </a:prstGeom>
        </p:spPr>
        <p:txBody>
          <a:bodyPr vert="horz" wrap="square" lIns="0" tIns="12065" rIns="0" bIns="0" rtlCol="0">
            <a:spAutoFit/>
          </a:bodyPr>
          <a:lstStyle/>
          <a:p>
            <a:pPr marL="12700">
              <a:lnSpc>
                <a:spcPct val="100000"/>
              </a:lnSpc>
              <a:spcBef>
                <a:spcPts val="95"/>
              </a:spcBef>
            </a:pPr>
            <a:r>
              <a:rPr sz="300" dirty="0">
                <a:latin typeface="Arial"/>
                <a:cs typeface="Arial"/>
              </a:rPr>
              <a:t>Hydropath.</a:t>
            </a:r>
            <a:r>
              <a:rPr sz="300" spc="-10" dirty="0">
                <a:latin typeface="Arial"/>
                <a:cs typeface="Arial"/>
              </a:rPr>
              <a:t> </a:t>
            </a:r>
            <a:r>
              <a:rPr sz="300" dirty="0">
                <a:latin typeface="Arial"/>
                <a:cs typeface="Arial"/>
              </a:rPr>
              <a:t>/</a:t>
            </a:r>
            <a:r>
              <a:rPr sz="300" spc="-10" dirty="0">
                <a:latin typeface="Arial"/>
                <a:cs typeface="Arial"/>
              </a:rPr>
              <a:t> </a:t>
            </a:r>
            <a:r>
              <a:rPr sz="300" dirty="0">
                <a:latin typeface="Arial"/>
                <a:cs typeface="Arial"/>
              </a:rPr>
              <a:t>Kyte</a:t>
            </a:r>
            <a:r>
              <a:rPr sz="300" spc="75" dirty="0">
                <a:latin typeface="Arial"/>
                <a:cs typeface="Arial"/>
              </a:rPr>
              <a:t> </a:t>
            </a:r>
            <a:r>
              <a:rPr sz="300" spc="-10" dirty="0">
                <a:latin typeface="Arial"/>
                <a:cs typeface="Arial"/>
              </a:rPr>
              <a:t>Doolittle</a:t>
            </a:r>
            <a:endParaRPr sz="300">
              <a:latin typeface="Arial"/>
              <a:cs typeface="Arial"/>
            </a:endParaRPr>
          </a:p>
        </p:txBody>
      </p:sp>
      <p:grpSp>
        <p:nvGrpSpPr>
          <p:cNvPr id="120" name="object 120"/>
          <p:cNvGrpSpPr/>
          <p:nvPr/>
        </p:nvGrpSpPr>
        <p:grpSpPr>
          <a:xfrm>
            <a:off x="1409530" y="508423"/>
            <a:ext cx="1703705" cy="1130935"/>
            <a:chOff x="1409530" y="508423"/>
            <a:chExt cx="1703705" cy="1130935"/>
          </a:xfrm>
        </p:grpSpPr>
        <p:sp>
          <p:nvSpPr>
            <p:cNvPr id="121" name="object 121"/>
            <p:cNvSpPr/>
            <p:nvPr/>
          </p:nvSpPr>
          <p:spPr>
            <a:xfrm>
              <a:off x="1458118" y="514364"/>
              <a:ext cx="1607185" cy="1106170"/>
            </a:xfrm>
            <a:custGeom>
              <a:avLst/>
              <a:gdLst/>
              <a:ahLst/>
              <a:cxnLst/>
              <a:rect l="l" t="t" r="r" b="b"/>
              <a:pathLst>
                <a:path w="1607185" h="1106170">
                  <a:moveTo>
                    <a:pt x="0" y="962973"/>
                  </a:moveTo>
                  <a:lnTo>
                    <a:pt x="9225" y="948105"/>
                  </a:lnTo>
                  <a:lnTo>
                    <a:pt x="18722" y="827335"/>
                  </a:lnTo>
                  <a:lnTo>
                    <a:pt x="27963" y="758980"/>
                  </a:lnTo>
                  <a:lnTo>
                    <a:pt x="37460" y="713591"/>
                  </a:lnTo>
                  <a:lnTo>
                    <a:pt x="46686" y="701428"/>
                  </a:lnTo>
                  <a:lnTo>
                    <a:pt x="55912" y="660632"/>
                  </a:lnTo>
                  <a:lnTo>
                    <a:pt x="65409" y="712503"/>
                  </a:lnTo>
                  <a:lnTo>
                    <a:pt x="74650" y="795182"/>
                  </a:lnTo>
                  <a:lnTo>
                    <a:pt x="84147" y="822198"/>
                  </a:lnTo>
                  <a:lnTo>
                    <a:pt x="93373" y="881382"/>
                  </a:lnTo>
                  <a:lnTo>
                    <a:pt x="102598" y="921905"/>
                  </a:lnTo>
                  <a:lnTo>
                    <a:pt x="112096" y="1033761"/>
                  </a:lnTo>
                  <a:lnTo>
                    <a:pt x="121321" y="1049157"/>
                  </a:lnTo>
                  <a:lnTo>
                    <a:pt x="130834" y="1090497"/>
                  </a:lnTo>
                  <a:lnTo>
                    <a:pt x="140059" y="1088608"/>
                  </a:lnTo>
                  <a:lnTo>
                    <a:pt x="149285" y="1003769"/>
                  </a:lnTo>
                  <a:lnTo>
                    <a:pt x="158782" y="835449"/>
                  </a:lnTo>
                  <a:lnTo>
                    <a:pt x="168008" y="654150"/>
                  </a:lnTo>
                  <a:lnTo>
                    <a:pt x="177520" y="489592"/>
                  </a:lnTo>
                  <a:lnTo>
                    <a:pt x="186746" y="298306"/>
                  </a:lnTo>
                  <a:lnTo>
                    <a:pt x="195971" y="218589"/>
                  </a:lnTo>
                  <a:lnTo>
                    <a:pt x="205469" y="284254"/>
                  </a:lnTo>
                  <a:lnTo>
                    <a:pt x="214694" y="359908"/>
                  </a:lnTo>
                  <a:lnTo>
                    <a:pt x="224207" y="490408"/>
                  </a:lnTo>
                  <a:lnTo>
                    <a:pt x="233432" y="659544"/>
                  </a:lnTo>
                  <a:lnTo>
                    <a:pt x="242658" y="764117"/>
                  </a:lnTo>
                  <a:lnTo>
                    <a:pt x="252155" y="780586"/>
                  </a:lnTo>
                  <a:lnTo>
                    <a:pt x="261381" y="798431"/>
                  </a:lnTo>
                  <a:lnTo>
                    <a:pt x="270878" y="889480"/>
                  </a:lnTo>
                  <a:lnTo>
                    <a:pt x="280119" y="911359"/>
                  </a:lnTo>
                  <a:lnTo>
                    <a:pt x="289344" y="870291"/>
                  </a:lnTo>
                  <a:lnTo>
                    <a:pt x="298842" y="916768"/>
                  </a:lnTo>
                  <a:lnTo>
                    <a:pt x="308067" y="911903"/>
                  </a:lnTo>
                  <a:lnTo>
                    <a:pt x="317565" y="811394"/>
                  </a:lnTo>
                  <a:lnTo>
                    <a:pt x="326805" y="617661"/>
                  </a:lnTo>
                  <a:lnTo>
                    <a:pt x="336031" y="516079"/>
                  </a:lnTo>
                  <a:lnTo>
                    <a:pt x="345528" y="466626"/>
                  </a:lnTo>
                  <a:lnTo>
                    <a:pt x="354754" y="333421"/>
                  </a:lnTo>
                  <a:lnTo>
                    <a:pt x="364251" y="269931"/>
                  </a:lnTo>
                  <a:lnTo>
                    <a:pt x="373492" y="309110"/>
                  </a:lnTo>
                  <a:lnTo>
                    <a:pt x="382718" y="377465"/>
                  </a:lnTo>
                  <a:lnTo>
                    <a:pt x="392215" y="383146"/>
                  </a:lnTo>
                  <a:lnTo>
                    <a:pt x="401440" y="467986"/>
                  </a:lnTo>
                  <a:lnTo>
                    <a:pt x="410938" y="607673"/>
                  </a:lnTo>
                  <a:lnTo>
                    <a:pt x="420179" y="734653"/>
                  </a:lnTo>
                  <a:lnTo>
                    <a:pt x="429404" y="810579"/>
                  </a:lnTo>
                  <a:lnTo>
                    <a:pt x="438901" y="900828"/>
                  </a:lnTo>
                  <a:lnTo>
                    <a:pt x="448127" y="924338"/>
                  </a:lnTo>
                  <a:lnTo>
                    <a:pt x="457624" y="882726"/>
                  </a:lnTo>
                  <a:lnTo>
                    <a:pt x="466850" y="907853"/>
                  </a:lnTo>
                  <a:lnTo>
                    <a:pt x="476091" y="910830"/>
                  </a:lnTo>
                  <a:lnTo>
                    <a:pt x="485588" y="873268"/>
                  </a:lnTo>
                  <a:lnTo>
                    <a:pt x="494814" y="887864"/>
                  </a:lnTo>
                  <a:lnTo>
                    <a:pt x="504311" y="947848"/>
                  </a:lnTo>
                  <a:lnTo>
                    <a:pt x="513537" y="959196"/>
                  </a:lnTo>
                  <a:lnTo>
                    <a:pt x="522777" y="911102"/>
                  </a:lnTo>
                  <a:lnTo>
                    <a:pt x="532275" y="827335"/>
                  </a:lnTo>
                  <a:lnTo>
                    <a:pt x="541500" y="803825"/>
                  </a:lnTo>
                  <a:lnTo>
                    <a:pt x="550997" y="740606"/>
                  </a:lnTo>
                  <a:lnTo>
                    <a:pt x="560223" y="611722"/>
                  </a:lnTo>
                  <a:lnTo>
                    <a:pt x="569464" y="531204"/>
                  </a:lnTo>
                  <a:lnTo>
                    <a:pt x="578961" y="520945"/>
                  </a:lnTo>
                  <a:lnTo>
                    <a:pt x="588187" y="530131"/>
                  </a:lnTo>
                  <a:lnTo>
                    <a:pt x="597684" y="529043"/>
                  </a:lnTo>
                  <a:lnTo>
                    <a:pt x="606910" y="663593"/>
                  </a:lnTo>
                  <a:lnTo>
                    <a:pt x="616150" y="818964"/>
                  </a:lnTo>
                  <a:lnTo>
                    <a:pt x="625648" y="913535"/>
                  </a:lnTo>
                  <a:lnTo>
                    <a:pt x="634873" y="969999"/>
                  </a:lnTo>
                  <a:lnTo>
                    <a:pt x="644371" y="1059432"/>
                  </a:lnTo>
                  <a:lnTo>
                    <a:pt x="653596" y="1074028"/>
                  </a:lnTo>
                  <a:lnTo>
                    <a:pt x="662822" y="989989"/>
                  </a:lnTo>
                  <a:lnTo>
                    <a:pt x="672334" y="985667"/>
                  </a:lnTo>
                  <a:lnTo>
                    <a:pt x="681560" y="961084"/>
                  </a:lnTo>
                  <a:lnTo>
                    <a:pt x="691057" y="903260"/>
                  </a:lnTo>
                  <a:lnTo>
                    <a:pt x="700283" y="807889"/>
                  </a:lnTo>
                  <a:lnTo>
                    <a:pt x="709508" y="791949"/>
                  </a:lnTo>
                  <a:lnTo>
                    <a:pt x="719021" y="775192"/>
                  </a:lnTo>
                  <a:lnTo>
                    <a:pt x="728246" y="719529"/>
                  </a:lnTo>
                  <a:lnTo>
                    <a:pt x="737744" y="724122"/>
                  </a:lnTo>
                  <a:lnTo>
                    <a:pt x="746969" y="789516"/>
                  </a:lnTo>
                  <a:lnTo>
                    <a:pt x="756195" y="803825"/>
                  </a:lnTo>
                  <a:lnTo>
                    <a:pt x="765707" y="841115"/>
                  </a:lnTo>
                  <a:lnTo>
                    <a:pt x="774933" y="904348"/>
                  </a:lnTo>
                  <a:lnTo>
                    <a:pt x="784430" y="930276"/>
                  </a:lnTo>
                  <a:lnTo>
                    <a:pt x="793656" y="898123"/>
                  </a:lnTo>
                  <a:lnTo>
                    <a:pt x="802881" y="828680"/>
                  </a:lnTo>
                  <a:lnTo>
                    <a:pt x="812379" y="814371"/>
                  </a:lnTo>
                  <a:lnTo>
                    <a:pt x="821619" y="765734"/>
                  </a:lnTo>
                  <a:lnTo>
                    <a:pt x="831117" y="680894"/>
                  </a:lnTo>
                  <a:lnTo>
                    <a:pt x="840342" y="658199"/>
                  </a:lnTo>
                  <a:lnTo>
                    <a:pt x="849840" y="697378"/>
                  </a:lnTo>
                  <a:lnTo>
                    <a:pt x="859065" y="686031"/>
                  </a:lnTo>
                  <a:lnTo>
                    <a:pt x="868306" y="684671"/>
                  </a:lnTo>
                  <a:lnTo>
                    <a:pt x="877803" y="751138"/>
                  </a:lnTo>
                  <a:lnTo>
                    <a:pt x="887029" y="765734"/>
                  </a:lnTo>
                  <a:lnTo>
                    <a:pt x="896526" y="695746"/>
                  </a:lnTo>
                  <a:lnTo>
                    <a:pt x="905752" y="576865"/>
                  </a:lnTo>
                  <a:lnTo>
                    <a:pt x="914993" y="512559"/>
                  </a:lnTo>
                  <a:lnTo>
                    <a:pt x="924490" y="448525"/>
                  </a:lnTo>
                  <a:lnTo>
                    <a:pt x="933716" y="333693"/>
                  </a:lnTo>
                  <a:lnTo>
                    <a:pt x="943213" y="332620"/>
                  </a:lnTo>
                  <a:lnTo>
                    <a:pt x="952438" y="447452"/>
                  </a:lnTo>
                  <a:lnTo>
                    <a:pt x="961679" y="511486"/>
                  </a:lnTo>
                  <a:lnTo>
                    <a:pt x="971177" y="575792"/>
                  </a:lnTo>
                  <a:lnTo>
                    <a:pt x="980402" y="694674"/>
                  </a:lnTo>
                  <a:lnTo>
                    <a:pt x="989899" y="750594"/>
                  </a:lnTo>
                  <a:lnTo>
                    <a:pt x="999125" y="708997"/>
                  </a:lnTo>
                  <a:lnTo>
                    <a:pt x="1008351" y="613883"/>
                  </a:lnTo>
                  <a:lnTo>
                    <a:pt x="1017863" y="591189"/>
                  </a:lnTo>
                  <a:lnTo>
                    <a:pt x="1027089" y="583075"/>
                  </a:lnTo>
                  <a:lnTo>
                    <a:pt x="1036586" y="523906"/>
                  </a:lnTo>
                  <a:lnTo>
                    <a:pt x="1045812" y="578754"/>
                  </a:lnTo>
                  <a:lnTo>
                    <a:pt x="1055037" y="683598"/>
                  </a:lnTo>
                  <a:lnTo>
                    <a:pt x="1064550" y="723049"/>
                  </a:lnTo>
                  <a:lnTo>
                    <a:pt x="1073775" y="684399"/>
                  </a:lnTo>
                  <a:lnTo>
                    <a:pt x="1083273" y="673868"/>
                  </a:lnTo>
                  <a:lnTo>
                    <a:pt x="1092498" y="600647"/>
                  </a:lnTo>
                  <a:lnTo>
                    <a:pt x="1101724" y="470675"/>
                  </a:lnTo>
                  <a:lnTo>
                    <a:pt x="1111236" y="382874"/>
                  </a:lnTo>
                  <a:lnTo>
                    <a:pt x="1120462" y="396654"/>
                  </a:lnTo>
                  <a:lnTo>
                    <a:pt x="1129959" y="519313"/>
                  </a:lnTo>
                  <a:lnTo>
                    <a:pt x="1139185" y="639010"/>
                  </a:lnTo>
                  <a:lnTo>
                    <a:pt x="1148410" y="792749"/>
                  </a:lnTo>
                  <a:lnTo>
                    <a:pt x="1157923" y="867058"/>
                  </a:lnTo>
                  <a:lnTo>
                    <a:pt x="1167148" y="819493"/>
                  </a:lnTo>
                  <a:lnTo>
                    <a:pt x="1176646" y="660904"/>
                  </a:lnTo>
                  <a:lnTo>
                    <a:pt x="1185871" y="501484"/>
                  </a:lnTo>
                  <a:lnTo>
                    <a:pt x="1195097" y="346128"/>
                  </a:lnTo>
                  <a:lnTo>
                    <a:pt x="1204594" y="198327"/>
                  </a:lnTo>
                  <a:lnTo>
                    <a:pt x="1213835" y="199415"/>
                  </a:lnTo>
                  <a:lnTo>
                    <a:pt x="1223332" y="367734"/>
                  </a:lnTo>
                  <a:lnTo>
                    <a:pt x="1232558" y="482023"/>
                  </a:lnTo>
                  <a:lnTo>
                    <a:pt x="1241783" y="533093"/>
                  </a:lnTo>
                  <a:lnTo>
                    <a:pt x="1251281" y="648197"/>
                  </a:lnTo>
                  <a:lnTo>
                    <a:pt x="1260521" y="725210"/>
                  </a:lnTo>
                  <a:lnTo>
                    <a:pt x="1270019" y="666026"/>
                  </a:lnTo>
                  <a:lnTo>
                    <a:pt x="1279244" y="506349"/>
                  </a:lnTo>
                  <a:lnTo>
                    <a:pt x="1288470" y="463665"/>
                  </a:lnTo>
                  <a:lnTo>
                    <a:pt x="1297967" y="343695"/>
                  </a:lnTo>
                  <a:lnTo>
                    <a:pt x="1307208" y="213995"/>
                  </a:lnTo>
                  <a:lnTo>
                    <a:pt x="1316705" y="179954"/>
                  </a:lnTo>
                  <a:lnTo>
                    <a:pt x="1325931" y="224814"/>
                  </a:lnTo>
                  <a:lnTo>
                    <a:pt x="1335156" y="275597"/>
                  </a:lnTo>
                  <a:lnTo>
                    <a:pt x="1344654" y="281550"/>
                  </a:lnTo>
                  <a:lnTo>
                    <a:pt x="1353879" y="346929"/>
                  </a:lnTo>
                  <a:lnTo>
                    <a:pt x="1363392" y="335309"/>
                  </a:lnTo>
                  <a:lnTo>
                    <a:pt x="1372617" y="213995"/>
                  </a:lnTo>
                  <a:lnTo>
                    <a:pt x="1381843" y="96459"/>
                  </a:lnTo>
                  <a:lnTo>
                    <a:pt x="1391340" y="47836"/>
                  </a:lnTo>
                  <a:lnTo>
                    <a:pt x="1400566" y="26486"/>
                  </a:lnTo>
                  <a:lnTo>
                    <a:pt x="1410078" y="0"/>
                  </a:lnTo>
                  <a:lnTo>
                    <a:pt x="1419304" y="19732"/>
                  </a:lnTo>
                  <a:lnTo>
                    <a:pt x="1428530" y="166174"/>
                  </a:lnTo>
                  <a:lnTo>
                    <a:pt x="1438027" y="313159"/>
                  </a:lnTo>
                  <a:lnTo>
                    <a:pt x="1447253" y="504460"/>
                  </a:lnTo>
                  <a:lnTo>
                    <a:pt x="1456765" y="698995"/>
                  </a:lnTo>
                  <a:lnTo>
                    <a:pt x="1465991" y="914879"/>
                  </a:lnTo>
                  <a:lnTo>
                    <a:pt x="1475216" y="1050517"/>
                  </a:lnTo>
                  <a:lnTo>
                    <a:pt x="1484714" y="1105637"/>
                  </a:lnTo>
                  <a:lnTo>
                    <a:pt x="1493939" y="1093474"/>
                  </a:lnTo>
                  <a:lnTo>
                    <a:pt x="1503452" y="1023502"/>
                  </a:lnTo>
                  <a:lnTo>
                    <a:pt x="1512677" y="987556"/>
                  </a:lnTo>
                  <a:lnTo>
                    <a:pt x="1521903" y="935957"/>
                  </a:lnTo>
                  <a:lnTo>
                    <a:pt x="1531400" y="978369"/>
                  </a:lnTo>
                  <a:lnTo>
                    <a:pt x="1540626" y="994582"/>
                  </a:lnTo>
                  <a:lnTo>
                    <a:pt x="1550123" y="1042675"/>
                  </a:lnTo>
                  <a:lnTo>
                    <a:pt x="1559364" y="1017820"/>
                  </a:lnTo>
                  <a:lnTo>
                    <a:pt x="1568589" y="913535"/>
                  </a:lnTo>
                  <a:lnTo>
                    <a:pt x="1578087" y="778154"/>
                  </a:lnTo>
                  <a:lnTo>
                    <a:pt x="1587312" y="672523"/>
                  </a:lnTo>
                  <a:lnTo>
                    <a:pt x="1596810" y="608217"/>
                  </a:lnTo>
                </a:path>
                <a:path w="1607185" h="1106170">
                  <a:moveTo>
                    <a:pt x="1498831" y="31896"/>
                  </a:moveTo>
                  <a:lnTo>
                    <a:pt x="1607122" y="31896"/>
                  </a:lnTo>
                </a:path>
              </a:pathLst>
            </a:custGeom>
            <a:ln w="7552">
              <a:solidFill>
                <a:srgbClr val="004FE9"/>
              </a:solidFill>
            </a:ln>
          </p:spPr>
          <p:txBody>
            <a:bodyPr wrap="square" lIns="0" tIns="0" rIns="0" bIns="0" rtlCol="0"/>
            <a:lstStyle/>
            <a:p>
              <a:endParaRPr/>
            </a:p>
          </p:txBody>
        </p:sp>
        <p:sp>
          <p:nvSpPr>
            <p:cNvPr id="122" name="object 122"/>
            <p:cNvSpPr/>
            <p:nvPr/>
          </p:nvSpPr>
          <p:spPr>
            <a:xfrm>
              <a:off x="1411435" y="510328"/>
              <a:ext cx="1699895" cy="1127125"/>
            </a:xfrm>
            <a:custGeom>
              <a:avLst/>
              <a:gdLst/>
              <a:ahLst/>
              <a:cxnLst/>
              <a:rect l="l" t="t" r="r" b="b"/>
              <a:pathLst>
                <a:path w="1699895" h="1127125">
                  <a:moveTo>
                    <a:pt x="0" y="1126971"/>
                  </a:moveTo>
                  <a:lnTo>
                    <a:pt x="1699408" y="1126971"/>
                  </a:lnTo>
                  <a:lnTo>
                    <a:pt x="1699408" y="0"/>
                  </a:lnTo>
                  <a:lnTo>
                    <a:pt x="0" y="0"/>
                  </a:lnTo>
                  <a:lnTo>
                    <a:pt x="0" y="1126971"/>
                  </a:lnTo>
                  <a:close/>
                </a:path>
              </a:pathLst>
            </a:custGeom>
            <a:ln w="3776">
              <a:solidFill>
                <a:srgbClr val="000000"/>
              </a:solidFill>
            </a:ln>
          </p:spPr>
          <p:txBody>
            <a:bodyPr wrap="square" lIns="0" tIns="0" rIns="0" bIns="0" rtlCol="0"/>
            <a:lstStyle/>
            <a:p>
              <a:endParaRPr/>
            </a:p>
          </p:txBody>
        </p:sp>
      </p:grpSp>
      <p:sp>
        <p:nvSpPr>
          <p:cNvPr id="123" name="object 123"/>
          <p:cNvSpPr txBox="1"/>
          <p:nvPr/>
        </p:nvSpPr>
        <p:spPr>
          <a:xfrm>
            <a:off x="1382559" y="240752"/>
            <a:ext cx="1207770" cy="253365"/>
          </a:xfrm>
          <a:prstGeom prst="rect">
            <a:avLst/>
          </a:prstGeom>
        </p:spPr>
        <p:txBody>
          <a:bodyPr vert="horz" wrap="square" lIns="0" tIns="13970" rIns="0" bIns="0" rtlCol="0">
            <a:spAutoFit/>
          </a:bodyPr>
          <a:lstStyle/>
          <a:p>
            <a:pPr marL="38100">
              <a:lnSpc>
                <a:spcPct val="100000"/>
              </a:lnSpc>
              <a:spcBef>
                <a:spcPts val="110"/>
              </a:spcBef>
            </a:pPr>
            <a:r>
              <a:rPr sz="700" spc="-45" dirty="0">
                <a:latin typeface="Arial"/>
                <a:cs typeface="Arial"/>
              </a:rPr>
              <a:t>Zea</a:t>
            </a:r>
            <a:r>
              <a:rPr sz="700" spc="-30" dirty="0">
                <a:latin typeface="Arial"/>
                <a:cs typeface="Arial"/>
              </a:rPr>
              <a:t> </a:t>
            </a:r>
            <a:r>
              <a:rPr sz="700" spc="-40" dirty="0">
                <a:latin typeface="Arial"/>
                <a:cs typeface="Arial"/>
              </a:rPr>
              <a:t>mays</a:t>
            </a:r>
            <a:r>
              <a:rPr sz="700" spc="-30" dirty="0">
                <a:latin typeface="Arial"/>
                <a:cs typeface="Arial"/>
              </a:rPr>
              <a:t> </a:t>
            </a:r>
            <a:r>
              <a:rPr sz="700" spc="-10" dirty="0">
                <a:latin typeface="Arial"/>
                <a:cs typeface="Arial"/>
              </a:rPr>
              <a:t>Zm00001eb294480</a:t>
            </a:r>
            <a:endParaRPr sz="700">
              <a:latin typeface="Arial"/>
              <a:cs typeface="Arial"/>
            </a:endParaRPr>
          </a:p>
          <a:p>
            <a:pPr marL="587375">
              <a:lnSpc>
                <a:spcPct val="100000"/>
              </a:lnSpc>
              <a:spcBef>
                <a:spcPts val="585"/>
              </a:spcBef>
            </a:pPr>
            <a:r>
              <a:rPr sz="450" baseline="18518" dirty="0">
                <a:latin typeface="Arial"/>
                <a:cs typeface="Arial"/>
              </a:rPr>
              <a:t>ProtScale</a:t>
            </a:r>
            <a:r>
              <a:rPr sz="450" spc="-15" baseline="18518" dirty="0">
                <a:latin typeface="Arial"/>
                <a:cs typeface="Arial"/>
              </a:rPr>
              <a:t> </a:t>
            </a:r>
            <a:r>
              <a:rPr sz="450" baseline="18518" dirty="0">
                <a:latin typeface="Arial"/>
                <a:cs typeface="Arial"/>
              </a:rPr>
              <a:t>output</a:t>
            </a:r>
            <a:r>
              <a:rPr sz="450" spc="-7" baseline="18518" dirty="0">
                <a:latin typeface="Arial"/>
                <a:cs typeface="Arial"/>
              </a:rPr>
              <a:t> </a:t>
            </a:r>
            <a:r>
              <a:rPr sz="450" baseline="18518" dirty="0">
                <a:latin typeface="Arial"/>
                <a:cs typeface="Arial"/>
              </a:rPr>
              <a:t>for</a:t>
            </a:r>
            <a:r>
              <a:rPr sz="450" spc="-7" baseline="18518" dirty="0">
                <a:latin typeface="Arial"/>
                <a:cs typeface="Arial"/>
              </a:rPr>
              <a:t> </a:t>
            </a:r>
            <a:r>
              <a:rPr sz="450" spc="-15" baseline="18518" dirty="0">
                <a:latin typeface="Arial"/>
                <a:cs typeface="Arial"/>
              </a:rPr>
              <a:t>user</a:t>
            </a:r>
            <a:r>
              <a:rPr sz="200" spc="-10" dirty="0">
                <a:latin typeface="Arial"/>
                <a:cs typeface="Arial"/>
              </a:rPr>
              <a:t>s</a:t>
            </a:r>
            <a:r>
              <a:rPr sz="450" spc="-15" baseline="18518" dirty="0">
                <a:latin typeface="Arial"/>
                <a:cs typeface="Arial"/>
              </a:rPr>
              <a:t>equence</a:t>
            </a:r>
            <a:endParaRPr sz="450" baseline="18518">
              <a:latin typeface="Arial"/>
              <a:cs typeface="Arial"/>
            </a:endParaRPr>
          </a:p>
        </p:txBody>
      </p:sp>
      <p:sp>
        <p:nvSpPr>
          <p:cNvPr id="124" name="object 124"/>
          <p:cNvSpPr txBox="1"/>
          <p:nvPr/>
        </p:nvSpPr>
        <p:spPr>
          <a:xfrm>
            <a:off x="1445411" y="526341"/>
            <a:ext cx="102235" cy="91440"/>
          </a:xfrm>
          <a:prstGeom prst="rect">
            <a:avLst/>
          </a:prstGeom>
        </p:spPr>
        <p:txBody>
          <a:bodyPr vert="horz" wrap="square" lIns="0" tIns="16510" rIns="0" bIns="0" rtlCol="0">
            <a:spAutoFit/>
          </a:bodyPr>
          <a:lstStyle/>
          <a:p>
            <a:pPr marL="12700">
              <a:lnSpc>
                <a:spcPct val="100000"/>
              </a:lnSpc>
              <a:spcBef>
                <a:spcPts val="130"/>
              </a:spcBef>
            </a:pPr>
            <a:r>
              <a:rPr sz="400" spc="-25" dirty="0">
                <a:latin typeface="Arial"/>
                <a:cs typeface="Arial"/>
              </a:rPr>
              <a:t>Zm</a:t>
            </a:r>
            <a:endParaRPr sz="400">
              <a:latin typeface="Arial"/>
              <a:cs typeface="Arial"/>
            </a:endParaRPr>
          </a:p>
        </p:txBody>
      </p:sp>
      <p:sp>
        <p:nvSpPr>
          <p:cNvPr id="125" name="object 125"/>
          <p:cNvSpPr/>
          <p:nvPr/>
        </p:nvSpPr>
        <p:spPr>
          <a:xfrm>
            <a:off x="1784928" y="684707"/>
            <a:ext cx="744220" cy="908685"/>
          </a:xfrm>
          <a:custGeom>
            <a:avLst/>
            <a:gdLst/>
            <a:ahLst/>
            <a:cxnLst/>
            <a:rect l="l" t="t" r="r" b="b"/>
            <a:pathLst>
              <a:path w="744219" h="908685">
                <a:moveTo>
                  <a:pt x="0" y="908261"/>
                </a:moveTo>
                <a:lnTo>
                  <a:pt x="743904" y="908261"/>
                </a:lnTo>
                <a:lnTo>
                  <a:pt x="743904" y="0"/>
                </a:lnTo>
                <a:lnTo>
                  <a:pt x="0" y="0"/>
                </a:lnTo>
                <a:lnTo>
                  <a:pt x="0" y="908261"/>
                </a:lnTo>
                <a:close/>
              </a:path>
            </a:pathLst>
          </a:custGeom>
          <a:ln w="7551">
            <a:solidFill>
              <a:srgbClr val="ED1C24"/>
            </a:solidFill>
          </a:ln>
        </p:spPr>
        <p:txBody>
          <a:bodyPr wrap="square" lIns="0" tIns="0" rIns="0" bIns="0" rtlCol="0"/>
          <a:lstStyle/>
          <a:p>
            <a:endParaRPr/>
          </a:p>
        </p:txBody>
      </p:sp>
      <p:grpSp>
        <p:nvGrpSpPr>
          <p:cNvPr id="126" name="object 126"/>
          <p:cNvGrpSpPr/>
          <p:nvPr/>
        </p:nvGrpSpPr>
        <p:grpSpPr>
          <a:xfrm>
            <a:off x="3573846" y="1655080"/>
            <a:ext cx="1709420" cy="3810"/>
            <a:chOff x="3573846" y="1655080"/>
            <a:chExt cx="1709420" cy="3810"/>
          </a:xfrm>
        </p:grpSpPr>
        <p:sp>
          <p:nvSpPr>
            <p:cNvPr id="127" name="object 127"/>
            <p:cNvSpPr/>
            <p:nvPr/>
          </p:nvSpPr>
          <p:spPr>
            <a:xfrm>
              <a:off x="3575754" y="1656985"/>
              <a:ext cx="1705610" cy="0"/>
            </a:xfrm>
            <a:custGeom>
              <a:avLst/>
              <a:gdLst/>
              <a:ahLst/>
              <a:cxnLst/>
              <a:rect l="l" t="t" r="r" b="b"/>
              <a:pathLst>
                <a:path w="1705610">
                  <a:moveTo>
                    <a:pt x="0" y="0"/>
                  </a:moveTo>
                  <a:lnTo>
                    <a:pt x="1705584" y="0"/>
                  </a:lnTo>
                </a:path>
              </a:pathLst>
            </a:custGeom>
            <a:ln w="3777">
              <a:solidFill>
                <a:srgbClr val="000000"/>
              </a:solidFill>
              <a:prstDash val="dash"/>
            </a:ln>
          </p:spPr>
          <p:txBody>
            <a:bodyPr wrap="square" lIns="0" tIns="0" rIns="0" bIns="0" rtlCol="0"/>
            <a:lstStyle/>
            <a:p>
              <a:endParaRPr/>
            </a:p>
          </p:txBody>
        </p:sp>
        <p:sp>
          <p:nvSpPr>
            <p:cNvPr id="128" name="object 128"/>
            <p:cNvSpPr/>
            <p:nvPr/>
          </p:nvSpPr>
          <p:spPr>
            <a:xfrm>
              <a:off x="3575751" y="1656985"/>
              <a:ext cx="1705610" cy="0"/>
            </a:xfrm>
            <a:custGeom>
              <a:avLst/>
              <a:gdLst/>
              <a:ahLst/>
              <a:cxnLst/>
              <a:rect l="l" t="t" r="r" b="b"/>
              <a:pathLst>
                <a:path w="1705610">
                  <a:moveTo>
                    <a:pt x="1705584" y="0"/>
                  </a:moveTo>
                  <a:lnTo>
                    <a:pt x="1688416" y="0"/>
                  </a:lnTo>
                </a:path>
                <a:path w="1705610">
                  <a:moveTo>
                    <a:pt x="0" y="0"/>
                  </a:moveTo>
                  <a:lnTo>
                    <a:pt x="17167" y="0"/>
                  </a:lnTo>
                </a:path>
              </a:pathLst>
            </a:custGeom>
            <a:ln w="3776">
              <a:solidFill>
                <a:srgbClr val="000000"/>
              </a:solidFill>
            </a:ln>
          </p:spPr>
          <p:txBody>
            <a:bodyPr wrap="square" lIns="0" tIns="0" rIns="0" bIns="0" rtlCol="0"/>
            <a:lstStyle/>
            <a:p>
              <a:endParaRPr/>
            </a:p>
          </p:txBody>
        </p:sp>
      </p:grpSp>
      <p:sp>
        <p:nvSpPr>
          <p:cNvPr id="129" name="object 129"/>
          <p:cNvSpPr txBox="1"/>
          <p:nvPr/>
        </p:nvSpPr>
        <p:spPr>
          <a:xfrm>
            <a:off x="3506282" y="1618940"/>
            <a:ext cx="59690" cy="71120"/>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3</a:t>
            </a:r>
            <a:endParaRPr sz="300">
              <a:latin typeface="Arial"/>
              <a:cs typeface="Arial"/>
            </a:endParaRPr>
          </a:p>
        </p:txBody>
      </p:sp>
      <p:grpSp>
        <p:nvGrpSpPr>
          <p:cNvPr id="130" name="object 130"/>
          <p:cNvGrpSpPr/>
          <p:nvPr/>
        </p:nvGrpSpPr>
        <p:grpSpPr>
          <a:xfrm>
            <a:off x="3573846" y="521052"/>
            <a:ext cx="1709420" cy="1137920"/>
            <a:chOff x="3573846" y="521052"/>
            <a:chExt cx="1709420" cy="1137920"/>
          </a:xfrm>
        </p:grpSpPr>
        <p:sp>
          <p:nvSpPr>
            <p:cNvPr id="131" name="object 131"/>
            <p:cNvSpPr/>
            <p:nvPr/>
          </p:nvSpPr>
          <p:spPr>
            <a:xfrm>
              <a:off x="3575754" y="1515333"/>
              <a:ext cx="1705610" cy="0"/>
            </a:xfrm>
            <a:custGeom>
              <a:avLst/>
              <a:gdLst/>
              <a:ahLst/>
              <a:cxnLst/>
              <a:rect l="l" t="t" r="r" b="b"/>
              <a:pathLst>
                <a:path w="1705610">
                  <a:moveTo>
                    <a:pt x="0" y="0"/>
                  </a:moveTo>
                  <a:lnTo>
                    <a:pt x="1705584" y="0"/>
                  </a:lnTo>
                </a:path>
              </a:pathLst>
            </a:custGeom>
            <a:ln w="3777">
              <a:solidFill>
                <a:srgbClr val="000000"/>
              </a:solidFill>
              <a:prstDash val="dash"/>
            </a:ln>
          </p:spPr>
          <p:txBody>
            <a:bodyPr wrap="square" lIns="0" tIns="0" rIns="0" bIns="0" rtlCol="0"/>
            <a:lstStyle/>
            <a:p>
              <a:endParaRPr/>
            </a:p>
          </p:txBody>
        </p:sp>
        <p:sp>
          <p:nvSpPr>
            <p:cNvPr id="132" name="object 132"/>
            <p:cNvSpPr/>
            <p:nvPr/>
          </p:nvSpPr>
          <p:spPr>
            <a:xfrm>
              <a:off x="3575751" y="1515333"/>
              <a:ext cx="1705610" cy="0"/>
            </a:xfrm>
            <a:custGeom>
              <a:avLst/>
              <a:gdLst/>
              <a:ahLst/>
              <a:cxnLst/>
              <a:rect l="l" t="t" r="r" b="b"/>
              <a:pathLst>
                <a:path w="1705610">
                  <a:moveTo>
                    <a:pt x="1705584" y="0"/>
                  </a:moveTo>
                  <a:lnTo>
                    <a:pt x="1688416" y="0"/>
                  </a:lnTo>
                </a:path>
                <a:path w="1705610">
                  <a:moveTo>
                    <a:pt x="0" y="0"/>
                  </a:moveTo>
                  <a:lnTo>
                    <a:pt x="17167" y="0"/>
                  </a:lnTo>
                </a:path>
              </a:pathLst>
            </a:custGeom>
            <a:ln w="3776">
              <a:solidFill>
                <a:srgbClr val="000000"/>
              </a:solidFill>
            </a:ln>
          </p:spPr>
          <p:txBody>
            <a:bodyPr wrap="square" lIns="0" tIns="0" rIns="0" bIns="0" rtlCol="0"/>
            <a:lstStyle/>
            <a:p>
              <a:endParaRPr/>
            </a:p>
          </p:txBody>
        </p:sp>
        <p:sp>
          <p:nvSpPr>
            <p:cNvPr id="133" name="object 133"/>
            <p:cNvSpPr/>
            <p:nvPr/>
          </p:nvSpPr>
          <p:spPr>
            <a:xfrm>
              <a:off x="3575754" y="1373412"/>
              <a:ext cx="1705610" cy="0"/>
            </a:xfrm>
            <a:custGeom>
              <a:avLst/>
              <a:gdLst/>
              <a:ahLst/>
              <a:cxnLst/>
              <a:rect l="l" t="t" r="r" b="b"/>
              <a:pathLst>
                <a:path w="1705610">
                  <a:moveTo>
                    <a:pt x="0" y="0"/>
                  </a:moveTo>
                  <a:lnTo>
                    <a:pt x="1705584" y="0"/>
                  </a:lnTo>
                </a:path>
              </a:pathLst>
            </a:custGeom>
            <a:ln w="3777">
              <a:solidFill>
                <a:srgbClr val="000000"/>
              </a:solidFill>
              <a:prstDash val="dash"/>
            </a:ln>
          </p:spPr>
          <p:txBody>
            <a:bodyPr wrap="square" lIns="0" tIns="0" rIns="0" bIns="0" rtlCol="0"/>
            <a:lstStyle/>
            <a:p>
              <a:endParaRPr/>
            </a:p>
          </p:txBody>
        </p:sp>
        <p:sp>
          <p:nvSpPr>
            <p:cNvPr id="134" name="object 134"/>
            <p:cNvSpPr/>
            <p:nvPr/>
          </p:nvSpPr>
          <p:spPr>
            <a:xfrm>
              <a:off x="3575751" y="1373412"/>
              <a:ext cx="1705610" cy="0"/>
            </a:xfrm>
            <a:custGeom>
              <a:avLst/>
              <a:gdLst/>
              <a:ahLst/>
              <a:cxnLst/>
              <a:rect l="l" t="t" r="r" b="b"/>
              <a:pathLst>
                <a:path w="1705610">
                  <a:moveTo>
                    <a:pt x="1705584" y="0"/>
                  </a:moveTo>
                  <a:lnTo>
                    <a:pt x="1688416" y="0"/>
                  </a:lnTo>
                </a:path>
                <a:path w="1705610">
                  <a:moveTo>
                    <a:pt x="0" y="0"/>
                  </a:moveTo>
                  <a:lnTo>
                    <a:pt x="17167" y="0"/>
                  </a:lnTo>
                </a:path>
              </a:pathLst>
            </a:custGeom>
            <a:ln w="3776">
              <a:solidFill>
                <a:srgbClr val="000000"/>
              </a:solidFill>
            </a:ln>
          </p:spPr>
          <p:txBody>
            <a:bodyPr wrap="square" lIns="0" tIns="0" rIns="0" bIns="0" rtlCol="0"/>
            <a:lstStyle/>
            <a:p>
              <a:endParaRPr/>
            </a:p>
          </p:txBody>
        </p:sp>
        <p:sp>
          <p:nvSpPr>
            <p:cNvPr id="135" name="object 135"/>
            <p:cNvSpPr/>
            <p:nvPr/>
          </p:nvSpPr>
          <p:spPr>
            <a:xfrm>
              <a:off x="3575754" y="1231760"/>
              <a:ext cx="1705610" cy="0"/>
            </a:xfrm>
            <a:custGeom>
              <a:avLst/>
              <a:gdLst/>
              <a:ahLst/>
              <a:cxnLst/>
              <a:rect l="l" t="t" r="r" b="b"/>
              <a:pathLst>
                <a:path w="1705610">
                  <a:moveTo>
                    <a:pt x="0" y="0"/>
                  </a:moveTo>
                  <a:lnTo>
                    <a:pt x="1705584" y="0"/>
                  </a:lnTo>
                </a:path>
              </a:pathLst>
            </a:custGeom>
            <a:ln w="3777">
              <a:solidFill>
                <a:srgbClr val="000000"/>
              </a:solidFill>
              <a:prstDash val="dash"/>
            </a:ln>
          </p:spPr>
          <p:txBody>
            <a:bodyPr wrap="square" lIns="0" tIns="0" rIns="0" bIns="0" rtlCol="0"/>
            <a:lstStyle/>
            <a:p>
              <a:endParaRPr/>
            </a:p>
          </p:txBody>
        </p:sp>
        <p:sp>
          <p:nvSpPr>
            <p:cNvPr id="136" name="object 136"/>
            <p:cNvSpPr/>
            <p:nvPr/>
          </p:nvSpPr>
          <p:spPr>
            <a:xfrm>
              <a:off x="3575751" y="1231760"/>
              <a:ext cx="1705610" cy="0"/>
            </a:xfrm>
            <a:custGeom>
              <a:avLst/>
              <a:gdLst/>
              <a:ahLst/>
              <a:cxnLst/>
              <a:rect l="l" t="t" r="r" b="b"/>
              <a:pathLst>
                <a:path w="1705610">
                  <a:moveTo>
                    <a:pt x="1705584" y="0"/>
                  </a:moveTo>
                  <a:lnTo>
                    <a:pt x="1688416" y="0"/>
                  </a:lnTo>
                </a:path>
                <a:path w="1705610">
                  <a:moveTo>
                    <a:pt x="0" y="0"/>
                  </a:moveTo>
                  <a:lnTo>
                    <a:pt x="17167" y="0"/>
                  </a:lnTo>
                </a:path>
              </a:pathLst>
            </a:custGeom>
            <a:ln w="3776">
              <a:solidFill>
                <a:srgbClr val="000000"/>
              </a:solidFill>
            </a:ln>
          </p:spPr>
          <p:txBody>
            <a:bodyPr wrap="square" lIns="0" tIns="0" rIns="0" bIns="0" rtlCol="0"/>
            <a:lstStyle/>
            <a:p>
              <a:endParaRPr/>
            </a:p>
          </p:txBody>
        </p:sp>
        <p:sp>
          <p:nvSpPr>
            <p:cNvPr id="137" name="object 137"/>
            <p:cNvSpPr/>
            <p:nvPr/>
          </p:nvSpPr>
          <p:spPr>
            <a:xfrm>
              <a:off x="3575754" y="1089836"/>
              <a:ext cx="1705610" cy="0"/>
            </a:xfrm>
            <a:custGeom>
              <a:avLst/>
              <a:gdLst/>
              <a:ahLst/>
              <a:cxnLst/>
              <a:rect l="l" t="t" r="r" b="b"/>
              <a:pathLst>
                <a:path w="1705610">
                  <a:moveTo>
                    <a:pt x="0" y="0"/>
                  </a:moveTo>
                  <a:lnTo>
                    <a:pt x="1705584" y="0"/>
                  </a:lnTo>
                </a:path>
              </a:pathLst>
            </a:custGeom>
            <a:ln w="3777">
              <a:solidFill>
                <a:srgbClr val="000000"/>
              </a:solidFill>
              <a:prstDash val="dash"/>
            </a:ln>
          </p:spPr>
          <p:txBody>
            <a:bodyPr wrap="square" lIns="0" tIns="0" rIns="0" bIns="0" rtlCol="0"/>
            <a:lstStyle/>
            <a:p>
              <a:endParaRPr/>
            </a:p>
          </p:txBody>
        </p:sp>
        <p:sp>
          <p:nvSpPr>
            <p:cNvPr id="138" name="object 138"/>
            <p:cNvSpPr/>
            <p:nvPr/>
          </p:nvSpPr>
          <p:spPr>
            <a:xfrm>
              <a:off x="3575751" y="1089836"/>
              <a:ext cx="1705610" cy="0"/>
            </a:xfrm>
            <a:custGeom>
              <a:avLst/>
              <a:gdLst/>
              <a:ahLst/>
              <a:cxnLst/>
              <a:rect l="l" t="t" r="r" b="b"/>
              <a:pathLst>
                <a:path w="1705610">
                  <a:moveTo>
                    <a:pt x="1705584" y="0"/>
                  </a:moveTo>
                  <a:lnTo>
                    <a:pt x="1688416" y="0"/>
                  </a:lnTo>
                </a:path>
                <a:path w="1705610">
                  <a:moveTo>
                    <a:pt x="0" y="0"/>
                  </a:moveTo>
                  <a:lnTo>
                    <a:pt x="17167" y="0"/>
                  </a:lnTo>
                </a:path>
              </a:pathLst>
            </a:custGeom>
            <a:ln w="3776">
              <a:solidFill>
                <a:srgbClr val="000000"/>
              </a:solidFill>
            </a:ln>
          </p:spPr>
          <p:txBody>
            <a:bodyPr wrap="square" lIns="0" tIns="0" rIns="0" bIns="0" rtlCol="0"/>
            <a:lstStyle/>
            <a:p>
              <a:endParaRPr/>
            </a:p>
          </p:txBody>
        </p:sp>
        <p:sp>
          <p:nvSpPr>
            <p:cNvPr id="139" name="object 139"/>
            <p:cNvSpPr/>
            <p:nvPr/>
          </p:nvSpPr>
          <p:spPr>
            <a:xfrm>
              <a:off x="3575754" y="948185"/>
              <a:ext cx="1705610" cy="0"/>
            </a:xfrm>
            <a:custGeom>
              <a:avLst/>
              <a:gdLst/>
              <a:ahLst/>
              <a:cxnLst/>
              <a:rect l="l" t="t" r="r" b="b"/>
              <a:pathLst>
                <a:path w="1705610">
                  <a:moveTo>
                    <a:pt x="0" y="0"/>
                  </a:moveTo>
                  <a:lnTo>
                    <a:pt x="1705584" y="0"/>
                  </a:lnTo>
                </a:path>
              </a:pathLst>
            </a:custGeom>
            <a:ln w="3777">
              <a:solidFill>
                <a:srgbClr val="000000"/>
              </a:solidFill>
              <a:prstDash val="dash"/>
            </a:ln>
          </p:spPr>
          <p:txBody>
            <a:bodyPr wrap="square" lIns="0" tIns="0" rIns="0" bIns="0" rtlCol="0"/>
            <a:lstStyle/>
            <a:p>
              <a:endParaRPr/>
            </a:p>
          </p:txBody>
        </p:sp>
        <p:sp>
          <p:nvSpPr>
            <p:cNvPr id="140" name="object 140"/>
            <p:cNvSpPr/>
            <p:nvPr/>
          </p:nvSpPr>
          <p:spPr>
            <a:xfrm>
              <a:off x="3575751" y="948185"/>
              <a:ext cx="1705610" cy="0"/>
            </a:xfrm>
            <a:custGeom>
              <a:avLst/>
              <a:gdLst/>
              <a:ahLst/>
              <a:cxnLst/>
              <a:rect l="l" t="t" r="r" b="b"/>
              <a:pathLst>
                <a:path w="1705610">
                  <a:moveTo>
                    <a:pt x="1705584" y="0"/>
                  </a:moveTo>
                  <a:lnTo>
                    <a:pt x="1688416" y="0"/>
                  </a:lnTo>
                </a:path>
                <a:path w="1705610">
                  <a:moveTo>
                    <a:pt x="0" y="0"/>
                  </a:moveTo>
                  <a:lnTo>
                    <a:pt x="17167" y="0"/>
                  </a:lnTo>
                </a:path>
              </a:pathLst>
            </a:custGeom>
            <a:ln w="3776">
              <a:solidFill>
                <a:srgbClr val="000000"/>
              </a:solidFill>
            </a:ln>
          </p:spPr>
          <p:txBody>
            <a:bodyPr wrap="square" lIns="0" tIns="0" rIns="0" bIns="0" rtlCol="0"/>
            <a:lstStyle/>
            <a:p>
              <a:endParaRPr/>
            </a:p>
          </p:txBody>
        </p:sp>
        <p:sp>
          <p:nvSpPr>
            <p:cNvPr id="141" name="object 141"/>
            <p:cNvSpPr/>
            <p:nvPr/>
          </p:nvSpPr>
          <p:spPr>
            <a:xfrm>
              <a:off x="3575754" y="806535"/>
              <a:ext cx="1705610" cy="0"/>
            </a:xfrm>
            <a:custGeom>
              <a:avLst/>
              <a:gdLst/>
              <a:ahLst/>
              <a:cxnLst/>
              <a:rect l="l" t="t" r="r" b="b"/>
              <a:pathLst>
                <a:path w="1705610">
                  <a:moveTo>
                    <a:pt x="0" y="0"/>
                  </a:moveTo>
                  <a:lnTo>
                    <a:pt x="1705584" y="0"/>
                  </a:lnTo>
                </a:path>
              </a:pathLst>
            </a:custGeom>
            <a:ln w="3777">
              <a:solidFill>
                <a:srgbClr val="000000"/>
              </a:solidFill>
              <a:prstDash val="dash"/>
            </a:ln>
          </p:spPr>
          <p:txBody>
            <a:bodyPr wrap="square" lIns="0" tIns="0" rIns="0" bIns="0" rtlCol="0"/>
            <a:lstStyle/>
            <a:p>
              <a:endParaRPr/>
            </a:p>
          </p:txBody>
        </p:sp>
        <p:sp>
          <p:nvSpPr>
            <p:cNvPr id="142" name="object 142"/>
            <p:cNvSpPr/>
            <p:nvPr/>
          </p:nvSpPr>
          <p:spPr>
            <a:xfrm>
              <a:off x="3575751" y="806535"/>
              <a:ext cx="1705610" cy="0"/>
            </a:xfrm>
            <a:custGeom>
              <a:avLst/>
              <a:gdLst/>
              <a:ahLst/>
              <a:cxnLst/>
              <a:rect l="l" t="t" r="r" b="b"/>
              <a:pathLst>
                <a:path w="1705610">
                  <a:moveTo>
                    <a:pt x="1705584" y="0"/>
                  </a:moveTo>
                  <a:lnTo>
                    <a:pt x="1688416" y="0"/>
                  </a:lnTo>
                </a:path>
                <a:path w="1705610">
                  <a:moveTo>
                    <a:pt x="0" y="0"/>
                  </a:moveTo>
                  <a:lnTo>
                    <a:pt x="17167" y="0"/>
                  </a:lnTo>
                </a:path>
              </a:pathLst>
            </a:custGeom>
            <a:ln w="3776">
              <a:solidFill>
                <a:srgbClr val="000000"/>
              </a:solidFill>
            </a:ln>
          </p:spPr>
          <p:txBody>
            <a:bodyPr wrap="square" lIns="0" tIns="0" rIns="0" bIns="0" rtlCol="0"/>
            <a:lstStyle/>
            <a:p>
              <a:endParaRPr/>
            </a:p>
          </p:txBody>
        </p:sp>
        <p:sp>
          <p:nvSpPr>
            <p:cNvPr id="143" name="object 143"/>
            <p:cNvSpPr/>
            <p:nvPr/>
          </p:nvSpPr>
          <p:spPr>
            <a:xfrm>
              <a:off x="3575754" y="664611"/>
              <a:ext cx="1705610" cy="0"/>
            </a:xfrm>
            <a:custGeom>
              <a:avLst/>
              <a:gdLst/>
              <a:ahLst/>
              <a:cxnLst/>
              <a:rect l="l" t="t" r="r" b="b"/>
              <a:pathLst>
                <a:path w="1705610">
                  <a:moveTo>
                    <a:pt x="0" y="0"/>
                  </a:moveTo>
                  <a:lnTo>
                    <a:pt x="1705584" y="0"/>
                  </a:lnTo>
                </a:path>
              </a:pathLst>
            </a:custGeom>
            <a:ln w="3777">
              <a:solidFill>
                <a:srgbClr val="000000"/>
              </a:solidFill>
              <a:prstDash val="dash"/>
            </a:ln>
          </p:spPr>
          <p:txBody>
            <a:bodyPr wrap="square" lIns="0" tIns="0" rIns="0" bIns="0" rtlCol="0"/>
            <a:lstStyle/>
            <a:p>
              <a:endParaRPr/>
            </a:p>
          </p:txBody>
        </p:sp>
        <p:sp>
          <p:nvSpPr>
            <p:cNvPr id="144" name="object 144"/>
            <p:cNvSpPr/>
            <p:nvPr/>
          </p:nvSpPr>
          <p:spPr>
            <a:xfrm>
              <a:off x="3575751" y="664611"/>
              <a:ext cx="1705610" cy="0"/>
            </a:xfrm>
            <a:custGeom>
              <a:avLst/>
              <a:gdLst/>
              <a:ahLst/>
              <a:cxnLst/>
              <a:rect l="l" t="t" r="r" b="b"/>
              <a:pathLst>
                <a:path w="1705610">
                  <a:moveTo>
                    <a:pt x="1705584" y="0"/>
                  </a:moveTo>
                  <a:lnTo>
                    <a:pt x="1688416" y="0"/>
                  </a:lnTo>
                </a:path>
                <a:path w="1705610">
                  <a:moveTo>
                    <a:pt x="0" y="0"/>
                  </a:moveTo>
                  <a:lnTo>
                    <a:pt x="17167" y="0"/>
                  </a:lnTo>
                </a:path>
              </a:pathLst>
            </a:custGeom>
            <a:ln w="3776">
              <a:solidFill>
                <a:srgbClr val="000000"/>
              </a:solidFill>
            </a:ln>
          </p:spPr>
          <p:txBody>
            <a:bodyPr wrap="square" lIns="0" tIns="0" rIns="0" bIns="0" rtlCol="0"/>
            <a:lstStyle/>
            <a:p>
              <a:endParaRPr/>
            </a:p>
          </p:txBody>
        </p:sp>
        <p:sp>
          <p:nvSpPr>
            <p:cNvPr id="145" name="object 145"/>
            <p:cNvSpPr/>
            <p:nvPr/>
          </p:nvSpPr>
          <p:spPr>
            <a:xfrm>
              <a:off x="3575754" y="522960"/>
              <a:ext cx="1705610" cy="0"/>
            </a:xfrm>
            <a:custGeom>
              <a:avLst/>
              <a:gdLst/>
              <a:ahLst/>
              <a:cxnLst/>
              <a:rect l="l" t="t" r="r" b="b"/>
              <a:pathLst>
                <a:path w="1705610">
                  <a:moveTo>
                    <a:pt x="0" y="0"/>
                  </a:moveTo>
                  <a:lnTo>
                    <a:pt x="1705584" y="0"/>
                  </a:lnTo>
                </a:path>
              </a:pathLst>
            </a:custGeom>
            <a:ln w="3777">
              <a:solidFill>
                <a:srgbClr val="000000"/>
              </a:solidFill>
              <a:prstDash val="dash"/>
            </a:ln>
          </p:spPr>
          <p:txBody>
            <a:bodyPr wrap="square" lIns="0" tIns="0" rIns="0" bIns="0" rtlCol="0"/>
            <a:lstStyle/>
            <a:p>
              <a:endParaRPr/>
            </a:p>
          </p:txBody>
        </p:sp>
        <p:sp>
          <p:nvSpPr>
            <p:cNvPr id="146" name="object 146"/>
            <p:cNvSpPr/>
            <p:nvPr/>
          </p:nvSpPr>
          <p:spPr>
            <a:xfrm>
              <a:off x="3575751" y="522960"/>
              <a:ext cx="1705610" cy="0"/>
            </a:xfrm>
            <a:custGeom>
              <a:avLst/>
              <a:gdLst/>
              <a:ahLst/>
              <a:cxnLst/>
              <a:rect l="l" t="t" r="r" b="b"/>
              <a:pathLst>
                <a:path w="1705610">
                  <a:moveTo>
                    <a:pt x="1705584" y="0"/>
                  </a:moveTo>
                  <a:lnTo>
                    <a:pt x="1688416" y="0"/>
                  </a:lnTo>
                </a:path>
                <a:path w="1705610">
                  <a:moveTo>
                    <a:pt x="0" y="0"/>
                  </a:moveTo>
                  <a:lnTo>
                    <a:pt x="17167" y="0"/>
                  </a:lnTo>
                </a:path>
              </a:pathLst>
            </a:custGeom>
            <a:ln w="3776">
              <a:solidFill>
                <a:srgbClr val="000000"/>
              </a:solidFill>
            </a:ln>
          </p:spPr>
          <p:txBody>
            <a:bodyPr wrap="square" lIns="0" tIns="0" rIns="0" bIns="0" rtlCol="0"/>
            <a:lstStyle/>
            <a:p>
              <a:endParaRPr/>
            </a:p>
          </p:txBody>
        </p:sp>
        <p:sp>
          <p:nvSpPr>
            <p:cNvPr id="147" name="object 147"/>
            <p:cNvSpPr/>
            <p:nvPr/>
          </p:nvSpPr>
          <p:spPr>
            <a:xfrm>
              <a:off x="3575754" y="522957"/>
              <a:ext cx="0" cy="1134110"/>
            </a:xfrm>
            <a:custGeom>
              <a:avLst/>
              <a:gdLst/>
              <a:ahLst/>
              <a:cxnLst/>
              <a:rect l="l" t="t" r="r" b="b"/>
              <a:pathLst>
                <a:path h="1134110">
                  <a:moveTo>
                    <a:pt x="0" y="1134027"/>
                  </a:moveTo>
                  <a:lnTo>
                    <a:pt x="0" y="0"/>
                  </a:lnTo>
                </a:path>
              </a:pathLst>
            </a:custGeom>
            <a:ln w="3774">
              <a:solidFill>
                <a:srgbClr val="000000"/>
              </a:solidFill>
              <a:prstDash val="dash"/>
            </a:ln>
          </p:spPr>
          <p:txBody>
            <a:bodyPr wrap="square" lIns="0" tIns="0" rIns="0" bIns="0" rtlCol="0"/>
            <a:lstStyle/>
            <a:p>
              <a:endParaRPr/>
            </a:p>
          </p:txBody>
        </p:sp>
        <p:sp>
          <p:nvSpPr>
            <p:cNvPr id="148" name="object 148"/>
            <p:cNvSpPr/>
            <p:nvPr/>
          </p:nvSpPr>
          <p:spPr>
            <a:xfrm>
              <a:off x="3575754" y="522960"/>
              <a:ext cx="0" cy="1134110"/>
            </a:xfrm>
            <a:custGeom>
              <a:avLst/>
              <a:gdLst/>
              <a:ahLst/>
              <a:cxnLst/>
              <a:rect l="l" t="t" r="r" b="b"/>
              <a:pathLst>
                <a:path h="1134110">
                  <a:moveTo>
                    <a:pt x="0" y="0"/>
                  </a:moveTo>
                  <a:lnTo>
                    <a:pt x="0" y="17134"/>
                  </a:lnTo>
                </a:path>
                <a:path h="1134110">
                  <a:moveTo>
                    <a:pt x="0" y="1134027"/>
                  </a:moveTo>
                  <a:lnTo>
                    <a:pt x="0" y="1116893"/>
                  </a:lnTo>
                </a:path>
              </a:pathLst>
            </a:custGeom>
            <a:ln w="3776">
              <a:solidFill>
                <a:srgbClr val="000000"/>
              </a:solidFill>
            </a:ln>
          </p:spPr>
          <p:txBody>
            <a:bodyPr wrap="square" lIns="0" tIns="0" rIns="0" bIns="0" rtlCol="0"/>
            <a:lstStyle/>
            <a:p>
              <a:endParaRPr/>
            </a:p>
          </p:txBody>
        </p:sp>
      </p:grpSp>
      <p:sp>
        <p:nvSpPr>
          <p:cNvPr id="149" name="object 149"/>
          <p:cNvSpPr txBox="1"/>
          <p:nvPr/>
        </p:nvSpPr>
        <p:spPr>
          <a:xfrm>
            <a:off x="3474462" y="1477272"/>
            <a:ext cx="91440" cy="71120"/>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2.5</a:t>
            </a:r>
            <a:endParaRPr sz="300">
              <a:latin typeface="Arial"/>
              <a:cs typeface="Arial"/>
            </a:endParaRPr>
          </a:p>
        </p:txBody>
      </p:sp>
      <p:sp>
        <p:nvSpPr>
          <p:cNvPr id="150" name="object 150"/>
          <p:cNvSpPr txBox="1"/>
          <p:nvPr/>
        </p:nvSpPr>
        <p:spPr>
          <a:xfrm>
            <a:off x="3506282" y="1335340"/>
            <a:ext cx="59690" cy="71120"/>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2</a:t>
            </a:r>
            <a:endParaRPr sz="300">
              <a:latin typeface="Arial"/>
              <a:cs typeface="Arial"/>
            </a:endParaRPr>
          </a:p>
        </p:txBody>
      </p:sp>
      <p:sp>
        <p:nvSpPr>
          <p:cNvPr id="151" name="object 151"/>
          <p:cNvSpPr txBox="1"/>
          <p:nvPr/>
        </p:nvSpPr>
        <p:spPr>
          <a:xfrm>
            <a:off x="3474462" y="1193689"/>
            <a:ext cx="91440" cy="71120"/>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1.5</a:t>
            </a:r>
            <a:endParaRPr sz="300">
              <a:latin typeface="Arial"/>
              <a:cs typeface="Arial"/>
            </a:endParaRPr>
          </a:p>
        </p:txBody>
      </p:sp>
      <p:sp>
        <p:nvSpPr>
          <p:cNvPr id="152" name="object 152"/>
          <p:cNvSpPr txBox="1"/>
          <p:nvPr/>
        </p:nvSpPr>
        <p:spPr>
          <a:xfrm>
            <a:off x="3506282" y="1051758"/>
            <a:ext cx="59690" cy="71120"/>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1</a:t>
            </a:r>
            <a:endParaRPr sz="300">
              <a:latin typeface="Arial"/>
              <a:cs typeface="Arial"/>
            </a:endParaRPr>
          </a:p>
        </p:txBody>
      </p:sp>
      <p:sp>
        <p:nvSpPr>
          <p:cNvPr id="153" name="object 153"/>
          <p:cNvSpPr txBox="1"/>
          <p:nvPr/>
        </p:nvSpPr>
        <p:spPr>
          <a:xfrm>
            <a:off x="3474462" y="910135"/>
            <a:ext cx="91440" cy="71120"/>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0.5</a:t>
            </a:r>
            <a:endParaRPr sz="300">
              <a:latin typeface="Arial"/>
              <a:cs typeface="Arial"/>
            </a:endParaRPr>
          </a:p>
        </p:txBody>
      </p:sp>
      <p:sp>
        <p:nvSpPr>
          <p:cNvPr id="154" name="object 154"/>
          <p:cNvSpPr txBox="1"/>
          <p:nvPr/>
        </p:nvSpPr>
        <p:spPr>
          <a:xfrm>
            <a:off x="3518978" y="768483"/>
            <a:ext cx="46990" cy="71120"/>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0</a:t>
            </a:r>
            <a:endParaRPr sz="300">
              <a:latin typeface="Arial"/>
              <a:cs typeface="Arial"/>
            </a:endParaRPr>
          </a:p>
        </p:txBody>
      </p:sp>
      <p:sp>
        <p:nvSpPr>
          <p:cNvPr id="155" name="object 155"/>
          <p:cNvSpPr txBox="1"/>
          <p:nvPr/>
        </p:nvSpPr>
        <p:spPr>
          <a:xfrm>
            <a:off x="3487158" y="626568"/>
            <a:ext cx="78740" cy="71120"/>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0.5</a:t>
            </a:r>
            <a:endParaRPr sz="300">
              <a:latin typeface="Arial"/>
              <a:cs typeface="Arial"/>
            </a:endParaRPr>
          </a:p>
        </p:txBody>
      </p:sp>
      <p:sp>
        <p:nvSpPr>
          <p:cNvPr id="156" name="object 156"/>
          <p:cNvSpPr txBox="1"/>
          <p:nvPr/>
        </p:nvSpPr>
        <p:spPr>
          <a:xfrm>
            <a:off x="3518978" y="484885"/>
            <a:ext cx="46990" cy="71120"/>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1</a:t>
            </a:r>
            <a:endParaRPr sz="300">
              <a:latin typeface="Arial"/>
              <a:cs typeface="Arial"/>
            </a:endParaRPr>
          </a:p>
        </p:txBody>
      </p:sp>
      <p:sp>
        <p:nvSpPr>
          <p:cNvPr id="157" name="object 157"/>
          <p:cNvSpPr txBox="1"/>
          <p:nvPr/>
        </p:nvSpPr>
        <p:spPr>
          <a:xfrm>
            <a:off x="3557787" y="1656979"/>
            <a:ext cx="46990" cy="71120"/>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0</a:t>
            </a:r>
            <a:endParaRPr sz="300">
              <a:latin typeface="Arial"/>
              <a:cs typeface="Arial"/>
            </a:endParaRPr>
          </a:p>
        </p:txBody>
      </p:sp>
      <p:grpSp>
        <p:nvGrpSpPr>
          <p:cNvPr id="158" name="object 158"/>
          <p:cNvGrpSpPr/>
          <p:nvPr/>
        </p:nvGrpSpPr>
        <p:grpSpPr>
          <a:xfrm>
            <a:off x="3781974" y="521052"/>
            <a:ext cx="3810" cy="1137920"/>
            <a:chOff x="3781974" y="521052"/>
            <a:chExt cx="3810" cy="1137920"/>
          </a:xfrm>
        </p:grpSpPr>
        <p:sp>
          <p:nvSpPr>
            <p:cNvPr id="159" name="object 159"/>
            <p:cNvSpPr/>
            <p:nvPr/>
          </p:nvSpPr>
          <p:spPr>
            <a:xfrm>
              <a:off x="3783879" y="522957"/>
              <a:ext cx="0" cy="1134110"/>
            </a:xfrm>
            <a:custGeom>
              <a:avLst/>
              <a:gdLst/>
              <a:ahLst/>
              <a:cxnLst/>
              <a:rect l="l" t="t" r="r" b="b"/>
              <a:pathLst>
                <a:path h="1134110">
                  <a:moveTo>
                    <a:pt x="0" y="1134027"/>
                  </a:moveTo>
                  <a:lnTo>
                    <a:pt x="0" y="0"/>
                  </a:lnTo>
                </a:path>
              </a:pathLst>
            </a:custGeom>
            <a:ln w="3774">
              <a:solidFill>
                <a:srgbClr val="000000"/>
              </a:solidFill>
              <a:prstDash val="dash"/>
            </a:ln>
          </p:spPr>
          <p:txBody>
            <a:bodyPr wrap="square" lIns="0" tIns="0" rIns="0" bIns="0" rtlCol="0"/>
            <a:lstStyle/>
            <a:p>
              <a:endParaRPr/>
            </a:p>
          </p:txBody>
        </p:sp>
        <p:sp>
          <p:nvSpPr>
            <p:cNvPr id="160" name="object 160"/>
            <p:cNvSpPr/>
            <p:nvPr/>
          </p:nvSpPr>
          <p:spPr>
            <a:xfrm>
              <a:off x="3783879" y="522960"/>
              <a:ext cx="0" cy="1134110"/>
            </a:xfrm>
            <a:custGeom>
              <a:avLst/>
              <a:gdLst/>
              <a:ahLst/>
              <a:cxnLst/>
              <a:rect l="l" t="t" r="r" b="b"/>
              <a:pathLst>
                <a:path h="1134110">
                  <a:moveTo>
                    <a:pt x="0" y="0"/>
                  </a:moveTo>
                  <a:lnTo>
                    <a:pt x="0" y="17134"/>
                  </a:lnTo>
                </a:path>
                <a:path h="1134110">
                  <a:moveTo>
                    <a:pt x="0" y="1134027"/>
                  </a:moveTo>
                  <a:lnTo>
                    <a:pt x="0" y="1116893"/>
                  </a:lnTo>
                </a:path>
              </a:pathLst>
            </a:custGeom>
            <a:ln w="3776">
              <a:solidFill>
                <a:srgbClr val="000000"/>
              </a:solidFill>
            </a:ln>
          </p:spPr>
          <p:txBody>
            <a:bodyPr wrap="square" lIns="0" tIns="0" rIns="0" bIns="0" rtlCol="0"/>
            <a:lstStyle/>
            <a:p>
              <a:endParaRPr/>
            </a:p>
          </p:txBody>
        </p:sp>
      </p:grpSp>
      <p:sp>
        <p:nvSpPr>
          <p:cNvPr id="161" name="object 161"/>
          <p:cNvSpPr txBox="1"/>
          <p:nvPr/>
        </p:nvSpPr>
        <p:spPr>
          <a:xfrm>
            <a:off x="3755285" y="1656979"/>
            <a:ext cx="67945" cy="71120"/>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20</a:t>
            </a:r>
            <a:endParaRPr sz="300">
              <a:latin typeface="Arial"/>
              <a:cs typeface="Arial"/>
            </a:endParaRPr>
          </a:p>
        </p:txBody>
      </p:sp>
      <p:grpSp>
        <p:nvGrpSpPr>
          <p:cNvPr id="162" name="object 162"/>
          <p:cNvGrpSpPr/>
          <p:nvPr/>
        </p:nvGrpSpPr>
        <p:grpSpPr>
          <a:xfrm>
            <a:off x="3989825" y="521052"/>
            <a:ext cx="3810" cy="1137920"/>
            <a:chOff x="3989825" y="521052"/>
            <a:chExt cx="3810" cy="1137920"/>
          </a:xfrm>
        </p:grpSpPr>
        <p:sp>
          <p:nvSpPr>
            <p:cNvPr id="163" name="object 163"/>
            <p:cNvSpPr/>
            <p:nvPr/>
          </p:nvSpPr>
          <p:spPr>
            <a:xfrm>
              <a:off x="3991730" y="522957"/>
              <a:ext cx="0" cy="1134110"/>
            </a:xfrm>
            <a:custGeom>
              <a:avLst/>
              <a:gdLst/>
              <a:ahLst/>
              <a:cxnLst/>
              <a:rect l="l" t="t" r="r" b="b"/>
              <a:pathLst>
                <a:path h="1134110">
                  <a:moveTo>
                    <a:pt x="0" y="1134027"/>
                  </a:moveTo>
                  <a:lnTo>
                    <a:pt x="0" y="0"/>
                  </a:lnTo>
                </a:path>
              </a:pathLst>
            </a:custGeom>
            <a:ln w="3774">
              <a:solidFill>
                <a:srgbClr val="000000"/>
              </a:solidFill>
              <a:prstDash val="dash"/>
            </a:ln>
          </p:spPr>
          <p:txBody>
            <a:bodyPr wrap="square" lIns="0" tIns="0" rIns="0" bIns="0" rtlCol="0"/>
            <a:lstStyle/>
            <a:p>
              <a:endParaRPr/>
            </a:p>
          </p:txBody>
        </p:sp>
        <p:sp>
          <p:nvSpPr>
            <p:cNvPr id="164" name="object 164"/>
            <p:cNvSpPr/>
            <p:nvPr/>
          </p:nvSpPr>
          <p:spPr>
            <a:xfrm>
              <a:off x="3991730" y="522960"/>
              <a:ext cx="0" cy="1134110"/>
            </a:xfrm>
            <a:custGeom>
              <a:avLst/>
              <a:gdLst/>
              <a:ahLst/>
              <a:cxnLst/>
              <a:rect l="l" t="t" r="r" b="b"/>
              <a:pathLst>
                <a:path h="1134110">
                  <a:moveTo>
                    <a:pt x="0" y="0"/>
                  </a:moveTo>
                  <a:lnTo>
                    <a:pt x="0" y="17134"/>
                  </a:lnTo>
                </a:path>
                <a:path h="1134110">
                  <a:moveTo>
                    <a:pt x="0" y="1134027"/>
                  </a:moveTo>
                  <a:lnTo>
                    <a:pt x="0" y="1116893"/>
                  </a:lnTo>
                </a:path>
              </a:pathLst>
            </a:custGeom>
            <a:ln w="3776">
              <a:solidFill>
                <a:srgbClr val="000000"/>
              </a:solidFill>
            </a:ln>
          </p:spPr>
          <p:txBody>
            <a:bodyPr wrap="square" lIns="0" tIns="0" rIns="0" bIns="0" rtlCol="0"/>
            <a:lstStyle/>
            <a:p>
              <a:endParaRPr/>
            </a:p>
          </p:txBody>
        </p:sp>
      </p:grpSp>
      <p:sp>
        <p:nvSpPr>
          <p:cNvPr id="165" name="object 165"/>
          <p:cNvSpPr txBox="1"/>
          <p:nvPr/>
        </p:nvSpPr>
        <p:spPr>
          <a:xfrm>
            <a:off x="3963134" y="1656979"/>
            <a:ext cx="67945" cy="71120"/>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40</a:t>
            </a:r>
            <a:endParaRPr sz="300">
              <a:latin typeface="Arial"/>
              <a:cs typeface="Arial"/>
            </a:endParaRPr>
          </a:p>
        </p:txBody>
      </p:sp>
      <p:grpSp>
        <p:nvGrpSpPr>
          <p:cNvPr id="166" name="object 166"/>
          <p:cNvGrpSpPr/>
          <p:nvPr/>
        </p:nvGrpSpPr>
        <p:grpSpPr>
          <a:xfrm>
            <a:off x="4197950" y="521052"/>
            <a:ext cx="3810" cy="1137920"/>
            <a:chOff x="4197950" y="521052"/>
            <a:chExt cx="3810" cy="1137920"/>
          </a:xfrm>
        </p:grpSpPr>
        <p:sp>
          <p:nvSpPr>
            <p:cNvPr id="167" name="object 167"/>
            <p:cNvSpPr/>
            <p:nvPr/>
          </p:nvSpPr>
          <p:spPr>
            <a:xfrm>
              <a:off x="4199855" y="522957"/>
              <a:ext cx="0" cy="1134110"/>
            </a:xfrm>
            <a:custGeom>
              <a:avLst/>
              <a:gdLst/>
              <a:ahLst/>
              <a:cxnLst/>
              <a:rect l="l" t="t" r="r" b="b"/>
              <a:pathLst>
                <a:path h="1134110">
                  <a:moveTo>
                    <a:pt x="0" y="1134027"/>
                  </a:moveTo>
                  <a:lnTo>
                    <a:pt x="0" y="0"/>
                  </a:lnTo>
                </a:path>
              </a:pathLst>
            </a:custGeom>
            <a:ln w="3774">
              <a:solidFill>
                <a:srgbClr val="000000"/>
              </a:solidFill>
              <a:prstDash val="dash"/>
            </a:ln>
          </p:spPr>
          <p:txBody>
            <a:bodyPr wrap="square" lIns="0" tIns="0" rIns="0" bIns="0" rtlCol="0"/>
            <a:lstStyle/>
            <a:p>
              <a:endParaRPr/>
            </a:p>
          </p:txBody>
        </p:sp>
        <p:sp>
          <p:nvSpPr>
            <p:cNvPr id="168" name="object 168"/>
            <p:cNvSpPr/>
            <p:nvPr/>
          </p:nvSpPr>
          <p:spPr>
            <a:xfrm>
              <a:off x="4199855" y="522960"/>
              <a:ext cx="0" cy="1134110"/>
            </a:xfrm>
            <a:custGeom>
              <a:avLst/>
              <a:gdLst/>
              <a:ahLst/>
              <a:cxnLst/>
              <a:rect l="l" t="t" r="r" b="b"/>
              <a:pathLst>
                <a:path h="1134110">
                  <a:moveTo>
                    <a:pt x="0" y="0"/>
                  </a:moveTo>
                  <a:lnTo>
                    <a:pt x="0" y="17134"/>
                  </a:lnTo>
                </a:path>
                <a:path h="1134110">
                  <a:moveTo>
                    <a:pt x="0" y="1134027"/>
                  </a:moveTo>
                  <a:lnTo>
                    <a:pt x="0" y="1116893"/>
                  </a:lnTo>
                </a:path>
              </a:pathLst>
            </a:custGeom>
            <a:ln w="3776">
              <a:solidFill>
                <a:srgbClr val="000000"/>
              </a:solidFill>
            </a:ln>
          </p:spPr>
          <p:txBody>
            <a:bodyPr wrap="square" lIns="0" tIns="0" rIns="0" bIns="0" rtlCol="0"/>
            <a:lstStyle/>
            <a:p>
              <a:endParaRPr/>
            </a:p>
          </p:txBody>
        </p:sp>
      </p:grpSp>
      <p:sp>
        <p:nvSpPr>
          <p:cNvPr id="169" name="object 169"/>
          <p:cNvSpPr txBox="1"/>
          <p:nvPr/>
        </p:nvSpPr>
        <p:spPr>
          <a:xfrm>
            <a:off x="4171248" y="1656979"/>
            <a:ext cx="67945" cy="71120"/>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60</a:t>
            </a:r>
            <a:endParaRPr sz="300">
              <a:latin typeface="Arial"/>
              <a:cs typeface="Arial"/>
            </a:endParaRPr>
          </a:p>
        </p:txBody>
      </p:sp>
      <p:grpSp>
        <p:nvGrpSpPr>
          <p:cNvPr id="170" name="object 170"/>
          <p:cNvGrpSpPr/>
          <p:nvPr/>
        </p:nvGrpSpPr>
        <p:grpSpPr>
          <a:xfrm>
            <a:off x="4405801" y="521049"/>
            <a:ext cx="420370" cy="1137920"/>
            <a:chOff x="4405801" y="521049"/>
            <a:chExt cx="420370" cy="1137920"/>
          </a:xfrm>
        </p:grpSpPr>
        <p:sp>
          <p:nvSpPr>
            <p:cNvPr id="171" name="object 171"/>
            <p:cNvSpPr/>
            <p:nvPr/>
          </p:nvSpPr>
          <p:spPr>
            <a:xfrm>
              <a:off x="4407706" y="522957"/>
              <a:ext cx="0" cy="1134110"/>
            </a:xfrm>
            <a:custGeom>
              <a:avLst/>
              <a:gdLst/>
              <a:ahLst/>
              <a:cxnLst/>
              <a:rect l="l" t="t" r="r" b="b"/>
              <a:pathLst>
                <a:path h="1134110">
                  <a:moveTo>
                    <a:pt x="0" y="1134027"/>
                  </a:moveTo>
                  <a:lnTo>
                    <a:pt x="0" y="0"/>
                  </a:lnTo>
                </a:path>
              </a:pathLst>
            </a:custGeom>
            <a:ln w="3774">
              <a:solidFill>
                <a:srgbClr val="000000"/>
              </a:solidFill>
              <a:prstDash val="dash"/>
            </a:ln>
          </p:spPr>
          <p:txBody>
            <a:bodyPr wrap="square" lIns="0" tIns="0" rIns="0" bIns="0" rtlCol="0"/>
            <a:lstStyle/>
            <a:p>
              <a:endParaRPr/>
            </a:p>
          </p:txBody>
        </p:sp>
        <p:sp>
          <p:nvSpPr>
            <p:cNvPr id="172" name="object 172"/>
            <p:cNvSpPr/>
            <p:nvPr/>
          </p:nvSpPr>
          <p:spPr>
            <a:xfrm>
              <a:off x="4407706" y="522960"/>
              <a:ext cx="0" cy="1134110"/>
            </a:xfrm>
            <a:custGeom>
              <a:avLst/>
              <a:gdLst/>
              <a:ahLst/>
              <a:cxnLst/>
              <a:rect l="l" t="t" r="r" b="b"/>
              <a:pathLst>
                <a:path h="1134110">
                  <a:moveTo>
                    <a:pt x="0" y="0"/>
                  </a:moveTo>
                  <a:lnTo>
                    <a:pt x="0" y="17134"/>
                  </a:lnTo>
                </a:path>
                <a:path h="1134110">
                  <a:moveTo>
                    <a:pt x="0" y="1134027"/>
                  </a:moveTo>
                  <a:lnTo>
                    <a:pt x="0" y="1116893"/>
                  </a:lnTo>
                </a:path>
              </a:pathLst>
            </a:custGeom>
            <a:ln w="3776">
              <a:solidFill>
                <a:srgbClr val="000000"/>
              </a:solidFill>
            </a:ln>
          </p:spPr>
          <p:txBody>
            <a:bodyPr wrap="square" lIns="0" tIns="0" rIns="0" bIns="0" rtlCol="0"/>
            <a:lstStyle/>
            <a:p>
              <a:endParaRPr/>
            </a:p>
          </p:txBody>
        </p:sp>
        <p:sp>
          <p:nvSpPr>
            <p:cNvPr id="173" name="object 173"/>
            <p:cNvSpPr/>
            <p:nvPr/>
          </p:nvSpPr>
          <p:spPr>
            <a:xfrm>
              <a:off x="4615831" y="522954"/>
              <a:ext cx="0" cy="1134110"/>
            </a:xfrm>
            <a:custGeom>
              <a:avLst/>
              <a:gdLst/>
              <a:ahLst/>
              <a:cxnLst/>
              <a:rect l="l" t="t" r="r" b="b"/>
              <a:pathLst>
                <a:path h="1134110">
                  <a:moveTo>
                    <a:pt x="0" y="17134"/>
                  </a:moveTo>
                  <a:lnTo>
                    <a:pt x="0" y="0"/>
                  </a:lnTo>
                </a:path>
                <a:path h="1134110">
                  <a:moveTo>
                    <a:pt x="0" y="1134027"/>
                  </a:moveTo>
                  <a:lnTo>
                    <a:pt x="0" y="55194"/>
                  </a:lnTo>
                </a:path>
              </a:pathLst>
            </a:custGeom>
            <a:ln w="3776">
              <a:solidFill>
                <a:srgbClr val="000000"/>
              </a:solidFill>
              <a:prstDash val="dash"/>
            </a:ln>
          </p:spPr>
          <p:txBody>
            <a:bodyPr wrap="square" lIns="0" tIns="0" rIns="0" bIns="0" rtlCol="0"/>
            <a:lstStyle/>
            <a:p>
              <a:endParaRPr/>
            </a:p>
          </p:txBody>
        </p:sp>
        <p:sp>
          <p:nvSpPr>
            <p:cNvPr id="174" name="object 174"/>
            <p:cNvSpPr/>
            <p:nvPr/>
          </p:nvSpPr>
          <p:spPr>
            <a:xfrm>
              <a:off x="4615831" y="522960"/>
              <a:ext cx="0" cy="1134110"/>
            </a:xfrm>
            <a:custGeom>
              <a:avLst/>
              <a:gdLst/>
              <a:ahLst/>
              <a:cxnLst/>
              <a:rect l="l" t="t" r="r" b="b"/>
              <a:pathLst>
                <a:path h="1134110">
                  <a:moveTo>
                    <a:pt x="0" y="0"/>
                  </a:moveTo>
                  <a:lnTo>
                    <a:pt x="0" y="17134"/>
                  </a:lnTo>
                </a:path>
                <a:path h="1134110">
                  <a:moveTo>
                    <a:pt x="0" y="1134027"/>
                  </a:moveTo>
                  <a:lnTo>
                    <a:pt x="0" y="1116893"/>
                  </a:lnTo>
                </a:path>
              </a:pathLst>
            </a:custGeom>
            <a:ln w="3776">
              <a:solidFill>
                <a:srgbClr val="000000"/>
              </a:solidFill>
            </a:ln>
          </p:spPr>
          <p:txBody>
            <a:bodyPr wrap="square" lIns="0" tIns="0" rIns="0" bIns="0" rtlCol="0"/>
            <a:lstStyle/>
            <a:p>
              <a:endParaRPr/>
            </a:p>
          </p:txBody>
        </p:sp>
        <p:sp>
          <p:nvSpPr>
            <p:cNvPr id="175" name="object 175"/>
            <p:cNvSpPr/>
            <p:nvPr/>
          </p:nvSpPr>
          <p:spPr>
            <a:xfrm>
              <a:off x="4823681" y="522954"/>
              <a:ext cx="0" cy="1134110"/>
            </a:xfrm>
            <a:custGeom>
              <a:avLst/>
              <a:gdLst/>
              <a:ahLst/>
              <a:cxnLst/>
              <a:rect l="l" t="t" r="r" b="b"/>
              <a:pathLst>
                <a:path h="1134110">
                  <a:moveTo>
                    <a:pt x="0" y="17134"/>
                  </a:moveTo>
                  <a:lnTo>
                    <a:pt x="0" y="0"/>
                  </a:lnTo>
                </a:path>
                <a:path h="1134110">
                  <a:moveTo>
                    <a:pt x="0" y="1134027"/>
                  </a:moveTo>
                  <a:lnTo>
                    <a:pt x="0" y="55194"/>
                  </a:lnTo>
                </a:path>
              </a:pathLst>
            </a:custGeom>
            <a:ln w="3776">
              <a:solidFill>
                <a:srgbClr val="000000"/>
              </a:solidFill>
              <a:prstDash val="dash"/>
            </a:ln>
          </p:spPr>
          <p:txBody>
            <a:bodyPr wrap="square" lIns="0" tIns="0" rIns="0" bIns="0" rtlCol="0"/>
            <a:lstStyle/>
            <a:p>
              <a:endParaRPr/>
            </a:p>
          </p:txBody>
        </p:sp>
        <p:sp>
          <p:nvSpPr>
            <p:cNvPr id="176" name="object 176"/>
            <p:cNvSpPr/>
            <p:nvPr/>
          </p:nvSpPr>
          <p:spPr>
            <a:xfrm>
              <a:off x="4823681" y="522960"/>
              <a:ext cx="0" cy="1134110"/>
            </a:xfrm>
            <a:custGeom>
              <a:avLst/>
              <a:gdLst/>
              <a:ahLst/>
              <a:cxnLst/>
              <a:rect l="l" t="t" r="r" b="b"/>
              <a:pathLst>
                <a:path h="1134110">
                  <a:moveTo>
                    <a:pt x="0" y="0"/>
                  </a:moveTo>
                  <a:lnTo>
                    <a:pt x="0" y="17134"/>
                  </a:lnTo>
                </a:path>
                <a:path h="1134110">
                  <a:moveTo>
                    <a:pt x="0" y="1134027"/>
                  </a:moveTo>
                  <a:lnTo>
                    <a:pt x="0" y="1116893"/>
                  </a:lnTo>
                </a:path>
              </a:pathLst>
            </a:custGeom>
            <a:ln w="3776">
              <a:solidFill>
                <a:srgbClr val="000000"/>
              </a:solidFill>
            </a:ln>
          </p:spPr>
          <p:txBody>
            <a:bodyPr wrap="square" lIns="0" tIns="0" rIns="0" bIns="0" rtlCol="0"/>
            <a:lstStyle/>
            <a:p>
              <a:endParaRPr/>
            </a:p>
          </p:txBody>
        </p:sp>
      </p:grpSp>
      <p:sp>
        <p:nvSpPr>
          <p:cNvPr id="177" name="object 177"/>
          <p:cNvSpPr txBox="1"/>
          <p:nvPr/>
        </p:nvSpPr>
        <p:spPr>
          <a:xfrm>
            <a:off x="4576626" y="1656979"/>
            <a:ext cx="297180" cy="71120"/>
          </a:xfrm>
          <a:prstGeom prst="rect">
            <a:avLst/>
          </a:prstGeom>
        </p:spPr>
        <p:txBody>
          <a:bodyPr vert="horz" wrap="square" lIns="0" tIns="12700" rIns="0" bIns="0" rtlCol="0">
            <a:spAutoFit/>
          </a:bodyPr>
          <a:lstStyle/>
          <a:p>
            <a:pPr marL="12700">
              <a:lnSpc>
                <a:spcPct val="100000"/>
              </a:lnSpc>
              <a:spcBef>
                <a:spcPts val="100"/>
              </a:spcBef>
              <a:tabLst>
                <a:tab pos="220345" algn="l"/>
              </a:tabLst>
            </a:pPr>
            <a:r>
              <a:rPr sz="300" spc="-25" dirty="0">
                <a:latin typeface="Arial"/>
                <a:cs typeface="Arial"/>
              </a:rPr>
              <a:t>100</a:t>
            </a:r>
            <a:r>
              <a:rPr sz="300" dirty="0">
                <a:latin typeface="Arial"/>
                <a:cs typeface="Arial"/>
              </a:rPr>
              <a:t>	</a:t>
            </a:r>
            <a:r>
              <a:rPr sz="300" spc="-25" dirty="0">
                <a:latin typeface="Arial"/>
                <a:cs typeface="Arial"/>
              </a:rPr>
              <a:t>120</a:t>
            </a:r>
            <a:endParaRPr sz="300">
              <a:latin typeface="Arial"/>
              <a:cs typeface="Arial"/>
            </a:endParaRPr>
          </a:p>
        </p:txBody>
      </p:sp>
      <p:grpSp>
        <p:nvGrpSpPr>
          <p:cNvPr id="178" name="object 178"/>
          <p:cNvGrpSpPr/>
          <p:nvPr/>
        </p:nvGrpSpPr>
        <p:grpSpPr>
          <a:xfrm>
            <a:off x="5029899" y="521049"/>
            <a:ext cx="3810" cy="1137920"/>
            <a:chOff x="5029899" y="521049"/>
            <a:chExt cx="3810" cy="1137920"/>
          </a:xfrm>
        </p:grpSpPr>
        <p:sp>
          <p:nvSpPr>
            <p:cNvPr id="179" name="object 179"/>
            <p:cNvSpPr/>
            <p:nvPr/>
          </p:nvSpPr>
          <p:spPr>
            <a:xfrm>
              <a:off x="5031804" y="522954"/>
              <a:ext cx="0" cy="1134110"/>
            </a:xfrm>
            <a:custGeom>
              <a:avLst/>
              <a:gdLst/>
              <a:ahLst/>
              <a:cxnLst/>
              <a:rect l="l" t="t" r="r" b="b"/>
              <a:pathLst>
                <a:path h="1134110">
                  <a:moveTo>
                    <a:pt x="0" y="17134"/>
                  </a:moveTo>
                  <a:lnTo>
                    <a:pt x="0" y="0"/>
                  </a:lnTo>
                </a:path>
                <a:path h="1134110">
                  <a:moveTo>
                    <a:pt x="0" y="1134027"/>
                  </a:moveTo>
                  <a:lnTo>
                    <a:pt x="0" y="55194"/>
                  </a:lnTo>
                </a:path>
              </a:pathLst>
            </a:custGeom>
            <a:ln w="3776">
              <a:solidFill>
                <a:srgbClr val="000000"/>
              </a:solidFill>
              <a:prstDash val="dash"/>
            </a:ln>
          </p:spPr>
          <p:txBody>
            <a:bodyPr wrap="square" lIns="0" tIns="0" rIns="0" bIns="0" rtlCol="0"/>
            <a:lstStyle/>
            <a:p>
              <a:endParaRPr/>
            </a:p>
          </p:txBody>
        </p:sp>
        <p:sp>
          <p:nvSpPr>
            <p:cNvPr id="180" name="object 180"/>
            <p:cNvSpPr/>
            <p:nvPr/>
          </p:nvSpPr>
          <p:spPr>
            <a:xfrm>
              <a:off x="5031804" y="522960"/>
              <a:ext cx="0" cy="1134110"/>
            </a:xfrm>
            <a:custGeom>
              <a:avLst/>
              <a:gdLst/>
              <a:ahLst/>
              <a:cxnLst/>
              <a:rect l="l" t="t" r="r" b="b"/>
              <a:pathLst>
                <a:path h="1134110">
                  <a:moveTo>
                    <a:pt x="0" y="0"/>
                  </a:moveTo>
                  <a:lnTo>
                    <a:pt x="0" y="17134"/>
                  </a:lnTo>
                </a:path>
                <a:path h="1134110">
                  <a:moveTo>
                    <a:pt x="0" y="1134027"/>
                  </a:moveTo>
                  <a:lnTo>
                    <a:pt x="0" y="1116893"/>
                  </a:lnTo>
                </a:path>
              </a:pathLst>
            </a:custGeom>
            <a:ln w="3776">
              <a:solidFill>
                <a:srgbClr val="000000"/>
              </a:solidFill>
            </a:ln>
          </p:spPr>
          <p:txBody>
            <a:bodyPr wrap="square" lIns="0" tIns="0" rIns="0" bIns="0" rtlCol="0"/>
            <a:lstStyle/>
            <a:p>
              <a:endParaRPr/>
            </a:p>
          </p:txBody>
        </p:sp>
      </p:grpSp>
      <p:sp>
        <p:nvSpPr>
          <p:cNvPr id="181" name="object 181"/>
          <p:cNvSpPr txBox="1"/>
          <p:nvPr/>
        </p:nvSpPr>
        <p:spPr>
          <a:xfrm>
            <a:off x="4992648" y="1656979"/>
            <a:ext cx="89535" cy="71120"/>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140</a:t>
            </a:r>
            <a:endParaRPr sz="300">
              <a:latin typeface="Arial"/>
              <a:cs typeface="Arial"/>
            </a:endParaRPr>
          </a:p>
        </p:txBody>
      </p:sp>
      <p:grpSp>
        <p:nvGrpSpPr>
          <p:cNvPr id="182" name="object 182"/>
          <p:cNvGrpSpPr/>
          <p:nvPr/>
        </p:nvGrpSpPr>
        <p:grpSpPr>
          <a:xfrm>
            <a:off x="5237751" y="521049"/>
            <a:ext cx="3810" cy="1137920"/>
            <a:chOff x="5237751" y="521049"/>
            <a:chExt cx="3810" cy="1137920"/>
          </a:xfrm>
        </p:grpSpPr>
        <p:sp>
          <p:nvSpPr>
            <p:cNvPr id="183" name="object 183"/>
            <p:cNvSpPr/>
            <p:nvPr/>
          </p:nvSpPr>
          <p:spPr>
            <a:xfrm>
              <a:off x="5239656" y="522954"/>
              <a:ext cx="0" cy="1134110"/>
            </a:xfrm>
            <a:custGeom>
              <a:avLst/>
              <a:gdLst/>
              <a:ahLst/>
              <a:cxnLst/>
              <a:rect l="l" t="t" r="r" b="b"/>
              <a:pathLst>
                <a:path h="1134110">
                  <a:moveTo>
                    <a:pt x="0" y="17134"/>
                  </a:moveTo>
                  <a:lnTo>
                    <a:pt x="0" y="0"/>
                  </a:lnTo>
                </a:path>
                <a:path h="1134110">
                  <a:moveTo>
                    <a:pt x="0" y="1134027"/>
                  </a:moveTo>
                  <a:lnTo>
                    <a:pt x="0" y="55194"/>
                  </a:lnTo>
                </a:path>
              </a:pathLst>
            </a:custGeom>
            <a:ln w="3776">
              <a:solidFill>
                <a:srgbClr val="000000"/>
              </a:solidFill>
              <a:prstDash val="dash"/>
            </a:ln>
          </p:spPr>
          <p:txBody>
            <a:bodyPr wrap="square" lIns="0" tIns="0" rIns="0" bIns="0" rtlCol="0"/>
            <a:lstStyle/>
            <a:p>
              <a:endParaRPr/>
            </a:p>
          </p:txBody>
        </p:sp>
        <p:sp>
          <p:nvSpPr>
            <p:cNvPr id="184" name="object 184"/>
            <p:cNvSpPr/>
            <p:nvPr/>
          </p:nvSpPr>
          <p:spPr>
            <a:xfrm>
              <a:off x="5239656" y="522960"/>
              <a:ext cx="0" cy="1134110"/>
            </a:xfrm>
            <a:custGeom>
              <a:avLst/>
              <a:gdLst/>
              <a:ahLst/>
              <a:cxnLst/>
              <a:rect l="l" t="t" r="r" b="b"/>
              <a:pathLst>
                <a:path h="1134110">
                  <a:moveTo>
                    <a:pt x="0" y="0"/>
                  </a:moveTo>
                  <a:lnTo>
                    <a:pt x="0" y="17134"/>
                  </a:lnTo>
                </a:path>
                <a:path h="1134110">
                  <a:moveTo>
                    <a:pt x="0" y="1134027"/>
                  </a:moveTo>
                  <a:lnTo>
                    <a:pt x="0" y="1116893"/>
                  </a:lnTo>
                </a:path>
              </a:pathLst>
            </a:custGeom>
            <a:ln w="3776">
              <a:solidFill>
                <a:srgbClr val="000000"/>
              </a:solidFill>
            </a:ln>
          </p:spPr>
          <p:txBody>
            <a:bodyPr wrap="square" lIns="0" tIns="0" rIns="0" bIns="0" rtlCol="0"/>
            <a:lstStyle/>
            <a:p>
              <a:endParaRPr/>
            </a:p>
          </p:txBody>
        </p:sp>
      </p:grpSp>
      <p:sp>
        <p:nvSpPr>
          <p:cNvPr id="185" name="object 185"/>
          <p:cNvSpPr txBox="1"/>
          <p:nvPr/>
        </p:nvSpPr>
        <p:spPr>
          <a:xfrm>
            <a:off x="5200437" y="1656979"/>
            <a:ext cx="89535" cy="71120"/>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160</a:t>
            </a:r>
            <a:endParaRPr sz="300">
              <a:latin typeface="Arial"/>
              <a:cs typeface="Arial"/>
            </a:endParaRPr>
          </a:p>
        </p:txBody>
      </p:sp>
      <p:sp>
        <p:nvSpPr>
          <p:cNvPr id="186" name="object 186"/>
          <p:cNvSpPr/>
          <p:nvPr/>
        </p:nvSpPr>
        <p:spPr>
          <a:xfrm>
            <a:off x="3575762" y="522960"/>
            <a:ext cx="1705610" cy="1134110"/>
          </a:xfrm>
          <a:custGeom>
            <a:avLst/>
            <a:gdLst/>
            <a:ahLst/>
            <a:cxnLst/>
            <a:rect l="l" t="t" r="r" b="b"/>
            <a:pathLst>
              <a:path w="1705610" h="1134110">
                <a:moveTo>
                  <a:pt x="0" y="1134027"/>
                </a:moveTo>
                <a:lnTo>
                  <a:pt x="1705584" y="1134027"/>
                </a:lnTo>
                <a:lnTo>
                  <a:pt x="1705584" y="0"/>
                </a:lnTo>
                <a:lnTo>
                  <a:pt x="0" y="0"/>
                </a:lnTo>
                <a:lnTo>
                  <a:pt x="0" y="1134027"/>
                </a:lnTo>
                <a:close/>
              </a:path>
            </a:pathLst>
          </a:custGeom>
          <a:ln w="3776">
            <a:solidFill>
              <a:srgbClr val="000000"/>
            </a:solidFill>
          </a:ln>
        </p:spPr>
        <p:txBody>
          <a:bodyPr wrap="square" lIns="0" tIns="0" rIns="0" bIns="0" rtlCol="0"/>
          <a:lstStyle/>
          <a:p>
            <a:endParaRPr/>
          </a:p>
        </p:txBody>
      </p:sp>
      <p:sp>
        <p:nvSpPr>
          <p:cNvPr id="187" name="object 187"/>
          <p:cNvSpPr txBox="1"/>
          <p:nvPr/>
        </p:nvSpPr>
        <p:spPr>
          <a:xfrm>
            <a:off x="4377874" y="1643590"/>
            <a:ext cx="161290" cy="144145"/>
          </a:xfrm>
          <a:prstGeom prst="rect">
            <a:avLst/>
          </a:prstGeom>
        </p:spPr>
        <p:txBody>
          <a:bodyPr vert="horz" wrap="square" lIns="0" tIns="26034" rIns="0" bIns="0" rtlCol="0">
            <a:spAutoFit/>
          </a:bodyPr>
          <a:lstStyle/>
          <a:p>
            <a:pPr marL="13335">
              <a:lnSpc>
                <a:spcPct val="100000"/>
              </a:lnSpc>
              <a:spcBef>
                <a:spcPts val="204"/>
              </a:spcBef>
            </a:pPr>
            <a:r>
              <a:rPr sz="300" spc="-25" dirty="0">
                <a:latin typeface="Arial"/>
                <a:cs typeface="Arial"/>
              </a:rPr>
              <a:t>80</a:t>
            </a:r>
            <a:endParaRPr sz="300">
              <a:latin typeface="Arial"/>
              <a:cs typeface="Arial"/>
            </a:endParaRPr>
          </a:p>
          <a:p>
            <a:pPr marL="12700">
              <a:lnSpc>
                <a:spcPct val="100000"/>
              </a:lnSpc>
              <a:spcBef>
                <a:spcPts val="105"/>
              </a:spcBef>
            </a:pPr>
            <a:r>
              <a:rPr sz="300" spc="-10" dirty="0">
                <a:latin typeface="Arial"/>
                <a:cs typeface="Arial"/>
              </a:rPr>
              <a:t>Position</a:t>
            </a:r>
            <a:endParaRPr sz="300">
              <a:latin typeface="Arial"/>
              <a:cs typeface="Arial"/>
            </a:endParaRPr>
          </a:p>
        </p:txBody>
      </p:sp>
      <p:sp>
        <p:nvSpPr>
          <p:cNvPr id="188" name="object 188"/>
          <p:cNvSpPr txBox="1"/>
          <p:nvPr/>
        </p:nvSpPr>
        <p:spPr>
          <a:xfrm>
            <a:off x="3390599" y="1027732"/>
            <a:ext cx="68580" cy="125095"/>
          </a:xfrm>
          <a:prstGeom prst="rect">
            <a:avLst/>
          </a:prstGeom>
        </p:spPr>
        <p:txBody>
          <a:bodyPr vert="vert270" wrap="square" lIns="0" tIns="8890" rIns="0" bIns="0" rtlCol="0">
            <a:spAutoFit/>
          </a:bodyPr>
          <a:lstStyle/>
          <a:p>
            <a:pPr marL="12700">
              <a:lnSpc>
                <a:spcPct val="100000"/>
              </a:lnSpc>
              <a:spcBef>
                <a:spcPts val="70"/>
              </a:spcBef>
            </a:pPr>
            <a:r>
              <a:rPr sz="300" spc="-20" dirty="0">
                <a:latin typeface="Arial"/>
                <a:cs typeface="Arial"/>
              </a:rPr>
              <a:t>Score</a:t>
            </a:r>
            <a:endParaRPr sz="300">
              <a:latin typeface="Arial"/>
              <a:cs typeface="Arial"/>
            </a:endParaRPr>
          </a:p>
        </p:txBody>
      </p:sp>
      <p:sp>
        <p:nvSpPr>
          <p:cNvPr id="189" name="object 189"/>
          <p:cNvSpPr txBox="1"/>
          <p:nvPr/>
        </p:nvSpPr>
        <p:spPr>
          <a:xfrm>
            <a:off x="4637662" y="521011"/>
            <a:ext cx="479425" cy="71120"/>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Hydropath. /</a:t>
            </a:r>
            <a:r>
              <a:rPr sz="300" spc="5" dirty="0">
                <a:latin typeface="Arial"/>
                <a:cs typeface="Arial"/>
              </a:rPr>
              <a:t> </a:t>
            </a:r>
            <a:r>
              <a:rPr sz="300" dirty="0">
                <a:latin typeface="Arial"/>
                <a:cs typeface="Arial"/>
              </a:rPr>
              <a:t>Kyte</a:t>
            </a:r>
            <a:r>
              <a:rPr sz="300" spc="90" dirty="0">
                <a:latin typeface="Arial"/>
                <a:cs typeface="Arial"/>
              </a:rPr>
              <a:t> </a:t>
            </a:r>
            <a:r>
              <a:rPr sz="300" spc="-10" dirty="0">
                <a:latin typeface="Arial"/>
                <a:cs typeface="Arial"/>
              </a:rPr>
              <a:t>Doolittle</a:t>
            </a:r>
            <a:endParaRPr sz="300">
              <a:latin typeface="Arial"/>
              <a:cs typeface="Arial"/>
            </a:endParaRPr>
          </a:p>
        </p:txBody>
      </p:sp>
      <p:grpSp>
        <p:nvGrpSpPr>
          <p:cNvPr id="190" name="object 190"/>
          <p:cNvGrpSpPr/>
          <p:nvPr/>
        </p:nvGrpSpPr>
        <p:grpSpPr>
          <a:xfrm>
            <a:off x="3573857" y="521055"/>
            <a:ext cx="1709420" cy="1137920"/>
            <a:chOff x="3573857" y="521055"/>
            <a:chExt cx="1709420" cy="1137920"/>
          </a:xfrm>
        </p:grpSpPr>
        <p:sp>
          <p:nvSpPr>
            <p:cNvPr id="191" name="object 191"/>
            <p:cNvSpPr/>
            <p:nvPr/>
          </p:nvSpPr>
          <p:spPr>
            <a:xfrm>
              <a:off x="3627786" y="559114"/>
              <a:ext cx="1607820" cy="988694"/>
            </a:xfrm>
            <a:custGeom>
              <a:avLst/>
              <a:gdLst/>
              <a:ahLst/>
              <a:cxnLst/>
              <a:rect l="l" t="t" r="r" b="b"/>
              <a:pathLst>
                <a:path w="1607820" h="988694">
                  <a:moveTo>
                    <a:pt x="0" y="815383"/>
                  </a:moveTo>
                  <a:lnTo>
                    <a:pt x="10358" y="802329"/>
                  </a:lnTo>
                  <a:lnTo>
                    <a:pt x="20700" y="695761"/>
                  </a:lnTo>
                  <a:lnTo>
                    <a:pt x="31058" y="635671"/>
                  </a:lnTo>
                  <a:lnTo>
                    <a:pt x="41673" y="595706"/>
                  </a:lnTo>
                  <a:lnTo>
                    <a:pt x="52031" y="584828"/>
                  </a:lnTo>
                  <a:lnTo>
                    <a:pt x="62389" y="548943"/>
                  </a:lnTo>
                  <a:lnTo>
                    <a:pt x="72732" y="594891"/>
                  </a:lnTo>
                  <a:lnTo>
                    <a:pt x="83090" y="667748"/>
                  </a:lnTo>
                  <a:lnTo>
                    <a:pt x="93433" y="691410"/>
                  </a:lnTo>
                  <a:lnTo>
                    <a:pt x="104063" y="743613"/>
                  </a:lnTo>
                  <a:lnTo>
                    <a:pt x="114406" y="779226"/>
                  </a:lnTo>
                  <a:lnTo>
                    <a:pt x="124764" y="877650"/>
                  </a:lnTo>
                  <a:lnTo>
                    <a:pt x="135122" y="891233"/>
                  </a:lnTo>
                  <a:lnTo>
                    <a:pt x="145465" y="927677"/>
                  </a:lnTo>
                  <a:lnTo>
                    <a:pt x="156094" y="926045"/>
                  </a:lnTo>
                  <a:lnTo>
                    <a:pt x="166437" y="851268"/>
                  </a:lnTo>
                  <a:lnTo>
                    <a:pt x="176795" y="702818"/>
                  </a:lnTo>
                  <a:lnTo>
                    <a:pt x="187153" y="543503"/>
                  </a:lnTo>
                  <a:lnTo>
                    <a:pt x="197496" y="398588"/>
                  </a:lnTo>
                  <a:lnTo>
                    <a:pt x="207854" y="230026"/>
                  </a:lnTo>
                  <a:lnTo>
                    <a:pt x="218469" y="159873"/>
                  </a:lnTo>
                  <a:lnTo>
                    <a:pt x="228827" y="217516"/>
                  </a:lnTo>
                  <a:lnTo>
                    <a:pt x="239185" y="284118"/>
                  </a:lnTo>
                  <a:lnTo>
                    <a:pt x="249528" y="399132"/>
                  </a:lnTo>
                  <a:lnTo>
                    <a:pt x="259886" y="548127"/>
                  </a:lnTo>
                  <a:lnTo>
                    <a:pt x="270229" y="640023"/>
                  </a:lnTo>
                  <a:lnTo>
                    <a:pt x="280859" y="654694"/>
                  </a:lnTo>
                  <a:lnTo>
                    <a:pt x="291217" y="670468"/>
                  </a:lnTo>
                  <a:lnTo>
                    <a:pt x="301560" y="750669"/>
                  </a:lnTo>
                  <a:lnTo>
                    <a:pt x="311918" y="769707"/>
                  </a:lnTo>
                  <a:lnTo>
                    <a:pt x="322261" y="746862"/>
                  </a:lnTo>
                  <a:lnTo>
                    <a:pt x="332890" y="811576"/>
                  </a:lnTo>
                  <a:lnTo>
                    <a:pt x="343233" y="830886"/>
                  </a:lnTo>
                  <a:lnTo>
                    <a:pt x="353591" y="766172"/>
                  </a:lnTo>
                  <a:lnTo>
                    <a:pt x="363949" y="619081"/>
                  </a:lnTo>
                  <a:lnTo>
                    <a:pt x="374292" y="553566"/>
                  </a:lnTo>
                  <a:lnTo>
                    <a:pt x="384650" y="486132"/>
                  </a:lnTo>
                  <a:lnTo>
                    <a:pt x="395265" y="371935"/>
                  </a:lnTo>
                  <a:lnTo>
                    <a:pt x="405623" y="329794"/>
                  </a:lnTo>
                  <a:lnTo>
                    <a:pt x="415981" y="352368"/>
                  </a:lnTo>
                  <a:lnTo>
                    <a:pt x="426324" y="405931"/>
                  </a:lnTo>
                  <a:lnTo>
                    <a:pt x="436682" y="428490"/>
                  </a:lnTo>
                  <a:lnTo>
                    <a:pt x="447025" y="539424"/>
                  </a:lnTo>
                  <a:lnTo>
                    <a:pt x="457655" y="605754"/>
                  </a:lnTo>
                  <a:lnTo>
                    <a:pt x="468013" y="672372"/>
                  </a:lnTo>
                  <a:lnTo>
                    <a:pt x="478356" y="729199"/>
                  </a:lnTo>
                  <a:lnTo>
                    <a:pt x="488714" y="747406"/>
                  </a:lnTo>
                  <a:lnTo>
                    <a:pt x="499056" y="704721"/>
                  </a:lnTo>
                  <a:lnTo>
                    <a:pt x="509686" y="595162"/>
                  </a:lnTo>
                  <a:lnTo>
                    <a:pt x="520044" y="534256"/>
                  </a:lnTo>
                  <a:lnTo>
                    <a:pt x="530387" y="495923"/>
                  </a:lnTo>
                  <a:lnTo>
                    <a:pt x="540745" y="435833"/>
                  </a:lnTo>
                  <a:lnTo>
                    <a:pt x="551088" y="430393"/>
                  </a:lnTo>
                  <a:lnTo>
                    <a:pt x="561446" y="530449"/>
                  </a:lnTo>
                  <a:lnTo>
                    <a:pt x="572061" y="591627"/>
                  </a:lnTo>
                  <a:lnTo>
                    <a:pt x="582419" y="652790"/>
                  </a:lnTo>
                  <a:lnTo>
                    <a:pt x="592777" y="716416"/>
                  </a:lnTo>
                  <a:lnTo>
                    <a:pt x="603120" y="747406"/>
                  </a:lnTo>
                  <a:lnTo>
                    <a:pt x="613478" y="704721"/>
                  </a:lnTo>
                  <a:lnTo>
                    <a:pt x="623821" y="595162"/>
                  </a:lnTo>
                  <a:lnTo>
                    <a:pt x="634450" y="534256"/>
                  </a:lnTo>
                  <a:lnTo>
                    <a:pt x="644808" y="495923"/>
                  </a:lnTo>
                  <a:lnTo>
                    <a:pt x="655151" y="435833"/>
                  </a:lnTo>
                  <a:lnTo>
                    <a:pt x="665509" y="430393"/>
                  </a:lnTo>
                  <a:lnTo>
                    <a:pt x="675852" y="530449"/>
                  </a:lnTo>
                  <a:lnTo>
                    <a:pt x="686482" y="591627"/>
                  </a:lnTo>
                  <a:lnTo>
                    <a:pt x="696840" y="652805"/>
                  </a:lnTo>
                  <a:lnTo>
                    <a:pt x="707183" y="716416"/>
                  </a:lnTo>
                  <a:lnTo>
                    <a:pt x="717541" y="747406"/>
                  </a:lnTo>
                  <a:lnTo>
                    <a:pt x="727884" y="704721"/>
                  </a:lnTo>
                  <a:lnTo>
                    <a:pt x="738242" y="595162"/>
                  </a:lnTo>
                  <a:lnTo>
                    <a:pt x="748857" y="534256"/>
                  </a:lnTo>
                  <a:lnTo>
                    <a:pt x="759215" y="495923"/>
                  </a:lnTo>
                  <a:lnTo>
                    <a:pt x="769573" y="435833"/>
                  </a:lnTo>
                  <a:lnTo>
                    <a:pt x="779916" y="430393"/>
                  </a:lnTo>
                  <a:lnTo>
                    <a:pt x="790274" y="527457"/>
                  </a:lnTo>
                  <a:lnTo>
                    <a:pt x="800888" y="583196"/>
                  </a:lnTo>
                  <a:lnTo>
                    <a:pt x="811246" y="638663"/>
                  </a:lnTo>
                  <a:lnTo>
                    <a:pt x="821604" y="697121"/>
                  </a:lnTo>
                  <a:lnTo>
                    <a:pt x="831947" y="722400"/>
                  </a:lnTo>
                  <a:lnTo>
                    <a:pt x="842305" y="674276"/>
                  </a:lnTo>
                  <a:lnTo>
                    <a:pt x="852648" y="570413"/>
                  </a:lnTo>
                  <a:lnTo>
                    <a:pt x="863278" y="514674"/>
                  </a:lnTo>
                  <a:lnTo>
                    <a:pt x="873636" y="482053"/>
                  </a:lnTo>
                  <a:lnTo>
                    <a:pt x="883979" y="427402"/>
                  </a:lnTo>
                  <a:lnTo>
                    <a:pt x="894337" y="427402"/>
                  </a:lnTo>
                  <a:lnTo>
                    <a:pt x="904680" y="527457"/>
                  </a:lnTo>
                  <a:lnTo>
                    <a:pt x="915038" y="583196"/>
                  </a:lnTo>
                  <a:lnTo>
                    <a:pt x="925668" y="638663"/>
                  </a:lnTo>
                  <a:lnTo>
                    <a:pt x="936011" y="697121"/>
                  </a:lnTo>
                  <a:lnTo>
                    <a:pt x="946369" y="725663"/>
                  </a:lnTo>
                  <a:lnTo>
                    <a:pt x="956712" y="682707"/>
                  </a:lnTo>
                  <a:lnTo>
                    <a:pt x="967070" y="586459"/>
                  </a:lnTo>
                  <a:lnTo>
                    <a:pt x="977684" y="566606"/>
                  </a:lnTo>
                  <a:lnTo>
                    <a:pt x="988042" y="591355"/>
                  </a:lnTo>
                  <a:lnTo>
                    <a:pt x="998400" y="565246"/>
                  </a:lnTo>
                  <a:lnTo>
                    <a:pt x="1008743" y="520658"/>
                  </a:lnTo>
                  <a:lnTo>
                    <a:pt x="1019101" y="529633"/>
                  </a:lnTo>
                  <a:lnTo>
                    <a:pt x="1029444" y="485316"/>
                  </a:lnTo>
                  <a:lnTo>
                    <a:pt x="1040074" y="381998"/>
                  </a:lnTo>
                  <a:lnTo>
                    <a:pt x="1050432" y="304516"/>
                  </a:lnTo>
                  <a:lnTo>
                    <a:pt x="1060775" y="316755"/>
                  </a:lnTo>
                  <a:lnTo>
                    <a:pt x="1071133" y="424682"/>
                  </a:lnTo>
                  <a:lnTo>
                    <a:pt x="1081476" y="529905"/>
                  </a:lnTo>
                  <a:lnTo>
                    <a:pt x="1091834" y="665573"/>
                  </a:lnTo>
                  <a:lnTo>
                    <a:pt x="1102464" y="730831"/>
                  </a:lnTo>
                  <a:lnTo>
                    <a:pt x="1112806" y="688962"/>
                  </a:lnTo>
                  <a:lnTo>
                    <a:pt x="1123164" y="549486"/>
                  </a:lnTo>
                  <a:lnTo>
                    <a:pt x="1133507" y="408923"/>
                  </a:lnTo>
                  <a:lnTo>
                    <a:pt x="1143865" y="272167"/>
                  </a:lnTo>
                  <a:lnTo>
                    <a:pt x="1154495" y="141923"/>
                  </a:lnTo>
                  <a:lnTo>
                    <a:pt x="1164838" y="143011"/>
                  </a:lnTo>
                  <a:lnTo>
                    <a:pt x="1175196" y="291190"/>
                  </a:lnTo>
                  <a:lnTo>
                    <a:pt x="1185539" y="391789"/>
                  </a:lnTo>
                  <a:lnTo>
                    <a:pt x="1195897" y="436921"/>
                  </a:lnTo>
                  <a:lnTo>
                    <a:pt x="1206240" y="538064"/>
                  </a:lnTo>
                  <a:lnTo>
                    <a:pt x="1216870" y="605754"/>
                  </a:lnTo>
                  <a:lnTo>
                    <a:pt x="1227228" y="553838"/>
                  </a:lnTo>
                  <a:lnTo>
                    <a:pt x="1237571" y="413274"/>
                  </a:lnTo>
                  <a:lnTo>
                    <a:pt x="1247929" y="375742"/>
                  </a:lnTo>
                  <a:lnTo>
                    <a:pt x="1258272" y="269991"/>
                  </a:lnTo>
                  <a:lnTo>
                    <a:pt x="1268630" y="155793"/>
                  </a:lnTo>
                  <a:lnTo>
                    <a:pt x="1279259" y="125620"/>
                  </a:lnTo>
                  <a:lnTo>
                    <a:pt x="1289602" y="165312"/>
                  </a:lnTo>
                  <a:lnTo>
                    <a:pt x="1299960" y="210173"/>
                  </a:lnTo>
                  <a:lnTo>
                    <a:pt x="1310303" y="215340"/>
                  </a:lnTo>
                  <a:lnTo>
                    <a:pt x="1320661" y="286566"/>
                  </a:lnTo>
                  <a:lnTo>
                    <a:pt x="1331291" y="300981"/>
                  </a:lnTo>
                  <a:lnTo>
                    <a:pt x="1341634" y="218876"/>
                  </a:lnTo>
                  <a:lnTo>
                    <a:pt x="1351992" y="139747"/>
                  </a:lnTo>
                  <a:lnTo>
                    <a:pt x="1362335" y="121812"/>
                  </a:lnTo>
                  <a:lnTo>
                    <a:pt x="1372693" y="127252"/>
                  </a:lnTo>
                  <a:lnTo>
                    <a:pt x="1383036" y="79672"/>
                  </a:lnTo>
                  <a:lnTo>
                    <a:pt x="1404024" y="176463"/>
                  </a:lnTo>
                  <a:lnTo>
                    <a:pt x="1414367" y="281399"/>
                  </a:lnTo>
                  <a:lnTo>
                    <a:pt x="1424725" y="425226"/>
                  </a:lnTo>
                  <a:lnTo>
                    <a:pt x="1435068" y="582924"/>
                  </a:lnTo>
                  <a:lnTo>
                    <a:pt x="1445426" y="772971"/>
                  </a:lnTo>
                  <a:lnTo>
                    <a:pt x="1456055" y="905104"/>
                  </a:lnTo>
                  <a:lnTo>
                    <a:pt x="1466398" y="976345"/>
                  </a:lnTo>
                  <a:lnTo>
                    <a:pt x="1476756" y="988568"/>
                  </a:lnTo>
                  <a:lnTo>
                    <a:pt x="1487099" y="935277"/>
                  </a:lnTo>
                  <a:lnTo>
                    <a:pt x="1497457" y="901024"/>
                  </a:lnTo>
                  <a:lnTo>
                    <a:pt x="1508087" y="852900"/>
                  </a:lnTo>
                  <a:lnTo>
                    <a:pt x="1518430" y="842021"/>
                  </a:lnTo>
                  <a:lnTo>
                    <a:pt x="1528788" y="808040"/>
                  </a:lnTo>
                  <a:lnTo>
                    <a:pt x="1539131" y="802057"/>
                  </a:lnTo>
                  <a:lnTo>
                    <a:pt x="1549489" y="782762"/>
                  </a:lnTo>
                  <a:lnTo>
                    <a:pt x="1559832" y="693858"/>
                  </a:lnTo>
                  <a:lnTo>
                    <a:pt x="1570462" y="587275"/>
                  </a:lnTo>
                  <a:lnTo>
                    <a:pt x="1580820" y="519842"/>
                  </a:lnTo>
                  <a:lnTo>
                    <a:pt x="1591162" y="488852"/>
                  </a:lnTo>
                </a:path>
                <a:path w="1607820" h="988694">
                  <a:moveTo>
                    <a:pt x="1499088" y="0"/>
                  </a:moveTo>
                  <a:lnTo>
                    <a:pt x="1607787" y="0"/>
                  </a:lnTo>
                </a:path>
              </a:pathLst>
            </a:custGeom>
            <a:ln w="7552">
              <a:solidFill>
                <a:srgbClr val="004FE9"/>
              </a:solidFill>
            </a:ln>
          </p:spPr>
          <p:txBody>
            <a:bodyPr wrap="square" lIns="0" tIns="0" rIns="0" bIns="0" rtlCol="0"/>
            <a:lstStyle/>
            <a:p>
              <a:endParaRPr/>
            </a:p>
          </p:txBody>
        </p:sp>
        <p:sp>
          <p:nvSpPr>
            <p:cNvPr id="192" name="object 192"/>
            <p:cNvSpPr/>
            <p:nvPr/>
          </p:nvSpPr>
          <p:spPr>
            <a:xfrm>
              <a:off x="3575762" y="522960"/>
              <a:ext cx="1705610" cy="1134110"/>
            </a:xfrm>
            <a:custGeom>
              <a:avLst/>
              <a:gdLst/>
              <a:ahLst/>
              <a:cxnLst/>
              <a:rect l="l" t="t" r="r" b="b"/>
              <a:pathLst>
                <a:path w="1705610" h="1134110">
                  <a:moveTo>
                    <a:pt x="0" y="1134027"/>
                  </a:moveTo>
                  <a:lnTo>
                    <a:pt x="1705584" y="1134027"/>
                  </a:lnTo>
                  <a:lnTo>
                    <a:pt x="1705584" y="0"/>
                  </a:lnTo>
                  <a:lnTo>
                    <a:pt x="0" y="0"/>
                  </a:lnTo>
                  <a:lnTo>
                    <a:pt x="0" y="1134027"/>
                  </a:lnTo>
                  <a:close/>
                </a:path>
              </a:pathLst>
            </a:custGeom>
            <a:ln w="3776">
              <a:solidFill>
                <a:srgbClr val="000000"/>
              </a:solidFill>
            </a:ln>
          </p:spPr>
          <p:txBody>
            <a:bodyPr wrap="square" lIns="0" tIns="0" rIns="0" bIns="0" rtlCol="0"/>
            <a:lstStyle/>
            <a:p>
              <a:endParaRPr/>
            </a:p>
          </p:txBody>
        </p:sp>
      </p:grpSp>
      <p:sp>
        <p:nvSpPr>
          <p:cNvPr id="193" name="object 193"/>
          <p:cNvSpPr txBox="1"/>
          <p:nvPr/>
        </p:nvSpPr>
        <p:spPr>
          <a:xfrm>
            <a:off x="3546250" y="252899"/>
            <a:ext cx="1503045" cy="254000"/>
          </a:xfrm>
          <a:prstGeom prst="rect">
            <a:avLst/>
          </a:prstGeom>
        </p:spPr>
        <p:txBody>
          <a:bodyPr vert="horz" wrap="square" lIns="0" tIns="13970" rIns="0" bIns="0" rtlCol="0">
            <a:spAutoFit/>
          </a:bodyPr>
          <a:lstStyle/>
          <a:p>
            <a:pPr marL="38100">
              <a:lnSpc>
                <a:spcPct val="100000"/>
              </a:lnSpc>
              <a:spcBef>
                <a:spcPts val="110"/>
              </a:spcBef>
            </a:pPr>
            <a:r>
              <a:rPr sz="700" spc="-25" dirty="0">
                <a:latin typeface="Arial"/>
                <a:cs typeface="Arial"/>
              </a:rPr>
              <a:t>T.dactyloides</a:t>
            </a:r>
            <a:r>
              <a:rPr sz="700" spc="-10" dirty="0">
                <a:latin typeface="Arial"/>
                <a:cs typeface="Arial"/>
              </a:rPr>
              <a:t> </a:t>
            </a:r>
            <a:r>
              <a:rPr sz="700" spc="-25" dirty="0">
                <a:latin typeface="Arial"/>
                <a:cs typeface="Arial"/>
              </a:rPr>
              <a:t>Td00001aa022594_T002</a:t>
            </a:r>
            <a:endParaRPr sz="700">
              <a:latin typeface="Arial"/>
              <a:cs typeface="Arial"/>
            </a:endParaRPr>
          </a:p>
          <a:p>
            <a:pPr marL="589915">
              <a:lnSpc>
                <a:spcPct val="100000"/>
              </a:lnSpc>
              <a:spcBef>
                <a:spcPts val="585"/>
              </a:spcBef>
            </a:pPr>
            <a:r>
              <a:rPr sz="450" baseline="18518" dirty="0">
                <a:latin typeface="Arial"/>
                <a:cs typeface="Arial"/>
              </a:rPr>
              <a:t>ProtScale</a:t>
            </a:r>
            <a:r>
              <a:rPr sz="450" spc="7" baseline="18518" dirty="0">
                <a:latin typeface="Arial"/>
                <a:cs typeface="Arial"/>
              </a:rPr>
              <a:t> </a:t>
            </a:r>
            <a:r>
              <a:rPr sz="450" baseline="18518" dirty="0">
                <a:latin typeface="Arial"/>
                <a:cs typeface="Arial"/>
              </a:rPr>
              <a:t>output</a:t>
            </a:r>
            <a:r>
              <a:rPr sz="450" spc="7" baseline="18518" dirty="0">
                <a:latin typeface="Arial"/>
                <a:cs typeface="Arial"/>
              </a:rPr>
              <a:t> </a:t>
            </a:r>
            <a:r>
              <a:rPr sz="450" baseline="18518" dirty="0">
                <a:latin typeface="Arial"/>
                <a:cs typeface="Arial"/>
              </a:rPr>
              <a:t>for</a:t>
            </a:r>
            <a:r>
              <a:rPr sz="450" spc="15" baseline="18518" dirty="0">
                <a:latin typeface="Arial"/>
                <a:cs typeface="Arial"/>
              </a:rPr>
              <a:t> </a:t>
            </a:r>
            <a:r>
              <a:rPr sz="450" spc="-15" baseline="18518" dirty="0">
                <a:latin typeface="Arial"/>
                <a:cs typeface="Arial"/>
              </a:rPr>
              <a:t>user</a:t>
            </a:r>
            <a:r>
              <a:rPr sz="200" spc="-10" dirty="0">
                <a:latin typeface="Arial"/>
                <a:cs typeface="Arial"/>
              </a:rPr>
              <a:t>s</a:t>
            </a:r>
            <a:r>
              <a:rPr sz="450" spc="-15" baseline="18518" dirty="0">
                <a:latin typeface="Arial"/>
                <a:cs typeface="Arial"/>
              </a:rPr>
              <a:t>equence</a:t>
            </a:r>
            <a:endParaRPr sz="450" baseline="18518">
              <a:latin typeface="Arial"/>
              <a:cs typeface="Arial"/>
            </a:endParaRPr>
          </a:p>
        </p:txBody>
      </p:sp>
      <p:sp>
        <p:nvSpPr>
          <p:cNvPr id="194" name="object 194"/>
          <p:cNvSpPr txBox="1"/>
          <p:nvPr/>
        </p:nvSpPr>
        <p:spPr>
          <a:xfrm>
            <a:off x="3620425" y="542928"/>
            <a:ext cx="74930" cy="89535"/>
          </a:xfrm>
          <a:prstGeom prst="rect">
            <a:avLst/>
          </a:prstGeom>
        </p:spPr>
        <p:txBody>
          <a:bodyPr vert="horz" wrap="square" lIns="0" tIns="15240" rIns="0" bIns="0" rtlCol="0">
            <a:spAutoFit/>
          </a:bodyPr>
          <a:lstStyle/>
          <a:p>
            <a:pPr marL="12700">
              <a:lnSpc>
                <a:spcPct val="100000"/>
              </a:lnSpc>
              <a:spcBef>
                <a:spcPts val="120"/>
              </a:spcBef>
            </a:pPr>
            <a:r>
              <a:rPr sz="400" spc="-25" dirty="0">
                <a:latin typeface="Arial"/>
                <a:cs typeface="Arial"/>
              </a:rPr>
              <a:t>Td</a:t>
            </a:r>
            <a:endParaRPr sz="400">
              <a:latin typeface="Arial"/>
              <a:cs typeface="Arial"/>
            </a:endParaRPr>
          </a:p>
        </p:txBody>
      </p:sp>
      <p:sp>
        <p:nvSpPr>
          <p:cNvPr id="195" name="object 195"/>
          <p:cNvSpPr/>
          <p:nvPr/>
        </p:nvSpPr>
        <p:spPr>
          <a:xfrm>
            <a:off x="3976795" y="806459"/>
            <a:ext cx="649605" cy="666750"/>
          </a:xfrm>
          <a:custGeom>
            <a:avLst/>
            <a:gdLst/>
            <a:ahLst/>
            <a:cxnLst/>
            <a:rect l="l" t="t" r="r" b="b"/>
            <a:pathLst>
              <a:path w="649604" h="666750">
                <a:moveTo>
                  <a:pt x="0" y="666661"/>
                </a:moveTo>
                <a:lnTo>
                  <a:pt x="649384" y="666661"/>
                </a:lnTo>
                <a:lnTo>
                  <a:pt x="649384" y="0"/>
                </a:lnTo>
                <a:lnTo>
                  <a:pt x="0" y="0"/>
                </a:lnTo>
                <a:lnTo>
                  <a:pt x="0" y="666661"/>
                </a:lnTo>
                <a:close/>
              </a:path>
            </a:pathLst>
          </a:custGeom>
          <a:ln w="7552">
            <a:solidFill>
              <a:srgbClr val="ED1C24"/>
            </a:solidFill>
          </a:ln>
        </p:spPr>
        <p:txBody>
          <a:bodyPr wrap="square" lIns="0" tIns="0" rIns="0" bIns="0" rtlCol="0"/>
          <a:lstStyle/>
          <a:p>
            <a:endParaRPr/>
          </a:p>
        </p:txBody>
      </p:sp>
      <p:grpSp>
        <p:nvGrpSpPr>
          <p:cNvPr id="196" name="object 196"/>
          <p:cNvGrpSpPr/>
          <p:nvPr/>
        </p:nvGrpSpPr>
        <p:grpSpPr>
          <a:xfrm>
            <a:off x="3519318" y="3460887"/>
            <a:ext cx="1711325" cy="3810"/>
            <a:chOff x="3519318" y="3460887"/>
            <a:chExt cx="1711325" cy="3810"/>
          </a:xfrm>
        </p:grpSpPr>
        <p:sp>
          <p:nvSpPr>
            <p:cNvPr id="197" name="object 197"/>
            <p:cNvSpPr/>
            <p:nvPr/>
          </p:nvSpPr>
          <p:spPr>
            <a:xfrm>
              <a:off x="3521223" y="3462792"/>
              <a:ext cx="1707514" cy="0"/>
            </a:xfrm>
            <a:custGeom>
              <a:avLst/>
              <a:gdLst/>
              <a:ahLst/>
              <a:cxnLst/>
              <a:rect l="l" t="t" r="r" b="b"/>
              <a:pathLst>
                <a:path w="1707514">
                  <a:moveTo>
                    <a:pt x="0" y="0"/>
                  </a:moveTo>
                  <a:lnTo>
                    <a:pt x="1707124" y="0"/>
                  </a:lnTo>
                </a:path>
              </a:pathLst>
            </a:custGeom>
            <a:ln w="3777">
              <a:solidFill>
                <a:srgbClr val="000000"/>
              </a:solidFill>
              <a:prstDash val="dash"/>
            </a:ln>
          </p:spPr>
          <p:txBody>
            <a:bodyPr wrap="square" lIns="0" tIns="0" rIns="0" bIns="0" rtlCol="0"/>
            <a:lstStyle/>
            <a:p>
              <a:endParaRPr/>
            </a:p>
          </p:txBody>
        </p:sp>
        <p:sp>
          <p:nvSpPr>
            <p:cNvPr id="198" name="object 198"/>
            <p:cNvSpPr/>
            <p:nvPr/>
          </p:nvSpPr>
          <p:spPr>
            <a:xfrm>
              <a:off x="3521224" y="3462792"/>
              <a:ext cx="1707514" cy="0"/>
            </a:xfrm>
            <a:custGeom>
              <a:avLst/>
              <a:gdLst/>
              <a:ahLst/>
              <a:cxnLst/>
              <a:rect l="l" t="t" r="r" b="b"/>
              <a:pathLst>
                <a:path w="1707514">
                  <a:moveTo>
                    <a:pt x="1707124" y="0"/>
                  </a:moveTo>
                  <a:lnTo>
                    <a:pt x="1689941" y="0"/>
                  </a:lnTo>
                </a:path>
                <a:path w="1707514">
                  <a:moveTo>
                    <a:pt x="0" y="0"/>
                  </a:moveTo>
                  <a:lnTo>
                    <a:pt x="17182" y="0"/>
                  </a:lnTo>
                </a:path>
              </a:pathLst>
            </a:custGeom>
            <a:ln w="3776">
              <a:solidFill>
                <a:srgbClr val="000000"/>
              </a:solidFill>
            </a:ln>
          </p:spPr>
          <p:txBody>
            <a:bodyPr wrap="square" lIns="0" tIns="0" rIns="0" bIns="0" rtlCol="0"/>
            <a:lstStyle/>
            <a:p>
              <a:endParaRPr/>
            </a:p>
          </p:txBody>
        </p:sp>
      </p:grpSp>
      <p:sp>
        <p:nvSpPr>
          <p:cNvPr id="199" name="object 199"/>
          <p:cNvSpPr txBox="1"/>
          <p:nvPr/>
        </p:nvSpPr>
        <p:spPr>
          <a:xfrm>
            <a:off x="3419859" y="3424799"/>
            <a:ext cx="91440" cy="71120"/>
          </a:xfrm>
          <a:prstGeom prst="rect">
            <a:avLst/>
          </a:prstGeom>
        </p:spPr>
        <p:txBody>
          <a:bodyPr vert="horz" wrap="square" lIns="0" tIns="12065" rIns="0" bIns="0" rtlCol="0">
            <a:spAutoFit/>
          </a:bodyPr>
          <a:lstStyle/>
          <a:p>
            <a:pPr marL="12700">
              <a:lnSpc>
                <a:spcPct val="100000"/>
              </a:lnSpc>
              <a:spcBef>
                <a:spcPts val="95"/>
              </a:spcBef>
            </a:pPr>
            <a:r>
              <a:rPr sz="300" dirty="0">
                <a:latin typeface="Arial"/>
                <a:cs typeface="Arial"/>
              </a:rPr>
              <a:t>-</a:t>
            </a:r>
            <a:r>
              <a:rPr sz="300" spc="-25" dirty="0">
                <a:latin typeface="Arial"/>
                <a:cs typeface="Arial"/>
              </a:rPr>
              <a:t>3.5</a:t>
            </a:r>
            <a:endParaRPr sz="300">
              <a:latin typeface="Arial"/>
              <a:cs typeface="Arial"/>
            </a:endParaRPr>
          </a:p>
        </p:txBody>
      </p:sp>
      <p:grpSp>
        <p:nvGrpSpPr>
          <p:cNvPr id="200" name="object 200"/>
          <p:cNvGrpSpPr/>
          <p:nvPr/>
        </p:nvGrpSpPr>
        <p:grpSpPr>
          <a:xfrm>
            <a:off x="3519318" y="2329790"/>
            <a:ext cx="1711325" cy="1135380"/>
            <a:chOff x="3519318" y="2329790"/>
            <a:chExt cx="1711325" cy="1135380"/>
          </a:xfrm>
        </p:grpSpPr>
        <p:sp>
          <p:nvSpPr>
            <p:cNvPr id="201" name="object 201"/>
            <p:cNvSpPr/>
            <p:nvPr/>
          </p:nvSpPr>
          <p:spPr>
            <a:xfrm>
              <a:off x="3521223" y="3337237"/>
              <a:ext cx="1707514" cy="0"/>
            </a:xfrm>
            <a:custGeom>
              <a:avLst/>
              <a:gdLst/>
              <a:ahLst/>
              <a:cxnLst/>
              <a:rect l="l" t="t" r="r" b="b"/>
              <a:pathLst>
                <a:path w="1707514">
                  <a:moveTo>
                    <a:pt x="0" y="0"/>
                  </a:moveTo>
                  <a:lnTo>
                    <a:pt x="1707124" y="0"/>
                  </a:lnTo>
                </a:path>
              </a:pathLst>
            </a:custGeom>
            <a:ln w="3777">
              <a:solidFill>
                <a:srgbClr val="000000"/>
              </a:solidFill>
              <a:prstDash val="dash"/>
            </a:ln>
          </p:spPr>
          <p:txBody>
            <a:bodyPr wrap="square" lIns="0" tIns="0" rIns="0" bIns="0" rtlCol="0"/>
            <a:lstStyle/>
            <a:p>
              <a:endParaRPr/>
            </a:p>
          </p:txBody>
        </p:sp>
        <p:sp>
          <p:nvSpPr>
            <p:cNvPr id="202" name="object 202"/>
            <p:cNvSpPr/>
            <p:nvPr/>
          </p:nvSpPr>
          <p:spPr>
            <a:xfrm>
              <a:off x="3521224" y="3337237"/>
              <a:ext cx="1707514" cy="0"/>
            </a:xfrm>
            <a:custGeom>
              <a:avLst/>
              <a:gdLst/>
              <a:ahLst/>
              <a:cxnLst/>
              <a:rect l="l" t="t" r="r" b="b"/>
              <a:pathLst>
                <a:path w="1707514">
                  <a:moveTo>
                    <a:pt x="1707124" y="0"/>
                  </a:moveTo>
                  <a:lnTo>
                    <a:pt x="1689941" y="0"/>
                  </a:lnTo>
                </a:path>
                <a:path w="1707514">
                  <a:moveTo>
                    <a:pt x="0" y="0"/>
                  </a:moveTo>
                  <a:lnTo>
                    <a:pt x="17182" y="0"/>
                  </a:lnTo>
                </a:path>
              </a:pathLst>
            </a:custGeom>
            <a:ln w="3776">
              <a:solidFill>
                <a:srgbClr val="000000"/>
              </a:solidFill>
            </a:ln>
          </p:spPr>
          <p:txBody>
            <a:bodyPr wrap="square" lIns="0" tIns="0" rIns="0" bIns="0" rtlCol="0"/>
            <a:lstStyle/>
            <a:p>
              <a:endParaRPr/>
            </a:p>
          </p:txBody>
        </p:sp>
        <p:sp>
          <p:nvSpPr>
            <p:cNvPr id="203" name="object 203"/>
            <p:cNvSpPr/>
            <p:nvPr/>
          </p:nvSpPr>
          <p:spPr>
            <a:xfrm>
              <a:off x="3521223" y="3211408"/>
              <a:ext cx="1707514" cy="0"/>
            </a:xfrm>
            <a:custGeom>
              <a:avLst/>
              <a:gdLst/>
              <a:ahLst/>
              <a:cxnLst/>
              <a:rect l="l" t="t" r="r" b="b"/>
              <a:pathLst>
                <a:path w="1707514">
                  <a:moveTo>
                    <a:pt x="0" y="0"/>
                  </a:moveTo>
                  <a:lnTo>
                    <a:pt x="1707124" y="0"/>
                  </a:lnTo>
                </a:path>
              </a:pathLst>
            </a:custGeom>
            <a:ln w="3777">
              <a:solidFill>
                <a:srgbClr val="000000"/>
              </a:solidFill>
              <a:prstDash val="dash"/>
            </a:ln>
          </p:spPr>
          <p:txBody>
            <a:bodyPr wrap="square" lIns="0" tIns="0" rIns="0" bIns="0" rtlCol="0"/>
            <a:lstStyle/>
            <a:p>
              <a:endParaRPr/>
            </a:p>
          </p:txBody>
        </p:sp>
        <p:sp>
          <p:nvSpPr>
            <p:cNvPr id="204" name="object 204"/>
            <p:cNvSpPr/>
            <p:nvPr/>
          </p:nvSpPr>
          <p:spPr>
            <a:xfrm>
              <a:off x="3521224" y="3211408"/>
              <a:ext cx="1707514" cy="0"/>
            </a:xfrm>
            <a:custGeom>
              <a:avLst/>
              <a:gdLst/>
              <a:ahLst/>
              <a:cxnLst/>
              <a:rect l="l" t="t" r="r" b="b"/>
              <a:pathLst>
                <a:path w="1707514">
                  <a:moveTo>
                    <a:pt x="1707124" y="0"/>
                  </a:moveTo>
                  <a:lnTo>
                    <a:pt x="1689941" y="0"/>
                  </a:lnTo>
                </a:path>
                <a:path w="1707514">
                  <a:moveTo>
                    <a:pt x="0" y="0"/>
                  </a:moveTo>
                  <a:lnTo>
                    <a:pt x="17182" y="0"/>
                  </a:lnTo>
                </a:path>
              </a:pathLst>
            </a:custGeom>
            <a:ln w="3776">
              <a:solidFill>
                <a:srgbClr val="000000"/>
              </a:solidFill>
            </a:ln>
          </p:spPr>
          <p:txBody>
            <a:bodyPr wrap="square" lIns="0" tIns="0" rIns="0" bIns="0" rtlCol="0"/>
            <a:lstStyle/>
            <a:p>
              <a:endParaRPr/>
            </a:p>
          </p:txBody>
        </p:sp>
        <p:sp>
          <p:nvSpPr>
            <p:cNvPr id="205" name="object 205"/>
            <p:cNvSpPr/>
            <p:nvPr/>
          </p:nvSpPr>
          <p:spPr>
            <a:xfrm>
              <a:off x="3521223" y="3085851"/>
              <a:ext cx="1707514" cy="0"/>
            </a:xfrm>
            <a:custGeom>
              <a:avLst/>
              <a:gdLst/>
              <a:ahLst/>
              <a:cxnLst/>
              <a:rect l="l" t="t" r="r" b="b"/>
              <a:pathLst>
                <a:path w="1707514">
                  <a:moveTo>
                    <a:pt x="0" y="0"/>
                  </a:moveTo>
                  <a:lnTo>
                    <a:pt x="1707124" y="0"/>
                  </a:lnTo>
                </a:path>
              </a:pathLst>
            </a:custGeom>
            <a:ln w="3777">
              <a:solidFill>
                <a:srgbClr val="000000"/>
              </a:solidFill>
              <a:prstDash val="dash"/>
            </a:ln>
          </p:spPr>
          <p:txBody>
            <a:bodyPr wrap="square" lIns="0" tIns="0" rIns="0" bIns="0" rtlCol="0"/>
            <a:lstStyle/>
            <a:p>
              <a:endParaRPr/>
            </a:p>
          </p:txBody>
        </p:sp>
        <p:sp>
          <p:nvSpPr>
            <p:cNvPr id="206" name="object 206"/>
            <p:cNvSpPr/>
            <p:nvPr/>
          </p:nvSpPr>
          <p:spPr>
            <a:xfrm>
              <a:off x="3521224" y="3085851"/>
              <a:ext cx="1707514" cy="0"/>
            </a:xfrm>
            <a:custGeom>
              <a:avLst/>
              <a:gdLst/>
              <a:ahLst/>
              <a:cxnLst/>
              <a:rect l="l" t="t" r="r" b="b"/>
              <a:pathLst>
                <a:path w="1707514">
                  <a:moveTo>
                    <a:pt x="1707124" y="0"/>
                  </a:moveTo>
                  <a:lnTo>
                    <a:pt x="1689941" y="0"/>
                  </a:lnTo>
                </a:path>
                <a:path w="1707514">
                  <a:moveTo>
                    <a:pt x="0" y="0"/>
                  </a:moveTo>
                  <a:lnTo>
                    <a:pt x="17182" y="0"/>
                  </a:lnTo>
                </a:path>
              </a:pathLst>
            </a:custGeom>
            <a:ln w="3776">
              <a:solidFill>
                <a:srgbClr val="000000"/>
              </a:solidFill>
            </a:ln>
          </p:spPr>
          <p:txBody>
            <a:bodyPr wrap="square" lIns="0" tIns="0" rIns="0" bIns="0" rtlCol="0"/>
            <a:lstStyle/>
            <a:p>
              <a:endParaRPr/>
            </a:p>
          </p:txBody>
        </p:sp>
        <p:sp>
          <p:nvSpPr>
            <p:cNvPr id="207" name="object 207"/>
            <p:cNvSpPr/>
            <p:nvPr/>
          </p:nvSpPr>
          <p:spPr>
            <a:xfrm>
              <a:off x="3521223" y="2960021"/>
              <a:ext cx="1707514" cy="0"/>
            </a:xfrm>
            <a:custGeom>
              <a:avLst/>
              <a:gdLst/>
              <a:ahLst/>
              <a:cxnLst/>
              <a:rect l="l" t="t" r="r" b="b"/>
              <a:pathLst>
                <a:path w="1707514">
                  <a:moveTo>
                    <a:pt x="0" y="0"/>
                  </a:moveTo>
                  <a:lnTo>
                    <a:pt x="1707124" y="0"/>
                  </a:lnTo>
                </a:path>
              </a:pathLst>
            </a:custGeom>
            <a:ln w="3777">
              <a:solidFill>
                <a:srgbClr val="000000"/>
              </a:solidFill>
              <a:prstDash val="dash"/>
            </a:ln>
          </p:spPr>
          <p:txBody>
            <a:bodyPr wrap="square" lIns="0" tIns="0" rIns="0" bIns="0" rtlCol="0"/>
            <a:lstStyle/>
            <a:p>
              <a:endParaRPr/>
            </a:p>
          </p:txBody>
        </p:sp>
        <p:sp>
          <p:nvSpPr>
            <p:cNvPr id="208" name="object 208"/>
            <p:cNvSpPr/>
            <p:nvPr/>
          </p:nvSpPr>
          <p:spPr>
            <a:xfrm>
              <a:off x="3521224" y="2960021"/>
              <a:ext cx="1707514" cy="0"/>
            </a:xfrm>
            <a:custGeom>
              <a:avLst/>
              <a:gdLst/>
              <a:ahLst/>
              <a:cxnLst/>
              <a:rect l="l" t="t" r="r" b="b"/>
              <a:pathLst>
                <a:path w="1707514">
                  <a:moveTo>
                    <a:pt x="1707124" y="0"/>
                  </a:moveTo>
                  <a:lnTo>
                    <a:pt x="1689941" y="0"/>
                  </a:lnTo>
                </a:path>
                <a:path w="1707514">
                  <a:moveTo>
                    <a:pt x="0" y="0"/>
                  </a:moveTo>
                  <a:lnTo>
                    <a:pt x="17182" y="0"/>
                  </a:lnTo>
                </a:path>
              </a:pathLst>
            </a:custGeom>
            <a:ln w="3776">
              <a:solidFill>
                <a:srgbClr val="000000"/>
              </a:solidFill>
            </a:ln>
          </p:spPr>
          <p:txBody>
            <a:bodyPr wrap="square" lIns="0" tIns="0" rIns="0" bIns="0" rtlCol="0"/>
            <a:lstStyle/>
            <a:p>
              <a:endParaRPr/>
            </a:p>
          </p:txBody>
        </p:sp>
        <p:sp>
          <p:nvSpPr>
            <p:cNvPr id="209" name="object 209"/>
            <p:cNvSpPr/>
            <p:nvPr/>
          </p:nvSpPr>
          <p:spPr>
            <a:xfrm>
              <a:off x="3521223" y="2834465"/>
              <a:ext cx="1707514" cy="0"/>
            </a:xfrm>
            <a:custGeom>
              <a:avLst/>
              <a:gdLst/>
              <a:ahLst/>
              <a:cxnLst/>
              <a:rect l="l" t="t" r="r" b="b"/>
              <a:pathLst>
                <a:path w="1707514">
                  <a:moveTo>
                    <a:pt x="0" y="0"/>
                  </a:moveTo>
                  <a:lnTo>
                    <a:pt x="1707124" y="0"/>
                  </a:lnTo>
                </a:path>
              </a:pathLst>
            </a:custGeom>
            <a:ln w="3777">
              <a:solidFill>
                <a:srgbClr val="000000"/>
              </a:solidFill>
              <a:prstDash val="dash"/>
            </a:ln>
          </p:spPr>
          <p:txBody>
            <a:bodyPr wrap="square" lIns="0" tIns="0" rIns="0" bIns="0" rtlCol="0"/>
            <a:lstStyle/>
            <a:p>
              <a:endParaRPr/>
            </a:p>
          </p:txBody>
        </p:sp>
        <p:sp>
          <p:nvSpPr>
            <p:cNvPr id="210" name="object 210"/>
            <p:cNvSpPr/>
            <p:nvPr/>
          </p:nvSpPr>
          <p:spPr>
            <a:xfrm>
              <a:off x="3521224" y="2834465"/>
              <a:ext cx="1707514" cy="0"/>
            </a:xfrm>
            <a:custGeom>
              <a:avLst/>
              <a:gdLst/>
              <a:ahLst/>
              <a:cxnLst/>
              <a:rect l="l" t="t" r="r" b="b"/>
              <a:pathLst>
                <a:path w="1707514">
                  <a:moveTo>
                    <a:pt x="1707124" y="0"/>
                  </a:moveTo>
                  <a:lnTo>
                    <a:pt x="1689941" y="0"/>
                  </a:lnTo>
                </a:path>
                <a:path w="1707514">
                  <a:moveTo>
                    <a:pt x="0" y="0"/>
                  </a:moveTo>
                  <a:lnTo>
                    <a:pt x="17182" y="0"/>
                  </a:lnTo>
                </a:path>
              </a:pathLst>
            </a:custGeom>
            <a:ln w="3776">
              <a:solidFill>
                <a:srgbClr val="000000"/>
              </a:solidFill>
            </a:ln>
          </p:spPr>
          <p:txBody>
            <a:bodyPr wrap="square" lIns="0" tIns="0" rIns="0" bIns="0" rtlCol="0"/>
            <a:lstStyle/>
            <a:p>
              <a:endParaRPr/>
            </a:p>
          </p:txBody>
        </p:sp>
        <p:sp>
          <p:nvSpPr>
            <p:cNvPr id="211" name="object 211"/>
            <p:cNvSpPr/>
            <p:nvPr/>
          </p:nvSpPr>
          <p:spPr>
            <a:xfrm>
              <a:off x="3521223" y="2708638"/>
              <a:ext cx="1707514" cy="0"/>
            </a:xfrm>
            <a:custGeom>
              <a:avLst/>
              <a:gdLst/>
              <a:ahLst/>
              <a:cxnLst/>
              <a:rect l="l" t="t" r="r" b="b"/>
              <a:pathLst>
                <a:path w="1707514">
                  <a:moveTo>
                    <a:pt x="0" y="0"/>
                  </a:moveTo>
                  <a:lnTo>
                    <a:pt x="1707124" y="0"/>
                  </a:lnTo>
                </a:path>
              </a:pathLst>
            </a:custGeom>
            <a:ln w="3777">
              <a:solidFill>
                <a:srgbClr val="000000"/>
              </a:solidFill>
              <a:prstDash val="dash"/>
            </a:ln>
          </p:spPr>
          <p:txBody>
            <a:bodyPr wrap="square" lIns="0" tIns="0" rIns="0" bIns="0" rtlCol="0"/>
            <a:lstStyle/>
            <a:p>
              <a:endParaRPr/>
            </a:p>
          </p:txBody>
        </p:sp>
        <p:sp>
          <p:nvSpPr>
            <p:cNvPr id="212" name="object 212"/>
            <p:cNvSpPr/>
            <p:nvPr/>
          </p:nvSpPr>
          <p:spPr>
            <a:xfrm>
              <a:off x="3521224" y="2708638"/>
              <a:ext cx="1707514" cy="0"/>
            </a:xfrm>
            <a:custGeom>
              <a:avLst/>
              <a:gdLst/>
              <a:ahLst/>
              <a:cxnLst/>
              <a:rect l="l" t="t" r="r" b="b"/>
              <a:pathLst>
                <a:path w="1707514">
                  <a:moveTo>
                    <a:pt x="1707124" y="0"/>
                  </a:moveTo>
                  <a:lnTo>
                    <a:pt x="1689941" y="0"/>
                  </a:lnTo>
                </a:path>
                <a:path w="1707514">
                  <a:moveTo>
                    <a:pt x="0" y="0"/>
                  </a:moveTo>
                  <a:lnTo>
                    <a:pt x="17182" y="0"/>
                  </a:lnTo>
                </a:path>
              </a:pathLst>
            </a:custGeom>
            <a:ln w="3776">
              <a:solidFill>
                <a:srgbClr val="000000"/>
              </a:solidFill>
            </a:ln>
          </p:spPr>
          <p:txBody>
            <a:bodyPr wrap="square" lIns="0" tIns="0" rIns="0" bIns="0" rtlCol="0"/>
            <a:lstStyle/>
            <a:p>
              <a:endParaRPr/>
            </a:p>
          </p:txBody>
        </p:sp>
        <p:sp>
          <p:nvSpPr>
            <p:cNvPr id="213" name="object 213"/>
            <p:cNvSpPr/>
            <p:nvPr/>
          </p:nvSpPr>
          <p:spPr>
            <a:xfrm>
              <a:off x="3521223" y="2583080"/>
              <a:ext cx="1707514" cy="0"/>
            </a:xfrm>
            <a:custGeom>
              <a:avLst/>
              <a:gdLst/>
              <a:ahLst/>
              <a:cxnLst/>
              <a:rect l="l" t="t" r="r" b="b"/>
              <a:pathLst>
                <a:path w="1707514">
                  <a:moveTo>
                    <a:pt x="0" y="0"/>
                  </a:moveTo>
                  <a:lnTo>
                    <a:pt x="1707124" y="0"/>
                  </a:lnTo>
                </a:path>
              </a:pathLst>
            </a:custGeom>
            <a:ln w="3777">
              <a:solidFill>
                <a:srgbClr val="000000"/>
              </a:solidFill>
              <a:prstDash val="dash"/>
            </a:ln>
          </p:spPr>
          <p:txBody>
            <a:bodyPr wrap="square" lIns="0" tIns="0" rIns="0" bIns="0" rtlCol="0"/>
            <a:lstStyle/>
            <a:p>
              <a:endParaRPr/>
            </a:p>
          </p:txBody>
        </p:sp>
        <p:sp>
          <p:nvSpPr>
            <p:cNvPr id="214" name="object 214"/>
            <p:cNvSpPr/>
            <p:nvPr/>
          </p:nvSpPr>
          <p:spPr>
            <a:xfrm>
              <a:off x="3521224" y="2583080"/>
              <a:ext cx="1707514" cy="0"/>
            </a:xfrm>
            <a:custGeom>
              <a:avLst/>
              <a:gdLst/>
              <a:ahLst/>
              <a:cxnLst/>
              <a:rect l="l" t="t" r="r" b="b"/>
              <a:pathLst>
                <a:path w="1707514">
                  <a:moveTo>
                    <a:pt x="1707124" y="0"/>
                  </a:moveTo>
                  <a:lnTo>
                    <a:pt x="1689941" y="0"/>
                  </a:lnTo>
                </a:path>
                <a:path w="1707514">
                  <a:moveTo>
                    <a:pt x="0" y="0"/>
                  </a:moveTo>
                  <a:lnTo>
                    <a:pt x="17182" y="0"/>
                  </a:lnTo>
                </a:path>
              </a:pathLst>
            </a:custGeom>
            <a:ln w="3776">
              <a:solidFill>
                <a:srgbClr val="000000"/>
              </a:solidFill>
            </a:ln>
          </p:spPr>
          <p:txBody>
            <a:bodyPr wrap="square" lIns="0" tIns="0" rIns="0" bIns="0" rtlCol="0"/>
            <a:lstStyle/>
            <a:p>
              <a:endParaRPr/>
            </a:p>
          </p:txBody>
        </p:sp>
        <p:sp>
          <p:nvSpPr>
            <p:cNvPr id="215" name="object 215"/>
            <p:cNvSpPr/>
            <p:nvPr/>
          </p:nvSpPr>
          <p:spPr>
            <a:xfrm>
              <a:off x="3521223" y="2457251"/>
              <a:ext cx="1707514" cy="0"/>
            </a:xfrm>
            <a:custGeom>
              <a:avLst/>
              <a:gdLst/>
              <a:ahLst/>
              <a:cxnLst/>
              <a:rect l="l" t="t" r="r" b="b"/>
              <a:pathLst>
                <a:path w="1707514">
                  <a:moveTo>
                    <a:pt x="0" y="0"/>
                  </a:moveTo>
                  <a:lnTo>
                    <a:pt x="1707124" y="0"/>
                  </a:lnTo>
                </a:path>
              </a:pathLst>
            </a:custGeom>
            <a:ln w="3777">
              <a:solidFill>
                <a:srgbClr val="000000"/>
              </a:solidFill>
              <a:prstDash val="dash"/>
            </a:ln>
          </p:spPr>
          <p:txBody>
            <a:bodyPr wrap="square" lIns="0" tIns="0" rIns="0" bIns="0" rtlCol="0"/>
            <a:lstStyle/>
            <a:p>
              <a:endParaRPr/>
            </a:p>
          </p:txBody>
        </p:sp>
        <p:sp>
          <p:nvSpPr>
            <p:cNvPr id="216" name="object 216"/>
            <p:cNvSpPr/>
            <p:nvPr/>
          </p:nvSpPr>
          <p:spPr>
            <a:xfrm>
              <a:off x="3521224" y="2457251"/>
              <a:ext cx="1707514" cy="0"/>
            </a:xfrm>
            <a:custGeom>
              <a:avLst/>
              <a:gdLst/>
              <a:ahLst/>
              <a:cxnLst/>
              <a:rect l="l" t="t" r="r" b="b"/>
              <a:pathLst>
                <a:path w="1707514">
                  <a:moveTo>
                    <a:pt x="1707124" y="0"/>
                  </a:moveTo>
                  <a:lnTo>
                    <a:pt x="1689941" y="0"/>
                  </a:lnTo>
                </a:path>
                <a:path w="1707514">
                  <a:moveTo>
                    <a:pt x="0" y="0"/>
                  </a:moveTo>
                  <a:lnTo>
                    <a:pt x="17182" y="0"/>
                  </a:lnTo>
                </a:path>
              </a:pathLst>
            </a:custGeom>
            <a:ln w="3776">
              <a:solidFill>
                <a:srgbClr val="000000"/>
              </a:solidFill>
            </a:ln>
          </p:spPr>
          <p:txBody>
            <a:bodyPr wrap="square" lIns="0" tIns="0" rIns="0" bIns="0" rtlCol="0"/>
            <a:lstStyle/>
            <a:p>
              <a:endParaRPr/>
            </a:p>
          </p:txBody>
        </p:sp>
        <p:sp>
          <p:nvSpPr>
            <p:cNvPr id="217" name="object 217"/>
            <p:cNvSpPr/>
            <p:nvPr/>
          </p:nvSpPr>
          <p:spPr>
            <a:xfrm>
              <a:off x="3521223" y="2331695"/>
              <a:ext cx="1707514" cy="0"/>
            </a:xfrm>
            <a:custGeom>
              <a:avLst/>
              <a:gdLst/>
              <a:ahLst/>
              <a:cxnLst/>
              <a:rect l="l" t="t" r="r" b="b"/>
              <a:pathLst>
                <a:path w="1707514">
                  <a:moveTo>
                    <a:pt x="0" y="0"/>
                  </a:moveTo>
                  <a:lnTo>
                    <a:pt x="1707124" y="0"/>
                  </a:lnTo>
                </a:path>
              </a:pathLst>
            </a:custGeom>
            <a:ln w="3777">
              <a:solidFill>
                <a:srgbClr val="000000"/>
              </a:solidFill>
              <a:prstDash val="dash"/>
            </a:ln>
          </p:spPr>
          <p:txBody>
            <a:bodyPr wrap="square" lIns="0" tIns="0" rIns="0" bIns="0" rtlCol="0"/>
            <a:lstStyle/>
            <a:p>
              <a:endParaRPr/>
            </a:p>
          </p:txBody>
        </p:sp>
        <p:sp>
          <p:nvSpPr>
            <p:cNvPr id="218" name="object 218"/>
            <p:cNvSpPr/>
            <p:nvPr/>
          </p:nvSpPr>
          <p:spPr>
            <a:xfrm>
              <a:off x="3521224" y="2331695"/>
              <a:ext cx="1707514" cy="0"/>
            </a:xfrm>
            <a:custGeom>
              <a:avLst/>
              <a:gdLst/>
              <a:ahLst/>
              <a:cxnLst/>
              <a:rect l="l" t="t" r="r" b="b"/>
              <a:pathLst>
                <a:path w="1707514">
                  <a:moveTo>
                    <a:pt x="1707124" y="0"/>
                  </a:moveTo>
                  <a:lnTo>
                    <a:pt x="1689941" y="0"/>
                  </a:lnTo>
                </a:path>
                <a:path w="1707514">
                  <a:moveTo>
                    <a:pt x="0" y="0"/>
                  </a:moveTo>
                  <a:lnTo>
                    <a:pt x="17182" y="0"/>
                  </a:lnTo>
                </a:path>
              </a:pathLst>
            </a:custGeom>
            <a:ln w="3776">
              <a:solidFill>
                <a:srgbClr val="000000"/>
              </a:solidFill>
            </a:ln>
          </p:spPr>
          <p:txBody>
            <a:bodyPr wrap="square" lIns="0" tIns="0" rIns="0" bIns="0" rtlCol="0"/>
            <a:lstStyle/>
            <a:p>
              <a:endParaRPr/>
            </a:p>
          </p:txBody>
        </p:sp>
        <p:sp>
          <p:nvSpPr>
            <p:cNvPr id="219" name="object 219"/>
            <p:cNvSpPr/>
            <p:nvPr/>
          </p:nvSpPr>
          <p:spPr>
            <a:xfrm>
              <a:off x="3521223" y="2331695"/>
              <a:ext cx="0" cy="1131570"/>
            </a:xfrm>
            <a:custGeom>
              <a:avLst/>
              <a:gdLst/>
              <a:ahLst/>
              <a:cxnLst/>
              <a:rect l="l" t="t" r="r" b="b"/>
              <a:pathLst>
                <a:path h="1131570">
                  <a:moveTo>
                    <a:pt x="0" y="1131096"/>
                  </a:moveTo>
                  <a:lnTo>
                    <a:pt x="0" y="0"/>
                  </a:lnTo>
                </a:path>
              </a:pathLst>
            </a:custGeom>
            <a:ln w="3774">
              <a:solidFill>
                <a:srgbClr val="000000"/>
              </a:solidFill>
              <a:prstDash val="dash"/>
            </a:ln>
          </p:spPr>
          <p:txBody>
            <a:bodyPr wrap="square" lIns="0" tIns="0" rIns="0" bIns="0" rtlCol="0"/>
            <a:lstStyle/>
            <a:p>
              <a:endParaRPr/>
            </a:p>
          </p:txBody>
        </p:sp>
        <p:sp>
          <p:nvSpPr>
            <p:cNvPr id="220" name="object 220"/>
            <p:cNvSpPr/>
            <p:nvPr/>
          </p:nvSpPr>
          <p:spPr>
            <a:xfrm>
              <a:off x="3521223" y="2331695"/>
              <a:ext cx="0" cy="1131570"/>
            </a:xfrm>
            <a:custGeom>
              <a:avLst/>
              <a:gdLst/>
              <a:ahLst/>
              <a:cxnLst/>
              <a:rect l="l" t="t" r="r" b="b"/>
              <a:pathLst>
                <a:path h="1131570">
                  <a:moveTo>
                    <a:pt x="0" y="0"/>
                  </a:moveTo>
                  <a:lnTo>
                    <a:pt x="0" y="17088"/>
                  </a:lnTo>
                </a:path>
                <a:path h="1131570">
                  <a:moveTo>
                    <a:pt x="0" y="1131096"/>
                  </a:moveTo>
                  <a:lnTo>
                    <a:pt x="0" y="1114007"/>
                  </a:lnTo>
                </a:path>
              </a:pathLst>
            </a:custGeom>
            <a:ln w="3776">
              <a:solidFill>
                <a:srgbClr val="000000"/>
              </a:solidFill>
            </a:ln>
          </p:spPr>
          <p:txBody>
            <a:bodyPr wrap="square" lIns="0" tIns="0" rIns="0" bIns="0" rtlCol="0"/>
            <a:lstStyle/>
            <a:p>
              <a:endParaRPr/>
            </a:p>
          </p:txBody>
        </p:sp>
      </p:grpSp>
      <p:sp>
        <p:nvSpPr>
          <p:cNvPr id="221" name="object 221"/>
          <p:cNvSpPr txBox="1"/>
          <p:nvPr/>
        </p:nvSpPr>
        <p:spPr>
          <a:xfrm>
            <a:off x="3451724" y="3299217"/>
            <a:ext cx="59690" cy="71120"/>
          </a:xfrm>
          <a:prstGeom prst="rect">
            <a:avLst/>
          </a:prstGeom>
        </p:spPr>
        <p:txBody>
          <a:bodyPr vert="horz" wrap="square" lIns="0" tIns="12065" rIns="0" bIns="0" rtlCol="0">
            <a:spAutoFit/>
          </a:bodyPr>
          <a:lstStyle/>
          <a:p>
            <a:pPr marL="12700">
              <a:lnSpc>
                <a:spcPct val="100000"/>
              </a:lnSpc>
              <a:spcBef>
                <a:spcPts val="95"/>
              </a:spcBef>
            </a:pPr>
            <a:r>
              <a:rPr sz="300" dirty="0">
                <a:latin typeface="Arial"/>
                <a:cs typeface="Arial"/>
              </a:rPr>
              <a:t>-</a:t>
            </a:r>
            <a:r>
              <a:rPr sz="300" spc="-50" dirty="0">
                <a:latin typeface="Arial"/>
                <a:cs typeface="Arial"/>
              </a:rPr>
              <a:t>3</a:t>
            </a:r>
            <a:endParaRPr sz="300">
              <a:latin typeface="Arial"/>
              <a:cs typeface="Arial"/>
            </a:endParaRPr>
          </a:p>
        </p:txBody>
      </p:sp>
      <p:sp>
        <p:nvSpPr>
          <p:cNvPr id="222" name="object 222"/>
          <p:cNvSpPr txBox="1"/>
          <p:nvPr/>
        </p:nvSpPr>
        <p:spPr>
          <a:xfrm>
            <a:off x="3419859" y="3173427"/>
            <a:ext cx="91440" cy="71120"/>
          </a:xfrm>
          <a:prstGeom prst="rect">
            <a:avLst/>
          </a:prstGeom>
        </p:spPr>
        <p:txBody>
          <a:bodyPr vert="horz" wrap="square" lIns="0" tIns="12065" rIns="0" bIns="0" rtlCol="0">
            <a:spAutoFit/>
          </a:bodyPr>
          <a:lstStyle/>
          <a:p>
            <a:pPr marL="12700">
              <a:lnSpc>
                <a:spcPct val="100000"/>
              </a:lnSpc>
              <a:spcBef>
                <a:spcPts val="95"/>
              </a:spcBef>
            </a:pPr>
            <a:r>
              <a:rPr sz="300" dirty="0">
                <a:latin typeface="Arial"/>
                <a:cs typeface="Arial"/>
              </a:rPr>
              <a:t>-</a:t>
            </a:r>
            <a:r>
              <a:rPr sz="300" spc="-25" dirty="0">
                <a:latin typeface="Arial"/>
                <a:cs typeface="Arial"/>
              </a:rPr>
              <a:t>2.5</a:t>
            </a:r>
            <a:endParaRPr sz="300">
              <a:latin typeface="Arial"/>
              <a:cs typeface="Arial"/>
            </a:endParaRPr>
          </a:p>
        </p:txBody>
      </p:sp>
      <p:sp>
        <p:nvSpPr>
          <p:cNvPr id="223" name="object 223"/>
          <p:cNvSpPr txBox="1"/>
          <p:nvPr/>
        </p:nvSpPr>
        <p:spPr>
          <a:xfrm>
            <a:off x="3451724" y="3047859"/>
            <a:ext cx="59690" cy="71120"/>
          </a:xfrm>
          <a:prstGeom prst="rect">
            <a:avLst/>
          </a:prstGeom>
        </p:spPr>
        <p:txBody>
          <a:bodyPr vert="horz" wrap="square" lIns="0" tIns="12065" rIns="0" bIns="0" rtlCol="0">
            <a:spAutoFit/>
          </a:bodyPr>
          <a:lstStyle/>
          <a:p>
            <a:pPr marL="12700">
              <a:lnSpc>
                <a:spcPct val="100000"/>
              </a:lnSpc>
              <a:spcBef>
                <a:spcPts val="95"/>
              </a:spcBef>
            </a:pPr>
            <a:r>
              <a:rPr sz="300" dirty="0">
                <a:latin typeface="Arial"/>
                <a:cs typeface="Arial"/>
              </a:rPr>
              <a:t>-</a:t>
            </a:r>
            <a:r>
              <a:rPr sz="300" spc="-50" dirty="0">
                <a:latin typeface="Arial"/>
                <a:cs typeface="Arial"/>
              </a:rPr>
              <a:t>2</a:t>
            </a:r>
            <a:endParaRPr sz="300">
              <a:latin typeface="Arial"/>
              <a:cs typeface="Arial"/>
            </a:endParaRPr>
          </a:p>
        </p:txBody>
      </p:sp>
      <p:sp>
        <p:nvSpPr>
          <p:cNvPr id="224" name="object 224"/>
          <p:cNvSpPr txBox="1"/>
          <p:nvPr/>
        </p:nvSpPr>
        <p:spPr>
          <a:xfrm>
            <a:off x="3419859" y="2922018"/>
            <a:ext cx="91440" cy="71120"/>
          </a:xfrm>
          <a:prstGeom prst="rect">
            <a:avLst/>
          </a:prstGeom>
        </p:spPr>
        <p:txBody>
          <a:bodyPr vert="horz" wrap="square" lIns="0" tIns="12065" rIns="0" bIns="0" rtlCol="0">
            <a:spAutoFit/>
          </a:bodyPr>
          <a:lstStyle/>
          <a:p>
            <a:pPr marL="12700">
              <a:lnSpc>
                <a:spcPct val="100000"/>
              </a:lnSpc>
              <a:spcBef>
                <a:spcPts val="95"/>
              </a:spcBef>
            </a:pPr>
            <a:r>
              <a:rPr sz="300" dirty="0">
                <a:latin typeface="Arial"/>
                <a:cs typeface="Arial"/>
              </a:rPr>
              <a:t>-</a:t>
            </a:r>
            <a:r>
              <a:rPr sz="300" spc="-25" dirty="0">
                <a:latin typeface="Arial"/>
                <a:cs typeface="Arial"/>
              </a:rPr>
              <a:t>1.5</a:t>
            </a:r>
            <a:endParaRPr sz="300">
              <a:latin typeface="Arial"/>
              <a:cs typeface="Arial"/>
            </a:endParaRPr>
          </a:p>
        </p:txBody>
      </p:sp>
      <p:sp>
        <p:nvSpPr>
          <p:cNvPr id="225" name="object 225"/>
          <p:cNvSpPr txBox="1"/>
          <p:nvPr/>
        </p:nvSpPr>
        <p:spPr>
          <a:xfrm>
            <a:off x="3451724" y="2796436"/>
            <a:ext cx="59690" cy="71120"/>
          </a:xfrm>
          <a:prstGeom prst="rect">
            <a:avLst/>
          </a:prstGeom>
        </p:spPr>
        <p:txBody>
          <a:bodyPr vert="horz" wrap="square" lIns="0" tIns="12065" rIns="0" bIns="0" rtlCol="0">
            <a:spAutoFit/>
          </a:bodyPr>
          <a:lstStyle/>
          <a:p>
            <a:pPr marL="12700">
              <a:lnSpc>
                <a:spcPct val="100000"/>
              </a:lnSpc>
              <a:spcBef>
                <a:spcPts val="95"/>
              </a:spcBef>
            </a:pPr>
            <a:r>
              <a:rPr sz="300" dirty="0">
                <a:latin typeface="Arial"/>
                <a:cs typeface="Arial"/>
              </a:rPr>
              <a:t>-</a:t>
            </a:r>
            <a:r>
              <a:rPr sz="300" spc="-50" dirty="0">
                <a:latin typeface="Arial"/>
                <a:cs typeface="Arial"/>
              </a:rPr>
              <a:t>1</a:t>
            </a:r>
            <a:endParaRPr sz="300">
              <a:latin typeface="Arial"/>
              <a:cs typeface="Arial"/>
            </a:endParaRPr>
          </a:p>
        </p:txBody>
      </p:sp>
      <p:sp>
        <p:nvSpPr>
          <p:cNvPr id="226" name="object 226"/>
          <p:cNvSpPr txBox="1"/>
          <p:nvPr/>
        </p:nvSpPr>
        <p:spPr>
          <a:xfrm>
            <a:off x="3419859" y="2670638"/>
            <a:ext cx="91440" cy="71120"/>
          </a:xfrm>
          <a:prstGeom prst="rect">
            <a:avLst/>
          </a:prstGeom>
        </p:spPr>
        <p:txBody>
          <a:bodyPr vert="horz" wrap="square" lIns="0" tIns="12065" rIns="0" bIns="0" rtlCol="0">
            <a:spAutoFit/>
          </a:bodyPr>
          <a:lstStyle/>
          <a:p>
            <a:pPr marL="12700">
              <a:lnSpc>
                <a:spcPct val="100000"/>
              </a:lnSpc>
              <a:spcBef>
                <a:spcPts val="95"/>
              </a:spcBef>
            </a:pPr>
            <a:r>
              <a:rPr sz="300" dirty="0">
                <a:latin typeface="Arial"/>
                <a:cs typeface="Arial"/>
              </a:rPr>
              <a:t>-</a:t>
            </a:r>
            <a:r>
              <a:rPr sz="300" spc="-25" dirty="0">
                <a:latin typeface="Arial"/>
                <a:cs typeface="Arial"/>
              </a:rPr>
              <a:t>0.5</a:t>
            </a:r>
            <a:endParaRPr sz="300">
              <a:latin typeface="Arial"/>
              <a:cs typeface="Arial"/>
            </a:endParaRPr>
          </a:p>
        </p:txBody>
      </p:sp>
      <p:sp>
        <p:nvSpPr>
          <p:cNvPr id="227" name="object 227"/>
          <p:cNvSpPr txBox="1"/>
          <p:nvPr/>
        </p:nvSpPr>
        <p:spPr>
          <a:xfrm>
            <a:off x="3464386" y="2545078"/>
            <a:ext cx="46990" cy="71120"/>
          </a:xfrm>
          <a:prstGeom prst="rect">
            <a:avLst/>
          </a:prstGeom>
        </p:spPr>
        <p:txBody>
          <a:bodyPr vert="horz" wrap="square" lIns="0" tIns="12065" rIns="0" bIns="0" rtlCol="0">
            <a:spAutoFit/>
          </a:bodyPr>
          <a:lstStyle/>
          <a:p>
            <a:pPr marL="12700">
              <a:lnSpc>
                <a:spcPct val="100000"/>
              </a:lnSpc>
              <a:spcBef>
                <a:spcPts val="95"/>
              </a:spcBef>
            </a:pPr>
            <a:r>
              <a:rPr sz="300" spc="-50" dirty="0">
                <a:latin typeface="Arial"/>
                <a:cs typeface="Arial"/>
              </a:rPr>
              <a:t>0</a:t>
            </a:r>
            <a:endParaRPr sz="300">
              <a:latin typeface="Arial"/>
              <a:cs typeface="Arial"/>
            </a:endParaRPr>
          </a:p>
        </p:txBody>
      </p:sp>
      <p:sp>
        <p:nvSpPr>
          <p:cNvPr id="228" name="object 228"/>
          <p:cNvSpPr txBox="1"/>
          <p:nvPr/>
        </p:nvSpPr>
        <p:spPr>
          <a:xfrm>
            <a:off x="3432566" y="2419250"/>
            <a:ext cx="78740" cy="71120"/>
          </a:xfrm>
          <a:prstGeom prst="rect">
            <a:avLst/>
          </a:prstGeom>
        </p:spPr>
        <p:txBody>
          <a:bodyPr vert="horz" wrap="square" lIns="0" tIns="12065" rIns="0" bIns="0" rtlCol="0">
            <a:spAutoFit/>
          </a:bodyPr>
          <a:lstStyle/>
          <a:p>
            <a:pPr marL="12700">
              <a:lnSpc>
                <a:spcPct val="100000"/>
              </a:lnSpc>
              <a:spcBef>
                <a:spcPts val="95"/>
              </a:spcBef>
            </a:pPr>
            <a:r>
              <a:rPr sz="300" spc="-25" dirty="0">
                <a:latin typeface="Arial"/>
                <a:cs typeface="Arial"/>
              </a:rPr>
              <a:t>0.5</a:t>
            </a:r>
            <a:endParaRPr sz="300">
              <a:latin typeface="Arial"/>
              <a:cs typeface="Arial"/>
            </a:endParaRPr>
          </a:p>
        </p:txBody>
      </p:sp>
      <p:sp>
        <p:nvSpPr>
          <p:cNvPr id="229" name="object 229"/>
          <p:cNvSpPr txBox="1"/>
          <p:nvPr/>
        </p:nvSpPr>
        <p:spPr>
          <a:xfrm>
            <a:off x="3464386" y="2293683"/>
            <a:ext cx="46990" cy="71120"/>
          </a:xfrm>
          <a:prstGeom prst="rect">
            <a:avLst/>
          </a:prstGeom>
        </p:spPr>
        <p:txBody>
          <a:bodyPr vert="horz" wrap="square" lIns="0" tIns="12065" rIns="0" bIns="0" rtlCol="0">
            <a:spAutoFit/>
          </a:bodyPr>
          <a:lstStyle/>
          <a:p>
            <a:pPr marL="12700">
              <a:lnSpc>
                <a:spcPct val="100000"/>
              </a:lnSpc>
              <a:spcBef>
                <a:spcPts val="95"/>
              </a:spcBef>
            </a:pPr>
            <a:r>
              <a:rPr sz="300" spc="-50" dirty="0">
                <a:latin typeface="Arial"/>
                <a:cs typeface="Arial"/>
              </a:rPr>
              <a:t>1</a:t>
            </a:r>
            <a:endParaRPr sz="300">
              <a:latin typeface="Arial"/>
              <a:cs typeface="Arial"/>
            </a:endParaRPr>
          </a:p>
        </p:txBody>
      </p:sp>
      <p:sp>
        <p:nvSpPr>
          <p:cNvPr id="230" name="object 230"/>
          <p:cNvSpPr txBox="1"/>
          <p:nvPr/>
        </p:nvSpPr>
        <p:spPr>
          <a:xfrm>
            <a:off x="3503210" y="3462757"/>
            <a:ext cx="46990" cy="71120"/>
          </a:xfrm>
          <a:prstGeom prst="rect">
            <a:avLst/>
          </a:prstGeom>
        </p:spPr>
        <p:txBody>
          <a:bodyPr vert="horz" wrap="square" lIns="0" tIns="12065" rIns="0" bIns="0" rtlCol="0">
            <a:spAutoFit/>
          </a:bodyPr>
          <a:lstStyle/>
          <a:p>
            <a:pPr marL="12700">
              <a:lnSpc>
                <a:spcPct val="100000"/>
              </a:lnSpc>
              <a:spcBef>
                <a:spcPts val="95"/>
              </a:spcBef>
            </a:pPr>
            <a:r>
              <a:rPr sz="300" spc="-50" dirty="0">
                <a:latin typeface="Arial"/>
                <a:cs typeface="Arial"/>
              </a:rPr>
              <a:t>0</a:t>
            </a:r>
            <a:endParaRPr sz="300">
              <a:latin typeface="Arial"/>
              <a:cs typeface="Arial"/>
            </a:endParaRPr>
          </a:p>
        </p:txBody>
      </p:sp>
      <p:grpSp>
        <p:nvGrpSpPr>
          <p:cNvPr id="231" name="object 231"/>
          <p:cNvGrpSpPr/>
          <p:nvPr/>
        </p:nvGrpSpPr>
        <p:grpSpPr>
          <a:xfrm>
            <a:off x="3519319" y="2314680"/>
            <a:ext cx="1711325" cy="1150620"/>
            <a:chOff x="3519319" y="2314680"/>
            <a:chExt cx="1711325" cy="1150620"/>
          </a:xfrm>
        </p:grpSpPr>
        <p:sp>
          <p:nvSpPr>
            <p:cNvPr id="232" name="object 232"/>
            <p:cNvSpPr/>
            <p:nvPr/>
          </p:nvSpPr>
          <p:spPr>
            <a:xfrm>
              <a:off x="3713994" y="2331695"/>
              <a:ext cx="0" cy="1131570"/>
            </a:xfrm>
            <a:custGeom>
              <a:avLst/>
              <a:gdLst/>
              <a:ahLst/>
              <a:cxnLst/>
              <a:rect l="l" t="t" r="r" b="b"/>
              <a:pathLst>
                <a:path h="1131570">
                  <a:moveTo>
                    <a:pt x="0" y="1131096"/>
                  </a:moveTo>
                  <a:lnTo>
                    <a:pt x="0" y="0"/>
                  </a:lnTo>
                </a:path>
              </a:pathLst>
            </a:custGeom>
            <a:ln w="3774">
              <a:solidFill>
                <a:srgbClr val="000000"/>
              </a:solidFill>
              <a:prstDash val="dash"/>
            </a:ln>
          </p:spPr>
          <p:txBody>
            <a:bodyPr wrap="square" lIns="0" tIns="0" rIns="0" bIns="0" rtlCol="0"/>
            <a:lstStyle/>
            <a:p>
              <a:endParaRPr/>
            </a:p>
          </p:txBody>
        </p:sp>
        <p:sp>
          <p:nvSpPr>
            <p:cNvPr id="233" name="object 233"/>
            <p:cNvSpPr/>
            <p:nvPr/>
          </p:nvSpPr>
          <p:spPr>
            <a:xfrm>
              <a:off x="3713994" y="2331695"/>
              <a:ext cx="0" cy="1131570"/>
            </a:xfrm>
            <a:custGeom>
              <a:avLst/>
              <a:gdLst/>
              <a:ahLst/>
              <a:cxnLst/>
              <a:rect l="l" t="t" r="r" b="b"/>
              <a:pathLst>
                <a:path h="1131570">
                  <a:moveTo>
                    <a:pt x="0" y="0"/>
                  </a:moveTo>
                  <a:lnTo>
                    <a:pt x="0" y="17088"/>
                  </a:lnTo>
                </a:path>
                <a:path h="1131570">
                  <a:moveTo>
                    <a:pt x="0" y="1131096"/>
                  </a:moveTo>
                  <a:lnTo>
                    <a:pt x="0" y="1114007"/>
                  </a:lnTo>
                </a:path>
              </a:pathLst>
            </a:custGeom>
            <a:ln w="3776">
              <a:solidFill>
                <a:srgbClr val="000000"/>
              </a:solidFill>
            </a:ln>
          </p:spPr>
          <p:txBody>
            <a:bodyPr wrap="square" lIns="0" tIns="0" rIns="0" bIns="0" rtlCol="0"/>
            <a:lstStyle/>
            <a:p>
              <a:endParaRPr/>
            </a:p>
          </p:txBody>
        </p:sp>
        <p:sp>
          <p:nvSpPr>
            <p:cNvPr id="234" name="object 234"/>
            <p:cNvSpPr/>
            <p:nvPr/>
          </p:nvSpPr>
          <p:spPr>
            <a:xfrm>
              <a:off x="3907036" y="2331695"/>
              <a:ext cx="0" cy="1131570"/>
            </a:xfrm>
            <a:custGeom>
              <a:avLst/>
              <a:gdLst/>
              <a:ahLst/>
              <a:cxnLst/>
              <a:rect l="l" t="t" r="r" b="b"/>
              <a:pathLst>
                <a:path h="1131570">
                  <a:moveTo>
                    <a:pt x="0" y="1131096"/>
                  </a:moveTo>
                  <a:lnTo>
                    <a:pt x="0" y="0"/>
                  </a:lnTo>
                </a:path>
              </a:pathLst>
            </a:custGeom>
            <a:ln w="3774">
              <a:solidFill>
                <a:srgbClr val="000000"/>
              </a:solidFill>
              <a:prstDash val="dash"/>
            </a:ln>
          </p:spPr>
          <p:txBody>
            <a:bodyPr wrap="square" lIns="0" tIns="0" rIns="0" bIns="0" rtlCol="0"/>
            <a:lstStyle/>
            <a:p>
              <a:endParaRPr/>
            </a:p>
          </p:txBody>
        </p:sp>
        <p:sp>
          <p:nvSpPr>
            <p:cNvPr id="235" name="object 235"/>
            <p:cNvSpPr/>
            <p:nvPr/>
          </p:nvSpPr>
          <p:spPr>
            <a:xfrm>
              <a:off x="3907036" y="2316585"/>
              <a:ext cx="0" cy="1131570"/>
            </a:xfrm>
            <a:custGeom>
              <a:avLst/>
              <a:gdLst/>
              <a:ahLst/>
              <a:cxnLst/>
              <a:rect l="l" t="t" r="r" b="b"/>
              <a:pathLst>
                <a:path h="1131570">
                  <a:moveTo>
                    <a:pt x="0" y="0"/>
                  </a:moveTo>
                  <a:lnTo>
                    <a:pt x="0" y="17088"/>
                  </a:lnTo>
                </a:path>
                <a:path h="1131570">
                  <a:moveTo>
                    <a:pt x="0" y="1131096"/>
                  </a:moveTo>
                  <a:lnTo>
                    <a:pt x="0" y="1114007"/>
                  </a:lnTo>
                </a:path>
              </a:pathLst>
            </a:custGeom>
            <a:ln w="3776">
              <a:solidFill>
                <a:srgbClr val="000000"/>
              </a:solidFill>
            </a:ln>
          </p:spPr>
          <p:txBody>
            <a:bodyPr wrap="square" lIns="0" tIns="0" rIns="0" bIns="0" rtlCol="0"/>
            <a:lstStyle/>
            <a:p>
              <a:endParaRPr/>
            </a:p>
          </p:txBody>
        </p:sp>
        <p:sp>
          <p:nvSpPr>
            <p:cNvPr id="236" name="object 236"/>
            <p:cNvSpPr/>
            <p:nvPr/>
          </p:nvSpPr>
          <p:spPr>
            <a:xfrm>
              <a:off x="4099807" y="2331695"/>
              <a:ext cx="0" cy="1131570"/>
            </a:xfrm>
            <a:custGeom>
              <a:avLst/>
              <a:gdLst/>
              <a:ahLst/>
              <a:cxnLst/>
              <a:rect l="l" t="t" r="r" b="b"/>
              <a:pathLst>
                <a:path h="1131570">
                  <a:moveTo>
                    <a:pt x="0" y="1131096"/>
                  </a:moveTo>
                  <a:lnTo>
                    <a:pt x="0" y="0"/>
                  </a:lnTo>
                </a:path>
              </a:pathLst>
            </a:custGeom>
            <a:ln w="3774">
              <a:solidFill>
                <a:srgbClr val="000000"/>
              </a:solidFill>
              <a:prstDash val="dash"/>
            </a:ln>
          </p:spPr>
          <p:txBody>
            <a:bodyPr wrap="square" lIns="0" tIns="0" rIns="0" bIns="0" rtlCol="0"/>
            <a:lstStyle/>
            <a:p>
              <a:endParaRPr/>
            </a:p>
          </p:txBody>
        </p:sp>
        <p:sp>
          <p:nvSpPr>
            <p:cNvPr id="237" name="object 237"/>
            <p:cNvSpPr/>
            <p:nvPr/>
          </p:nvSpPr>
          <p:spPr>
            <a:xfrm>
              <a:off x="4099807" y="2331695"/>
              <a:ext cx="0" cy="1131570"/>
            </a:xfrm>
            <a:custGeom>
              <a:avLst/>
              <a:gdLst/>
              <a:ahLst/>
              <a:cxnLst/>
              <a:rect l="l" t="t" r="r" b="b"/>
              <a:pathLst>
                <a:path h="1131570">
                  <a:moveTo>
                    <a:pt x="0" y="0"/>
                  </a:moveTo>
                  <a:lnTo>
                    <a:pt x="0" y="17088"/>
                  </a:lnTo>
                </a:path>
                <a:path h="1131570">
                  <a:moveTo>
                    <a:pt x="0" y="1131096"/>
                  </a:moveTo>
                  <a:lnTo>
                    <a:pt x="0" y="1114007"/>
                  </a:lnTo>
                </a:path>
              </a:pathLst>
            </a:custGeom>
            <a:ln w="3776">
              <a:solidFill>
                <a:srgbClr val="000000"/>
              </a:solidFill>
            </a:ln>
          </p:spPr>
          <p:txBody>
            <a:bodyPr wrap="square" lIns="0" tIns="0" rIns="0" bIns="0" rtlCol="0"/>
            <a:lstStyle/>
            <a:p>
              <a:endParaRPr/>
            </a:p>
          </p:txBody>
        </p:sp>
        <p:sp>
          <p:nvSpPr>
            <p:cNvPr id="238" name="object 238"/>
            <p:cNvSpPr/>
            <p:nvPr/>
          </p:nvSpPr>
          <p:spPr>
            <a:xfrm>
              <a:off x="4292851" y="2331695"/>
              <a:ext cx="0" cy="1131570"/>
            </a:xfrm>
            <a:custGeom>
              <a:avLst/>
              <a:gdLst/>
              <a:ahLst/>
              <a:cxnLst/>
              <a:rect l="l" t="t" r="r" b="b"/>
              <a:pathLst>
                <a:path h="1131570">
                  <a:moveTo>
                    <a:pt x="0" y="1131096"/>
                  </a:moveTo>
                  <a:lnTo>
                    <a:pt x="0" y="0"/>
                  </a:lnTo>
                </a:path>
              </a:pathLst>
            </a:custGeom>
            <a:ln w="3774">
              <a:solidFill>
                <a:srgbClr val="000000"/>
              </a:solidFill>
              <a:prstDash val="dash"/>
            </a:ln>
          </p:spPr>
          <p:txBody>
            <a:bodyPr wrap="square" lIns="0" tIns="0" rIns="0" bIns="0" rtlCol="0"/>
            <a:lstStyle/>
            <a:p>
              <a:endParaRPr/>
            </a:p>
          </p:txBody>
        </p:sp>
        <p:sp>
          <p:nvSpPr>
            <p:cNvPr id="239" name="object 239"/>
            <p:cNvSpPr/>
            <p:nvPr/>
          </p:nvSpPr>
          <p:spPr>
            <a:xfrm>
              <a:off x="4292851" y="2331695"/>
              <a:ext cx="0" cy="1131570"/>
            </a:xfrm>
            <a:custGeom>
              <a:avLst/>
              <a:gdLst/>
              <a:ahLst/>
              <a:cxnLst/>
              <a:rect l="l" t="t" r="r" b="b"/>
              <a:pathLst>
                <a:path h="1131570">
                  <a:moveTo>
                    <a:pt x="0" y="0"/>
                  </a:moveTo>
                  <a:lnTo>
                    <a:pt x="0" y="17088"/>
                  </a:lnTo>
                </a:path>
                <a:path h="1131570">
                  <a:moveTo>
                    <a:pt x="0" y="1131096"/>
                  </a:moveTo>
                  <a:lnTo>
                    <a:pt x="0" y="1114007"/>
                  </a:lnTo>
                </a:path>
              </a:pathLst>
            </a:custGeom>
            <a:ln w="3776">
              <a:solidFill>
                <a:srgbClr val="000000"/>
              </a:solidFill>
            </a:ln>
          </p:spPr>
          <p:txBody>
            <a:bodyPr wrap="square" lIns="0" tIns="0" rIns="0" bIns="0" rtlCol="0"/>
            <a:lstStyle/>
            <a:p>
              <a:endParaRPr/>
            </a:p>
          </p:txBody>
        </p:sp>
        <p:sp>
          <p:nvSpPr>
            <p:cNvPr id="240" name="object 240"/>
            <p:cNvSpPr/>
            <p:nvPr/>
          </p:nvSpPr>
          <p:spPr>
            <a:xfrm>
              <a:off x="4485622" y="2331691"/>
              <a:ext cx="0" cy="1131570"/>
            </a:xfrm>
            <a:custGeom>
              <a:avLst/>
              <a:gdLst/>
              <a:ahLst/>
              <a:cxnLst/>
              <a:rect l="l" t="t" r="r" b="b"/>
              <a:pathLst>
                <a:path h="1131570">
                  <a:moveTo>
                    <a:pt x="0" y="17088"/>
                  </a:moveTo>
                  <a:lnTo>
                    <a:pt x="0" y="0"/>
                  </a:lnTo>
                </a:path>
                <a:path h="1131570">
                  <a:moveTo>
                    <a:pt x="0" y="1131096"/>
                  </a:moveTo>
                  <a:lnTo>
                    <a:pt x="0" y="55058"/>
                  </a:lnTo>
                </a:path>
              </a:pathLst>
            </a:custGeom>
            <a:ln w="3776">
              <a:solidFill>
                <a:srgbClr val="000000"/>
              </a:solidFill>
              <a:prstDash val="dash"/>
            </a:ln>
          </p:spPr>
          <p:txBody>
            <a:bodyPr wrap="square" lIns="0" tIns="0" rIns="0" bIns="0" rtlCol="0"/>
            <a:lstStyle/>
            <a:p>
              <a:endParaRPr/>
            </a:p>
          </p:txBody>
        </p:sp>
        <p:sp>
          <p:nvSpPr>
            <p:cNvPr id="241" name="object 241"/>
            <p:cNvSpPr/>
            <p:nvPr/>
          </p:nvSpPr>
          <p:spPr>
            <a:xfrm>
              <a:off x="4485622" y="2331695"/>
              <a:ext cx="0" cy="1131570"/>
            </a:xfrm>
            <a:custGeom>
              <a:avLst/>
              <a:gdLst/>
              <a:ahLst/>
              <a:cxnLst/>
              <a:rect l="l" t="t" r="r" b="b"/>
              <a:pathLst>
                <a:path h="1131570">
                  <a:moveTo>
                    <a:pt x="0" y="0"/>
                  </a:moveTo>
                  <a:lnTo>
                    <a:pt x="0" y="17088"/>
                  </a:lnTo>
                </a:path>
                <a:path h="1131570">
                  <a:moveTo>
                    <a:pt x="0" y="1131096"/>
                  </a:moveTo>
                  <a:lnTo>
                    <a:pt x="0" y="1114007"/>
                  </a:lnTo>
                </a:path>
              </a:pathLst>
            </a:custGeom>
            <a:ln w="3776">
              <a:solidFill>
                <a:srgbClr val="000000"/>
              </a:solidFill>
            </a:ln>
          </p:spPr>
          <p:txBody>
            <a:bodyPr wrap="square" lIns="0" tIns="0" rIns="0" bIns="0" rtlCol="0"/>
            <a:lstStyle/>
            <a:p>
              <a:endParaRPr/>
            </a:p>
          </p:txBody>
        </p:sp>
        <p:sp>
          <p:nvSpPr>
            <p:cNvPr id="242" name="object 242"/>
            <p:cNvSpPr/>
            <p:nvPr/>
          </p:nvSpPr>
          <p:spPr>
            <a:xfrm>
              <a:off x="4678664" y="2331691"/>
              <a:ext cx="0" cy="1131570"/>
            </a:xfrm>
            <a:custGeom>
              <a:avLst/>
              <a:gdLst/>
              <a:ahLst/>
              <a:cxnLst/>
              <a:rect l="l" t="t" r="r" b="b"/>
              <a:pathLst>
                <a:path h="1131570">
                  <a:moveTo>
                    <a:pt x="0" y="17088"/>
                  </a:moveTo>
                  <a:lnTo>
                    <a:pt x="0" y="0"/>
                  </a:lnTo>
                </a:path>
                <a:path h="1131570">
                  <a:moveTo>
                    <a:pt x="0" y="1131096"/>
                  </a:moveTo>
                  <a:lnTo>
                    <a:pt x="0" y="55058"/>
                  </a:lnTo>
                </a:path>
              </a:pathLst>
            </a:custGeom>
            <a:ln w="3776">
              <a:solidFill>
                <a:srgbClr val="000000"/>
              </a:solidFill>
              <a:prstDash val="dash"/>
            </a:ln>
          </p:spPr>
          <p:txBody>
            <a:bodyPr wrap="square" lIns="0" tIns="0" rIns="0" bIns="0" rtlCol="0"/>
            <a:lstStyle/>
            <a:p>
              <a:endParaRPr/>
            </a:p>
          </p:txBody>
        </p:sp>
        <p:sp>
          <p:nvSpPr>
            <p:cNvPr id="243" name="object 243"/>
            <p:cNvSpPr/>
            <p:nvPr/>
          </p:nvSpPr>
          <p:spPr>
            <a:xfrm>
              <a:off x="4678664" y="2331695"/>
              <a:ext cx="0" cy="1131570"/>
            </a:xfrm>
            <a:custGeom>
              <a:avLst/>
              <a:gdLst/>
              <a:ahLst/>
              <a:cxnLst/>
              <a:rect l="l" t="t" r="r" b="b"/>
              <a:pathLst>
                <a:path h="1131570">
                  <a:moveTo>
                    <a:pt x="0" y="0"/>
                  </a:moveTo>
                  <a:lnTo>
                    <a:pt x="0" y="17088"/>
                  </a:lnTo>
                </a:path>
                <a:path h="1131570">
                  <a:moveTo>
                    <a:pt x="0" y="1131096"/>
                  </a:moveTo>
                  <a:lnTo>
                    <a:pt x="0" y="1114007"/>
                  </a:lnTo>
                </a:path>
              </a:pathLst>
            </a:custGeom>
            <a:ln w="3776">
              <a:solidFill>
                <a:srgbClr val="000000"/>
              </a:solidFill>
            </a:ln>
          </p:spPr>
          <p:txBody>
            <a:bodyPr wrap="square" lIns="0" tIns="0" rIns="0" bIns="0" rtlCol="0"/>
            <a:lstStyle/>
            <a:p>
              <a:endParaRPr/>
            </a:p>
          </p:txBody>
        </p:sp>
        <p:sp>
          <p:nvSpPr>
            <p:cNvPr id="244" name="object 244"/>
            <p:cNvSpPr/>
            <p:nvPr/>
          </p:nvSpPr>
          <p:spPr>
            <a:xfrm>
              <a:off x="4871435" y="2331691"/>
              <a:ext cx="0" cy="1131570"/>
            </a:xfrm>
            <a:custGeom>
              <a:avLst/>
              <a:gdLst/>
              <a:ahLst/>
              <a:cxnLst/>
              <a:rect l="l" t="t" r="r" b="b"/>
              <a:pathLst>
                <a:path h="1131570">
                  <a:moveTo>
                    <a:pt x="0" y="17088"/>
                  </a:moveTo>
                  <a:lnTo>
                    <a:pt x="0" y="0"/>
                  </a:lnTo>
                </a:path>
                <a:path h="1131570">
                  <a:moveTo>
                    <a:pt x="0" y="1131096"/>
                  </a:moveTo>
                  <a:lnTo>
                    <a:pt x="0" y="55058"/>
                  </a:lnTo>
                </a:path>
              </a:pathLst>
            </a:custGeom>
            <a:ln w="3776">
              <a:solidFill>
                <a:srgbClr val="000000"/>
              </a:solidFill>
              <a:prstDash val="dash"/>
            </a:ln>
          </p:spPr>
          <p:txBody>
            <a:bodyPr wrap="square" lIns="0" tIns="0" rIns="0" bIns="0" rtlCol="0"/>
            <a:lstStyle/>
            <a:p>
              <a:endParaRPr/>
            </a:p>
          </p:txBody>
        </p:sp>
        <p:sp>
          <p:nvSpPr>
            <p:cNvPr id="245" name="object 245"/>
            <p:cNvSpPr/>
            <p:nvPr/>
          </p:nvSpPr>
          <p:spPr>
            <a:xfrm>
              <a:off x="4871435" y="2331695"/>
              <a:ext cx="0" cy="1131570"/>
            </a:xfrm>
            <a:custGeom>
              <a:avLst/>
              <a:gdLst/>
              <a:ahLst/>
              <a:cxnLst/>
              <a:rect l="l" t="t" r="r" b="b"/>
              <a:pathLst>
                <a:path h="1131570">
                  <a:moveTo>
                    <a:pt x="0" y="0"/>
                  </a:moveTo>
                  <a:lnTo>
                    <a:pt x="0" y="17088"/>
                  </a:lnTo>
                </a:path>
                <a:path h="1131570">
                  <a:moveTo>
                    <a:pt x="0" y="1131096"/>
                  </a:moveTo>
                  <a:lnTo>
                    <a:pt x="0" y="1114007"/>
                  </a:lnTo>
                </a:path>
              </a:pathLst>
            </a:custGeom>
            <a:ln w="3776">
              <a:solidFill>
                <a:srgbClr val="000000"/>
              </a:solidFill>
            </a:ln>
          </p:spPr>
          <p:txBody>
            <a:bodyPr wrap="square" lIns="0" tIns="0" rIns="0" bIns="0" rtlCol="0"/>
            <a:lstStyle/>
            <a:p>
              <a:endParaRPr/>
            </a:p>
          </p:txBody>
        </p:sp>
        <p:sp>
          <p:nvSpPr>
            <p:cNvPr id="246" name="object 246"/>
            <p:cNvSpPr/>
            <p:nvPr/>
          </p:nvSpPr>
          <p:spPr>
            <a:xfrm>
              <a:off x="5064479" y="2331691"/>
              <a:ext cx="0" cy="1131570"/>
            </a:xfrm>
            <a:custGeom>
              <a:avLst/>
              <a:gdLst/>
              <a:ahLst/>
              <a:cxnLst/>
              <a:rect l="l" t="t" r="r" b="b"/>
              <a:pathLst>
                <a:path h="1131570">
                  <a:moveTo>
                    <a:pt x="0" y="17088"/>
                  </a:moveTo>
                  <a:lnTo>
                    <a:pt x="0" y="0"/>
                  </a:lnTo>
                </a:path>
                <a:path h="1131570">
                  <a:moveTo>
                    <a:pt x="0" y="1131096"/>
                  </a:moveTo>
                  <a:lnTo>
                    <a:pt x="0" y="55058"/>
                  </a:lnTo>
                </a:path>
              </a:pathLst>
            </a:custGeom>
            <a:ln w="3776">
              <a:solidFill>
                <a:srgbClr val="000000"/>
              </a:solidFill>
              <a:prstDash val="dash"/>
            </a:ln>
          </p:spPr>
          <p:txBody>
            <a:bodyPr wrap="square" lIns="0" tIns="0" rIns="0" bIns="0" rtlCol="0"/>
            <a:lstStyle/>
            <a:p>
              <a:endParaRPr/>
            </a:p>
          </p:txBody>
        </p:sp>
        <p:sp>
          <p:nvSpPr>
            <p:cNvPr id="247" name="object 247"/>
            <p:cNvSpPr/>
            <p:nvPr/>
          </p:nvSpPr>
          <p:spPr>
            <a:xfrm>
              <a:off x="5064479" y="2331695"/>
              <a:ext cx="0" cy="1131570"/>
            </a:xfrm>
            <a:custGeom>
              <a:avLst/>
              <a:gdLst/>
              <a:ahLst/>
              <a:cxnLst/>
              <a:rect l="l" t="t" r="r" b="b"/>
              <a:pathLst>
                <a:path h="1131570">
                  <a:moveTo>
                    <a:pt x="0" y="0"/>
                  </a:moveTo>
                  <a:lnTo>
                    <a:pt x="0" y="17088"/>
                  </a:lnTo>
                </a:path>
                <a:path h="1131570">
                  <a:moveTo>
                    <a:pt x="0" y="1131096"/>
                  </a:moveTo>
                  <a:lnTo>
                    <a:pt x="0" y="1114007"/>
                  </a:lnTo>
                </a:path>
              </a:pathLst>
            </a:custGeom>
            <a:ln w="3776">
              <a:solidFill>
                <a:srgbClr val="000000"/>
              </a:solidFill>
            </a:ln>
          </p:spPr>
          <p:txBody>
            <a:bodyPr wrap="square" lIns="0" tIns="0" rIns="0" bIns="0" rtlCol="0"/>
            <a:lstStyle/>
            <a:p>
              <a:endParaRPr/>
            </a:p>
          </p:txBody>
        </p:sp>
        <p:sp>
          <p:nvSpPr>
            <p:cNvPr id="248" name="object 248"/>
            <p:cNvSpPr/>
            <p:nvPr/>
          </p:nvSpPr>
          <p:spPr>
            <a:xfrm>
              <a:off x="3521224" y="2331702"/>
              <a:ext cx="1707514" cy="1131570"/>
            </a:xfrm>
            <a:custGeom>
              <a:avLst/>
              <a:gdLst/>
              <a:ahLst/>
              <a:cxnLst/>
              <a:rect l="l" t="t" r="r" b="b"/>
              <a:pathLst>
                <a:path w="1707514" h="1131570">
                  <a:moveTo>
                    <a:pt x="0" y="1131096"/>
                  </a:moveTo>
                  <a:lnTo>
                    <a:pt x="1707124" y="1131096"/>
                  </a:lnTo>
                  <a:lnTo>
                    <a:pt x="1707124" y="0"/>
                  </a:lnTo>
                  <a:lnTo>
                    <a:pt x="0" y="0"/>
                  </a:lnTo>
                  <a:lnTo>
                    <a:pt x="0" y="1131096"/>
                  </a:lnTo>
                  <a:close/>
                </a:path>
              </a:pathLst>
            </a:custGeom>
            <a:ln w="3776">
              <a:solidFill>
                <a:srgbClr val="000000"/>
              </a:solidFill>
            </a:ln>
          </p:spPr>
          <p:txBody>
            <a:bodyPr wrap="square" lIns="0" tIns="0" rIns="0" bIns="0" rtlCol="0"/>
            <a:lstStyle/>
            <a:p>
              <a:endParaRPr/>
            </a:p>
          </p:txBody>
        </p:sp>
      </p:grpSp>
      <p:sp>
        <p:nvSpPr>
          <p:cNvPr id="249" name="object 249"/>
          <p:cNvSpPr txBox="1"/>
          <p:nvPr/>
        </p:nvSpPr>
        <p:spPr>
          <a:xfrm>
            <a:off x="3335921" y="2835130"/>
            <a:ext cx="68580" cy="125095"/>
          </a:xfrm>
          <a:prstGeom prst="rect">
            <a:avLst/>
          </a:prstGeom>
        </p:spPr>
        <p:txBody>
          <a:bodyPr vert="vert270" wrap="square" lIns="0" tIns="8890" rIns="0" bIns="0" rtlCol="0">
            <a:spAutoFit/>
          </a:bodyPr>
          <a:lstStyle/>
          <a:p>
            <a:pPr marL="12700">
              <a:lnSpc>
                <a:spcPct val="100000"/>
              </a:lnSpc>
              <a:spcBef>
                <a:spcPts val="70"/>
              </a:spcBef>
            </a:pPr>
            <a:r>
              <a:rPr sz="300" spc="-20" dirty="0">
                <a:latin typeface="Arial"/>
                <a:cs typeface="Arial"/>
              </a:rPr>
              <a:t>Score</a:t>
            </a:r>
            <a:endParaRPr sz="300">
              <a:latin typeface="Arial"/>
              <a:cs typeface="Arial"/>
            </a:endParaRPr>
          </a:p>
        </p:txBody>
      </p:sp>
      <p:sp>
        <p:nvSpPr>
          <p:cNvPr id="250" name="object 250"/>
          <p:cNvSpPr txBox="1"/>
          <p:nvPr/>
        </p:nvSpPr>
        <p:spPr>
          <a:xfrm>
            <a:off x="4584164" y="2329726"/>
            <a:ext cx="480059" cy="71120"/>
          </a:xfrm>
          <a:prstGeom prst="rect">
            <a:avLst/>
          </a:prstGeom>
        </p:spPr>
        <p:txBody>
          <a:bodyPr vert="horz" wrap="square" lIns="0" tIns="12065" rIns="0" bIns="0" rtlCol="0">
            <a:spAutoFit/>
          </a:bodyPr>
          <a:lstStyle/>
          <a:p>
            <a:pPr marL="12700">
              <a:lnSpc>
                <a:spcPct val="100000"/>
              </a:lnSpc>
              <a:spcBef>
                <a:spcPts val="95"/>
              </a:spcBef>
            </a:pPr>
            <a:r>
              <a:rPr sz="300" dirty="0">
                <a:latin typeface="Arial"/>
                <a:cs typeface="Arial"/>
              </a:rPr>
              <a:t>Hydropath. /</a:t>
            </a:r>
            <a:r>
              <a:rPr sz="300" spc="5" dirty="0">
                <a:latin typeface="Arial"/>
                <a:cs typeface="Arial"/>
              </a:rPr>
              <a:t> </a:t>
            </a:r>
            <a:r>
              <a:rPr sz="300" dirty="0">
                <a:latin typeface="Arial"/>
                <a:cs typeface="Arial"/>
              </a:rPr>
              <a:t>Kyte</a:t>
            </a:r>
            <a:r>
              <a:rPr sz="300" spc="90" dirty="0">
                <a:latin typeface="Arial"/>
                <a:cs typeface="Arial"/>
              </a:rPr>
              <a:t> </a:t>
            </a:r>
            <a:r>
              <a:rPr sz="300" spc="-10" dirty="0">
                <a:latin typeface="Arial"/>
                <a:cs typeface="Arial"/>
              </a:rPr>
              <a:t>Doolittle</a:t>
            </a:r>
            <a:endParaRPr sz="300">
              <a:latin typeface="Arial"/>
              <a:cs typeface="Arial"/>
            </a:endParaRPr>
          </a:p>
        </p:txBody>
      </p:sp>
      <p:grpSp>
        <p:nvGrpSpPr>
          <p:cNvPr id="251" name="object 251"/>
          <p:cNvGrpSpPr/>
          <p:nvPr/>
        </p:nvGrpSpPr>
        <p:grpSpPr>
          <a:xfrm>
            <a:off x="3519319" y="2329797"/>
            <a:ext cx="1711325" cy="1135380"/>
            <a:chOff x="3519319" y="2329797"/>
            <a:chExt cx="1711325" cy="1135380"/>
          </a:xfrm>
        </p:grpSpPr>
        <p:sp>
          <p:nvSpPr>
            <p:cNvPr id="252" name="object 252"/>
            <p:cNvSpPr/>
            <p:nvPr/>
          </p:nvSpPr>
          <p:spPr>
            <a:xfrm>
              <a:off x="3569483" y="2367769"/>
              <a:ext cx="1613535" cy="1013460"/>
            </a:xfrm>
            <a:custGeom>
              <a:avLst/>
              <a:gdLst/>
              <a:ahLst/>
              <a:cxnLst/>
              <a:rect l="l" t="t" r="r" b="b"/>
              <a:pathLst>
                <a:path w="1613535" h="1013460">
                  <a:moveTo>
                    <a:pt x="0" y="718894"/>
                  </a:moveTo>
                  <a:lnTo>
                    <a:pt x="9542" y="707230"/>
                  </a:lnTo>
                  <a:lnTo>
                    <a:pt x="19357" y="612856"/>
                  </a:lnTo>
                  <a:lnTo>
                    <a:pt x="28899" y="559444"/>
                  </a:lnTo>
                  <a:lnTo>
                    <a:pt x="38442" y="524193"/>
                  </a:lnTo>
                  <a:lnTo>
                    <a:pt x="48256" y="514689"/>
                  </a:lnTo>
                  <a:lnTo>
                    <a:pt x="57799" y="482703"/>
                  </a:lnTo>
                  <a:lnTo>
                    <a:pt x="67342" y="523377"/>
                  </a:lnTo>
                  <a:lnTo>
                    <a:pt x="77156" y="587910"/>
                  </a:lnTo>
                  <a:lnTo>
                    <a:pt x="86699" y="608791"/>
                  </a:lnTo>
                  <a:lnTo>
                    <a:pt x="96528" y="655162"/>
                  </a:lnTo>
                  <a:lnTo>
                    <a:pt x="106071" y="686892"/>
                  </a:lnTo>
                  <a:lnTo>
                    <a:pt x="115614" y="773938"/>
                  </a:lnTo>
                  <a:lnTo>
                    <a:pt x="125428" y="786146"/>
                  </a:lnTo>
                  <a:lnTo>
                    <a:pt x="134971" y="818420"/>
                  </a:lnTo>
                  <a:lnTo>
                    <a:pt x="144513" y="816789"/>
                  </a:lnTo>
                  <a:lnTo>
                    <a:pt x="154328" y="760929"/>
                  </a:lnTo>
                  <a:lnTo>
                    <a:pt x="163871" y="648121"/>
                  </a:lnTo>
                  <a:lnTo>
                    <a:pt x="173685" y="525266"/>
                  </a:lnTo>
                  <a:lnTo>
                    <a:pt x="183228" y="415435"/>
                  </a:lnTo>
                  <a:lnTo>
                    <a:pt x="192770" y="284738"/>
                  </a:lnTo>
                  <a:lnTo>
                    <a:pt x="202585" y="241071"/>
                  </a:lnTo>
                  <a:lnTo>
                    <a:pt x="212127" y="273617"/>
                  </a:lnTo>
                  <a:lnTo>
                    <a:pt x="221670" y="314020"/>
                  </a:lnTo>
                  <a:lnTo>
                    <a:pt x="231484" y="397545"/>
                  </a:lnTo>
                  <a:lnTo>
                    <a:pt x="241027" y="510897"/>
                  </a:lnTo>
                  <a:lnTo>
                    <a:pt x="250842" y="573813"/>
                  </a:lnTo>
                  <a:lnTo>
                    <a:pt x="260384" y="576517"/>
                  </a:lnTo>
                  <a:lnTo>
                    <a:pt x="269927" y="590358"/>
                  </a:lnTo>
                  <a:lnTo>
                    <a:pt x="279741" y="644314"/>
                  </a:lnTo>
                  <a:lnTo>
                    <a:pt x="289299" y="641881"/>
                  </a:lnTo>
                  <a:lnTo>
                    <a:pt x="298842" y="625064"/>
                  </a:lnTo>
                  <a:lnTo>
                    <a:pt x="308656" y="696925"/>
                  </a:lnTo>
                  <a:lnTo>
                    <a:pt x="318199" y="754145"/>
                  </a:lnTo>
                  <a:lnTo>
                    <a:pt x="328013" y="757408"/>
                  </a:lnTo>
                  <a:lnTo>
                    <a:pt x="337556" y="750896"/>
                  </a:lnTo>
                  <a:lnTo>
                    <a:pt x="347099" y="778818"/>
                  </a:lnTo>
                  <a:lnTo>
                    <a:pt x="356913" y="767441"/>
                  </a:lnTo>
                  <a:lnTo>
                    <a:pt x="366456" y="709677"/>
                  </a:lnTo>
                  <a:lnTo>
                    <a:pt x="375998" y="623976"/>
                  </a:lnTo>
                  <a:lnTo>
                    <a:pt x="385813" y="594422"/>
                  </a:lnTo>
                  <a:lnTo>
                    <a:pt x="395356" y="545075"/>
                  </a:lnTo>
                  <a:lnTo>
                    <a:pt x="405170" y="444732"/>
                  </a:lnTo>
                  <a:lnTo>
                    <a:pt x="414713" y="379913"/>
                  </a:lnTo>
                  <a:lnTo>
                    <a:pt x="424255" y="368792"/>
                  </a:lnTo>
                  <a:lnTo>
                    <a:pt x="434070" y="372600"/>
                  </a:lnTo>
                  <a:lnTo>
                    <a:pt x="443612" y="368535"/>
                  </a:lnTo>
                  <a:lnTo>
                    <a:pt x="453155" y="470494"/>
                  </a:lnTo>
                  <a:lnTo>
                    <a:pt x="462969" y="588454"/>
                  </a:lnTo>
                  <a:lnTo>
                    <a:pt x="472512" y="665467"/>
                  </a:lnTo>
                  <a:lnTo>
                    <a:pt x="482342" y="712654"/>
                  </a:lnTo>
                  <a:lnTo>
                    <a:pt x="491884" y="785875"/>
                  </a:lnTo>
                  <a:lnTo>
                    <a:pt x="501427" y="811636"/>
                  </a:lnTo>
                  <a:lnTo>
                    <a:pt x="511241" y="769602"/>
                  </a:lnTo>
                  <a:lnTo>
                    <a:pt x="520784" y="788322"/>
                  </a:lnTo>
                  <a:lnTo>
                    <a:pt x="530327" y="789123"/>
                  </a:lnTo>
                  <a:lnTo>
                    <a:pt x="540141" y="764177"/>
                  </a:lnTo>
                  <a:lnTo>
                    <a:pt x="549684" y="709949"/>
                  </a:lnTo>
                  <a:lnTo>
                    <a:pt x="559227" y="677403"/>
                  </a:lnTo>
                  <a:lnTo>
                    <a:pt x="569041" y="644042"/>
                  </a:lnTo>
                  <a:lnTo>
                    <a:pt x="578584" y="580325"/>
                  </a:lnTo>
                  <a:lnTo>
                    <a:pt x="588398" y="563780"/>
                  </a:lnTo>
                  <a:lnTo>
                    <a:pt x="597941" y="594422"/>
                  </a:lnTo>
                  <a:lnTo>
                    <a:pt x="607483" y="594694"/>
                  </a:lnTo>
                  <a:lnTo>
                    <a:pt x="617298" y="623704"/>
                  </a:lnTo>
                  <a:lnTo>
                    <a:pt x="626841" y="673067"/>
                  </a:lnTo>
                  <a:lnTo>
                    <a:pt x="636383" y="693132"/>
                  </a:lnTo>
                  <a:lnTo>
                    <a:pt x="646198" y="668187"/>
                  </a:lnTo>
                  <a:lnTo>
                    <a:pt x="655740" y="613944"/>
                  </a:lnTo>
                  <a:lnTo>
                    <a:pt x="665570" y="602823"/>
                  </a:lnTo>
                  <a:lnTo>
                    <a:pt x="675112" y="564868"/>
                  </a:lnTo>
                  <a:lnTo>
                    <a:pt x="684655" y="498688"/>
                  </a:lnTo>
                  <a:lnTo>
                    <a:pt x="694470" y="480799"/>
                  </a:lnTo>
                  <a:lnTo>
                    <a:pt x="704012" y="511441"/>
                  </a:lnTo>
                  <a:lnTo>
                    <a:pt x="713555" y="513889"/>
                  </a:lnTo>
                  <a:lnTo>
                    <a:pt x="723369" y="533138"/>
                  </a:lnTo>
                  <a:lnTo>
                    <a:pt x="732912" y="604999"/>
                  </a:lnTo>
                  <a:lnTo>
                    <a:pt x="742726" y="647849"/>
                  </a:lnTo>
                  <a:lnTo>
                    <a:pt x="752269" y="645402"/>
                  </a:lnTo>
                  <a:lnTo>
                    <a:pt x="761812" y="613944"/>
                  </a:lnTo>
                  <a:lnTo>
                    <a:pt x="771626" y="584661"/>
                  </a:lnTo>
                  <a:lnTo>
                    <a:pt x="781169" y="555636"/>
                  </a:lnTo>
                  <a:lnTo>
                    <a:pt x="790712" y="487039"/>
                  </a:lnTo>
                  <a:lnTo>
                    <a:pt x="800526" y="466702"/>
                  </a:lnTo>
                  <a:lnTo>
                    <a:pt x="810069" y="495168"/>
                  </a:lnTo>
                  <a:lnTo>
                    <a:pt x="819883" y="503841"/>
                  </a:lnTo>
                  <a:lnTo>
                    <a:pt x="829426" y="533138"/>
                  </a:lnTo>
                  <a:lnTo>
                    <a:pt x="838968" y="604999"/>
                  </a:lnTo>
                  <a:lnTo>
                    <a:pt x="848798" y="647849"/>
                  </a:lnTo>
                  <a:lnTo>
                    <a:pt x="858341" y="645402"/>
                  </a:lnTo>
                  <a:lnTo>
                    <a:pt x="867883" y="613944"/>
                  </a:lnTo>
                  <a:lnTo>
                    <a:pt x="877698" y="584661"/>
                  </a:lnTo>
                  <a:lnTo>
                    <a:pt x="887240" y="555636"/>
                  </a:lnTo>
                  <a:lnTo>
                    <a:pt x="897055" y="487039"/>
                  </a:lnTo>
                  <a:lnTo>
                    <a:pt x="906597" y="466702"/>
                  </a:lnTo>
                  <a:lnTo>
                    <a:pt x="916140" y="495168"/>
                  </a:lnTo>
                  <a:lnTo>
                    <a:pt x="925955" y="492735"/>
                  </a:lnTo>
                  <a:lnTo>
                    <a:pt x="935497" y="501680"/>
                  </a:lnTo>
                  <a:lnTo>
                    <a:pt x="945040" y="553475"/>
                  </a:lnTo>
                  <a:lnTo>
                    <a:pt x="954854" y="564868"/>
                  </a:lnTo>
                  <a:lnTo>
                    <a:pt x="964397" y="522017"/>
                  </a:lnTo>
                  <a:lnTo>
                    <a:pt x="974211" y="450157"/>
                  </a:lnTo>
                  <a:lnTo>
                    <a:pt x="983754" y="420859"/>
                  </a:lnTo>
                  <a:lnTo>
                    <a:pt x="993297" y="391849"/>
                  </a:lnTo>
                  <a:lnTo>
                    <a:pt x="1003111" y="323237"/>
                  </a:lnTo>
                  <a:lnTo>
                    <a:pt x="1012654" y="343302"/>
                  </a:lnTo>
                  <a:lnTo>
                    <a:pt x="1022197" y="397817"/>
                  </a:lnTo>
                  <a:lnTo>
                    <a:pt x="1032011" y="400794"/>
                  </a:lnTo>
                  <a:lnTo>
                    <a:pt x="1041569" y="393481"/>
                  </a:lnTo>
                  <a:lnTo>
                    <a:pt x="1051383" y="407850"/>
                  </a:lnTo>
                  <a:lnTo>
                    <a:pt x="1060926" y="373416"/>
                  </a:lnTo>
                  <a:lnTo>
                    <a:pt x="1070468" y="295587"/>
                  </a:lnTo>
                  <a:lnTo>
                    <a:pt x="1080283" y="251920"/>
                  </a:lnTo>
                  <a:lnTo>
                    <a:pt x="1089826" y="276866"/>
                  </a:lnTo>
                  <a:lnTo>
                    <a:pt x="1099368" y="372600"/>
                  </a:lnTo>
                  <a:lnTo>
                    <a:pt x="1109183" y="465886"/>
                  </a:lnTo>
                  <a:lnTo>
                    <a:pt x="1118725" y="586021"/>
                  </a:lnTo>
                  <a:lnTo>
                    <a:pt x="1128268" y="644042"/>
                  </a:lnTo>
                  <a:lnTo>
                    <a:pt x="1138082" y="606903"/>
                  </a:lnTo>
                  <a:lnTo>
                    <a:pt x="1147625" y="482959"/>
                  </a:lnTo>
                  <a:lnTo>
                    <a:pt x="1157440" y="358759"/>
                  </a:lnTo>
                  <a:lnTo>
                    <a:pt x="1166982" y="237279"/>
                  </a:lnTo>
                  <a:lnTo>
                    <a:pt x="1176525" y="122024"/>
                  </a:lnTo>
                  <a:lnTo>
                    <a:pt x="1186339" y="122840"/>
                  </a:lnTo>
                  <a:lnTo>
                    <a:pt x="1195882" y="254368"/>
                  </a:lnTo>
                  <a:lnTo>
                    <a:pt x="1205425" y="343302"/>
                  </a:lnTo>
                  <a:lnTo>
                    <a:pt x="1215239" y="383176"/>
                  </a:lnTo>
                  <a:lnTo>
                    <a:pt x="1224782" y="473199"/>
                  </a:lnTo>
                  <a:lnTo>
                    <a:pt x="1234611" y="533138"/>
                  </a:lnTo>
                  <a:lnTo>
                    <a:pt x="1244154" y="487039"/>
                  </a:lnTo>
                  <a:lnTo>
                    <a:pt x="1253697" y="351446"/>
                  </a:lnTo>
                  <a:lnTo>
                    <a:pt x="1263511" y="298835"/>
                  </a:lnTo>
                  <a:lnTo>
                    <a:pt x="1273054" y="185756"/>
                  </a:lnTo>
                  <a:lnTo>
                    <a:pt x="1282596" y="65076"/>
                  </a:lnTo>
                  <a:lnTo>
                    <a:pt x="1292411" y="19249"/>
                  </a:lnTo>
                  <a:lnTo>
                    <a:pt x="1301953" y="34978"/>
                  </a:lnTo>
                  <a:lnTo>
                    <a:pt x="1311768" y="93814"/>
                  </a:lnTo>
                  <a:lnTo>
                    <a:pt x="1321311" y="117959"/>
                  </a:lnTo>
                  <a:lnTo>
                    <a:pt x="1330853" y="200397"/>
                  </a:lnTo>
                  <a:lnTo>
                    <a:pt x="1340668" y="232671"/>
                  </a:lnTo>
                  <a:lnTo>
                    <a:pt x="1350210" y="179243"/>
                  </a:lnTo>
                  <a:lnTo>
                    <a:pt x="1359753" y="119848"/>
                  </a:lnTo>
                  <a:lnTo>
                    <a:pt x="1369567" y="103862"/>
                  </a:lnTo>
                  <a:lnTo>
                    <a:pt x="1379110" y="109015"/>
                  </a:lnTo>
                  <a:lnTo>
                    <a:pt x="1388925" y="66436"/>
                  </a:lnTo>
                  <a:lnTo>
                    <a:pt x="1398467" y="60196"/>
                  </a:lnTo>
                  <a:lnTo>
                    <a:pt x="1408010" y="152394"/>
                  </a:lnTo>
                  <a:lnTo>
                    <a:pt x="1417839" y="243519"/>
                  </a:lnTo>
                  <a:lnTo>
                    <a:pt x="1427382" y="367991"/>
                  </a:lnTo>
                  <a:lnTo>
                    <a:pt x="1436925" y="518225"/>
                  </a:lnTo>
                  <a:lnTo>
                    <a:pt x="1446739" y="708589"/>
                  </a:lnTo>
                  <a:lnTo>
                    <a:pt x="1456282" y="860183"/>
                  </a:lnTo>
                  <a:lnTo>
                    <a:pt x="1466096" y="955630"/>
                  </a:lnTo>
                  <a:lnTo>
                    <a:pt x="1475639" y="1008241"/>
                  </a:lnTo>
                  <a:lnTo>
                    <a:pt x="1485182" y="1012849"/>
                  </a:lnTo>
                  <a:lnTo>
                    <a:pt x="1494996" y="982207"/>
                  </a:lnTo>
                  <a:lnTo>
                    <a:pt x="1504539" y="936380"/>
                  </a:lnTo>
                  <a:lnTo>
                    <a:pt x="1514081" y="891369"/>
                  </a:lnTo>
                  <a:lnTo>
                    <a:pt x="1523896" y="891369"/>
                  </a:lnTo>
                  <a:lnTo>
                    <a:pt x="1533438" y="879433"/>
                  </a:lnTo>
                  <a:lnTo>
                    <a:pt x="1543253" y="890553"/>
                  </a:lnTo>
                  <a:lnTo>
                    <a:pt x="1552796" y="879704"/>
                  </a:lnTo>
                  <a:lnTo>
                    <a:pt x="1562338" y="827637"/>
                  </a:lnTo>
                  <a:lnTo>
                    <a:pt x="1572153" y="718078"/>
                  </a:lnTo>
                  <a:lnTo>
                    <a:pt x="1581695" y="590902"/>
                  </a:lnTo>
                  <a:lnTo>
                    <a:pt x="1591238" y="500864"/>
                  </a:lnTo>
                  <a:lnTo>
                    <a:pt x="1601068" y="440396"/>
                  </a:lnTo>
                </a:path>
                <a:path w="1613535" h="1013460">
                  <a:moveTo>
                    <a:pt x="1504267" y="0"/>
                  </a:moveTo>
                  <a:lnTo>
                    <a:pt x="1613056" y="0"/>
                  </a:lnTo>
                </a:path>
              </a:pathLst>
            </a:custGeom>
            <a:ln w="7552">
              <a:solidFill>
                <a:srgbClr val="004FE9"/>
              </a:solidFill>
            </a:ln>
          </p:spPr>
          <p:txBody>
            <a:bodyPr wrap="square" lIns="0" tIns="0" rIns="0" bIns="0" rtlCol="0"/>
            <a:lstStyle/>
            <a:p>
              <a:endParaRPr/>
            </a:p>
          </p:txBody>
        </p:sp>
        <p:sp>
          <p:nvSpPr>
            <p:cNvPr id="253" name="object 253"/>
            <p:cNvSpPr/>
            <p:nvPr/>
          </p:nvSpPr>
          <p:spPr>
            <a:xfrm>
              <a:off x="3521224" y="2331702"/>
              <a:ext cx="1707514" cy="1131570"/>
            </a:xfrm>
            <a:custGeom>
              <a:avLst/>
              <a:gdLst/>
              <a:ahLst/>
              <a:cxnLst/>
              <a:rect l="l" t="t" r="r" b="b"/>
              <a:pathLst>
                <a:path w="1707514" h="1131570">
                  <a:moveTo>
                    <a:pt x="0" y="1131096"/>
                  </a:moveTo>
                  <a:lnTo>
                    <a:pt x="1707124" y="1131096"/>
                  </a:lnTo>
                  <a:lnTo>
                    <a:pt x="1707124" y="0"/>
                  </a:lnTo>
                  <a:lnTo>
                    <a:pt x="0" y="0"/>
                  </a:lnTo>
                  <a:lnTo>
                    <a:pt x="0" y="1131096"/>
                  </a:lnTo>
                  <a:close/>
                </a:path>
              </a:pathLst>
            </a:custGeom>
            <a:ln w="3776">
              <a:solidFill>
                <a:srgbClr val="000000"/>
              </a:solidFill>
            </a:ln>
          </p:spPr>
          <p:txBody>
            <a:bodyPr wrap="square" lIns="0" tIns="0" rIns="0" bIns="0" rtlCol="0"/>
            <a:lstStyle/>
            <a:p>
              <a:endParaRPr/>
            </a:p>
          </p:txBody>
        </p:sp>
      </p:grpSp>
      <p:sp>
        <p:nvSpPr>
          <p:cNvPr id="254" name="object 254"/>
          <p:cNvSpPr txBox="1"/>
          <p:nvPr/>
        </p:nvSpPr>
        <p:spPr>
          <a:xfrm>
            <a:off x="4044577" y="2244341"/>
            <a:ext cx="660400" cy="71120"/>
          </a:xfrm>
          <a:prstGeom prst="rect">
            <a:avLst/>
          </a:prstGeom>
        </p:spPr>
        <p:txBody>
          <a:bodyPr vert="horz" wrap="square" lIns="0" tIns="12065" rIns="0" bIns="0" rtlCol="0">
            <a:spAutoFit/>
          </a:bodyPr>
          <a:lstStyle/>
          <a:p>
            <a:pPr marL="38100">
              <a:lnSpc>
                <a:spcPct val="100000"/>
              </a:lnSpc>
              <a:spcBef>
                <a:spcPts val="95"/>
              </a:spcBef>
            </a:pPr>
            <a:r>
              <a:rPr sz="450" baseline="18518" dirty="0">
                <a:latin typeface="Arial"/>
                <a:cs typeface="Arial"/>
              </a:rPr>
              <a:t>ProtScale</a:t>
            </a:r>
            <a:r>
              <a:rPr sz="450" spc="7" baseline="18518" dirty="0">
                <a:latin typeface="Arial"/>
                <a:cs typeface="Arial"/>
              </a:rPr>
              <a:t> </a:t>
            </a:r>
            <a:r>
              <a:rPr sz="450" baseline="18518" dirty="0">
                <a:latin typeface="Arial"/>
                <a:cs typeface="Arial"/>
              </a:rPr>
              <a:t>output</a:t>
            </a:r>
            <a:r>
              <a:rPr sz="450" spc="7" baseline="18518" dirty="0">
                <a:latin typeface="Arial"/>
                <a:cs typeface="Arial"/>
              </a:rPr>
              <a:t> </a:t>
            </a:r>
            <a:r>
              <a:rPr sz="450" baseline="18518" dirty="0">
                <a:latin typeface="Arial"/>
                <a:cs typeface="Arial"/>
              </a:rPr>
              <a:t>for</a:t>
            </a:r>
            <a:r>
              <a:rPr sz="450" spc="15" baseline="18518" dirty="0">
                <a:latin typeface="Arial"/>
                <a:cs typeface="Arial"/>
              </a:rPr>
              <a:t> </a:t>
            </a:r>
            <a:r>
              <a:rPr sz="450" spc="-15" baseline="18518" dirty="0">
                <a:latin typeface="Arial"/>
                <a:cs typeface="Arial"/>
              </a:rPr>
              <a:t>user</a:t>
            </a:r>
            <a:r>
              <a:rPr sz="200" spc="-10" dirty="0">
                <a:latin typeface="Arial"/>
                <a:cs typeface="Arial"/>
              </a:rPr>
              <a:t>s</a:t>
            </a:r>
            <a:r>
              <a:rPr sz="450" spc="-15" baseline="18518" dirty="0">
                <a:latin typeface="Arial"/>
                <a:cs typeface="Arial"/>
              </a:rPr>
              <a:t>equence</a:t>
            </a:r>
            <a:endParaRPr sz="450" baseline="18518">
              <a:latin typeface="Arial"/>
              <a:cs typeface="Arial"/>
            </a:endParaRPr>
          </a:p>
        </p:txBody>
      </p:sp>
      <p:sp>
        <p:nvSpPr>
          <p:cNvPr id="255" name="object 255"/>
          <p:cNvSpPr txBox="1"/>
          <p:nvPr/>
        </p:nvSpPr>
        <p:spPr>
          <a:xfrm>
            <a:off x="3556785" y="2347356"/>
            <a:ext cx="83185" cy="91440"/>
          </a:xfrm>
          <a:prstGeom prst="rect">
            <a:avLst/>
          </a:prstGeom>
        </p:spPr>
        <p:txBody>
          <a:bodyPr vert="horz" wrap="square" lIns="0" tIns="16510" rIns="0" bIns="0" rtlCol="0">
            <a:spAutoFit/>
          </a:bodyPr>
          <a:lstStyle/>
          <a:p>
            <a:pPr marL="12700">
              <a:lnSpc>
                <a:spcPct val="100000"/>
              </a:lnSpc>
              <a:spcBef>
                <a:spcPts val="130"/>
              </a:spcBef>
            </a:pPr>
            <a:r>
              <a:rPr sz="400" spc="-25" dirty="0">
                <a:latin typeface="Arial"/>
                <a:cs typeface="Arial"/>
              </a:rPr>
              <a:t>Sn</a:t>
            </a:r>
            <a:endParaRPr sz="400">
              <a:latin typeface="Arial"/>
              <a:cs typeface="Arial"/>
            </a:endParaRPr>
          </a:p>
        </p:txBody>
      </p:sp>
      <p:sp>
        <p:nvSpPr>
          <p:cNvPr id="256" name="object 256"/>
          <p:cNvSpPr/>
          <p:nvPr/>
        </p:nvSpPr>
        <p:spPr>
          <a:xfrm>
            <a:off x="3907037" y="2692608"/>
            <a:ext cx="593725" cy="505459"/>
          </a:xfrm>
          <a:custGeom>
            <a:avLst/>
            <a:gdLst/>
            <a:ahLst/>
            <a:cxnLst/>
            <a:rect l="l" t="t" r="r" b="b"/>
            <a:pathLst>
              <a:path w="593725" h="505460">
                <a:moveTo>
                  <a:pt x="0" y="504868"/>
                </a:moveTo>
                <a:lnTo>
                  <a:pt x="593124" y="504868"/>
                </a:lnTo>
                <a:lnTo>
                  <a:pt x="593124" y="0"/>
                </a:lnTo>
                <a:lnTo>
                  <a:pt x="0" y="0"/>
                </a:lnTo>
                <a:lnTo>
                  <a:pt x="0" y="504868"/>
                </a:lnTo>
                <a:close/>
              </a:path>
            </a:pathLst>
          </a:custGeom>
          <a:ln w="7552">
            <a:solidFill>
              <a:srgbClr val="ED1C24"/>
            </a:solidFill>
          </a:ln>
        </p:spPr>
        <p:txBody>
          <a:bodyPr wrap="square" lIns="0" tIns="0" rIns="0" bIns="0" rtlCol="0"/>
          <a:lstStyle/>
          <a:p>
            <a:endParaRPr/>
          </a:p>
        </p:txBody>
      </p:sp>
      <p:sp>
        <p:nvSpPr>
          <p:cNvPr id="257" name="object 257"/>
          <p:cNvSpPr txBox="1"/>
          <p:nvPr/>
        </p:nvSpPr>
        <p:spPr>
          <a:xfrm>
            <a:off x="3519705" y="3451360"/>
            <a:ext cx="1620520" cy="374015"/>
          </a:xfrm>
          <a:prstGeom prst="rect">
            <a:avLst/>
          </a:prstGeom>
        </p:spPr>
        <p:txBody>
          <a:bodyPr vert="horz" wrap="square" lIns="0" tIns="23495" rIns="0" bIns="0" rtlCol="0">
            <a:spAutoFit/>
          </a:bodyPr>
          <a:lstStyle/>
          <a:p>
            <a:pPr marL="177800">
              <a:lnSpc>
                <a:spcPct val="100000"/>
              </a:lnSpc>
              <a:spcBef>
                <a:spcPts val="185"/>
              </a:spcBef>
              <a:tabLst>
                <a:tab pos="370840" algn="l"/>
                <a:tab pos="563880" algn="l"/>
                <a:tab pos="756920" algn="l"/>
                <a:tab pos="939165" algn="l"/>
                <a:tab pos="1132205" algn="l"/>
                <a:tab pos="1324610" algn="l"/>
                <a:tab pos="1517650" algn="l"/>
              </a:tabLst>
            </a:pPr>
            <a:r>
              <a:rPr sz="300" spc="-25" dirty="0">
                <a:latin typeface="Arial"/>
                <a:cs typeface="Arial"/>
              </a:rPr>
              <a:t>20</a:t>
            </a:r>
            <a:r>
              <a:rPr sz="300" dirty="0">
                <a:latin typeface="Arial"/>
                <a:cs typeface="Arial"/>
              </a:rPr>
              <a:t>	</a:t>
            </a:r>
            <a:r>
              <a:rPr sz="300" spc="-25" dirty="0">
                <a:latin typeface="Arial"/>
                <a:cs typeface="Arial"/>
              </a:rPr>
              <a:t>40</a:t>
            </a:r>
            <a:r>
              <a:rPr sz="300" dirty="0">
                <a:latin typeface="Arial"/>
                <a:cs typeface="Arial"/>
              </a:rPr>
              <a:t>	</a:t>
            </a:r>
            <a:r>
              <a:rPr sz="300" spc="-25" dirty="0">
                <a:latin typeface="Arial"/>
                <a:cs typeface="Arial"/>
              </a:rPr>
              <a:t>60</a:t>
            </a:r>
            <a:r>
              <a:rPr sz="300" dirty="0">
                <a:latin typeface="Arial"/>
                <a:cs typeface="Arial"/>
              </a:rPr>
              <a:t>	</a:t>
            </a:r>
            <a:r>
              <a:rPr sz="300" spc="-25" dirty="0">
                <a:latin typeface="Arial"/>
                <a:cs typeface="Arial"/>
              </a:rPr>
              <a:t>80</a:t>
            </a:r>
            <a:r>
              <a:rPr sz="300" dirty="0">
                <a:latin typeface="Arial"/>
                <a:cs typeface="Arial"/>
              </a:rPr>
              <a:t>	</a:t>
            </a:r>
            <a:r>
              <a:rPr sz="300" spc="-25" dirty="0">
                <a:latin typeface="Arial"/>
                <a:cs typeface="Arial"/>
              </a:rPr>
              <a:t>100</a:t>
            </a:r>
            <a:r>
              <a:rPr sz="300" dirty="0">
                <a:latin typeface="Arial"/>
                <a:cs typeface="Arial"/>
              </a:rPr>
              <a:t>	</a:t>
            </a:r>
            <a:r>
              <a:rPr sz="300" spc="-25" dirty="0">
                <a:latin typeface="Arial"/>
                <a:cs typeface="Arial"/>
              </a:rPr>
              <a:t>120</a:t>
            </a:r>
            <a:r>
              <a:rPr sz="300" dirty="0">
                <a:latin typeface="Arial"/>
                <a:cs typeface="Arial"/>
              </a:rPr>
              <a:t>	</a:t>
            </a:r>
            <a:r>
              <a:rPr sz="300" spc="-25" dirty="0">
                <a:latin typeface="Arial"/>
                <a:cs typeface="Arial"/>
              </a:rPr>
              <a:t>140</a:t>
            </a:r>
            <a:r>
              <a:rPr sz="300" dirty="0">
                <a:latin typeface="Arial"/>
                <a:cs typeface="Arial"/>
              </a:rPr>
              <a:t>	</a:t>
            </a:r>
            <a:r>
              <a:rPr sz="300" spc="-25" dirty="0">
                <a:latin typeface="Arial"/>
                <a:cs typeface="Arial"/>
              </a:rPr>
              <a:t>160</a:t>
            </a:r>
            <a:endParaRPr sz="300">
              <a:latin typeface="Arial"/>
              <a:cs typeface="Arial"/>
            </a:endParaRPr>
          </a:p>
          <a:p>
            <a:pPr marL="786765">
              <a:lnSpc>
                <a:spcPct val="100000"/>
              </a:lnSpc>
              <a:spcBef>
                <a:spcPts val="90"/>
              </a:spcBef>
            </a:pPr>
            <a:r>
              <a:rPr sz="300" spc="-10" dirty="0">
                <a:latin typeface="Arial"/>
                <a:cs typeface="Arial"/>
              </a:rPr>
              <a:t>Position</a:t>
            </a:r>
            <a:endParaRPr sz="300">
              <a:latin typeface="Arial"/>
              <a:cs typeface="Arial"/>
            </a:endParaRPr>
          </a:p>
          <a:p>
            <a:pPr marL="38100">
              <a:lnSpc>
                <a:spcPct val="100000"/>
              </a:lnSpc>
              <a:spcBef>
                <a:spcPts val="60"/>
              </a:spcBef>
            </a:pPr>
            <a:r>
              <a:rPr sz="700" spc="-30" dirty="0">
                <a:latin typeface="Arial"/>
                <a:cs typeface="Arial"/>
              </a:rPr>
              <a:t>P.virgatum</a:t>
            </a:r>
            <a:r>
              <a:rPr sz="700" spc="15" dirty="0">
                <a:latin typeface="Arial"/>
                <a:cs typeface="Arial"/>
              </a:rPr>
              <a:t> </a:t>
            </a:r>
            <a:r>
              <a:rPr sz="700" spc="-20" dirty="0">
                <a:latin typeface="Arial"/>
                <a:cs typeface="Arial"/>
              </a:rPr>
              <a:t>PvWBCH1.3NG170900.1.v1.1</a:t>
            </a:r>
            <a:endParaRPr sz="700">
              <a:latin typeface="Arial"/>
              <a:cs typeface="Arial"/>
            </a:endParaRPr>
          </a:p>
          <a:p>
            <a:pPr marL="582295">
              <a:lnSpc>
                <a:spcPct val="100000"/>
              </a:lnSpc>
              <a:spcBef>
                <a:spcPts val="585"/>
              </a:spcBef>
            </a:pPr>
            <a:r>
              <a:rPr sz="450" baseline="18518" dirty="0">
                <a:latin typeface="Arial"/>
                <a:cs typeface="Arial"/>
              </a:rPr>
              <a:t>ProtScale</a:t>
            </a:r>
            <a:r>
              <a:rPr sz="450" spc="7" baseline="18518" dirty="0">
                <a:latin typeface="Arial"/>
                <a:cs typeface="Arial"/>
              </a:rPr>
              <a:t> </a:t>
            </a:r>
            <a:r>
              <a:rPr sz="450" baseline="18518" dirty="0">
                <a:latin typeface="Arial"/>
                <a:cs typeface="Arial"/>
              </a:rPr>
              <a:t>output</a:t>
            </a:r>
            <a:r>
              <a:rPr sz="450" spc="7" baseline="18518" dirty="0">
                <a:latin typeface="Arial"/>
                <a:cs typeface="Arial"/>
              </a:rPr>
              <a:t> </a:t>
            </a:r>
            <a:r>
              <a:rPr sz="450" baseline="18518" dirty="0">
                <a:latin typeface="Arial"/>
                <a:cs typeface="Arial"/>
              </a:rPr>
              <a:t>for</a:t>
            </a:r>
            <a:r>
              <a:rPr sz="450" spc="15" baseline="18518" dirty="0">
                <a:latin typeface="Arial"/>
                <a:cs typeface="Arial"/>
              </a:rPr>
              <a:t> </a:t>
            </a:r>
            <a:r>
              <a:rPr sz="450" spc="-15" baseline="18518" dirty="0">
                <a:latin typeface="Arial"/>
                <a:cs typeface="Arial"/>
              </a:rPr>
              <a:t>user</a:t>
            </a:r>
            <a:r>
              <a:rPr sz="250" spc="-10" dirty="0">
                <a:latin typeface="Arial"/>
                <a:cs typeface="Arial"/>
              </a:rPr>
              <a:t>s</a:t>
            </a:r>
            <a:r>
              <a:rPr sz="450" spc="-15" baseline="18518" dirty="0">
                <a:latin typeface="Arial"/>
                <a:cs typeface="Arial"/>
              </a:rPr>
              <a:t>equence</a:t>
            </a:r>
            <a:endParaRPr sz="450" baseline="18518">
              <a:latin typeface="Arial"/>
              <a:cs typeface="Arial"/>
            </a:endParaRPr>
          </a:p>
        </p:txBody>
      </p:sp>
      <p:sp>
        <p:nvSpPr>
          <p:cNvPr id="258" name="object 258"/>
          <p:cNvSpPr txBox="1"/>
          <p:nvPr/>
        </p:nvSpPr>
        <p:spPr>
          <a:xfrm>
            <a:off x="1485577" y="3874683"/>
            <a:ext cx="97155" cy="88265"/>
          </a:xfrm>
          <a:prstGeom prst="rect">
            <a:avLst/>
          </a:prstGeom>
        </p:spPr>
        <p:txBody>
          <a:bodyPr vert="horz" wrap="square" lIns="0" tIns="13970" rIns="0" bIns="0" rtlCol="0">
            <a:spAutoFit/>
          </a:bodyPr>
          <a:lstStyle/>
          <a:p>
            <a:pPr marL="12700">
              <a:lnSpc>
                <a:spcPct val="100000"/>
              </a:lnSpc>
              <a:spcBef>
                <a:spcPts val="110"/>
              </a:spcBef>
            </a:pPr>
            <a:r>
              <a:rPr sz="400" spc="-25" dirty="0">
                <a:latin typeface="Arial"/>
                <a:cs typeface="Arial"/>
              </a:rPr>
              <a:t>Mg</a:t>
            </a:r>
            <a:endParaRPr sz="400">
              <a:latin typeface="Arial"/>
              <a:cs typeface="Arial"/>
            </a:endParaRPr>
          </a:p>
        </p:txBody>
      </p:sp>
      <p:grpSp>
        <p:nvGrpSpPr>
          <p:cNvPr id="259" name="object 259"/>
          <p:cNvGrpSpPr/>
          <p:nvPr/>
        </p:nvGrpSpPr>
        <p:grpSpPr>
          <a:xfrm>
            <a:off x="1436991" y="4252419"/>
            <a:ext cx="1708150" cy="728980"/>
            <a:chOff x="1436991" y="4252419"/>
            <a:chExt cx="1708150" cy="728980"/>
          </a:xfrm>
        </p:grpSpPr>
        <p:sp>
          <p:nvSpPr>
            <p:cNvPr id="260" name="object 260"/>
            <p:cNvSpPr/>
            <p:nvPr/>
          </p:nvSpPr>
          <p:spPr>
            <a:xfrm>
              <a:off x="1872941" y="4256229"/>
              <a:ext cx="651510" cy="543560"/>
            </a:xfrm>
            <a:custGeom>
              <a:avLst/>
              <a:gdLst/>
              <a:ahLst/>
              <a:cxnLst/>
              <a:rect l="l" t="t" r="r" b="b"/>
              <a:pathLst>
                <a:path w="651510" h="543560">
                  <a:moveTo>
                    <a:pt x="0" y="543428"/>
                  </a:moveTo>
                  <a:lnTo>
                    <a:pt x="651195" y="543428"/>
                  </a:lnTo>
                  <a:lnTo>
                    <a:pt x="651195" y="0"/>
                  </a:lnTo>
                  <a:lnTo>
                    <a:pt x="0" y="0"/>
                  </a:lnTo>
                  <a:lnTo>
                    <a:pt x="0" y="543428"/>
                  </a:lnTo>
                  <a:close/>
                </a:path>
              </a:pathLst>
            </a:custGeom>
            <a:ln w="7552">
              <a:solidFill>
                <a:srgbClr val="ED1C24"/>
              </a:solidFill>
            </a:ln>
          </p:spPr>
          <p:txBody>
            <a:bodyPr wrap="square" lIns="0" tIns="0" rIns="0" bIns="0" rtlCol="0"/>
            <a:lstStyle/>
            <a:p>
              <a:endParaRPr/>
            </a:p>
          </p:txBody>
        </p:sp>
        <p:sp>
          <p:nvSpPr>
            <p:cNvPr id="261" name="object 261"/>
            <p:cNvSpPr/>
            <p:nvPr/>
          </p:nvSpPr>
          <p:spPr>
            <a:xfrm>
              <a:off x="1438896" y="4979199"/>
              <a:ext cx="1704339" cy="0"/>
            </a:xfrm>
            <a:custGeom>
              <a:avLst/>
              <a:gdLst/>
              <a:ahLst/>
              <a:cxnLst/>
              <a:rect l="l" t="t" r="r" b="b"/>
              <a:pathLst>
                <a:path w="1704339">
                  <a:moveTo>
                    <a:pt x="0" y="0"/>
                  </a:moveTo>
                  <a:lnTo>
                    <a:pt x="1703787" y="0"/>
                  </a:lnTo>
                </a:path>
              </a:pathLst>
            </a:custGeom>
            <a:ln w="3777">
              <a:solidFill>
                <a:srgbClr val="000000"/>
              </a:solidFill>
              <a:prstDash val="dash"/>
            </a:ln>
          </p:spPr>
          <p:txBody>
            <a:bodyPr wrap="square" lIns="0" tIns="0" rIns="0" bIns="0" rtlCol="0"/>
            <a:lstStyle/>
            <a:p>
              <a:endParaRPr/>
            </a:p>
          </p:txBody>
        </p:sp>
        <p:sp>
          <p:nvSpPr>
            <p:cNvPr id="262" name="object 262"/>
            <p:cNvSpPr/>
            <p:nvPr/>
          </p:nvSpPr>
          <p:spPr>
            <a:xfrm>
              <a:off x="1438897" y="4979199"/>
              <a:ext cx="1704339" cy="0"/>
            </a:xfrm>
            <a:custGeom>
              <a:avLst/>
              <a:gdLst/>
              <a:ahLst/>
              <a:cxnLst/>
              <a:rect l="l" t="t" r="r" b="b"/>
              <a:pathLst>
                <a:path w="1704339">
                  <a:moveTo>
                    <a:pt x="1703787" y="0"/>
                  </a:moveTo>
                  <a:lnTo>
                    <a:pt x="1686649" y="0"/>
                  </a:lnTo>
                </a:path>
                <a:path w="1704339">
                  <a:moveTo>
                    <a:pt x="0" y="0"/>
                  </a:moveTo>
                  <a:lnTo>
                    <a:pt x="17137" y="0"/>
                  </a:lnTo>
                </a:path>
              </a:pathLst>
            </a:custGeom>
            <a:ln w="3776">
              <a:solidFill>
                <a:srgbClr val="000000"/>
              </a:solidFill>
            </a:ln>
          </p:spPr>
          <p:txBody>
            <a:bodyPr wrap="square" lIns="0" tIns="0" rIns="0" bIns="0" rtlCol="0"/>
            <a:lstStyle/>
            <a:p>
              <a:endParaRPr/>
            </a:p>
          </p:txBody>
        </p:sp>
      </p:grpSp>
      <p:sp>
        <p:nvSpPr>
          <p:cNvPr id="263" name="object 263"/>
          <p:cNvSpPr txBox="1"/>
          <p:nvPr/>
        </p:nvSpPr>
        <p:spPr>
          <a:xfrm>
            <a:off x="1369474" y="4941101"/>
            <a:ext cx="5969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3</a:t>
            </a:r>
            <a:endParaRPr sz="300">
              <a:latin typeface="Arial"/>
              <a:cs typeface="Arial"/>
            </a:endParaRPr>
          </a:p>
        </p:txBody>
      </p:sp>
      <p:grpSp>
        <p:nvGrpSpPr>
          <p:cNvPr id="264" name="object 264"/>
          <p:cNvGrpSpPr/>
          <p:nvPr/>
        </p:nvGrpSpPr>
        <p:grpSpPr>
          <a:xfrm>
            <a:off x="1436991" y="3841467"/>
            <a:ext cx="1708150" cy="1139825"/>
            <a:chOff x="1436991" y="3841467"/>
            <a:chExt cx="1708150" cy="1139825"/>
          </a:xfrm>
        </p:grpSpPr>
        <p:sp>
          <p:nvSpPr>
            <p:cNvPr id="265" name="object 265"/>
            <p:cNvSpPr/>
            <p:nvPr/>
          </p:nvSpPr>
          <p:spPr>
            <a:xfrm>
              <a:off x="1438896" y="4837322"/>
              <a:ext cx="1704339" cy="0"/>
            </a:xfrm>
            <a:custGeom>
              <a:avLst/>
              <a:gdLst/>
              <a:ahLst/>
              <a:cxnLst/>
              <a:rect l="l" t="t" r="r" b="b"/>
              <a:pathLst>
                <a:path w="1704339">
                  <a:moveTo>
                    <a:pt x="0" y="0"/>
                  </a:moveTo>
                  <a:lnTo>
                    <a:pt x="1703787" y="0"/>
                  </a:lnTo>
                </a:path>
              </a:pathLst>
            </a:custGeom>
            <a:ln w="3777">
              <a:solidFill>
                <a:srgbClr val="000000"/>
              </a:solidFill>
              <a:prstDash val="dash"/>
            </a:ln>
          </p:spPr>
          <p:txBody>
            <a:bodyPr wrap="square" lIns="0" tIns="0" rIns="0" bIns="0" rtlCol="0"/>
            <a:lstStyle/>
            <a:p>
              <a:endParaRPr/>
            </a:p>
          </p:txBody>
        </p:sp>
        <p:sp>
          <p:nvSpPr>
            <p:cNvPr id="266" name="object 266"/>
            <p:cNvSpPr/>
            <p:nvPr/>
          </p:nvSpPr>
          <p:spPr>
            <a:xfrm>
              <a:off x="1438897" y="4837322"/>
              <a:ext cx="1704339" cy="0"/>
            </a:xfrm>
            <a:custGeom>
              <a:avLst/>
              <a:gdLst/>
              <a:ahLst/>
              <a:cxnLst/>
              <a:rect l="l" t="t" r="r" b="b"/>
              <a:pathLst>
                <a:path w="1704339">
                  <a:moveTo>
                    <a:pt x="1703787" y="0"/>
                  </a:moveTo>
                  <a:lnTo>
                    <a:pt x="1686649" y="0"/>
                  </a:lnTo>
                </a:path>
                <a:path w="1704339">
                  <a:moveTo>
                    <a:pt x="0" y="0"/>
                  </a:moveTo>
                  <a:lnTo>
                    <a:pt x="17137" y="0"/>
                  </a:lnTo>
                </a:path>
              </a:pathLst>
            </a:custGeom>
            <a:ln w="3776">
              <a:solidFill>
                <a:srgbClr val="000000"/>
              </a:solidFill>
            </a:ln>
          </p:spPr>
          <p:txBody>
            <a:bodyPr wrap="square" lIns="0" tIns="0" rIns="0" bIns="0" rtlCol="0"/>
            <a:lstStyle/>
            <a:p>
              <a:endParaRPr/>
            </a:p>
          </p:txBody>
        </p:sp>
        <p:sp>
          <p:nvSpPr>
            <p:cNvPr id="267" name="object 267"/>
            <p:cNvSpPr/>
            <p:nvPr/>
          </p:nvSpPr>
          <p:spPr>
            <a:xfrm>
              <a:off x="1438896" y="4695174"/>
              <a:ext cx="1704339" cy="0"/>
            </a:xfrm>
            <a:custGeom>
              <a:avLst/>
              <a:gdLst/>
              <a:ahLst/>
              <a:cxnLst/>
              <a:rect l="l" t="t" r="r" b="b"/>
              <a:pathLst>
                <a:path w="1704339">
                  <a:moveTo>
                    <a:pt x="0" y="0"/>
                  </a:moveTo>
                  <a:lnTo>
                    <a:pt x="1703787" y="0"/>
                  </a:lnTo>
                </a:path>
              </a:pathLst>
            </a:custGeom>
            <a:ln w="3777">
              <a:solidFill>
                <a:srgbClr val="000000"/>
              </a:solidFill>
              <a:prstDash val="dash"/>
            </a:ln>
          </p:spPr>
          <p:txBody>
            <a:bodyPr wrap="square" lIns="0" tIns="0" rIns="0" bIns="0" rtlCol="0"/>
            <a:lstStyle/>
            <a:p>
              <a:endParaRPr/>
            </a:p>
          </p:txBody>
        </p:sp>
        <p:sp>
          <p:nvSpPr>
            <p:cNvPr id="268" name="object 268"/>
            <p:cNvSpPr/>
            <p:nvPr/>
          </p:nvSpPr>
          <p:spPr>
            <a:xfrm>
              <a:off x="1438897" y="4695174"/>
              <a:ext cx="1704339" cy="0"/>
            </a:xfrm>
            <a:custGeom>
              <a:avLst/>
              <a:gdLst/>
              <a:ahLst/>
              <a:cxnLst/>
              <a:rect l="l" t="t" r="r" b="b"/>
              <a:pathLst>
                <a:path w="1704339">
                  <a:moveTo>
                    <a:pt x="1703787" y="0"/>
                  </a:moveTo>
                  <a:lnTo>
                    <a:pt x="1686649" y="0"/>
                  </a:lnTo>
                </a:path>
                <a:path w="1704339">
                  <a:moveTo>
                    <a:pt x="0" y="0"/>
                  </a:moveTo>
                  <a:lnTo>
                    <a:pt x="17137" y="0"/>
                  </a:lnTo>
                </a:path>
              </a:pathLst>
            </a:custGeom>
            <a:ln w="3776">
              <a:solidFill>
                <a:srgbClr val="000000"/>
              </a:solidFill>
            </a:ln>
          </p:spPr>
          <p:txBody>
            <a:bodyPr wrap="square" lIns="0" tIns="0" rIns="0" bIns="0" rtlCol="0"/>
            <a:lstStyle/>
            <a:p>
              <a:endParaRPr/>
            </a:p>
          </p:txBody>
        </p:sp>
        <p:sp>
          <p:nvSpPr>
            <p:cNvPr id="269" name="object 269"/>
            <p:cNvSpPr/>
            <p:nvPr/>
          </p:nvSpPr>
          <p:spPr>
            <a:xfrm>
              <a:off x="1438896" y="4553299"/>
              <a:ext cx="1704339" cy="0"/>
            </a:xfrm>
            <a:custGeom>
              <a:avLst/>
              <a:gdLst/>
              <a:ahLst/>
              <a:cxnLst/>
              <a:rect l="l" t="t" r="r" b="b"/>
              <a:pathLst>
                <a:path w="1704339">
                  <a:moveTo>
                    <a:pt x="0" y="0"/>
                  </a:moveTo>
                  <a:lnTo>
                    <a:pt x="1703787" y="0"/>
                  </a:lnTo>
                </a:path>
              </a:pathLst>
            </a:custGeom>
            <a:ln w="3777">
              <a:solidFill>
                <a:srgbClr val="000000"/>
              </a:solidFill>
              <a:prstDash val="dash"/>
            </a:ln>
          </p:spPr>
          <p:txBody>
            <a:bodyPr wrap="square" lIns="0" tIns="0" rIns="0" bIns="0" rtlCol="0"/>
            <a:lstStyle/>
            <a:p>
              <a:endParaRPr/>
            </a:p>
          </p:txBody>
        </p:sp>
        <p:sp>
          <p:nvSpPr>
            <p:cNvPr id="270" name="object 270"/>
            <p:cNvSpPr/>
            <p:nvPr/>
          </p:nvSpPr>
          <p:spPr>
            <a:xfrm>
              <a:off x="1438897" y="4553299"/>
              <a:ext cx="1704339" cy="0"/>
            </a:xfrm>
            <a:custGeom>
              <a:avLst/>
              <a:gdLst/>
              <a:ahLst/>
              <a:cxnLst/>
              <a:rect l="l" t="t" r="r" b="b"/>
              <a:pathLst>
                <a:path w="1704339">
                  <a:moveTo>
                    <a:pt x="1703787" y="0"/>
                  </a:moveTo>
                  <a:lnTo>
                    <a:pt x="1686649" y="0"/>
                  </a:lnTo>
                </a:path>
                <a:path w="1704339">
                  <a:moveTo>
                    <a:pt x="0" y="0"/>
                  </a:moveTo>
                  <a:lnTo>
                    <a:pt x="17137" y="0"/>
                  </a:lnTo>
                </a:path>
              </a:pathLst>
            </a:custGeom>
            <a:ln w="3776">
              <a:solidFill>
                <a:srgbClr val="000000"/>
              </a:solidFill>
            </a:ln>
          </p:spPr>
          <p:txBody>
            <a:bodyPr wrap="square" lIns="0" tIns="0" rIns="0" bIns="0" rtlCol="0"/>
            <a:lstStyle/>
            <a:p>
              <a:endParaRPr/>
            </a:p>
          </p:txBody>
        </p:sp>
        <p:sp>
          <p:nvSpPr>
            <p:cNvPr id="271" name="object 271"/>
            <p:cNvSpPr/>
            <p:nvPr/>
          </p:nvSpPr>
          <p:spPr>
            <a:xfrm>
              <a:off x="1438896" y="4411150"/>
              <a:ext cx="1704339" cy="0"/>
            </a:xfrm>
            <a:custGeom>
              <a:avLst/>
              <a:gdLst/>
              <a:ahLst/>
              <a:cxnLst/>
              <a:rect l="l" t="t" r="r" b="b"/>
              <a:pathLst>
                <a:path w="1704339">
                  <a:moveTo>
                    <a:pt x="0" y="0"/>
                  </a:moveTo>
                  <a:lnTo>
                    <a:pt x="1703787" y="0"/>
                  </a:lnTo>
                </a:path>
              </a:pathLst>
            </a:custGeom>
            <a:ln w="3777">
              <a:solidFill>
                <a:srgbClr val="000000"/>
              </a:solidFill>
              <a:prstDash val="dash"/>
            </a:ln>
          </p:spPr>
          <p:txBody>
            <a:bodyPr wrap="square" lIns="0" tIns="0" rIns="0" bIns="0" rtlCol="0"/>
            <a:lstStyle/>
            <a:p>
              <a:endParaRPr/>
            </a:p>
          </p:txBody>
        </p:sp>
        <p:sp>
          <p:nvSpPr>
            <p:cNvPr id="272" name="object 272"/>
            <p:cNvSpPr/>
            <p:nvPr/>
          </p:nvSpPr>
          <p:spPr>
            <a:xfrm>
              <a:off x="1438897" y="4411150"/>
              <a:ext cx="1704339" cy="0"/>
            </a:xfrm>
            <a:custGeom>
              <a:avLst/>
              <a:gdLst/>
              <a:ahLst/>
              <a:cxnLst/>
              <a:rect l="l" t="t" r="r" b="b"/>
              <a:pathLst>
                <a:path w="1704339">
                  <a:moveTo>
                    <a:pt x="1703787" y="0"/>
                  </a:moveTo>
                  <a:lnTo>
                    <a:pt x="1686649" y="0"/>
                  </a:lnTo>
                </a:path>
                <a:path w="1704339">
                  <a:moveTo>
                    <a:pt x="0" y="0"/>
                  </a:moveTo>
                  <a:lnTo>
                    <a:pt x="17137" y="0"/>
                  </a:lnTo>
                </a:path>
              </a:pathLst>
            </a:custGeom>
            <a:ln w="3776">
              <a:solidFill>
                <a:srgbClr val="000000"/>
              </a:solidFill>
            </a:ln>
          </p:spPr>
          <p:txBody>
            <a:bodyPr wrap="square" lIns="0" tIns="0" rIns="0" bIns="0" rtlCol="0"/>
            <a:lstStyle/>
            <a:p>
              <a:endParaRPr/>
            </a:p>
          </p:txBody>
        </p:sp>
        <p:sp>
          <p:nvSpPr>
            <p:cNvPr id="273" name="object 273"/>
            <p:cNvSpPr/>
            <p:nvPr/>
          </p:nvSpPr>
          <p:spPr>
            <a:xfrm>
              <a:off x="1438896" y="4269275"/>
              <a:ext cx="1704339" cy="0"/>
            </a:xfrm>
            <a:custGeom>
              <a:avLst/>
              <a:gdLst/>
              <a:ahLst/>
              <a:cxnLst/>
              <a:rect l="l" t="t" r="r" b="b"/>
              <a:pathLst>
                <a:path w="1704339">
                  <a:moveTo>
                    <a:pt x="0" y="0"/>
                  </a:moveTo>
                  <a:lnTo>
                    <a:pt x="1703787" y="0"/>
                  </a:lnTo>
                </a:path>
              </a:pathLst>
            </a:custGeom>
            <a:ln w="3777">
              <a:solidFill>
                <a:srgbClr val="000000"/>
              </a:solidFill>
              <a:prstDash val="dash"/>
            </a:ln>
          </p:spPr>
          <p:txBody>
            <a:bodyPr wrap="square" lIns="0" tIns="0" rIns="0" bIns="0" rtlCol="0"/>
            <a:lstStyle/>
            <a:p>
              <a:endParaRPr/>
            </a:p>
          </p:txBody>
        </p:sp>
        <p:sp>
          <p:nvSpPr>
            <p:cNvPr id="274" name="object 274"/>
            <p:cNvSpPr/>
            <p:nvPr/>
          </p:nvSpPr>
          <p:spPr>
            <a:xfrm>
              <a:off x="1438897" y="4269275"/>
              <a:ext cx="1704339" cy="0"/>
            </a:xfrm>
            <a:custGeom>
              <a:avLst/>
              <a:gdLst/>
              <a:ahLst/>
              <a:cxnLst/>
              <a:rect l="l" t="t" r="r" b="b"/>
              <a:pathLst>
                <a:path w="1704339">
                  <a:moveTo>
                    <a:pt x="1703787" y="0"/>
                  </a:moveTo>
                  <a:lnTo>
                    <a:pt x="1686649" y="0"/>
                  </a:lnTo>
                </a:path>
                <a:path w="1704339">
                  <a:moveTo>
                    <a:pt x="0" y="0"/>
                  </a:moveTo>
                  <a:lnTo>
                    <a:pt x="17137" y="0"/>
                  </a:lnTo>
                </a:path>
              </a:pathLst>
            </a:custGeom>
            <a:ln w="3776">
              <a:solidFill>
                <a:srgbClr val="000000"/>
              </a:solidFill>
            </a:ln>
          </p:spPr>
          <p:txBody>
            <a:bodyPr wrap="square" lIns="0" tIns="0" rIns="0" bIns="0" rtlCol="0"/>
            <a:lstStyle/>
            <a:p>
              <a:endParaRPr/>
            </a:p>
          </p:txBody>
        </p:sp>
        <p:sp>
          <p:nvSpPr>
            <p:cNvPr id="275" name="object 275"/>
            <p:cNvSpPr/>
            <p:nvPr/>
          </p:nvSpPr>
          <p:spPr>
            <a:xfrm>
              <a:off x="1438896" y="4127400"/>
              <a:ext cx="1704339" cy="0"/>
            </a:xfrm>
            <a:custGeom>
              <a:avLst/>
              <a:gdLst/>
              <a:ahLst/>
              <a:cxnLst/>
              <a:rect l="l" t="t" r="r" b="b"/>
              <a:pathLst>
                <a:path w="1704339">
                  <a:moveTo>
                    <a:pt x="0" y="0"/>
                  </a:moveTo>
                  <a:lnTo>
                    <a:pt x="1703787" y="0"/>
                  </a:lnTo>
                </a:path>
              </a:pathLst>
            </a:custGeom>
            <a:ln w="3777">
              <a:solidFill>
                <a:srgbClr val="000000"/>
              </a:solidFill>
              <a:prstDash val="dash"/>
            </a:ln>
          </p:spPr>
          <p:txBody>
            <a:bodyPr wrap="square" lIns="0" tIns="0" rIns="0" bIns="0" rtlCol="0"/>
            <a:lstStyle/>
            <a:p>
              <a:endParaRPr/>
            </a:p>
          </p:txBody>
        </p:sp>
        <p:sp>
          <p:nvSpPr>
            <p:cNvPr id="276" name="object 276"/>
            <p:cNvSpPr/>
            <p:nvPr/>
          </p:nvSpPr>
          <p:spPr>
            <a:xfrm>
              <a:off x="1438897" y="4127400"/>
              <a:ext cx="1704339" cy="0"/>
            </a:xfrm>
            <a:custGeom>
              <a:avLst/>
              <a:gdLst/>
              <a:ahLst/>
              <a:cxnLst/>
              <a:rect l="l" t="t" r="r" b="b"/>
              <a:pathLst>
                <a:path w="1704339">
                  <a:moveTo>
                    <a:pt x="1703787" y="0"/>
                  </a:moveTo>
                  <a:lnTo>
                    <a:pt x="1686649" y="0"/>
                  </a:lnTo>
                </a:path>
                <a:path w="1704339">
                  <a:moveTo>
                    <a:pt x="0" y="0"/>
                  </a:moveTo>
                  <a:lnTo>
                    <a:pt x="17137" y="0"/>
                  </a:lnTo>
                </a:path>
              </a:pathLst>
            </a:custGeom>
            <a:ln w="3776">
              <a:solidFill>
                <a:srgbClr val="000000"/>
              </a:solidFill>
            </a:ln>
          </p:spPr>
          <p:txBody>
            <a:bodyPr wrap="square" lIns="0" tIns="0" rIns="0" bIns="0" rtlCol="0"/>
            <a:lstStyle/>
            <a:p>
              <a:endParaRPr/>
            </a:p>
          </p:txBody>
        </p:sp>
        <p:sp>
          <p:nvSpPr>
            <p:cNvPr id="277" name="object 277"/>
            <p:cNvSpPr/>
            <p:nvPr/>
          </p:nvSpPr>
          <p:spPr>
            <a:xfrm>
              <a:off x="1438896" y="3985251"/>
              <a:ext cx="1704339" cy="0"/>
            </a:xfrm>
            <a:custGeom>
              <a:avLst/>
              <a:gdLst/>
              <a:ahLst/>
              <a:cxnLst/>
              <a:rect l="l" t="t" r="r" b="b"/>
              <a:pathLst>
                <a:path w="1704339">
                  <a:moveTo>
                    <a:pt x="0" y="0"/>
                  </a:moveTo>
                  <a:lnTo>
                    <a:pt x="1703787" y="0"/>
                  </a:lnTo>
                </a:path>
              </a:pathLst>
            </a:custGeom>
            <a:ln w="3777">
              <a:solidFill>
                <a:srgbClr val="000000"/>
              </a:solidFill>
              <a:prstDash val="dash"/>
            </a:ln>
          </p:spPr>
          <p:txBody>
            <a:bodyPr wrap="square" lIns="0" tIns="0" rIns="0" bIns="0" rtlCol="0"/>
            <a:lstStyle/>
            <a:p>
              <a:endParaRPr/>
            </a:p>
          </p:txBody>
        </p:sp>
        <p:sp>
          <p:nvSpPr>
            <p:cNvPr id="278" name="object 278"/>
            <p:cNvSpPr/>
            <p:nvPr/>
          </p:nvSpPr>
          <p:spPr>
            <a:xfrm>
              <a:off x="1438897" y="3985251"/>
              <a:ext cx="1704339" cy="0"/>
            </a:xfrm>
            <a:custGeom>
              <a:avLst/>
              <a:gdLst/>
              <a:ahLst/>
              <a:cxnLst/>
              <a:rect l="l" t="t" r="r" b="b"/>
              <a:pathLst>
                <a:path w="1704339">
                  <a:moveTo>
                    <a:pt x="1703787" y="0"/>
                  </a:moveTo>
                  <a:lnTo>
                    <a:pt x="1686649" y="0"/>
                  </a:lnTo>
                </a:path>
                <a:path w="1704339">
                  <a:moveTo>
                    <a:pt x="0" y="0"/>
                  </a:moveTo>
                  <a:lnTo>
                    <a:pt x="17137" y="0"/>
                  </a:lnTo>
                </a:path>
              </a:pathLst>
            </a:custGeom>
            <a:ln w="3776">
              <a:solidFill>
                <a:srgbClr val="000000"/>
              </a:solidFill>
            </a:ln>
          </p:spPr>
          <p:txBody>
            <a:bodyPr wrap="square" lIns="0" tIns="0" rIns="0" bIns="0" rtlCol="0"/>
            <a:lstStyle/>
            <a:p>
              <a:endParaRPr/>
            </a:p>
          </p:txBody>
        </p:sp>
        <p:sp>
          <p:nvSpPr>
            <p:cNvPr id="279" name="object 279"/>
            <p:cNvSpPr/>
            <p:nvPr/>
          </p:nvSpPr>
          <p:spPr>
            <a:xfrm>
              <a:off x="1438896" y="3843376"/>
              <a:ext cx="1704339" cy="0"/>
            </a:xfrm>
            <a:custGeom>
              <a:avLst/>
              <a:gdLst/>
              <a:ahLst/>
              <a:cxnLst/>
              <a:rect l="l" t="t" r="r" b="b"/>
              <a:pathLst>
                <a:path w="1704339">
                  <a:moveTo>
                    <a:pt x="0" y="0"/>
                  </a:moveTo>
                  <a:lnTo>
                    <a:pt x="1703787" y="0"/>
                  </a:lnTo>
                </a:path>
              </a:pathLst>
            </a:custGeom>
            <a:ln w="3777">
              <a:solidFill>
                <a:srgbClr val="000000"/>
              </a:solidFill>
              <a:prstDash val="dash"/>
            </a:ln>
          </p:spPr>
          <p:txBody>
            <a:bodyPr wrap="square" lIns="0" tIns="0" rIns="0" bIns="0" rtlCol="0"/>
            <a:lstStyle/>
            <a:p>
              <a:endParaRPr/>
            </a:p>
          </p:txBody>
        </p:sp>
        <p:sp>
          <p:nvSpPr>
            <p:cNvPr id="280" name="object 280"/>
            <p:cNvSpPr/>
            <p:nvPr/>
          </p:nvSpPr>
          <p:spPr>
            <a:xfrm>
              <a:off x="1438897" y="3843376"/>
              <a:ext cx="1704339" cy="0"/>
            </a:xfrm>
            <a:custGeom>
              <a:avLst/>
              <a:gdLst/>
              <a:ahLst/>
              <a:cxnLst/>
              <a:rect l="l" t="t" r="r" b="b"/>
              <a:pathLst>
                <a:path w="1704339">
                  <a:moveTo>
                    <a:pt x="1703787" y="0"/>
                  </a:moveTo>
                  <a:lnTo>
                    <a:pt x="1686649" y="0"/>
                  </a:lnTo>
                </a:path>
                <a:path w="1704339">
                  <a:moveTo>
                    <a:pt x="0" y="0"/>
                  </a:moveTo>
                  <a:lnTo>
                    <a:pt x="17137" y="0"/>
                  </a:lnTo>
                </a:path>
              </a:pathLst>
            </a:custGeom>
            <a:ln w="3776">
              <a:solidFill>
                <a:srgbClr val="000000"/>
              </a:solidFill>
            </a:ln>
          </p:spPr>
          <p:txBody>
            <a:bodyPr wrap="square" lIns="0" tIns="0" rIns="0" bIns="0" rtlCol="0"/>
            <a:lstStyle/>
            <a:p>
              <a:endParaRPr/>
            </a:p>
          </p:txBody>
        </p:sp>
        <p:sp>
          <p:nvSpPr>
            <p:cNvPr id="281" name="object 281"/>
            <p:cNvSpPr/>
            <p:nvPr/>
          </p:nvSpPr>
          <p:spPr>
            <a:xfrm>
              <a:off x="1438896" y="3843372"/>
              <a:ext cx="0" cy="1136015"/>
            </a:xfrm>
            <a:custGeom>
              <a:avLst/>
              <a:gdLst/>
              <a:ahLst/>
              <a:cxnLst/>
              <a:rect l="l" t="t" r="r" b="b"/>
              <a:pathLst>
                <a:path h="1136014">
                  <a:moveTo>
                    <a:pt x="0" y="1135826"/>
                  </a:moveTo>
                  <a:lnTo>
                    <a:pt x="0" y="0"/>
                  </a:lnTo>
                </a:path>
              </a:pathLst>
            </a:custGeom>
            <a:ln w="3774">
              <a:solidFill>
                <a:srgbClr val="000000"/>
              </a:solidFill>
              <a:prstDash val="dash"/>
            </a:ln>
          </p:spPr>
          <p:txBody>
            <a:bodyPr wrap="square" lIns="0" tIns="0" rIns="0" bIns="0" rtlCol="0"/>
            <a:lstStyle/>
            <a:p>
              <a:endParaRPr/>
            </a:p>
          </p:txBody>
        </p:sp>
        <p:sp>
          <p:nvSpPr>
            <p:cNvPr id="282" name="object 282"/>
            <p:cNvSpPr/>
            <p:nvPr/>
          </p:nvSpPr>
          <p:spPr>
            <a:xfrm>
              <a:off x="1438896" y="3843376"/>
              <a:ext cx="0" cy="1136015"/>
            </a:xfrm>
            <a:custGeom>
              <a:avLst/>
              <a:gdLst/>
              <a:ahLst/>
              <a:cxnLst/>
              <a:rect l="l" t="t" r="r" b="b"/>
              <a:pathLst>
                <a:path h="1136014">
                  <a:moveTo>
                    <a:pt x="0" y="0"/>
                  </a:moveTo>
                  <a:lnTo>
                    <a:pt x="0" y="17149"/>
                  </a:lnTo>
                </a:path>
                <a:path h="1136014">
                  <a:moveTo>
                    <a:pt x="0" y="1135826"/>
                  </a:moveTo>
                  <a:lnTo>
                    <a:pt x="0" y="1118661"/>
                  </a:lnTo>
                </a:path>
              </a:pathLst>
            </a:custGeom>
            <a:ln w="3776">
              <a:solidFill>
                <a:srgbClr val="000000"/>
              </a:solidFill>
            </a:ln>
          </p:spPr>
          <p:txBody>
            <a:bodyPr wrap="square" lIns="0" tIns="0" rIns="0" bIns="0" rtlCol="0"/>
            <a:lstStyle/>
            <a:p>
              <a:endParaRPr/>
            </a:p>
          </p:txBody>
        </p:sp>
      </p:grpSp>
      <p:sp>
        <p:nvSpPr>
          <p:cNvPr id="283" name="object 283"/>
          <p:cNvSpPr txBox="1"/>
          <p:nvPr/>
        </p:nvSpPr>
        <p:spPr>
          <a:xfrm>
            <a:off x="1337697" y="4799199"/>
            <a:ext cx="9144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2.5</a:t>
            </a:r>
            <a:endParaRPr sz="300">
              <a:latin typeface="Arial"/>
              <a:cs typeface="Arial"/>
            </a:endParaRPr>
          </a:p>
        </p:txBody>
      </p:sp>
      <p:sp>
        <p:nvSpPr>
          <p:cNvPr id="284" name="object 284"/>
          <p:cNvSpPr txBox="1"/>
          <p:nvPr/>
        </p:nvSpPr>
        <p:spPr>
          <a:xfrm>
            <a:off x="1369474" y="4657045"/>
            <a:ext cx="5969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2</a:t>
            </a:r>
            <a:endParaRPr sz="300">
              <a:latin typeface="Arial"/>
              <a:cs typeface="Arial"/>
            </a:endParaRPr>
          </a:p>
        </p:txBody>
      </p:sp>
      <p:sp>
        <p:nvSpPr>
          <p:cNvPr id="285" name="object 285"/>
          <p:cNvSpPr txBox="1"/>
          <p:nvPr/>
        </p:nvSpPr>
        <p:spPr>
          <a:xfrm>
            <a:off x="1337697" y="4515189"/>
            <a:ext cx="9144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1.5</a:t>
            </a:r>
            <a:endParaRPr sz="300">
              <a:latin typeface="Arial"/>
              <a:cs typeface="Arial"/>
            </a:endParaRPr>
          </a:p>
        </p:txBody>
      </p:sp>
      <p:sp>
        <p:nvSpPr>
          <p:cNvPr id="286" name="object 286"/>
          <p:cNvSpPr txBox="1"/>
          <p:nvPr/>
        </p:nvSpPr>
        <p:spPr>
          <a:xfrm>
            <a:off x="1369474" y="4373027"/>
            <a:ext cx="5969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1</a:t>
            </a:r>
            <a:endParaRPr sz="300">
              <a:latin typeface="Arial"/>
              <a:cs typeface="Arial"/>
            </a:endParaRPr>
          </a:p>
        </p:txBody>
      </p:sp>
      <p:sp>
        <p:nvSpPr>
          <p:cNvPr id="287" name="object 287"/>
          <p:cNvSpPr txBox="1"/>
          <p:nvPr/>
        </p:nvSpPr>
        <p:spPr>
          <a:xfrm>
            <a:off x="1337697" y="4231177"/>
            <a:ext cx="9144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0.5</a:t>
            </a:r>
            <a:endParaRPr sz="300">
              <a:latin typeface="Arial"/>
              <a:cs typeface="Arial"/>
            </a:endParaRPr>
          </a:p>
        </p:txBody>
      </p:sp>
      <p:sp>
        <p:nvSpPr>
          <p:cNvPr id="288" name="object 288"/>
          <p:cNvSpPr txBox="1"/>
          <p:nvPr/>
        </p:nvSpPr>
        <p:spPr>
          <a:xfrm>
            <a:off x="1382158" y="4089290"/>
            <a:ext cx="46990" cy="71755"/>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0</a:t>
            </a:r>
            <a:endParaRPr sz="300">
              <a:latin typeface="Arial"/>
              <a:cs typeface="Arial"/>
            </a:endParaRPr>
          </a:p>
        </p:txBody>
      </p:sp>
      <p:sp>
        <p:nvSpPr>
          <p:cNvPr id="289" name="object 289"/>
          <p:cNvSpPr txBox="1"/>
          <p:nvPr/>
        </p:nvSpPr>
        <p:spPr>
          <a:xfrm>
            <a:off x="1350397" y="3947150"/>
            <a:ext cx="78740"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0.5</a:t>
            </a:r>
            <a:endParaRPr sz="300">
              <a:latin typeface="Arial"/>
              <a:cs typeface="Arial"/>
            </a:endParaRPr>
          </a:p>
        </p:txBody>
      </p:sp>
      <p:sp>
        <p:nvSpPr>
          <p:cNvPr id="290" name="object 290"/>
          <p:cNvSpPr txBox="1"/>
          <p:nvPr/>
        </p:nvSpPr>
        <p:spPr>
          <a:xfrm>
            <a:off x="1382158" y="3805255"/>
            <a:ext cx="46990" cy="71755"/>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1</a:t>
            </a:r>
            <a:endParaRPr sz="300">
              <a:latin typeface="Arial"/>
              <a:cs typeface="Arial"/>
            </a:endParaRPr>
          </a:p>
        </p:txBody>
      </p:sp>
      <p:sp>
        <p:nvSpPr>
          <p:cNvPr id="291" name="object 291"/>
          <p:cNvSpPr txBox="1"/>
          <p:nvPr/>
        </p:nvSpPr>
        <p:spPr>
          <a:xfrm>
            <a:off x="1420909" y="4979207"/>
            <a:ext cx="46990" cy="71755"/>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0</a:t>
            </a:r>
            <a:endParaRPr sz="300">
              <a:latin typeface="Arial"/>
              <a:cs typeface="Arial"/>
            </a:endParaRPr>
          </a:p>
        </p:txBody>
      </p:sp>
      <p:grpSp>
        <p:nvGrpSpPr>
          <p:cNvPr id="292" name="object 292"/>
          <p:cNvGrpSpPr/>
          <p:nvPr/>
        </p:nvGrpSpPr>
        <p:grpSpPr>
          <a:xfrm>
            <a:off x="1654148" y="3841467"/>
            <a:ext cx="3810" cy="1139825"/>
            <a:chOff x="1654148" y="3841467"/>
            <a:chExt cx="3810" cy="1139825"/>
          </a:xfrm>
        </p:grpSpPr>
        <p:sp>
          <p:nvSpPr>
            <p:cNvPr id="293" name="object 293"/>
            <p:cNvSpPr/>
            <p:nvPr/>
          </p:nvSpPr>
          <p:spPr>
            <a:xfrm>
              <a:off x="1656053" y="3843372"/>
              <a:ext cx="0" cy="1136015"/>
            </a:xfrm>
            <a:custGeom>
              <a:avLst/>
              <a:gdLst/>
              <a:ahLst/>
              <a:cxnLst/>
              <a:rect l="l" t="t" r="r" b="b"/>
              <a:pathLst>
                <a:path h="1136014">
                  <a:moveTo>
                    <a:pt x="0" y="1135826"/>
                  </a:moveTo>
                  <a:lnTo>
                    <a:pt x="0" y="0"/>
                  </a:lnTo>
                </a:path>
              </a:pathLst>
            </a:custGeom>
            <a:ln w="3774">
              <a:solidFill>
                <a:srgbClr val="000000"/>
              </a:solidFill>
              <a:prstDash val="dash"/>
            </a:ln>
          </p:spPr>
          <p:txBody>
            <a:bodyPr wrap="square" lIns="0" tIns="0" rIns="0" bIns="0" rtlCol="0"/>
            <a:lstStyle/>
            <a:p>
              <a:endParaRPr/>
            </a:p>
          </p:txBody>
        </p:sp>
        <p:sp>
          <p:nvSpPr>
            <p:cNvPr id="294" name="object 294"/>
            <p:cNvSpPr/>
            <p:nvPr/>
          </p:nvSpPr>
          <p:spPr>
            <a:xfrm>
              <a:off x="1656053" y="3843376"/>
              <a:ext cx="0" cy="1136015"/>
            </a:xfrm>
            <a:custGeom>
              <a:avLst/>
              <a:gdLst/>
              <a:ahLst/>
              <a:cxnLst/>
              <a:rect l="l" t="t" r="r" b="b"/>
              <a:pathLst>
                <a:path h="1136014">
                  <a:moveTo>
                    <a:pt x="0" y="0"/>
                  </a:moveTo>
                  <a:lnTo>
                    <a:pt x="0" y="17149"/>
                  </a:lnTo>
                </a:path>
                <a:path h="1136014">
                  <a:moveTo>
                    <a:pt x="0" y="1135826"/>
                  </a:moveTo>
                  <a:lnTo>
                    <a:pt x="0" y="1118661"/>
                  </a:lnTo>
                </a:path>
              </a:pathLst>
            </a:custGeom>
            <a:ln w="3776">
              <a:solidFill>
                <a:srgbClr val="000000"/>
              </a:solidFill>
            </a:ln>
          </p:spPr>
          <p:txBody>
            <a:bodyPr wrap="square" lIns="0" tIns="0" rIns="0" bIns="0" rtlCol="0"/>
            <a:lstStyle/>
            <a:p>
              <a:endParaRPr/>
            </a:p>
          </p:txBody>
        </p:sp>
      </p:grpSp>
      <p:sp>
        <p:nvSpPr>
          <p:cNvPr id="295" name="object 295"/>
          <p:cNvSpPr txBox="1"/>
          <p:nvPr/>
        </p:nvSpPr>
        <p:spPr>
          <a:xfrm>
            <a:off x="1627490" y="4979207"/>
            <a:ext cx="67945"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20</a:t>
            </a:r>
            <a:endParaRPr sz="300">
              <a:latin typeface="Arial"/>
              <a:cs typeface="Arial"/>
            </a:endParaRPr>
          </a:p>
        </p:txBody>
      </p:sp>
      <p:grpSp>
        <p:nvGrpSpPr>
          <p:cNvPr id="296" name="object 296"/>
          <p:cNvGrpSpPr/>
          <p:nvPr/>
        </p:nvGrpSpPr>
        <p:grpSpPr>
          <a:xfrm>
            <a:off x="1871033" y="3841467"/>
            <a:ext cx="3810" cy="1139825"/>
            <a:chOff x="1871033" y="3841467"/>
            <a:chExt cx="3810" cy="1139825"/>
          </a:xfrm>
        </p:grpSpPr>
        <p:sp>
          <p:nvSpPr>
            <p:cNvPr id="297" name="object 297"/>
            <p:cNvSpPr/>
            <p:nvPr/>
          </p:nvSpPr>
          <p:spPr>
            <a:xfrm>
              <a:off x="1872938" y="3843372"/>
              <a:ext cx="0" cy="1136015"/>
            </a:xfrm>
            <a:custGeom>
              <a:avLst/>
              <a:gdLst/>
              <a:ahLst/>
              <a:cxnLst/>
              <a:rect l="l" t="t" r="r" b="b"/>
              <a:pathLst>
                <a:path h="1136014">
                  <a:moveTo>
                    <a:pt x="0" y="1135826"/>
                  </a:moveTo>
                  <a:lnTo>
                    <a:pt x="0" y="0"/>
                  </a:lnTo>
                </a:path>
              </a:pathLst>
            </a:custGeom>
            <a:ln w="3774">
              <a:solidFill>
                <a:srgbClr val="000000"/>
              </a:solidFill>
              <a:prstDash val="dash"/>
            </a:ln>
          </p:spPr>
          <p:txBody>
            <a:bodyPr wrap="square" lIns="0" tIns="0" rIns="0" bIns="0" rtlCol="0"/>
            <a:lstStyle/>
            <a:p>
              <a:endParaRPr/>
            </a:p>
          </p:txBody>
        </p:sp>
        <p:sp>
          <p:nvSpPr>
            <p:cNvPr id="298" name="object 298"/>
            <p:cNvSpPr/>
            <p:nvPr/>
          </p:nvSpPr>
          <p:spPr>
            <a:xfrm>
              <a:off x="1872938" y="3843376"/>
              <a:ext cx="0" cy="1136015"/>
            </a:xfrm>
            <a:custGeom>
              <a:avLst/>
              <a:gdLst/>
              <a:ahLst/>
              <a:cxnLst/>
              <a:rect l="l" t="t" r="r" b="b"/>
              <a:pathLst>
                <a:path h="1136014">
                  <a:moveTo>
                    <a:pt x="0" y="0"/>
                  </a:moveTo>
                  <a:lnTo>
                    <a:pt x="0" y="17149"/>
                  </a:lnTo>
                </a:path>
                <a:path h="1136014">
                  <a:moveTo>
                    <a:pt x="0" y="1135826"/>
                  </a:moveTo>
                  <a:lnTo>
                    <a:pt x="0" y="1118661"/>
                  </a:lnTo>
                </a:path>
              </a:pathLst>
            </a:custGeom>
            <a:ln w="3776">
              <a:solidFill>
                <a:srgbClr val="000000"/>
              </a:solidFill>
            </a:ln>
          </p:spPr>
          <p:txBody>
            <a:bodyPr wrap="square" lIns="0" tIns="0" rIns="0" bIns="0" rtlCol="0"/>
            <a:lstStyle/>
            <a:p>
              <a:endParaRPr/>
            </a:p>
          </p:txBody>
        </p:sp>
      </p:grpSp>
      <p:sp>
        <p:nvSpPr>
          <p:cNvPr id="299" name="object 299"/>
          <p:cNvSpPr txBox="1"/>
          <p:nvPr/>
        </p:nvSpPr>
        <p:spPr>
          <a:xfrm>
            <a:off x="1844378" y="4979207"/>
            <a:ext cx="67945"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40</a:t>
            </a:r>
            <a:endParaRPr sz="300">
              <a:latin typeface="Arial"/>
              <a:cs typeface="Arial"/>
            </a:endParaRPr>
          </a:p>
        </p:txBody>
      </p:sp>
      <p:grpSp>
        <p:nvGrpSpPr>
          <p:cNvPr id="300" name="object 300"/>
          <p:cNvGrpSpPr/>
          <p:nvPr/>
        </p:nvGrpSpPr>
        <p:grpSpPr>
          <a:xfrm>
            <a:off x="2088191" y="3841467"/>
            <a:ext cx="655320" cy="1139825"/>
            <a:chOff x="2088191" y="3841467"/>
            <a:chExt cx="655320" cy="1139825"/>
          </a:xfrm>
        </p:grpSpPr>
        <p:sp>
          <p:nvSpPr>
            <p:cNvPr id="301" name="object 301"/>
            <p:cNvSpPr/>
            <p:nvPr/>
          </p:nvSpPr>
          <p:spPr>
            <a:xfrm>
              <a:off x="2090096" y="3843372"/>
              <a:ext cx="0" cy="1136015"/>
            </a:xfrm>
            <a:custGeom>
              <a:avLst/>
              <a:gdLst/>
              <a:ahLst/>
              <a:cxnLst/>
              <a:rect l="l" t="t" r="r" b="b"/>
              <a:pathLst>
                <a:path h="1136014">
                  <a:moveTo>
                    <a:pt x="0" y="1135826"/>
                  </a:moveTo>
                  <a:lnTo>
                    <a:pt x="0" y="0"/>
                  </a:lnTo>
                </a:path>
              </a:pathLst>
            </a:custGeom>
            <a:ln w="3774">
              <a:solidFill>
                <a:srgbClr val="000000"/>
              </a:solidFill>
              <a:prstDash val="dash"/>
            </a:ln>
          </p:spPr>
          <p:txBody>
            <a:bodyPr wrap="square" lIns="0" tIns="0" rIns="0" bIns="0" rtlCol="0"/>
            <a:lstStyle/>
            <a:p>
              <a:endParaRPr/>
            </a:p>
          </p:txBody>
        </p:sp>
        <p:sp>
          <p:nvSpPr>
            <p:cNvPr id="302" name="object 302"/>
            <p:cNvSpPr/>
            <p:nvPr/>
          </p:nvSpPr>
          <p:spPr>
            <a:xfrm>
              <a:off x="2090096" y="3843376"/>
              <a:ext cx="0" cy="1136015"/>
            </a:xfrm>
            <a:custGeom>
              <a:avLst/>
              <a:gdLst/>
              <a:ahLst/>
              <a:cxnLst/>
              <a:rect l="l" t="t" r="r" b="b"/>
              <a:pathLst>
                <a:path h="1136014">
                  <a:moveTo>
                    <a:pt x="0" y="0"/>
                  </a:moveTo>
                  <a:lnTo>
                    <a:pt x="0" y="17149"/>
                  </a:lnTo>
                </a:path>
                <a:path h="1136014">
                  <a:moveTo>
                    <a:pt x="0" y="1135826"/>
                  </a:moveTo>
                  <a:lnTo>
                    <a:pt x="0" y="1118661"/>
                  </a:lnTo>
                </a:path>
              </a:pathLst>
            </a:custGeom>
            <a:ln w="3776">
              <a:solidFill>
                <a:srgbClr val="000000"/>
              </a:solidFill>
            </a:ln>
          </p:spPr>
          <p:txBody>
            <a:bodyPr wrap="square" lIns="0" tIns="0" rIns="0" bIns="0" rtlCol="0"/>
            <a:lstStyle/>
            <a:p>
              <a:endParaRPr/>
            </a:p>
          </p:txBody>
        </p:sp>
        <p:sp>
          <p:nvSpPr>
            <p:cNvPr id="303" name="object 303"/>
            <p:cNvSpPr/>
            <p:nvPr/>
          </p:nvSpPr>
          <p:spPr>
            <a:xfrm>
              <a:off x="2306981" y="3843372"/>
              <a:ext cx="0" cy="1136015"/>
            </a:xfrm>
            <a:custGeom>
              <a:avLst/>
              <a:gdLst/>
              <a:ahLst/>
              <a:cxnLst/>
              <a:rect l="l" t="t" r="r" b="b"/>
              <a:pathLst>
                <a:path h="1136014">
                  <a:moveTo>
                    <a:pt x="0" y="1135826"/>
                  </a:moveTo>
                  <a:lnTo>
                    <a:pt x="0" y="0"/>
                  </a:lnTo>
                </a:path>
              </a:pathLst>
            </a:custGeom>
            <a:ln w="3774">
              <a:solidFill>
                <a:srgbClr val="000000"/>
              </a:solidFill>
              <a:prstDash val="dash"/>
            </a:ln>
          </p:spPr>
          <p:txBody>
            <a:bodyPr wrap="square" lIns="0" tIns="0" rIns="0" bIns="0" rtlCol="0"/>
            <a:lstStyle/>
            <a:p>
              <a:endParaRPr/>
            </a:p>
          </p:txBody>
        </p:sp>
        <p:sp>
          <p:nvSpPr>
            <p:cNvPr id="304" name="object 304"/>
            <p:cNvSpPr/>
            <p:nvPr/>
          </p:nvSpPr>
          <p:spPr>
            <a:xfrm>
              <a:off x="2306981" y="3843376"/>
              <a:ext cx="0" cy="1136015"/>
            </a:xfrm>
            <a:custGeom>
              <a:avLst/>
              <a:gdLst/>
              <a:ahLst/>
              <a:cxnLst/>
              <a:rect l="l" t="t" r="r" b="b"/>
              <a:pathLst>
                <a:path h="1136014">
                  <a:moveTo>
                    <a:pt x="0" y="0"/>
                  </a:moveTo>
                  <a:lnTo>
                    <a:pt x="0" y="17149"/>
                  </a:lnTo>
                </a:path>
                <a:path h="1136014">
                  <a:moveTo>
                    <a:pt x="0" y="1135826"/>
                  </a:moveTo>
                  <a:lnTo>
                    <a:pt x="0" y="1118661"/>
                  </a:lnTo>
                </a:path>
              </a:pathLst>
            </a:custGeom>
            <a:ln w="3776">
              <a:solidFill>
                <a:srgbClr val="000000"/>
              </a:solidFill>
            </a:ln>
          </p:spPr>
          <p:txBody>
            <a:bodyPr wrap="square" lIns="0" tIns="0" rIns="0" bIns="0" rtlCol="0"/>
            <a:lstStyle/>
            <a:p>
              <a:endParaRPr/>
            </a:p>
          </p:txBody>
        </p:sp>
        <p:sp>
          <p:nvSpPr>
            <p:cNvPr id="305" name="object 305"/>
            <p:cNvSpPr/>
            <p:nvPr/>
          </p:nvSpPr>
          <p:spPr>
            <a:xfrm>
              <a:off x="2524140" y="3843384"/>
              <a:ext cx="0" cy="1136015"/>
            </a:xfrm>
            <a:custGeom>
              <a:avLst/>
              <a:gdLst/>
              <a:ahLst/>
              <a:cxnLst/>
              <a:rect l="l" t="t" r="r" b="b"/>
              <a:pathLst>
                <a:path h="1136014">
                  <a:moveTo>
                    <a:pt x="0" y="17149"/>
                  </a:moveTo>
                  <a:lnTo>
                    <a:pt x="0" y="0"/>
                  </a:lnTo>
                </a:path>
                <a:path h="1136014">
                  <a:moveTo>
                    <a:pt x="0" y="1135810"/>
                  </a:moveTo>
                  <a:lnTo>
                    <a:pt x="0" y="55270"/>
                  </a:lnTo>
                </a:path>
              </a:pathLst>
            </a:custGeom>
            <a:ln w="3776">
              <a:solidFill>
                <a:srgbClr val="000000"/>
              </a:solidFill>
              <a:prstDash val="dash"/>
            </a:ln>
          </p:spPr>
          <p:txBody>
            <a:bodyPr wrap="square" lIns="0" tIns="0" rIns="0" bIns="0" rtlCol="0"/>
            <a:lstStyle/>
            <a:p>
              <a:endParaRPr/>
            </a:p>
          </p:txBody>
        </p:sp>
        <p:sp>
          <p:nvSpPr>
            <p:cNvPr id="306" name="object 306"/>
            <p:cNvSpPr/>
            <p:nvPr/>
          </p:nvSpPr>
          <p:spPr>
            <a:xfrm>
              <a:off x="2524140" y="3843376"/>
              <a:ext cx="0" cy="1136015"/>
            </a:xfrm>
            <a:custGeom>
              <a:avLst/>
              <a:gdLst/>
              <a:ahLst/>
              <a:cxnLst/>
              <a:rect l="l" t="t" r="r" b="b"/>
              <a:pathLst>
                <a:path h="1136014">
                  <a:moveTo>
                    <a:pt x="0" y="0"/>
                  </a:moveTo>
                  <a:lnTo>
                    <a:pt x="0" y="17149"/>
                  </a:lnTo>
                </a:path>
                <a:path h="1136014">
                  <a:moveTo>
                    <a:pt x="0" y="1135826"/>
                  </a:moveTo>
                  <a:lnTo>
                    <a:pt x="0" y="1118661"/>
                  </a:lnTo>
                </a:path>
              </a:pathLst>
            </a:custGeom>
            <a:ln w="3776">
              <a:solidFill>
                <a:srgbClr val="000000"/>
              </a:solidFill>
            </a:ln>
          </p:spPr>
          <p:txBody>
            <a:bodyPr wrap="square" lIns="0" tIns="0" rIns="0" bIns="0" rtlCol="0"/>
            <a:lstStyle/>
            <a:p>
              <a:endParaRPr/>
            </a:p>
          </p:txBody>
        </p:sp>
        <p:sp>
          <p:nvSpPr>
            <p:cNvPr id="307" name="object 307"/>
            <p:cNvSpPr/>
            <p:nvPr/>
          </p:nvSpPr>
          <p:spPr>
            <a:xfrm>
              <a:off x="2741025" y="3843384"/>
              <a:ext cx="0" cy="1136015"/>
            </a:xfrm>
            <a:custGeom>
              <a:avLst/>
              <a:gdLst/>
              <a:ahLst/>
              <a:cxnLst/>
              <a:rect l="l" t="t" r="r" b="b"/>
              <a:pathLst>
                <a:path h="1136014">
                  <a:moveTo>
                    <a:pt x="0" y="17149"/>
                  </a:moveTo>
                  <a:lnTo>
                    <a:pt x="0" y="0"/>
                  </a:lnTo>
                </a:path>
                <a:path h="1136014">
                  <a:moveTo>
                    <a:pt x="0" y="1135810"/>
                  </a:moveTo>
                  <a:lnTo>
                    <a:pt x="0" y="55270"/>
                  </a:lnTo>
                </a:path>
              </a:pathLst>
            </a:custGeom>
            <a:ln w="3776">
              <a:solidFill>
                <a:srgbClr val="000000"/>
              </a:solidFill>
              <a:prstDash val="dash"/>
            </a:ln>
          </p:spPr>
          <p:txBody>
            <a:bodyPr wrap="square" lIns="0" tIns="0" rIns="0" bIns="0" rtlCol="0"/>
            <a:lstStyle/>
            <a:p>
              <a:endParaRPr/>
            </a:p>
          </p:txBody>
        </p:sp>
        <p:sp>
          <p:nvSpPr>
            <p:cNvPr id="308" name="object 308"/>
            <p:cNvSpPr/>
            <p:nvPr/>
          </p:nvSpPr>
          <p:spPr>
            <a:xfrm>
              <a:off x="2741025" y="3843376"/>
              <a:ext cx="0" cy="1136015"/>
            </a:xfrm>
            <a:custGeom>
              <a:avLst/>
              <a:gdLst/>
              <a:ahLst/>
              <a:cxnLst/>
              <a:rect l="l" t="t" r="r" b="b"/>
              <a:pathLst>
                <a:path h="1136014">
                  <a:moveTo>
                    <a:pt x="0" y="0"/>
                  </a:moveTo>
                  <a:lnTo>
                    <a:pt x="0" y="17149"/>
                  </a:lnTo>
                </a:path>
                <a:path h="1136014">
                  <a:moveTo>
                    <a:pt x="0" y="1135826"/>
                  </a:moveTo>
                  <a:lnTo>
                    <a:pt x="0" y="1118661"/>
                  </a:lnTo>
                </a:path>
              </a:pathLst>
            </a:custGeom>
            <a:ln w="3776">
              <a:solidFill>
                <a:srgbClr val="000000"/>
              </a:solidFill>
            </a:ln>
          </p:spPr>
          <p:txBody>
            <a:bodyPr wrap="square" lIns="0" tIns="0" rIns="0" bIns="0" rtlCol="0"/>
            <a:lstStyle/>
            <a:p>
              <a:endParaRPr/>
            </a:p>
          </p:txBody>
        </p:sp>
      </p:grpSp>
      <p:sp>
        <p:nvSpPr>
          <p:cNvPr id="309" name="object 309"/>
          <p:cNvSpPr txBox="1"/>
          <p:nvPr/>
        </p:nvSpPr>
        <p:spPr>
          <a:xfrm>
            <a:off x="2701844" y="4979207"/>
            <a:ext cx="89535"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120</a:t>
            </a:r>
            <a:endParaRPr sz="300">
              <a:latin typeface="Arial"/>
              <a:cs typeface="Arial"/>
            </a:endParaRPr>
          </a:p>
        </p:txBody>
      </p:sp>
      <p:grpSp>
        <p:nvGrpSpPr>
          <p:cNvPr id="310" name="object 310"/>
          <p:cNvGrpSpPr/>
          <p:nvPr/>
        </p:nvGrpSpPr>
        <p:grpSpPr>
          <a:xfrm>
            <a:off x="2956278" y="3841471"/>
            <a:ext cx="3810" cy="1139825"/>
            <a:chOff x="2956278" y="3841471"/>
            <a:chExt cx="3810" cy="1139825"/>
          </a:xfrm>
        </p:grpSpPr>
        <p:sp>
          <p:nvSpPr>
            <p:cNvPr id="311" name="object 311"/>
            <p:cNvSpPr/>
            <p:nvPr/>
          </p:nvSpPr>
          <p:spPr>
            <a:xfrm>
              <a:off x="2958183" y="3843383"/>
              <a:ext cx="0" cy="1136015"/>
            </a:xfrm>
            <a:custGeom>
              <a:avLst/>
              <a:gdLst/>
              <a:ahLst/>
              <a:cxnLst/>
              <a:rect l="l" t="t" r="r" b="b"/>
              <a:pathLst>
                <a:path h="1136014">
                  <a:moveTo>
                    <a:pt x="0" y="17149"/>
                  </a:moveTo>
                  <a:lnTo>
                    <a:pt x="0" y="0"/>
                  </a:lnTo>
                </a:path>
                <a:path h="1136014">
                  <a:moveTo>
                    <a:pt x="0" y="1135810"/>
                  </a:moveTo>
                  <a:lnTo>
                    <a:pt x="0" y="55270"/>
                  </a:lnTo>
                </a:path>
              </a:pathLst>
            </a:custGeom>
            <a:ln w="3776">
              <a:solidFill>
                <a:srgbClr val="000000"/>
              </a:solidFill>
              <a:prstDash val="dash"/>
            </a:ln>
          </p:spPr>
          <p:txBody>
            <a:bodyPr wrap="square" lIns="0" tIns="0" rIns="0" bIns="0" rtlCol="0"/>
            <a:lstStyle/>
            <a:p>
              <a:endParaRPr/>
            </a:p>
          </p:txBody>
        </p:sp>
        <p:sp>
          <p:nvSpPr>
            <p:cNvPr id="312" name="object 312"/>
            <p:cNvSpPr/>
            <p:nvPr/>
          </p:nvSpPr>
          <p:spPr>
            <a:xfrm>
              <a:off x="2958183" y="3843376"/>
              <a:ext cx="0" cy="1136015"/>
            </a:xfrm>
            <a:custGeom>
              <a:avLst/>
              <a:gdLst/>
              <a:ahLst/>
              <a:cxnLst/>
              <a:rect l="l" t="t" r="r" b="b"/>
              <a:pathLst>
                <a:path h="1136014">
                  <a:moveTo>
                    <a:pt x="0" y="0"/>
                  </a:moveTo>
                  <a:lnTo>
                    <a:pt x="0" y="17149"/>
                  </a:lnTo>
                </a:path>
                <a:path h="1136014">
                  <a:moveTo>
                    <a:pt x="0" y="1135826"/>
                  </a:moveTo>
                  <a:lnTo>
                    <a:pt x="0" y="1118661"/>
                  </a:lnTo>
                </a:path>
              </a:pathLst>
            </a:custGeom>
            <a:ln w="3776">
              <a:solidFill>
                <a:srgbClr val="000000"/>
              </a:solidFill>
            </a:ln>
          </p:spPr>
          <p:txBody>
            <a:bodyPr wrap="square" lIns="0" tIns="0" rIns="0" bIns="0" rtlCol="0"/>
            <a:lstStyle/>
            <a:p>
              <a:endParaRPr/>
            </a:p>
          </p:txBody>
        </p:sp>
      </p:grpSp>
      <p:sp>
        <p:nvSpPr>
          <p:cNvPr id="313" name="object 313"/>
          <p:cNvSpPr txBox="1"/>
          <p:nvPr/>
        </p:nvSpPr>
        <p:spPr>
          <a:xfrm>
            <a:off x="2919012" y="4979207"/>
            <a:ext cx="89535"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140</a:t>
            </a:r>
            <a:endParaRPr sz="300">
              <a:latin typeface="Arial"/>
              <a:cs typeface="Arial"/>
            </a:endParaRPr>
          </a:p>
        </p:txBody>
      </p:sp>
      <p:sp>
        <p:nvSpPr>
          <p:cNvPr id="314" name="object 314"/>
          <p:cNvSpPr/>
          <p:nvPr/>
        </p:nvSpPr>
        <p:spPr>
          <a:xfrm>
            <a:off x="1438901" y="3843377"/>
            <a:ext cx="1704339" cy="1136015"/>
          </a:xfrm>
          <a:custGeom>
            <a:avLst/>
            <a:gdLst/>
            <a:ahLst/>
            <a:cxnLst/>
            <a:rect l="l" t="t" r="r" b="b"/>
            <a:pathLst>
              <a:path w="1704339" h="1136014">
                <a:moveTo>
                  <a:pt x="0" y="1135826"/>
                </a:moveTo>
                <a:lnTo>
                  <a:pt x="1703787" y="1135826"/>
                </a:lnTo>
                <a:lnTo>
                  <a:pt x="1703787" y="0"/>
                </a:lnTo>
                <a:lnTo>
                  <a:pt x="0" y="0"/>
                </a:lnTo>
                <a:lnTo>
                  <a:pt x="0" y="1135826"/>
                </a:lnTo>
                <a:close/>
              </a:path>
            </a:pathLst>
          </a:custGeom>
          <a:ln w="3776">
            <a:solidFill>
              <a:srgbClr val="000000"/>
            </a:solidFill>
          </a:ln>
        </p:spPr>
        <p:txBody>
          <a:bodyPr wrap="square" lIns="0" tIns="0" rIns="0" bIns="0" rtlCol="0"/>
          <a:lstStyle/>
          <a:p>
            <a:endParaRPr/>
          </a:p>
        </p:txBody>
      </p:sp>
      <p:sp>
        <p:nvSpPr>
          <p:cNvPr id="315" name="object 315"/>
          <p:cNvSpPr txBox="1"/>
          <p:nvPr/>
        </p:nvSpPr>
        <p:spPr>
          <a:xfrm>
            <a:off x="2061516" y="4967751"/>
            <a:ext cx="512445" cy="140335"/>
          </a:xfrm>
          <a:prstGeom prst="rect">
            <a:avLst/>
          </a:prstGeom>
        </p:spPr>
        <p:txBody>
          <a:bodyPr vert="horz" wrap="square" lIns="0" tIns="24130" rIns="0" bIns="0" rtlCol="0">
            <a:spAutoFit/>
          </a:bodyPr>
          <a:lstStyle/>
          <a:p>
            <a:pPr marL="12700">
              <a:lnSpc>
                <a:spcPct val="100000"/>
              </a:lnSpc>
              <a:spcBef>
                <a:spcPts val="190"/>
              </a:spcBef>
              <a:tabLst>
                <a:tab pos="229235" algn="l"/>
                <a:tab pos="435609" algn="l"/>
              </a:tabLst>
            </a:pPr>
            <a:r>
              <a:rPr sz="300" spc="-25" dirty="0">
                <a:latin typeface="Arial"/>
                <a:cs typeface="Arial"/>
              </a:rPr>
              <a:t>60</a:t>
            </a:r>
            <a:r>
              <a:rPr sz="300" dirty="0">
                <a:latin typeface="Arial"/>
                <a:cs typeface="Arial"/>
              </a:rPr>
              <a:t>	</a:t>
            </a:r>
            <a:r>
              <a:rPr sz="300" spc="-25" dirty="0">
                <a:latin typeface="Arial"/>
                <a:cs typeface="Arial"/>
              </a:rPr>
              <a:t>80</a:t>
            </a:r>
            <a:r>
              <a:rPr sz="300" dirty="0">
                <a:latin typeface="Arial"/>
                <a:cs typeface="Arial"/>
              </a:rPr>
              <a:t>	</a:t>
            </a:r>
            <a:r>
              <a:rPr sz="300" spc="-25" dirty="0">
                <a:latin typeface="Arial"/>
                <a:cs typeface="Arial"/>
              </a:rPr>
              <a:t>100</a:t>
            </a:r>
            <a:endParaRPr sz="300">
              <a:latin typeface="Arial"/>
              <a:cs typeface="Arial"/>
            </a:endParaRPr>
          </a:p>
          <a:p>
            <a:pPr marL="161290">
              <a:lnSpc>
                <a:spcPct val="100000"/>
              </a:lnSpc>
              <a:spcBef>
                <a:spcPts val="90"/>
              </a:spcBef>
            </a:pPr>
            <a:r>
              <a:rPr sz="300" spc="-10" dirty="0">
                <a:latin typeface="Arial"/>
                <a:cs typeface="Arial"/>
              </a:rPr>
              <a:t>Position</a:t>
            </a:r>
            <a:endParaRPr sz="300">
              <a:latin typeface="Arial"/>
              <a:cs typeface="Arial"/>
            </a:endParaRPr>
          </a:p>
        </p:txBody>
      </p:sp>
      <p:sp>
        <p:nvSpPr>
          <p:cNvPr id="316" name="object 316"/>
          <p:cNvSpPr txBox="1"/>
          <p:nvPr/>
        </p:nvSpPr>
        <p:spPr>
          <a:xfrm>
            <a:off x="1253929" y="4348971"/>
            <a:ext cx="68580" cy="125095"/>
          </a:xfrm>
          <a:prstGeom prst="rect">
            <a:avLst/>
          </a:prstGeom>
        </p:spPr>
        <p:txBody>
          <a:bodyPr vert="vert270" wrap="square" lIns="0" tIns="8890" rIns="0" bIns="0" rtlCol="0">
            <a:spAutoFit/>
          </a:bodyPr>
          <a:lstStyle/>
          <a:p>
            <a:pPr marL="12700">
              <a:lnSpc>
                <a:spcPct val="100000"/>
              </a:lnSpc>
              <a:spcBef>
                <a:spcPts val="70"/>
              </a:spcBef>
            </a:pPr>
            <a:r>
              <a:rPr sz="300" spc="-20" dirty="0">
                <a:latin typeface="Arial"/>
                <a:cs typeface="Arial"/>
              </a:rPr>
              <a:t>Score</a:t>
            </a:r>
            <a:endParaRPr sz="300">
              <a:latin typeface="Arial"/>
              <a:cs typeface="Arial"/>
            </a:endParaRPr>
          </a:p>
        </p:txBody>
      </p:sp>
      <p:sp>
        <p:nvSpPr>
          <p:cNvPr id="317" name="object 317"/>
          <p:cNvSpPr txBox="1"/>
          <p:nvPr/>
        </p:nvSpPr>
        <p:spPr>
          <a:xfrm>
            <a:off x="2499714" y="3841450"/>
            <a:ext cx="47879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Hydropath.</a:t>
            </a:r>
            <a:r>
              <a:rPr sz="300" spc="-5" dirty="0">
                <a:latin typeface="Arial"/>
                <a:cs typeface="Arial"/>
              </a:rPr>
              <a:t> </a:t>
            </a:r>
            <a:r>
              <a:rPr sz="300" dirty="0">
                <a:latin typeface="Arial"/>
                <a:cs typeface="Arial"/>
              </a:rPr>
              <a:t>/ Kyte</a:t>
            </a:r>
            <a:r>
              <a:rPr sz="300" spc="80" dirty="0">
                <a:latin typeface="Arial"/>
                <a:cs typeface="Arial"/>
              </a:rPr>
              <a:t> </a:t>
            </a:r>
            <a:r>
              <a:rPr sz="300" spc="-10" dirty="0">
                <a:latin typeface="Arial"/>
                <a:cs typeface="Arial"/>
              </a:rPr>
              <a:t>Doolittle</a:t>
            </a:r>
            <a:endParaRPr sz="300">
              <a:latin typeface="Arial"/>
              <a:cs typeface="Arial"/>
            </a:endParaRPr>
          </a:p>
        </p:txBody>
      </p:sp>
      <p:grpSp>
        <p:nvGrpSpPr>
          <p:cNvPr id="318" name="object 318"/>
          <p:cNvGrpSpPr/>
          <p:nvPr/>
        </p:nvGrpSpPr>
        <p:grpSpPr>
          <a:xfrm>
            <a:off x="1437012" y="3841489"/>
            <a:ext cx="1708150" cy="1139825"/>
            <a:chOff x="1437012" y="3841489"/>
            <a:chExt cx="1708150" cy="1139825"/>
          </a:xfrm>
        </p:grpSpPr>
        <p:sp>
          <p:nvSpPr>
            <p:cNvPr id="319" name="object 319"/>
            <p:cNvSpPr/>
            <p:nvPr/>
          </p:nvSpPr>
          <p:spPr>
            <a:xfrm>
              <a:off x="1493050" y="3879596"/>
              <a:ext cx="1604010" cy="960119"/>
            </a:xfrm>
            <a:custGeom>
              <a:avLst/>
              <a:gdLst/>
              <a:ahLst/>
              <a:cxnLst/>
              <a:rect l="l" t="t" r="r" b="b"/>
              <a:pathLst>
                <a:path w="1604010" h="960120">
                  <a:moveTo>
                    <a:pt x="0" y="816668"/>
                  </a:moveTo>
                  <a:lnTo>
                    <a:pt x="10886" y="803598"/>
                  </a:lnTo>
                  <a:lnTo>
                    <a:pt x="21772" y="696849"/>
                  </a:lnTo>
                  <a:lnTo>
                    <a:pt x="32659" y="636668"/>
                  </a:lnTo>
                  <a:lnTo>
                    <a:pt x="43545" y="596643"/>
                  </a:lnTo>
                  <a:lnTo>
                    <a:pt x="54432" y="585749"/>
                  </a:lnTo>
                  <a:lnTo>
                    <a:pt x="65303" y="549804"/>
                  </a:lnTo>
                  <a:lnTo>
                    <a:pt x="76190" y="595827"/>
                  </a:lnTo>
                  <a:lnTo>
                    <a:pt x="86804" y="668806"/>
                  </a:lnTo>
                  <a:lnTo>
                    <a:pt x="97691" y="692498"/>
                  </a:lnTo>
                  <a:lnTo>
                    <a:pt x="108577" y="744777"/>
                  </a:lnTo>
                  <a:lnTo>
                    <a:pt x="119464" y="780450"/>
                  </a:lnTo>
                  <a:lnTo>
                    <a:pt x="130350" y="879025"/>
                  </a:lnTo>
                  <a:lnTo>
                    <a:pt x="141237" y="892638"/>
                  </a:lnTo>
                  <a:lnTo>
                    <a:pt x="152123" y="929128"/>
                  </a:lnTo>
                  <a:lnTo>
                    <a:pt x="163010" y="927496"/>
                  </a:lnTo>
                  <a:lnTo>
                    <a:pt x="173609" y="864323"/>
                  </a:lnTo>
                  <a:lnTo>
                    <a:pt x="184496" y="736602"/>
                  </a:lnTo>
                  <a:lnTo>
                    <a:pt x="195382" y="598003"/>
                  </a:lnTo>
                  <a:lnTo>
                    <a:pt x="206269" y="473818"/>
                  </a:lnTo>
                  <a:lnTo>
                    <a:pt x="217155" y="326229"/>
                  </a:lnTo>
                  <a:lnTo>
                    <a:pt x="228042" y="276941"/>
                  </a:lnTo>
                  <a:lnTo>
                    <a:pt x="238928" y="313431"/>
                  </a:lnTo>
                  <a:lnTo>
                    <a:pt x="249815" y="359182"/>
                  </a:lnTo>
                  <a:lnTo>
                    <a:pt x="260430" y="453405"/>
                  </a:lnTo>
                  <a:lnTo>
                    <a:pt x="271316" y="581655"/>
                  </a:lnTo>
                  <a:lnTo>
                    <a:pt x="282203" y="652730"/>
                  </a:lnTo>
                  <a:lnTo>
                    <a:pt x="293074" y="655736"/>
                  </a:lnTo>
                  <a:lnTo>
                    <a:pt x="303960" y="671526"/>
                  </a:lnTo>
                  <a:lnTo>
                    <a:pt x="314847" y="732523"/>
                  </a:lnTo>
                  <a:lnTo>
                    <a:pt x="325733" y="729803"/>
                  </a:lnTo>
                  <a:lnTo>
                    <a:pt x="336620" y="710463"/>
                  </a:lnTo>
                  <a:lnTo>
                    <a:pt x="347506" y="791888"/>
                  </a:lnTo>
                  <a:lnTo>
                    <a:pt x="358121" y="856421"/>
                  </a:lnTo>
                  <a:lnTo>
                    <a:pt x="369008" y="859971"/>
                  </a:lnTo>
                  <a:lnTo>
                    <a:pt x="379894" y="852885"/>
                  </a:lnTo>
                  <a:lnTo>
                    <a:pt x="390780" y="884479"/>
                  </a:lnTo>
                  <a:lnTo>
                    <a:pt x="401667" y="871409"/>
                  </a:lnTo>
                  <a:lnTo>
                    <a:pt x="412538" y="806318"/>
                  </a:lnTo>
                  <a:lnTo>
                    <a:pt x="423425" y="709647"/>
                  </a:lnTo>
                  <a:lnTo>
                    <a:pt x="434311" y="676149"/>
                  </a:lnTo>
                  <a:lnTo>
                    <a:pt x="444926" y="620335"/>
                  </a:lnTo>
                  <a:lnTo>
                    <a:pt x="455812" y="506772"/>
                  </a:lnTo>
                  <a:lnTo>
                    <a:pt x="466699" y="433793"/>
                  </a:lnTo>
                  <a:lnTo>
                    <a:pt x="477585" y="420995"/>
                  </a:lnTo>
                  <a:lnTo>
                    <a:pt x="488472" y="425619"/>
                  </a:lnTo>
                  <a:lnTo>
                    <a:pt x="499358" y="420995"/>
                  </a:lnTo>
                  <a:lnTo>
                    <a:pt x="510245" y="535918"/>
                  </a:lnTo>
                  <a:lnTo>
                    <a:pt x="521116" y="669350"/>
                  </a:lnTo>
                  <a:lnTo>
                    <a:pt x="531731" y="756487"/>
                  </a:lnTo>
                  <a:lnTo>
                    <a:pt x="542617" y="811228"/>
                  </a:lnTo>
                  <a:lnTo>
                    <a:pt x="553504" y="896461"/>
                  </a:lnTo>
                  <a:lnTo>
                    <a:pt x="564390" y="915786"/>
                  </a:lnTo>
                  <a:lnTo>
                    <a:pt x="575277" y="848262"/>
                  </a:lnTo>
                  <a:lnTo>
                    <a:pt x="586163" y="849078"/>
                  </a:lnTo>
                  <a:lnTo>
                    <a:pt x="597050" y="830281"/>
                  </a:lnTo>
                  <a:lnTo>
                    <a:pt x="607936" y="776371"/>
                  </a:lnTo>
                  <a:lnTo>
                    <a:pt x="618551" y="689491"/>
                  </a:lnTo>
                  <a:lnTo>
                    <a:pt x="629438" y="672886"/>
                  </a:lnTo>
                  <a:lnTo>
                    <a:pt x="640309" y="642667"/>
                  </a:lnTo>
                  <a:lnTo>
                    <a:pt x="651195" y="567769"/>
                  </a:lnTo>
                  <a:lnTo>
                    <a:pt x="662082" y="547628"/>
                  </a:lnTo>
                  <a:lnTo>
                    <a:pt x="672968" y="582471"/>
                  </a:lnTo>
                  <a:lnTo>
                    <a:pt x="683855" y="572408"/>
                  </a:lnTo>
                  <a:lnTo>
                    <a:pt x="694741" y="582471"/>
                  </a:lnTo>
                  <a:lnTo>
                    <a:pt x="705628" y="660904"/>
                  </a:lnTo>
                  <a:lnTo>
                    <a:pt x="716243" y="706655"/>
                  </a:lnTo>
                  <a:lnTo>
                    <a:pt x="727129" y="700929"/>
                  </a:lnTo>
                  <a:lnTo>
                    <a:pt x="738016" y="662808"/>
                  </a:lnTo>
                  <a:lnTo>
                    <a:pt x="748887" y="672886"/>
                  </a:lnTo>
                  <a:lnTo>
                    <a:pt x="759773" y="642667"/>
                  </a:lnTo>
                  <a:lnTo>
                    <a:pt x="770660" y="567769"/>
                  </a:lnTo>
                  <a:lnTo>
                    <a:pt x="781546" y="547628"/>
                  </a:lnTo>
                  <a:lnTo>
                    <a:pt x="792433" y="582471"/>
                  </a:lnTo>
                  <a:lnTo>
                    <a:pt x="803048" y="572408"/>
                  </a:lnTo>
                  <a:lnTo>
                    <a:pt x="813934" y="571320"/>
                  </a:lnTo>
                  <a:lnTo>
                    <a:pt x="824820" y="629582"/>
                  </a:lnTo>
                  <a:lnTo>
                    <a:pt x="835707" y="655193"/>
                  </a:lnTo>
                  <a:lnTo>
                    <a:pt x="846593" y="629582"/>
                  </a:lnTo>
                  <a:lnTo>
                    <a:pt x="857480" y="571320"/>
                  </a:lnTo>
                  <a:lnTo>
                    <a:pt x="868351" y="561242"/>
                  </a:lnTo>
                  <a:lnTo>
                    <a:pt x="879238" y="551164"/>
                  </a:lnTo>
                  <a:lnTo>
                    <a:pt x="889853" y="496422"/>
                  </a:lnTo>
                  <a:lnTo>
                    <a:pt x="900739" y="496422"/>
                  </a:lnTo>
                  <a:lnTo>
                    <a:pt x="911625" y="551164"/>
                  </a:lnTo>
                  <a:lnTo>
                    <a:pt x="922512" y="561242"/>
                  </a:lnTo>
                  <a:lnTo>
                    <a:pt x="933398" y="571320"/>
                  </a:lnTo>
                  <a:lnTo>
                    <a:pt x="944285" y="629582"/>
                  </a:lnTo>
                  <a:lnTo>
                    <a:pt x="955171" y="659816"/>
                  </a:lnTo>
                  <a:lnTo>
                    <a:pt x="966058" y="642380"/>
                  </a:lnTo>
                  <a:lnTo>
                    <a:pt x="976929" y="592277"/>
                  </a:lnTo>
                  <a:lnTo>
                    <a:pt x="987544" y="617328"/>
                  </a:lnTo>
                  <a:lnTo>
                    <a:pt x="998430" y="692770"/>
                  </a:lnTo>
                  <a:lnTo>
                    <a:pt x="1009317" y="730891"/>
                  </a:lnTo>
                  <a:lnTo>
                    <a:pt x="1020203" y="779090"/>
                  </a:lnTo>
                  <a:lnTo>
                    <a:pt x="1031090" y="851525"/>
                  </a:lnTo>
                  <a:lnTo>
                    <a:pt x="1041976" y="853157"/>
                  </a:lnTo>
                  <a:lnTo>
                    <a:pt x="1052863" y="734427"/>
                  </a:lnTo>
                  <a:lnTo>
                    <a:pt x="1063749" y="549260"/>
                  </a:lnTo>
                  <a:lnTo>
                    <a:pt x="1074364" y="405478"/>
                  </a:lnTo>
                  <a:lnTo>
                    <a:pt x="1085251" y="270686"/>
                  </a:lnTo>
                  <a:lnTo>
                    <a:pt x="1096122" y="142150"/>
                  </a:lnTo>
                  <a:lnTo>
                    <a:pt x="1107008" y="143238"/>
                  </a:lnTo>
                  <a:lnTo>
                    <a:pt x="1117895" y="291643"/>
                  </a:lnTo>
                  <a:lnTo>
                    <a:pt x="1128781" y="392408"/>
                  </a:lnTo>
                  <a:lnTo>
                    <a:pt x="1139668" y="437601"/>
                  </a:lnTo>
                  <a:lnTo>
                    <a:pt x="1150554" y="538910"/>
                  </a:lnTo>
                  <a:lnTo>
                    <a:pt x="1161169" y="606721"/>
                  </a:lnTo>
                  <a:lnTo>
                    <a:pt x="1172056" y="554699"/>
                  </a:lnTo>
                  <a:lnTo>
                    <a:pt x="1182942" y="413909"/>
                  </a:lnTo>
                  <a:lnTo>
                    <a:pt x="1193828" y="376332"/>
                  </a:lnTo>
                  <a:lnTo>
                    <a:pt x="1204700" y="270399"/>
                  </a:lnTo>
                  <a:lnTo>
                    <a:pt x="1215586" y="156035"/>
                  </a:lnTo>
                  <a:lnTo>
                    <a:pt x="1226473" y="125801"/>
                  </a:lnTo>
                  <a:lnTo>
                    <a:pt x="1237359" y="165569"/>
                  </a:lnTo>
                  <a:lnTo>
                    <a:pt x="1247974" y="210490"/>
                  </a:lnTo>
                  <a:lnTo>
                    <a:pt x="1258861" y="215672"/>
                  </a:lnTo>
                  <a:lnTo>
                    <a:pt x="1269747" y="287019"/>
                  </a:lnTo>
                  <a:lnTo>
                    <a:pt x="1280633" y="301449"/>
                  </a:lnTo>
                  <a:lnTo>
                    <a:pt x="1291520" y="219208"/>
                  </a:lnTo>
                  <a:lnTo>
                    <a:pt x="1302406" y="139974"/>
                  </a:lnTo>
                  <a:lnTo>
                    <a:pt x="1313293" y="121994"/>
                  </a:lnTo>
                  <a:lnTo>
                    <a:pt x="1324164" y="127448"/>
                  </a:lnTo>
                  <a:lnTo>
                    <a:pt x="1335051" y="79793"/>
                  </a:lnTo>
                  <a:lnTo>
                    <a:pt x="1345665" y="72434"/>
                  </a:lnTo>
                  <a:lnTo>
                    <a:pt x="1356552" y="176735"/>
                  </a:lnTo>
                  <a:lnTo>
                    <a:pt x="1367438" y="266047"/>
                  </a:lnTo>
                  <a:lnTo>
                    <a:pt x="1378325" y="383962"/>
                  </a:lnTo>
                  <a:lnTo>
                    <a:pt x="1389211" y="532911"/>
                  </a:lnTo>
                  <a:lnTo>
                    <a:pt x="1400098" y="711007"/>
                  </a:lnTo>
                  <a:lnTo>
                    <a:pt x="1410984" y="833001"/>
                  </a:lnTo>
                  <a:lnTo>
                    <a:pt x="1421871" y="891006"/>
                  </a:lnTo>
                  <a:lnTo>
                    <a:pt x="1432470" y="949556"/>
                  </a:lnTo>
                  <a:lnTo>
                    <a:pt x="1443357" y="946564"/>
                  </a:lnTo>
                  <a:lnTo>
                    <a:pt x="1454243" y="903804"/>
                  </a:lnTo>
                  <a:lnTo>
                    <a:pt x="1465130" y="901900"/>
                  </a:lnTo>
                  <a:lnTo>
                    <a:pt x="1476016" y="886383"/>
                  </a:lnTo>
                  <a:lnTo>
                    <a:pt x="1486903" y="902172"/>
                  </a:lnTo>
                  <a:lnTo>
                    <a:pt x="1497789" y="907355"/>
                  </a:lnTo>
                  <a:lnTo>
                    <a:pt x="1508676" y="952275"/>
                  </a:lnTo>
                  <a:lnTo>
                    <a:pt x="1541064" y="879025"/>
                  </a:lnTo>
                  <a:lnTo>
                    <a:pt x="1551935" y="763301"/>
                  </a:lnTo>
                  <a:lnTo>
                    <a:pt x="1562821" y="630126"/>
                  </a:lnTo>
                  <a:lnTo>
                    <a:pt x="1573708" y="536190"/>
                  </a:lnTo>
                  <a:lnTo>
                    <a:pt x="1584594" y="489895"/>
                  </a:lnTo>
                </a:path>
                <a:path w="1604010" h="960120">
                  <a:moveTo>
                    <a:pt x="1495343" y="0"/>
                  </a:moveTo>
                  <a:lnTo>
                    <a:pt x="1603921" y="0"/>
                  </a:lnTo>
                </a:path>
              </a:pathLst>
            </a:custGeom>
            <a:ln w="7552">
              <a:solidFill>
                <a:srgbClr val="004FE9"/>
              </a:solidFill>
            </a:ln>
          </p:spPr>
          <p:txBody>
            <a:bodyPr wrap="square" lIns="0" tIns="0" rIns="0" bIns="0" rtlCol="0"/>
            <a:lstStyle/>
            <a:p>
              <a:endParaRPr/>
            </a:p>
          </p:txBody>
        </p:sp>
        <p:sp>
          <p:nvSpPr>
            <p:cNvPr id="320" name="object 320"/>
            <p:cNvSpPr/>
            <p:nvPr/>
          </p:nvSpPr>
          <p:spPr>
            <a:xfrm>
              <a:off x="1438901" y="3843377"/>
              <a:ext cx="1704339" cy="1136015"/>
            </a:xfrm>
            <a:custGeom>
              <a:avLst/>
              <a:gdLst/>
              <a:ahLst/>
              <a:cxnLst/>
              <a:rect l="l" t="t" r="r" b="b"/>
              <a:pathLst>
                <a:path w="1704339" h="1136014">
                  <a:moveTo>
                    <a:pt x="0" y="1135826"/>
                  </a:moveTo>
                  <a:lnTo>
                    <a:pt x="1703787" y="1135826"/>
                  </a:lnTo>
                  <a:lnTo>
                    <a:pt x="1703787" y="0"/>
                  </a:lnTo>
                  <a:lnTo>
                    <a:pt x="0" y="0"/>
                  </a:lnTo>
                  <a:lnTo>
                    <a:pt x="0" y="1135826"/>
                  </a:lnTo>
                  <a:close/>
                </a:path>
              </a:pathLst>
            </a:custGeom>
            <a:ln w="3776">
              <a:solidFill>
                <a:srgbClr val="000000"/>
              </a:solidFill>
            </a:ln>
          </p:spPr>
          <p:txBody>
            <a:bodyPr wrap="square" lIns="0" tIns="0" rIns="0" bIns="0" rtlCol="0"/>
            <a:lstStyle/>
            <a:p>
              <a:endParaRPr/>
            </a:p>
          </p:txBody>
        </p:sp>
      </p:grpSp>
      <p:grpSp>
        <p:nvGrpSpPr>
          <p:cNvPr id="321" name="object 321"/>
          <p:cNvGrpSpPr/>
          <p:nvPr/>
        </p:nvGrpSpPr>
        <p:grpSpPr>
          <a:xfrm>
            <a:off x="1450914" y="3460485"/>
            <a:ext cx="1712595" cy="3810"/>
            <a:chOff x="1450914" y="3460485"/>
            <a:chExt cx="1712595" cy="3810"/>
          </a:xfrm>
        </p:grpSpPr>
        <p:sp>
          <p:nvSpPr>
            <p:cNvPr id="322" name="object 322"/>
            <p:cNvSpPr/>
            <p:nvPr/>
          </p:nvSpPr>
          <p:spPr>
            <a:xfrm>
              <a:off x="1452819" y="3462390"/>
              <a:ext cx="1708785" cy="0"/>
            </a:xfrm>
            <a:custGeom>
              <a:avLst/>
              <a:gdLst/>
              <a:ahLst/>
              <a:cxnLst/>
              <a:rect l="l" t="t" r="r" b="b"/>
              <a:pathLst>
                <a:path w="1708785">
                  <a:moveTo>
                    <a:pt x="0" y="0"/>
                  </a:moveTo>
                  <a:lnTo>
                    <a:pt x="1708513" y="0"/>
                  </a:lnTo>
                </a:path>
              </a:pathLst>
            </a:custGeom>
            <a:ln w="3777">
              <a:solidFill>
                <a:srgbClr val="000000"/>
              </a:solidFill>
              <a:prstDash val="dash"/>
            </a:ln>
          </p:spPr>
          <p:txBody>
            <a:bodyPr wrap="square" lIns="0" tIns="0" rIns="0" bIns="0" rtlCol="0"/>
            <a:lstStyle/>
            <a:p>
              <a:endParaRPr/>
            </a:p>
          </p:txBody>
        </p:sp>
        <p:sp>
          <p:nvSpPr>
            <p:cNvPr id="323" name="object 323"/>
            <p:cNvSpPr/>
            <p:nvPr/>
          </p:nvSpPr>
          <p:spPr>
            <a:xfrm>
              <a:off x="1452826" y="3462390"/>
              <a:ext cx="1708785" cy="0"/>
            </a:xfrm>
            <a:custGeom>
              <a:avLst/>
              <a:gdLst/>
              <a:ahLst/>
              <a:cxnLst/>
              <a:rect l="l" t="t" r="r" b="b"/>
              <a:pathLst>
                <a:path w="1708785">
                  <a:moveTo>
                    <a:pt x="1708513" y="0"/>
                  </a:moveTo>
                  <a:lnTo>
                    <a:pt x="1691315" y="0"/>
                  </a:lnTo>
                </a:path>
                <a:path w="1708785">
                  <a:moveTo>
                    <a:pt x="0" y="0"/>
                  </a:moveTo>
                  <a:lnTo>
                    <a:pt x="17182" y="0"/>
                  </a:lnTo>
                </a:path>
              </a:pathLst>
            </a:custGeom>
            <a:ln w="3776">
              <a:solidFill>
                <a:srgbClr val="000000"/>
              </a:solidFill>
            </a:ln>
          </p:spPr>
          <p:txBody>
            <a:bodyPr wrap="square" lIns="0" tIns="0" rIns="0" bIns="0" rtlCol="0"/>
            <a:lstStyle/>
            <a:p>
              <a:endParaRPr/>
            </a:p>
          </p:txBody>
        </p:sp>
      </p:grpSp>
      <p:sp>
        <p:nvSpPr>
          <p:cNvPr id="324" name="object 324"/>
          <p:cNvSpPr txBox="1"/>
          <p:nvPr/>
        </p:nvSpPr>
        <p:spPr>
          <a:xfrm>
            <a:off x="1383230" y="3424320"/>
            <a:ext cx="59690" cy="71120"/>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3</a:t>
            </a:r>
            <a:endParaRPr sz="300">
              <a:latin typeface="Arial"/>
              <a:cs typeface="Arial"/>
            </a:endParaRPr>
          </a:p>
        </p:txBody>
      </p:sp>
      <p:grpSp>
        <p:nvGrpSpPr>
          <p:cNvPr id="325" name="object 325"/>
          <p:cNvGrpSpPr/>
          <p:nvPr/>
        </p:nvGrpSpPr>
        <p:grpSpPr>
          <a:xfrm>
            <a:off x="1450914" y="2325594"/>
            <a:ext cx="1712595" cy="1139190"/>
            <a:chOff x="1450914" y="2325594"/>
            <a:chExt cx="1712595" cy="1139190"/>
          </a:xfrm>
        </p:grpSpPr>
        <p:sp>
          <p:nvSpPr>
            <p:cNvPr id="326" name="object 326"/>
            <p:cNvSpPr/>
            <p:nvPr/>
          </p:nvSpPr>
          <p:spPr>
            <a:xfrm>
              <a:off x="1452819" y="3320629"/>
              <a:ext cx="1708785" cy="0"/>
            </a:xfrm>
            <a:custGeom>
              <a:avLst/>
              <a:gdLst/>
              <a:ahLst/>
              <a:cxnLst/>
              <a:rect l="l" t="t" r="r" b="b"/>
              <a:pathLst>
                <a:path w="1708785">
                  <a:moveTo>
                    <a:pt x="0" y="0"/>
                  </a:moveTo>
                  <a:lnTo>
                    <a:pt x="1708513" y="0"/>
                  </a:lnTo>
                </a:path>
              </a:pathLst>
            </a:custGeom>
            <a:ln w="3777">
              <a:solidFill>
                <a:srgbClr val="000000"/>
              </a:solidFill>
              <a:prstDash val="dash"/>
            </a:ln>
          </p:spPr>
          <p:txBody>
            <a:bodyPr wrap="square" lIns="0" tIns="0" rIns="0" bIns="0" rtlCol="0"/>
            <a:lstStyle/>
            <a:p>
              <a:endParaRPr/>
            </a:p>
          </p:txBody>
        </p:sp>
        <p:sp>
          <p:nvSpPr>
            <p:cNvPr id="327" name="object 327"/>
            <p:cNvSpPr/>
            <p:nvPr/>
          </p:nvSpPr>
          <p:spPr>
            <a:xfrm>
              <a:off x="1452826" y="3320629"/>
              <a:ext cx="1708785" cy="0"/>
            </a:xfrm>
            <a:custGeom>
              <a:avLst/>
              <a:gdLst/>
              <a:ahLst/>
              <a:cxnLst/>
              <a:rect l="l" t="t" r="r" b="b"/>
              <a:pathLst>
                <a:path w="1708785">
                  <a:moveTo>
                    <a:pt x="1708513" y="0"/>
                  </a:moveTo>
                  <a:lnTo>
                    <a:pt x="1691315" y="0"/>
                  </a:lnTo>
                </a:path>
                <a:path w="1708785">
                  <a:moveTo>
                    <a:pt x="0" y="0"/>
                  </a:moveTo>
                  <a:lnTo>
                    <a:pt x="17182" y="0"/>
                  </a:lnTo>
                </a:path>
              </a:pathLst>
            </a:custGeom>
            <a:ln w="3776">
              <a:solidFill>
                <a:srgbClr val="000000"/>
              </a:solidFill>
            </a:ln>
          </p:spPr>
          <p:txBody>
            <a:bodyPr wrap="square" lIns="0" tIns="0" rIns="0" bIns="0" rtlCol="0"/>
            <a:lstStyle/>
            <a:p>
              <a:endParaRPr/>
            </a:p>
          </p:txBody>
        </p:sp>
        <p:sp>
          <p:nvSpPr>
            <p:cNvPr id="328" name="object 328"/>
            <p:cNvSpPr/>
            <p:nvPr/>
          </p:nvSpPr>
          <p:spPr>
            <a:xfrm>
              <a:off x="1452819" y="3178599"/>
              <a:ext cx="1708785" cy="0"/>
            </a:xfrm>
            <a:custGeom>
              <a:avLst/>
              <a:gdLst/>
              <a:ahLst/>
              <a:cxnLst/>
              <a:rect l="l" t="t" r="r" b="b"/>
              <a:pathLst>
                <a:path w="1708785">
                  <a:moveTo>
                    <a:pt x="0" y="0"/>
                  </a:moveTo>
                  <a:lnTo>
                    <a:pt x="1708513" y="0"/>
                  </a:lnTo>
                </a:path>
              </a:pathLst>
            </a:custGeom>
            <a:ln w="3777">
              <a:solidFill>
                <a:srgbClr val="000000"/>
              </a:solidFill>
              <a:prstDash val="dash"/>
            </a:ln>
          </p:spPr>
          <p:txBody>
            <a:bodyPr wrap="square" lIns="0" tIns="0" rIns="0" bIns="0" rtlCol="0"/>
            <a:lstStyle/>
            <a:p>
              <a:endParaRPr/>
            </a:p>
          </p:txBody>
        </p:sp>
        <p:sp>
          <p:nvSpPr>
            <p:cNvPr id="329" name="object 329"/>
            <p:cNvSpPr/>
            <p:nvPr/>
          </p:nvSpPr>
          <p:spPr>
            <a:xfrm>
              <a:off x="1452826" y="3178599"/>
              <a:ext cx="1708785" cy="0"/>
            </a:xfrm>
            <a:custGeom>
              <a:avLst/>
              <a:gdLst/>
              <a:ahLst/>
              <a:cxnLst/>
              <a:rect l="l" t="t" r="r" b="b"/>
              <a:pathLst>
                <a:path w="1708785">
                  <a:moveTo>
                    <a:pt x="1708513" y="0"/>
                  </a:moveTo>
                  <a:lnTo>
                    <a:pt x="1691315" y="0"/>
                  </a:lnTo>
                </a:path>
                <a:path w="1708785">
                  <a:moveTo>
                    <a:pt x="0" y="0"/>
                  </a:moveTo>
                  <a:lnTo>
                    <a:pt x="17182" y="0"/>
                  </a:lnTo>
                </a:path>
              </a:pathLst>
            </a:custGeom>
            <a:ln w="3776">
              <a:solidFill>
                <a:srgbClr val="000000"/>
              </a:solidFill>
            </a:ln>
          </p:spPr>
          <p:txBody>
            <a:bodyPr wrap="square" lIns="0" tIns="0" rIns="0" bIns="0" rtlCol="0"/>
            <a:lstStyle/>
            <a:p>
              <a:endParaRPr/>
            </a:p>
          </p:txBody>
        </p:sp>
        <p:sp>
          <p:nvSpPr>
            <p:cNvPr id="330" name="object 330"/>
            <p:cNvSpPr/>
            <p:nvPr/>
          </p:nvSpPr>
          <p:spPr>
            <a:xfrm>
              <a:off x="1452819" y="3036839"/>
              <a:ext cx="1708785" cy="0"/>
            </a:xfrm>
            <a:custGeom>
              <a:avLst/>
              <a:gdLst/>
              <a:ahLst/>
              <a:cxnLst/>
              <a:rect l="l" t="t" r="r" b="b"/>
              <a:pathLst>
                <a:path w="1708785">
                  <a:moveTo>
                    <a:pt x="0" y="0"/>
                  </a:moveTo>
                  <a:lnTo>
                    <a:pt x="1708513" y="0"/>
                  </a:lnTo>
                </a:path>
              </a:pathLst>
            </a:custGeom>
            <a:ln w="3777">
              <a:solidFill>
                <a:srgbClr val="000000"/>
              </a:solidFill>
              <a:prstDash val="dash"/>
            </a:ln>
          </p:spPr>
          <p:txBody>
            <a:bodyPr wrap="square" lIns="0" tIns="0" rIns="0" bIns="0" rtlCol="0"/>
            <a:lstStyle/>
            <a:p>
              <a:endParaRPr/>
            </a:p>
          </p:txBody>
        </p:sp>
        <p:sp>
          <p:nvSpPr>
            <p:cNvPr id="331" name="object 331"/>
            <p:cNvSpPr/>
            <p:nvPr/>
          </p:nvSpPr>
          <p:spPr>
            <a:xfrm>
              <a:off x="1452826" y="3036839"/>
              <a:ext cx="1708785" cy="0"/>
            </a:xfrm>
            <a:custGeom>
              <a:avLst/>
              <a:gdLst/>
              <a:ahLst/>
              <a:cxnLst/>
              <a:rect l="l" t="t" r="r" b="b"/>
              <a:pathLst>
                <a:path w="1708785">
                  <a:moveTo>
                    <a:pt x="1708513" y="0"/>
                  </a:moveTo>
                  <a:lnTo>
                    <a:pt x="1691315" y="0"/>
                  </a:lnTo>
                </a:path>
                <a:path w="1708785">
                  <a:moveTo>
                    <a:pt x="0" y="0"/>
                  </a:moveTo>
                  <a:lnTo>
                    <a:pt x="17182" y="0"/>
                  </a:lnTo>
                </a:path>
              </a:pathLst>
            </a:custGeom>
            <a:ln w="3776">
              <a:solidFill>
                <a:srgbClr val="000000"/>
              </a:solidFill>
            </a:ln>
          </p:spPr>
          <p:txBody>
            <a:bodyPr wrap="square" lIns="0" tIns="0" rIns="0" bIns="0" rtlCol="0"/>
            <a:lstStyle/>
            <a:p>
              <a:endParaRPr/>
            </a:p>
          </p:txBody>
        </p:sp>
        <p:sp>
          <p:nvSpPr>
            <p:cNvPr id="332" name="object 332"/>
            <p:cNvSpPr/>
            <p:nvPr/>
          </p:nvSpPr>
          <p:spPr>
            <a:xfrm>
              <a:off x="1452819" y="2894808"/>
              <a:ext cx="1708785" cy="0"/>
            </a:xfrm>
            <a:custGeom>
              <a:avLst/>
              <a:gdLst/>
              <a:ahLst/>
              <a:cxnLst/>
              <a:rect l="l" t="t" r="r" b="b"/>
              <a:pathLst>
                <a:path w="1708785">
                  <a:moveTo>
                    <a:pt x="0" y="0"/>
                  </a:moveTo>
                  <a:lnTo>
                    <a:pt x="1708513" y="0"/>
                  </a:lnTo>
                </a:path>
              </a:pathLst>
            </a:custGeom>
            <a:ln w="3777">
              <a:solidFill>
                <a:srgbClr val="000000"/>
              </a:solidFill>
              <a:prstDash val="dash"/>
            </a:ln>
          </p:spPr>
          <p:txBody>
            <a:bodyPr wrap="square" lIns="0" tIns="0" rIns="0" bIns="0" rtlCol="0"/>
            <a:lstStyle/>
            <a:p>
              <a:endParaRPr/>
            </a:p>
          </p:txBody>
        </p:sp>
        <p:sp>
          <p:nvSpPr>
            <p:cNvPr id="333" name="object 333"/>
            <p:cNvSpPr/>
            <p:nvPr/>
          </p:nvSpPr>
          <p:spPr>
            <a:xfrm>
              <a:off x="1452826" y="2894808"/>
              <a:ext cx="1708785" cy="0"/>
            </a:xfrm>
            <a:custGeom>
              <a:avLst/>
              <a:gdLst/>
              <a:ahLst/>
              <a:cxnLst/>
              <a:rect l="l" t="t" r="r" b="b"/>
              <a:pathLst>
                <a:path w="1708785">
                  <a:moveTo>
                    <a:pt x="1708513" y="0"/>
                  </a:moveTo>
                  <a:lnTo>
                    <a:pt x="1691315" y="0"/>
                  </a:lnTo>
                </a:path>
                <a:path w="1708785">
                  <a:moveTo>
                    <a:pt x="0" y="0"/>
                  </a:moveTo>
                  <a:lnTo>
                    <a:pt x="17182" y="0"/>
                  </a:lnTo>
                </a:path>
              </a:pathLst>
            </a:custGeom>
            <a:ln w="3776">
              <a:solidFill>
                <a:srgbClr val="000000"/>
              </a:solidFill>
            </a:ln>
          </p:spPr>
          <p:txBody>
            <a:bodyPr wrap="square" lIns="0" tIns="0" rIns="0" bIns="0" rtlCol="0"/>
            <a:lstStyle/>
            <a:p>
              <a:endParaRPr/>
            </a:p>
          </p:txBody>
        </p:sp>
        <p:sp>
          <p:nvSpPr>
            <p:cNvPr id="334" name="object 334"/>
            <p:cNvSpPr/>
            <p:nvPr/>
          </p:nvSpPr>
          <p:spPr>
            <a:xfrm>
              <a:off x="1452819" y="2753050"/>
              <a:ext cx="1708785" cy="0"/>
            </a:xfrm>
            <a:custGeom>
              <a:avLst/>
              <a:gdLst/>
              <a:ahLst/>
              <a:cxnLst/>
              <a:rect l="l" t="t" r="r" b="b"/>
              <a:pathLst>
                <a:path w="1708785">
                  <a:moveTo>
                    <a:pt x="0" y="0"/>
                  </a:moveTo>
                  <a:lnTo>
                    <a:pt x="1708513" y="0"/>
                  </a:lnTo>
                </a:path>
              </a:pathLst>
            </a:custGeom>
            <a:ln w="3777">
              <a:solidFill>
                <a:srgbClr val="000000"/>
              </a:solidFill>
              <a:prstDash val="dash"/>
            </a:ln>
          </p:spPr>
          <p:txBody>
            <a:bodyPr wrap="square" lIns="0" tIns="0" rIns="0" bIns="0" rtlCol="0"/>
            <a:lstStyle/>
            <a:p>
              <a:endParaRPr/>
            </a:p>
          </p:txBody>
        </p:sp>
        <p:sp>
          <p:nvSpPr>
            <p:cNvPr id="335" name="object 335"/>
            <p:cNvSpPr/>
            <p:nvPr/>
          </p:nvSpPr>
          <p:spPr>
            <a:xfrm>
              <a:off x="1452826" y="2753050"/>
              <a:ext cx="1708785" cy="0"/>
            </a:xfrm>
            <a:custGeom>
              <a:avLst/>
              <a:gdLst/>
              <a:ahLst/>
              <a:cxnLst/>
              <a:rect l="l" t="t" r="r" b="b"/>
              <a:pathLst>
                <a:path w="1708785">
                  <a:moveTo>
                    <a:pt x="1708513" y="0"/>
                  </a:moveTo>
                  <a:lnTo>
                    <a:pt x="1691315" y="0"/>
                  </a:lnTo>
                </a:path>
                <a:path w="1708785">
                  <a:moveTo>
                    <a:pt x="0" y="0"/>
                  </a:moveTo>
                  <a:lnTo>
                    <a:pt x="17182" y="0"/>
                  </a:lnTo>
                </a:path>
              </a:pathLst>
            </a:custGeom>
            <a:ln w="3776">
              <a:solidFill>
                <a:srgbClr val="000000"/>
              </a:solidFill>
            </a:ln>
          </p:spPr>
          <p:txBody>
            <a:bodyPr wrap="square" lIns="0" tIns="0" rIns="0" bIns="0" rtlCol="0"/>
            <a:lstStyle/>
            <a:p>
              <a:endParaRPr/>
            </a:p>
          </p:txBody>
        </p:sp>
        <p:sp>
          <p:nvSpPr>
            <p:cNvPr id="336" name="object 336"/>
            <p:cNvSpPr/>
            <p:nvPr/>
          </p:nvSpPr>
          <p:spPr>
            <a:xfrm>
              <a:off x="1452819" y="2611288"/>
              <a:ext cx="1708785" cy="0"/>
            </a:xfrm>
            <a:custGeom>
              <a:avLst/>
              <a:gdLst/>
              <a:ahLst/>
              <a:cxnLst/>
              <a:rect l="l" t="t" r="r" b="b"/>
              <a:pathLst>
                <a:path w="1708785">
                  <a:moveTo>
                    <a:pt x="0" y="0"/>
                  </a:moveTo>
                  <a:lnTo>
                    <a:pt x="1708513" y="0"/>
                  </a:lnTo>
                </a:path>
              </a:pathLst>
            </a:custGeom>
            <a:ln w="3777">
              <a:solidFill>
                <a:srgbClr val="000000"/>
              </a:solidFill>
              <a:prstDash val="dash"/>
            </a:ln>
          </p:spPr>
          <p:txBody>
            <a:bodyPr wrap="square" lIns="0" tIns="0" rIns="0" bIns="0" rtlCol="0"/>
            <a:lstStyle/>
            <a:p>
              <a:endParaRPr/>
            </a:p>
          </p:txBody>
        </p:sp>
        <p:sp>
          <p:nvSpPr>
            <p:cNvPr id="337" name="object 337"/>
            <p:cNvSpPr/>
            <p:nvPr/>
          </p:nvSpPr>
          <p:spPr>
            <a:xfrm>
              <a:off x="1452826" y="2611288"/>
              <a:ext cx="1708785" cy="0"/>
            </a:xfrm>
            <a:custGeom>
              <a:avLst/>
              <a:gdLst/>
              <a:ahLst/>
              <a:cxnLst/>
              <a:rect l="l" t="t" r="r" b="b"/>
              <a:pathLst>
                <a:path w="1708785">
                  <a:moveTo>
                    <a:pt x="1708513" y="0"/>
                  </a:moveTo>
                  <a:lnTo>
                    <a:pt x="1691315" y="0"/>
                  </a:lnTo>
                </a:path>
                <a:path w="1708785">
                  <a:moveTo>
                    <a:pt x="0" y="0"/>
                  </a:moveTo>
                  <a:lnTo>
                    <a:pt x="17182" y="0"/>
                  </a:lnTo>
                </a:path>
              </a:pathLst>
            </a:custGeom>
            <a:ln w="3776">
              <a:solidFill>
                <a:srgbClr val="000000"/>
              </a:solidFill>
            </a:ln>
          </p:spPr>
          <p:txBody>
            <a:bodyPr wrap="square" lIns="0" tIns="0" rIns="0" bIns="0" rtlCol="0"/>
            <a:lstStyle/>
            <a:p>
              <a:endParaRPr/>
            </a:p>
          </p:txBody>
        </p:sp>
        <p:sp>
          <p:nvSpPr>
            <p:cNvPr id="338" name="object 338"/>
            <p:cNvSpPr/>
            <p:nvPr/>
          </p:nvSpPr>
          <p:spPr>
            <a:xfrm>
              <a:off x="1452819" y="2469258"/>
              <a:ext cx="1708785" cy="0"/>
            </a:xfrm>
            <a:custGeom>
              <a:avLst/>
              <a:gdLst/>
              <a:ahLst/>
              <a:cxnLst/>
              <a:rect l="l" t="t" r="r" b="b"/>
              <a:pathLst>
                <a:path w="1708785">
                  <a:moveTo>
                    <a:pt x="0" y="0"/>
                  </a:moveTo>
                  <a:lnTo>
                    <a:pt x="1708513" y="0"/>
                  </a:lnTo>
                </a:path>
              </a:pathLst>
            </a:custGeom>
            <a:ln w="3777">
              <a:solidFill>
                <a:srgbClr val="000000"/>
              </a:solidFill>
              <a:prstDash val="dash"/>
            </a:ln>
          </p:spPr>
          <p:txBody>
            <a:bodyPr wrap="square" lIns="0" tIns="0" rIns="0" bIns="0" rtlCol="0"/>
            <a:lstStyle/>
            <a:p>
              <a:endParaRPr/>
            </a:p>
          </p:txBody>
        </p:sp>
        <p:sp>
          <p:nvSpPr>
            <p:cNvPr id="339" name="object 339"/>
            <p:cNvSpPr/>
            <p:nvPr/>
          </p:nvSpPr>
          <p:spPr>
            <a:xfrm>
              <a:off x="1452826" y="2469258"/>
              <a:ext cx="1708785" cy="0"/>
            </a:xfrm>
            <a:custGeom>
              <a:avLst/>
              <a:gdLst/>
              <a:ahLst/>
              <a:cxnLst/>
              <a:rect l="l" t="t" r="r" b="b"/>
              <a:pathLst>
                <a:path w="1708785">
                  <a:moveTo>
                    <a:pt x="1708513" y="0"/>
                  </a:moveTo>
                  <a:lnTo>
                    <a:pt x="1691315" y="0"/>
                  </a:lnTo>
                </a:path>
                <a:path w="1708785">
                  <a:moveTo>
                    <a:pt x="0" y="0"/>
                  </a:moveTo>
                  <a:lnTo>
                    <a:pt x="17182" y="0"/>
                  </a:lnTo>
                </a:path>
              </a:pathLst>
            </a:custGeom>
            <a:ln w="3776">
              <a:solidFill>
                <a:srgbClr val="000000"/>
              </a:solidFill>
            </a:ln>
          </p:spPr>
          <p:txBody>
            <a:bodyPr wrap="square" lIns="0" tIns="0" rIns="0" bIns="0" rtlCol="0"/>
            <a:lstStyle/>
            <a:p>
              <a:endParaRPr/>
            </a:p>
          </p:txBody>
        </p:sp>
        <p:sp>
          <p:nvSpPr>
            <p:cNvPr id="340" name="object 340"/>
            <p:cNvSpPr/>
            <p:nvPr/>
          </p:nvSpPr>
          <p:spPr>
            <a:xfrm>
              <a:off x="1452819" y="2327499"/>
              <a:ext cx="1708785" cy="0"/>
            </a:xfrm>
            <a:custGeom>
              <a:avLst/>
              <a:gdLst/>
              <a:ahLst/>
              <a:cxnLst/>
              <a:rect l="l" t="t" r="r" b="b"/>
              <a:pathLst>
                <a:path w="1708785">
                  <a:moveTo>
                    <a:pt x="0" y="0"/>
                  </a:moveTo>
                  <a:lnTo>
                    <a:pt x="1708513" y="0"/>
                  </a:lnTo>
                </a:path>
              </a:pathLst>
            </a:custGeom>
            <a:ln w="3777">
              <a:solidFill>
                <a:srgbClr val="000000"/>
              </a:solidFill>
              <a:prstDash val="dash"/>
            </a:ln>
          </p:spPr>
          <p:txBody>
            <a:bodyPr wrap="square" lIns="0" tIns="0" rIns="0" bIns="0" rtlCol="0"/>
            <a:lstStyle/>
            <a:p>
              <a:endParaRPr/>
            </a:p>
          </p:txBody>
        </p:sp>
        <p:sp>
          <p:nvSpPr>
            <p:cNvPr id="341" name="object 341"/>
            <p:cNvSpPr/>
            <p:nvPr/>
          </p:nvSpPr>
          <p:spPr>
            <a:xfrm>
              <a:off x="1452826" y="2327499"/>
              <a:ext cx="1708785" cy="0"/>
            </a:xfrm>
            <a:custGeom>
              <a:avLst/>
              <a:gdLst/>
              <a:ahLst/>
              <a:cxnLst/>
              <a:rect l="l" t="t" r="r" b="b"/>
              <a:pathLst>
                <a:path w="1708785">
                  <a:moveTo>
                    <a:pt x="1708513" y="0"/>
                  </a:moveTo>
                  <a:lnTo>
                    <a:pt x="1691315" y="0"/>
                  </a:lnTo>
                </a:path>
                <a:path w="1708785">
                  <a:moveTo>
                    <a:pt x="0" y="0"/>
                  </a:moveTo>
                  <a:lnTo>
                    <a:pt x="17182" y="0"/>
                  </a:lnTo>
                </a:path>
              </a:pathLst>
            </a:custGeom>
            <a:ln w="3776">
              <a:solidFill>
                <a:srgbClr val="000000"/>
              </a:solidFill>
            </a:ln>
          </p:spPr>
          <p:txBody>
            <a:bodyPr wrap="square" lIns="0" tIns="0" rIns="0" bIns="0" rtlCol="0"/>
            <a:lstStyle/>
            <a:p>
              <a:endParaRPr/>
            </a:p>
          </p:txBody>
        </p:sp>
        <p:sp>
          <p:nvSpPr>
            <p:cNvPr id="342" name="object 342"/>
            <p:cNvSpPr/>
            <p:nvPr/>
          </p:nvSpPr>
          <p:spPr>
            <a:xfrm>
              <a:off x="1452819" y="2327501"/>
              <a:ext cx="0" cy="1135380"/>
            </a:xfrm>
            <a:custGeom>
              <a:avLst/>
              <a:gdLst/>
              <a:ahLst/>
              <a:cxnLst/>
              <a:rect l="l" t="t" r="r" b="b"/>
              <a:pathLst>
                <a:path h="1135379">
                  <a:moveTo>
                    <a:pt x="0" y="1134889"/>
                  </a:moveTo>
                  <a:lnTo>
                    <a:pt x="0" y="0"/>
                  </a:lnTo>
                </a:path>
              </a:pathLst>
            </a:custGeom>
            <a:ln w="3774">
              <a:solidFill>
                <a:srgbClr val="000000"/>
              </a:solidFill>
              <a:prstDash val="dash"/>
            </a:ln>
          </p:spPr>
          <p:txBody>
            <a:bodyPr wrap="square" lIns="0" tIns="0" rIns="0" bIns="0" rtlCol="0"/>
            <a:lstStyle/>
            <a:p>
              <a:endParaRPr/>
            </a:p>
          </p:txBody>
        </p:sp>
        <p:sp>
          <p:nvSpPr>
            <p:cNvPr id="343" name="object 343"/>
            <p:cNvSpPr/>
            <p:nvPr/>
          </p:nvSpPr>
          <p:spPr>
            <a:xfrm>
              <a:off x="1452819" y="2327499"/>
              <a:ext cx="0" cy="1135380"/>
            </a:xfrm>
            <a:custGeom>
              <a:avLst/>
              <a:gdLst/>
              <a:ahLst/>
              <a:cxnLst/>
              <a:rect l="l" t="t" r="r" b="b"/>
              <a:pathLst>
                <a:path h="1135379">
                  <a:moveTo>
                    <a:pt x="0" y="0"/>
                  </a:moveTo>
                  <a:lnTo>
                    <a:pt x="0" y="17134"/>
                  </a:lnTo>
                </a:path>
                <a:path h="1135379">
                  <a:moveTo>
                    <a:pt x="0" y="1134889"/>
                  </a:moveTo>
                  <a:lnTo>
                    <a:pt x="0" y="1117755"/>
                  </a:lnTo>
                </a:path>
              </a:pathLst>
            </a:custGeom>
            <a:ln w="3776">
              <a:solidFill>
                <a:srgbClr val="000000"/>
              </a:solidFill>
            </a:ln>
          </p:spPr>
          <p:txBody>
            <a:bodyPr wrap="square" lIns="0" tIns="0" rIns="0" bIns="0" rtlCol="0"/>
            <a:lstStyle/>
            <a:p>
              <a:endParaRPr/>
            </a:p>
          </p:txBody>
        </p:sp>
        <p:sp>
          <p:nvSpPr>
            <p:cNvPr id="344" name="object 344"/>
            <p:cNvSpPr/>
            <p:nvPr/>
          </p:nvSpPr>
          <p:spPr>
            <a:xfrm>
              <a:off x="1625281" y="2327501"/>
              <a:ext cx="0" cy="1135380"/>
            </a:xfrm>
            <a:custGeom>
              <a:avLst/>
              <a:gdLst/>
              <a:ahLst/>
              <a:cxnLst/>
              <a:rect l="l" t="t" r="r" b="b"/>
              <a:pathLst>
                <a:path h="1135379">
                  <a:moveTo>
                    <a:pt x="0" y="1134889"/>
                  </a:moveTo>
                  <a:lnTo>
                    <a:pt x="0" y="0"/>
                  </a:lnTo>
                </a:path>
              </a:pathLst>
            </a:custGeom>
            <a:ln w="3774">
              <a:solidFill>
                <a:srgbClr val="000000"/>
              </a:solidFill>
              <a:prstDash val="dash"/>
            </a:ln>
          </p:spPr>
          <p:txBody>
            <a:bodyPr wrap="square" lIns="0" tIns="0" rIns="0" bIns="0" rtlCol="0"/>
            <a:lstStyle/>
            <a:p>
              <a:endParaRPr/>
            </a:p>
          </p:txBody>
        </p:sp>
        <p:sp>
          <p:nvSpPr>
            <p:cNvPr id="345" name="object 345"/>
            <p:cNvSpPr/>
            <p:nvPr/>
          </p:nvSpPr>
          <p:spPr>
            <a:xfrm>
              <a:off x="1798016" y="2327501"/>
              <a:ext cx="0" cy="1135380"/>
            </a:xfrm>
            <a:custGeom>
              <a:avLst/>
              <a:gdLst/>
              <a:ahLst/>
              <a:cxnLst/>
              <a:rect l="l" t="t" r="r" b="b"/>
              <a:pathLst>
                <a:path h="1135379">
                  <a:moveTo>
                    <a:pt x="0" y="1134889"/>
                  </a:moveTo>
                  <a:lnTo>
                    <a:pt x="0" y="0"/>
                  </a:lnTo>
                </a:path>
              </a:pathLst>
            </a:custGeom>
            <a:ln w="3774">
              <a:solidFill>
                <a:srgbClr val="000000"/>
              </a:solidFill>
              <a:prstDash val="dash"/>
            </a:ln>
          </p:spPr>
          <p:txBody>
            <a:bodyPr wrap="square" lIns="0" tIns="0" rIns="0" bIns="0" rtlCol="0"/>
            <a:lstStyle/>
            <a:p>
              <a:endParaRPr/>
            </a:p>
          </p:txBody>
        </p:sp>
        <p:sp>
          <p:nvSpPr>
            <p:cNvPr id="346" name="object 346"/>
            <p:cNvSpPr/>
            <p:nvPr/>
          </p:nvSpPr>
          <p:spPr>
            <a:xfrm>
              <a:off x="1970478" y="2327501"/>
              <a:ext cx="0" cy="1135380"/>
            </a:xfrm>
            <a:custGeom>
              <a:avLst/>
              <a:gdLst/>
              <a:ahLst/>
              <a:cxnLst/>
              <a:rect l="l" t="t" r="r" b="b"/>
              <a:pathLst>
                <a:path h="1135379">
                  <a:moveTo>
                    <a:pt x="0" y="1134889"/>
                  </a:moveTo>
                  <a:lnTo>
                    <a:pt x="0" y="0"/>
                  </a:lnTo>
                </a:path>
              </a:pathLst>
            </a:custGeom>
            <a:ln w="3774">
              <a:solidFill>
                <a:srgbClr val="000000"/>
              </a:solidFill>
              <a:prstDash val="dash"/>
            </a:ln>
          </p:spPr>
          <p:txBody>
            <a:bodyPr wrap="square" lIns="0" tIns="0" rIns="0" bIns="0" rtlCol="0"/>
            <a:lstStyle/>
            <a:p>
              <a:endParaRPr/>
            </a:p>
          </p:txBody>
        </p:sp>
        <p:sp>
          <p:nvSpPr>
            <p:cNvPr id="347" name="object 347"/>
            <p:cNvSpPr/>
            <p:nvPr/>
          </p:nvSpPr>
          <p:spPr>
            <a:xfrm>
              <a:off x="1970478" y="2327499"/>
              <a:ext cx="0" cy="1135380"/>
            </a:xfrm>
            <a:custGeom>
              <a:avLst/>
              <a:gdLst/>
              <a:ahLst/>
              <a:cxnLst/>
              <a:rect l="l" t="t" r="r" b="b"/>
              <a:pathLst>
                <a:path h="1135379">
                  <a:moveTo>
                    <a:pt x="0" y="0"/>
                  </a:moveTo>
                  <a:lnTo>
                    <a:pt x="0" y="17134"/>
                  </a:lnTo>
                </a:path>
                <a:path h="1135379">
                  <a:moveTo>
                    <a:pt x="0" y="1134889"/>
                  </a:moveTo>
                  <a:lnTo>
                    <a:pt x="0" y="1117755"/>
                  </a:lnTo>
                </a:path>
              </a:pathLst>
            </a:custGeom>
            <a:ln w="3776">
              <a:solidFill>
                <a:srgbClr val="000000"/>
              </a:solidFill>
            </a:ln>
          </p:spPr>
          <p:txBody>
            <a:bodyPr wrap="square" lIns="0" tIns="0" rIns="0" bIns="0" rtlCol="0"/>
            <a:lstStyle/>
            <a:p>
              <a:endParaRPr/>
            </a:p>
          </p:txBody>
        </p:sp>
        <p:sp>
          <p:nvSpPr>
            <p:cNvPr id="348" name="object 348"/>
            <p:cNvSpPr/>
            <p:nvPr/>
          </p:nvSpPr>
          <p:spPr>
            <a:xfrm>
              <a:off x="2143213" y="2327501"/>
              <a:ext cx="0" cy="1135380"/>
            </a:xfrm>
            <a:custGeom>
              <a:avLst/>
              <a:gdLst/>
              <a:ahLst/>
              <a:cxnLst/>
              <a:rect l="l" t="t" r="r" b="b"/>
              <a:pathLst>
                <a:path h="1135379">
                  <a:moveTo>
                    <a:pt x="0" y="1134889"/>
                  </a:moveTo>
                  <a:lnTo>
                    <a:pt x="0" y="0"/>
                  </a:lnTo>
                </a:path>
              </a:pathLst>
            </a:custGeom>
            <a:ln w="3774">
              <a:solidFill>
                <a:srgbClr val="000000"/>
              </a:solidFill>
              <a:prstDash val="dash"/>
            </a:ln>
          </p:spPr>
          <p:txBody>
            <a:bodyPr wrap="square" lIns="0" tIns="0" rIns="0" bIns="0" rtlCol="0"/>
            <a:lstStyle/>
            <a:p>
              <a:endParaRPr/>
            </a:p>
          </p:txBody>
        </p:sp>
        <p:sp>
          <p:nvSpPr>
            <p:cNvPr id="349" name="object 349"/>
            <p:cNvSpPr/>
            <p:nvPr/>
          </p:nvSpPr>
          <p:spPr>
            <a:xfrm>
              <a:off x="2143213" y="2327499"/>
              <a:ext cx="0" cy="1135380"/>
            </a:xfrm>
            <a:custGeom>
              <a:avLst/>
              <a:gdLst/>
              <a:ahLst/>
              <a:cxnLst/>
              <a:rect l="l" t="t" r="r" b="b"/>
              <a:pathLst>
                <a:path h="1135379">
                  <a:moveTo>
                    <a:pt x="0" y="0"/>
                  </a:moveTo>
                  <a:lnTo>
                    <a:pt x="0" y="17134"/>
                  </a:lnTo>
                </a:path>
                <a:path h="1135379">
                  <a:moveTo>
                    <a:pt x="0" y="1134889"/>
                  </a:moveTo>
                  <a:lnTo>
                    <a:pt x="0" y="1117755"/>
                  </a:lnTo>
                </a:path>
              </a:pathLst>
            </a:custGeom>
            <a:ln w="3776">
              <a:solidFill>
                <a:srgbClr val="000000"/>
              </a:solidFill>
            </a:ln>
          </p:spPr>
          <p:txBody>
            <a:bodyPr wrap="square" lIns="0" tIns="0" rIns="0" bIns="0" rtlCol="0"/>
            <a:lstStyle/>
            <a:p>
              <a:endParaRPr/>
            </a:p>
          </p:txBody>
        </p:sp>
        <p:sp>
          <p:nvSpPr>
            <p:cNvPr id="350" name="object 350"/>
            <p:cNvSpPr/>
            <p:nvPr/>
          </p:nvSpPr>
          <p:spPr>
            <a:xfrm>
              <a:off x="2315674" y="2327501"/>
              <a:ext cx="0" cy="1135380"/>
            </a:xfrm>
            <a:custGeom>
              <a:avLst/>
              <a:gdLst/>
              <a:ahLst/>
              <a:cxnLst/>
              <a:rect l="l" t="t" r="r" b="b"/>
              <a:pathLst>
                <a:path h="1135379">
                  <a:moveTo>
                    <a:pt x="0" y="1134889"/>
                  </a:moveTo>
                  <a:lnTo>
                    <a:pt x="0" y="0"/>
                  </a:lnTo>
                </a:path>
              </a:pathLst>
            </a:custGeom>
            <a:ln w="3774">
              <a:solidFill>
                <a:srgbClr val="000000"/>
              </a:solidFill>
              <a:prstDash val="dash"/>
            </a:ln>
          </p:spPr>
          <p:txBody>
            <a:bodyPr wrap="square" lIns="0" tIns="0" rIns="0" bIns="0" rtlCol="0"/>
            <a:lstStyle/>
            <a:p>
              <a:endParaRPr/>
            </a:p>
          </p:txBody>
        </p:sp>
        <p:sp>
          <p:nvSpPr>
            <p:cNvPr id="351" name="object 351"/>
            <p:cNvSpPr/>
            <p:nvPr/>
          </p:nvSpPr>
          <p:spPr>
            <a:xfrm>
              <a:off x="2315674" y="2327499"/>
              <a:ext cx="0" cy="1135380"/>
            </a:xfrm>
            <a:custGeom>
              <a:avLst/>
              <a:gdLst/>
              <a:ahLst/>
              <a:cxnLst/>
              <a:rect l="l" t="t" r="r" b="b"/>
              <a:pathLst>
                <a:path h="1135379">
                  <a:moveTo>
                    <a:pt x="0" y="0"/>
                  </a:moveTo>
                  <a:lnTo>
                    <a:pt x="0" y="17134"/>
                  </a:lnTo>
                </a:path>
                <a:path h="1135379">
                  <a:moveTo>
                    <a:pt x="0" y="1134889"/>
                  </a:moveTo>
                  <a:lnTo>
                    <a:pt x="0" y="1117755"/>
                  </a:lnTo>
                </a:path>
              </a:pathLst>
            </a:custGeom>
            <a:ln w="3776">
              <a:solidFill>
                <a:srgbClr val="000000"/>
              </a:solidFill>
            </a:ln>
          </p:spPr>
          <p:txBody>
            <a:bodyPr wrap="square" lIns="0" tIns="0" rIns="0" bIns="0" rtlCol="0"/>
            <a:lstStyle/>
            <a:p>
              <a:endParaRPr/>
            </a:p>
          </p:txBody>
        </p:sp>
        <p:sp>
          <p:nvSpPr>
            <p:cNvPr id="352" name="object 352"/>
            <p:cNvSpPr/>
            <p:nvPr/>
          </p:nvSpPr>
          <p:spPr>
            <a:xfrm>
              <a:off x="2488410" y="2327505"/>
              <a:ext cx="0" cy="1135380"/>
            </a:xfrm>
            <a:custGeom>
              <a:avLst/>
              <a:gdLst/>
              <a:ahLst/>
              <a:cxnLst/>
              <a:rect l="l" t="t" r="r" b="b"/>
              <a:pathLst>
                <a:path h="1135379">
                  <a:moveTo>
                    <a:pt x="0" y="17134"/>
                  </a:moveTo>
                  <a:lnTo>
                    <a:pt x="0" y="0"/>
                  </a:lnTo>
                </a:path>
                <a:path h="1135379">
                  <a:moveTo>
                    <a:pt x="0" y="1134889"/>
                  </a:moveTo>
                  <a:lnTo>
                    <a:pt x="0" y="55225"/>
                  </a:lnTo>
                </a:path>
              </a:pathLst>
            </a:custGeom>
            <a:ln w="3776">
              <a:solidFill>
                <a:srgbClr val="000000"/>
              </a:solidFill>
              <a:prstDash val="dash"/>
            </a:ln>
          </p:spPr>
          <p:txBody>
            <a:bodyPr wrap="square" lIns="0" tIns="0" rIns="0" bIns="0" rtlCol="0"/>
            <a:lstStyle/>
            <a:p>
              <a:endParaRPr/>
            </a:p>
          </p:txBody>
        </p:sp>
        <p:sp>
          <p:nvSpPr>
            <p:cNvPr id="353" name="object 353"/>
            <p:cNvSpPr/>
            <p:nvPr/>
          </p:nvSpPr>
          <p:spPr>
            <a:xfrm>
              <a:off x="2488410" y="2327499"/>
              <a:ext cx="0" cy="1135380"/>
            </a:xfrm>
            <a:custGeom>
              <a:avLst/>
              <a:gdLst/>
              <a:ahLst/>
              <a:cxnLst/>
              <a:rect l="l" t="t" r="r" b="b"/>
              <a:pathLst>
                <a:path h="1135379">
                  <a:moveTo>
                    <a:pt x="0" y="0"/>
                  </a:moveTo>
                  <a:lnTo>
                    <a:pt x="0" y="17134"/>
                  </a:lnTo>
                </a:path>
                <a:path h="1135379">
                  <a:moveTo>
                    <a:pt x="0" y="1134889"/>
                  </a:moveTo>
                  <a:lnTo>
                    <a:pt x="0" y="1117755"/>
                  </a:lnTo>
                </a:path>
              </a:pathLst>
            </a:custGeom>
            <a:ln w="3776">
              <a:solidFill>
                <a:srgbClr val="000000"/>
              </a:solidFill>
            </a:ln>
          </p:spPr>
          <p:txBody>
            <a:bodyPr wrap="square" lIns="0" tIns="0" rIns="0" bIns="0" rtlCol="0"/>
            <a:lstStyle/>
            <a:p>
              <a:endParaRPr/>
            </a:p>
          </p:txBody>
        </p:sp>
        <p:sp>
          <p:nvSpPr>
            <p:cNvPr id="354" name="object 354"/>
            <p:cNvSpPr/>
            <p:nvPr/>
          </p:nvSpPr>
          <p:spPr>
            <a:xfrm>
              <a:off x="2660873" y="2327505"/>
              <a:ext cx="0" cy="1135380"/>
            </a:xfrm>
            <a:custGeom>
              <a:avLst/>
              <a:gdLst/>
              <a:ahLst/>
              <a:cxnLst/>
              <a:rect l="l" t="t" r="r" b="b"/>
              <a:pathLst>
                <a:path h="1135379">
                  <a:moveTo>
                    <a:pt x="0" y="17134"/>
                  </a:moveTo>
                  <a:lnTo>
                    <a:pt x="0" y="0"/>
                  </a:lnTo>
                </a:path>
                <a:path h="1135379">
                  <a:moveTo>
                    <a:pt x="0" y="1134889"/>
                  </a:moveTo>
                  <a:lnTo>
                    <a:pt x="0" y="55225"/>
                  </a:lnTo>
                </a:path>
              </a:pathLst>
            </a:custGeom>
            <a:ln w="3776">
              <a:solidFill>
                <a:srgbClr val="000000"/>
              </a:solidFill>
              <a:prstDash val="dash"/>
            </a:ln>
          </p:spPr>
          <p:txBody>
            <a:bodyPr wrap="square" lIns="0" tIns="0" rIns="0" bIns="0" rtlCol="0"/>
            <a:lstStyle/>
            <a:p>
              <a:endParaRPr/>
            </a:p>
          </p:txBody>
        </p:sp>
        <p:sp>
          <p:nvSpPr>
            <p:cNvPr id="355" name="object 355"/>
            <p:cNvSpPr/>
            <p:nvPr/>
          </p:nvSpPr>
          <p:spPr>
            <a:xfrm>
              <a:off x="2660873" y="2327499"/>
              <a:ext cx="0" cy="1135380"/>
            </a:xfrm>
            <a:custGeom>
              <a:avLst/>
              <a:gdLst/>
              <a:ahLst/>
              <a:cxnLst/>
              <a:rect l="l" t="t" r="r" b="b"/>
              <a:pathLst>
                <a:path h="1135379">
                  <a:moveTo>
                    <a:pt x="0" y="0"/>
                  </a:moveTo>
                  <a:lnTo>
                    <a:pt x="0" y="17134"/>
                  </a:lnTo>
                </a:path>
                <a:path h="1135379">
                  <a:moveTo>
                    <a:pt x="0" y="1134889"/>
                  </a:moveTo>
                  <a:lnTo>
                    <a:pt x="0" y="1117755"/>
                  </a:lnTo>
                </a:path>
              </a:pathLst>
            </a:custGeom>
            <a:ln w="3776">
              <a:solidFill>
                <a:srgbClr val="000000"/>
              </a:solidFill>
            </a:ln>
          </p:spPr>
          <p:txBody>
            <a:bodyPr wrap="square" lIns="0" tIns="0" rIns="0" bIns="0" rtlCol="0"/>
            <a:lstStyle/>
            <a:p>
              <a:endParaRPr/>
            </a:p>
          </p:txBody>
        </p:sp>
        <p:sp>
          <p:nvSpPr>
            <p:cNvPr id="356" name="object 356"/>
            <p:cNvSpPr/>
            <p:nvPr/>
          </p:nvSpPr>
          <p:spPr>
            <a:xfrm>
              <a:off x="2833333" y="2327505"/>
              <a:ext cx="0" cy="1135380"/>
            </a:xfrm>
            <a:custGeom>
              <a:avLst/>
              <a:gdLst/>
              <a:ahLst/>
              <a:cxnLst/>
              <a:rect l="l" t="t" r="r" b="b"/>
              <a:pathLst>
                <a:path h="1135379">
                  <a:moveTo>
                    <a:pt x="0" y="17134"/>
                  </a:moveTo>
                  <a:lnTo>
                    <a:pt x="0" y="0"/>
                  </a:lnTo>
                </a:path>
                <a:path h="1135379">
                  <a:moveTo>
                    <a:pt x="0" y="1134889"/>
                  </a:moveTo>
                  <a:lnTo>
                    <a:pt x="0" y="55225"/>
                  </a:lnTo>
                </a:path>
              </a:pathLst>
            </a:custGeom>
            <a:ln w="3776">
              <a:solidFill>
                <a:srgbClr val="000000"/>
              </a:solidFill>
              <a:prstDash val="dash"/>
            </a:ln>
          </p:spPr>
          <p:txBody>
            <a:bodyPr wrap="square" lIns="0" tIns="0" rIns="0" bIns="0" rtlCol="0"/>
            <a:lstStyle/>
            <a:p>
              <a:endParaRPr/>
            </a:p>
          </p:txBody>
        </p:sp>
        <p:sp>
          <p:nvSpPr>
            <p:cNvPr id="357" name="object 357"/>
            <p:cNvSpPr/>
            <p:nvPr/>
          </p:nvSpPr>
          <p:spPr>
            <a:xfrm>
              <a:off x="2833333" y="2327499"/>
              <a:ext cx="0" cy="1135380"/>
            </a:xfrm>
            <a:custGeom>
              <a:avLst/>
              <a:gdLst/>
              <a:ahLst/>
              <a:cxnLst/>
              <a:rect l="l" t="t" r="r" b="b"/>
              <a:pathLst>
                <a:path h="1135379">
                  <a:moveTo>
                    <a:pt x="0" y="0"/>
                  </a:moveTo>
                  <a:lnTo>
                    <a:pt x="0" y="17134"/>
                  </a:lnTo>
                </a:path>
                <a:path h="1135379">
                  <a:moveTo>
                    <a:pt x="0" y="1134889"/>
                  </a:moveTo>
                  <a:lnTo>
                    <a:pt x="0" y="1117755"/>
                  </a:lnTo>
                </a:path>
              </a:pathLst>
            </a:custGeom>
            <a:ln w="3776">
              <a:solidFill>
                <a:srgbClr val="000000"/>
              </a:solidFill>
            </a:ln>
          </p:spPr>
          <p:txBody>
            <a:bodyPr wrap="square" lIns="0" tIns="0" rIns="0" bIns="0" rtlCol="0"/>
            <a:lstStyle/>
            <a:p>
              <a:endParaRPr/>
            </a:p>
          </p:txBody>
        </p:sp>
        <p:sp>
          <p:nvSpPr>
            <p:cNvPr id="358" name="object 358"/>
            <p:cNvSpPr/>
            <p:nvPr/>
          </p:nvSpPr>
          <p:spPr>
            <a:xfrm>
              <a:off x="3006069" y="2327505"/>
              <a:ext cx="0" cy="1135380"/>
            </a:xfrm>
            <a:custGeom>
              <a:avLst/>
              <a:gdLst/>
              <a:ahLst/>
              <a:cxnLst/>
              <a:rect l="l" t="t" r="r" b="b"/>
              <a:pathLst>
                <a:path h="1135379">
                  <a:moveTo>
                    <a:pt x="0" y="17134"/>
                  </a:moveTo>
                  <a:lnTo>
                    <a:pt x="0" y="0"/>
                  </a:lnTo>
                </a:path>
                <a:path h="1135379">
                  <a:moveTo>
                    <a:pt x="0" y="1134889"/>
                  </a:moveTo>
                  <a:lnTo>
                    <a:pt x="0" y="55225"/>
                  </a:lnTo>
                </a:path>
              </a:pathLst>
            </a:custGeom>
            <a:ln w="3776">
              <a:solidFill>
                <a:srgbClr val="000000"/>
              </a:solidFill>
              <a:prstDash val="dash"/>
            </a:ln>
          </p:spPr>
          <p:txBody>
            <a:bodyPr wrap="square" lIns="0" tIns="0" rIns="0" bIns="0" rtlCol="0"/>
            <a:lstStyle/>
            <a:p>
              <a:endParaRPr/>
            </a:p>
          </p:txBody>
        </p:sp>
        <p:sp>
          <p:nvSpPr>
            <p:cNvPr id="359" name="object 359"/>
            <p:cNvSpPr/>
            <p:nvPr/>
          </p:nvSpPr>
          <p:spPr>
            <a:xfrm>
              <a:off x="3006069" y="2327499"/>
              <a:ext cx="0" cy="1135380"/>
            </a:xfrm>
            <a:custGeom>
              <a:avLst/>
              <a:gdLst/>
              <a:ahLst/>
              <a:cxnLst/>
              <a:rect l="l" t="t" r="r" b="b"/>
              <a:pathLst>
                <a:path h="1135379">
                  <a:moveTo>
                    <a:pt x="0" y="0"/>
                  </a:moveTo>
                  <a:lnTo>
                    <a:pt x="0" y="17134"/>
                  </a:lnTo>
                </a:path>
                <a:path h="1135379">
                  <a:moveTo>
                    <a:pt x="0" y="1134889"/>
                  </a:moveTo>
                  <a:lnTo>
                    <a:pt x="0" y="1117755"/>
                  </a:lnTo>
                </a:path>
              </a:pathLst>
            </a:custGeom>
            <a:ln w="3776">
              <a:solidFill>
                <a:srgbClr val="000000"/>
              </a:solidFill>
            </a:ln>
          </p:spPr>
          <p:txBody>
            <a:bodyPr wrap="square" lIns="0" tIns="0" rIns="0" bIns="0" rtlCol="0"/>
            <a:lstStyle/>
            <a:p>
              <a:endParaRPr/>
            </a:p>
          </p:txBody>
        </p:sp>
      </p:grpSp>
      <p:sp>
        <p:nvSpPr>
          <p:cNvPr id="360" name="object 360"/>
          <p:cNvSpPr txBox="1"/>
          <p:nvPr/>
        </p:nvSpPr>
        <p:spPr>
          <a:xfrm>
            <a:off x="1351351" y="3282534"/>
            <a:ext cx="91440" cy="71120"/>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2.5</a:t>
            </a:r>
            <a:endParaRPr sz="300">
              <a:latin typeface="Arial"/>
              <a:cs typeface="Arial"/>
            </a:endParaRPr>
          </a:p>
        </p:txBody>
      </p:sp>
      <p:sp>
        <p:nvSpPr>
          <p:cNvPr id="361" name="object 361"/>
          <p:cNvSpPr txBox="1"/>
          <p:nvPr/>
        </p:nvSpPr>
        <p:spPr>
          <a:xfrm>
            <a:off x="1383230" y="3140492"/>
            <a:ext cx="59690" cy="71120"/>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2</a:t>
            </a:r>
            <a:endParaRPr sz="300">
              <a:latin typeface="Arial"/>
              <a:cs typeface="Arial"/>
            </a:endParaRPr>
          </a:p>
        </p:txBody>
      </p:sp>
      <p:sp>
        <p:nvSpPr>
          <p:cNvPr id="362" name="object 362"/>
          <p:cNvSpPr txBox="1"/>
          <p:nvPr/>
        </p:nvSpPr>
        <p:spPr>
          <a:xfrm>
            <a:off x="1351351" y="2998738"/>
            <a:ext cx="91440" cy="71120"/>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1.5</a:t>
            </a:r>
            <a:endParaRPr sz="300">
              <a:latin typeface="Arial"/>
              <a:cs typeface="Arial"/>
            </a:endParaRPr>
          </a:p>
        </p:txBody>
      </p:sp>
      <p:sp>
        <p:nvSpPr>
          <p:cNvPr id="363" name="object 363"/>
          <p:cNvSpPr txBox="1"/>
          <p:nvPr/>
        </p:nvSpPr>
        <p:spPr>
          <a:xfrm>
            <a:off x="1383230" y="2856702"/>
            <a:ext cx="59690" cy="71120"/>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1</a:t>
            </a:r>
            <a:endParaRPr sz="300">
              <a:latin typeface="Arial"/>
              <a:cs typeface="Arial"/>
            </a:endParaRPr>
          </a:p>
        </p:txBody>
      </p:sp>
      <p:sp>
        <p:nvSpPr>
          <p:cNvPr id="364" name="object 364"/>
          <p:cNvSpPr txBox="1"/>
          <p:nvPr/>
        </p:nvSpPr>
        <p:spPr>
          <a:xfrm>
            <a:off x="1351351" y="2714947"/>
            <a:ext cx="91440" cy="71120"/>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0.5</a:t>
            </a:r>
            <a:endParaRPr sz="300">
              <a:latin typeface="Arial"/>
              <a:cs typeface="Arial"/>
            </a:endParaRPr>
          </a:p>
        </p:txBody>
      </p:sp>
      <p:sp>
        <p:nvSpPr>
          <p:cNvPr id="365" name="object 365"/>
          <p:cNvSpPr txBox="1"/>
          <p:nvPr/>
        </p:nvSpPr>
        <p:spPr>
          <a:xfrm>
            <a:off x="1395945" y="2573192"/>
            <a:ext cx="46990" cy="71120"/>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0</a:t>
            </a:r>
            <a:endParaRPr sz="300">
              <a:latin typeface="Arial"/>
              <a:cs typeface="Arial"/>
            </a:endParaRPr>
          </a:p>
        </p:txBody>
      </p:sp>
      <p:sp>
        <p:nvSpPr>
          <p:cNvPr id="366" name="object 366"/>
          <p:cNvSpPr txBox="1"/>
          <p:nvPr/>
        </p:nvSpPr>
        <p:spPr>
          <a:xfrm>
            <a:off x="1364125" y="2431180"/>
            <a:ext cx="78740" cy="71120"/>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0.5</a:t>
            </a:r>
            <a:endParaRPr sz="300">
              <a:latin typeface="Arial"/>
              <a:cs typeface="Arial"/>
            </a:endParaRPr>
          </a:p>
        </p:txBody>
      </p:sp>
      <p:sp>
        <p:nvSpPr>
          <p:cNvPr id="367" name="object 367"/>
          <p:cNvSpPr txBox="1"/>
          <p:nvPr/>
        </p:nvSpPr>
        <p:spPr>
          <a:xfrm>
            <a:off x="1395945" y="2289396"/>
            <a:ext cx="46990" cy="71120"/>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1</a:t>
            </a:r>
            <a:endParaRPr sz="300">
              <a:latin typeface="Arial"/>
              <a:cs typeface="Arial"/>
            </a:endParaRPr>
          </a:p>
        </p:txBody>
      </p:sp>
      <p:sp>
        <p:nvSpPr>
          <p:cNvPr id="368" name="object 368"/>
          <p:cNvSpPr txBox="1"/>
          <p:nvPr/>
        </p:nvSpPr>
        <p:spPr>
          <a:xfrm>
            <a:off x="2966816" y="3462373"/>
            <a:ext cx="89535" cy="71120"/>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180</a:t>
            </a:r>
            <a:endParaRPr sz="300">
              <a:latin typeface="Arial"/>
              <a:cs typeface="Arial"/>
            </a:endParaRPr>
          </a:p>
        </p:txBody>
      </p:sp>
      <p:sp>
        <p:nvSpPr>
          <p:cNvPr id="369" name="object 369"/>
          <p:cNvSpPr/>
          <p:nvPr/>
        </p:nvSpPr>
        <p:spPr>
          <a:xfrm>
            <a:off x="1452822" y="2327502"/>
            <a:ext cx="1708785" cy="1135380"/>
          </a:xfrm>
          <a:custGeom>
            <a:avLst/>
            <a:gdLst/>
            <a:ahLst/>
            <a:cxnLst/>
            <a:rect l="l" t="t" r="r" b="b"/>
            <a:pathLst>
              <a:path w="1708785" h="1135379">
                <a:moveTo>
                  <a:pt x="0" y="1134889"/>
                </a:moveTo>
                <a:lnTo>
                  <a:pt x="1708528" y="1134889"/>
                </a:lnTo>
                <a:lnTo>
                  <a:pt x="1708528" y="0"/>
                </a:lnTo>
                <a:lnTo>
                  <a:pt x="0" y="0"/>
                </a:lnTo>
                <a:lnTo>
                  <a:pt x="0" y="1134889"/>
                </a:lnTo>
                <a:close/>
              </a:path>
            </a:pathLst>
          </a:custGeom>
          <a:ln w="3776">
            <a:solidFill>
              <a:srgbClr val="000000"/>
            </a:solidFill>
          </a:ln>
        </p:spPr>
        <p:txBody>
          <a:bodyPr wrap="square" lIns="0" tIns="0" rIns="0" bIns="0" rtlCol="0"/>
          <a:lstStyle/>
          <a:p>
            <a:endParaRPr/>
          </a:p>
        </p:txBody>
      </p:sp>
      <p:sp>
        <p:nvSpPr>
          <p:cNvPr id="370" name="object 370"/>
          <p:cNvSpPr txBox="1"/>
          <p:nvPr/>
        </p:nvSpPr>
        <p:spPr>
          <a:xfrm>
            <a:off x="1267354" y="2832674"/>
            <a:ext cx="68580" cy="125095"/>
          </a:xfrm>
          <a:prstGeom prst="rect">
            <a:avLst/>
          </a:prstGeom>
        </p:spPr>
        <p:txBody>
          <a:bodyPr vert="vert270" wrap="square" lIns="0" tIns="8890" rIns="0" bIns="0" rtlCol="0">
            <a:spAutoFit/>
          </a:bodyPr>
          <a:lstStyle/>
          <a:p>
            <a:pPr marL="12700">
              <a:lnSpc>
                <a:spcPct val="100000"/>
              </a:lnSpc>
              <a:spcBef>
                <a:spcPts val="70"/>
              </a:spcBef>
            </a:pPr>
            <a:r>
              <a:rPr sz="300" spc="-20" dirty="0">
                <a:latin typeface="Arial"/>
                <a:cs typeface="Arial"/>
              </a:rPr>
              <a:t>Score</a:t>
            </a:r>
            <a:endParaRPr sz="300">
              <a:latin typeface="Arial"/>
              <a:cs typeface="Arial"/>
            </a:endParaRPr>
          </a:p>
        </p:txBody>
      </p:sp>
      <p:sp>
        <p:nvSpPr>
          <p:cNvPr id="371" name="object 371"/>
          <p:cNvSpPr txBox="1"/>
          <p:nvPr/>
        </p:nvSpPr>
        <p:spPr>
          <a:xfrm>
            <a:off x="2516618" y="2325575"/>
            <a:ext cx="480059" cy="71120"/>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Hydropath. /</a:t>
            </a:r>
            <a:r>
              <a:rPr sz="300" spc="5" dirty="0">
                <a:latin typeface="Arial"/>
                <a:cs typeface="Arial"/>
              </a:rPr>
              <a:t> </a:t>
            </a:r>
            <a:r>
              <a:rPr sz="300" dirty="0">
                <a:latin typeface="Arial"/>
                <a:cs typeface="Arial"/>
              </a:rPr>
              <a:t>Kyte</a:t>
            </a:r>
            <a:r>
              <a:rPr sz="300" spc="90" dirty="0">
                <a:latin typeface="Arial"/>
                <a:cs typeface="Arial"/>
              </a:rPr>
              <a:t> </a:t>
            </a:r>
            <a:r>
              <a:rPr sz="300" spc="-10" dirty="0">
                <a:latin typeface="Arial"/>
                <a:cs typeface="Arial"/>
              </a:rPr>
              <a:t>Doolittle</a:t>
            </a:r>
            <a:endParaRPr sz="300">
              <a:latin typeface="Arial"/>
              <a:cs typeface="Arial"/>
            </a:endParaRPr>
          </a:p>
        </p:txBody>
      </p:sp>
      <p:grpSp>
        <p:nvGrpSpPr>
          <p:cNvPr id="372" name="object 372"/>
          <p:cNvGrpSpPr/>
          <p:nvPr/>
        </p:nvGrpSpPr>
        <p:grpSpPr>
          <a:xfrm>
            <a:off x="1450917" y="2325597"/>
            <a:ext cx="1712595" cy="1139190"/>
            <a:chOff x="1450917" y="2325597"/>
            <a:chExt cx="1712595" cy="1139190"/>
          </a:xfrm>
        </p:grpSpPr>
        <p:sp>
          <p:nvSpPr>
            <p:cNvPr id="373" name="object 373"/>
            <p:cNvSpPr/>
            <p:nvPr/>
          </p:nvSpPr>
          <p:spPr>
            <a:xfrm>
              <a:off x="1495935" y="2363684"/>
              <a:ext cx="1619885" cy="1054100"/>
            </a:xfrm>
            <a:custGeom>
              <a:avLst/>
              <a:gdLst/>
              <a:ahLst/>
              <a:cxnLst/>
              <a:rect l="l" t="t" r="r" b="b"/>
              <a:pathLst>
                <a:path w="1619885" h="1054100">
                  <a:moveTo>
                    <a:pt x="0" y="816003"/>
                  </a:moveTo>
                  <a:lnTo>
                    <a:pt x="8727" y="802948"/>
                  </a:lnTo>
                  <a:lnTo>
                    <a:pt x="17197" y="696290"/>
                  </a:lnTo>
                  <a:lnTo>
                    <a:pt x="25925" y="636155"/>
                  </a:lnTo>
                  <a:lnTo>
                    <a:pt x="34652" y="596160"/>
                  </a:lnTo>
                  <a:lnTo>
                    <a:pt x="43108" y="585266"/>
                  </a:lnTo>
                  <a:lnTo>
                    <a:pt x="51850" y="549350"/>
                  </a:lnTo>
                  <a:lnTo>
                    <a:pt x="60305" y="595344"/>
                  </a:lnTo>
                  <a:lnTo>
                    <a:pt x="69033" y="668262"/>
                  </a:lnTo>
                  <a:lnTo>
                    <a:pt x="77775" y="691924"/>
                  </a:lnTo>
                  <a:lnTo>
                    <a:pt x="86231" y="744172"/>
                  </a:lnTo>
                  <a:lnTo>
                    <a:pt x="94958" y="779816"/>
                  </a:lnTo>
                  <a:lnTo>
                    <a:pt x="103700" y="878314"/>
                  </a:lnTo>
                  <a:lnTo>
                    <a:pt x="112156" y="891913"/>
                  </a:lnTo>
                  <a:lnTo>
                    <a:pt x="120883" y="928372"/>
                  </a:lnTo>
                  <a:lnTo>
                    <a:pt x="129339" y="926740"/>
                  </a:lnTo>
                  <a:lnTo>
                    <a:pt x="138081" y="863613"/>
                  </a:lnTo>
                  <a:lnTo>
                    <a:pt x="146808" y="736013"/>
                  </a:lnTo>
                  <a:lnTo>
                    <a:pt x="155264" y="597520"/>
                  </a:lnTo>
                  <a:lnTo>
                    <a:pt x="164006" y="473440"/>
                  </a:lnTo>
                  <a:lnTo>
                    <a:pt x="172734" y="325972"/>
                  </a:lnTo>
                  <a:lnTo>
                    <a:pt x="181189" y="276715"/>
                  </a:lnTo>
                  <a:lnTo>
                    <a:pt x="189932" y="313174"/>
                  </a:lnTo>
                  <a:lnTo>
                    <a:pt x="198387" y="358895"/>
                  </a:lnTo>
                  <a:lnTo>
                    <a:pt x="207114" y="453027"/>
                  </a:lnTo>
                  <a:lnTo>
                    <a:pt x="215857" y="581186"/>
                  </a:lnTo>
                  <a:lnTo>
                    <a:pt x="224312" y="652201"/>
                  </a:lnTo>
                  <a:lnTo>
                    <a:pt x="233040" y="655193"/>
                  </a:lnTo>
                  <a:lnTo>
                    <a:pt x="241767" y="670982"/>
                  </a:lnTo>
                  <a:lnTo>
                    <a:pt x="250238" y="731934"/>
                  </a:lnTo>
                  <a:lnTo>
                    <a:pt x="258965" y="729199"/>
                  </a:lnTo>
                  <a:lnTo>
                    <a:pt x="267420" y="709889"/>
                  </a:lnTo>
                  <a:lnTo>
                    <a:pt x="276163" y="791238"/>
                  </a:lnTo>
                  <a:lnTo>
                    <a:pt x="284890" y="855726"/>
                  </a:lnTo>
                  <a:lnTo>
                    <a:pt x="293346" y="859261"/>
                  </a:lnTo>
                  <a:lnTo>
                    <a:pt x="302088" y="852190"/>
                  </a:lnTo>
                  <a:lnTo>
                    <a:pt x="310544" y="883754"/>
                  </a:lnTo>
                  <a:lnTo>
                    <a:pt x="319271" y="870699"/>
                  </a:lnTo>
                  <a:lnTo>
                    <a:pt x="327998" y="807572"/>
                  </a:lnTo>
                  <a:lnTo>
                    <a:pt x="336469" y="714784"/>
                  </a:lnTo>
                  <a:lnTo>
                    <a:pt x="345196" y="684852"/>
                  </a:lnTo>
                  <a:lnTo>
                    <a:pt x="353923" y="632891"/>
                  </a:lnTo>
                  <a:lnTo>
                    <a:pt x="362394" y="522954"/>
                  </a:lnTo>
                  <a:lnTo>
                    <a:pt x="371121" y="453843"/>
                  </a:lnTo>
                  <a:lnTo>
                    <a:pt x="379577" y="437253"/>
                  </a:lnTo>
                  <a:lnTo>
                    <a:pt x="388319" y="438069"/>
                  </a:lnTo>
                  <a:lnTo>
                    <a:pt x="397047" y="429910"/>
                  </a:lnTo>
                  <a:lnTo>
                    <a:pt x="405502" y="541191"/>
                  </a:lnTo>
                  <a:lnTo>
                    <a:pt x="414229" y="670710"/>
                  </a:lnTo>
                  <a:lnTo>
                    <a:pt x="422972" y="755867"/>
                  </a:lnTo>
                  <a:lnTo>
                    <a:pt x="431427" y="810563"/>
                  </a:lnTo>
                  <a:lnTo>
                    <a:pt x="440155" y="895721"/>
                  </a:lnTo>
                  <a:lnTo>
                    <a:pt x="448625" y="915046"/>
                  </a:lnTo>
                  <a:lnTo>
                    <a:pt x="457353" y="847567"/>
                  </a:lnTo>
                  <a:lnTo>
                    <a:pt x="466080" y="848383"/>
                  </a:lnTo>
                  <a:lnTo>
                    <a:pt x="474551" y="829601"/>
                  </a:lnTo>
                  <a:lnTo>
                    <a:pt x="483278" y="775736"/>
                  </a:lnTo>
                  <a:lnTo>
                    <a:pt x="492005" y="688932"/>
                  </a:lnTo>
                  <a:lnTo>
                    <a:pt x="500461" y="672342"/>
                  </a:lnTo>
                  <a:lnTo>
                    <a:pt x="509203" y="654649"/>
                  </a:lnTo>
                  <a:lnTo>
                    <a:pt x="517659" y="602687"/>
                  </a:lnTo>
                  <a:lnTo>
                    <a:pt x="526386" y="605407"/>
                  </a:lnTo>
                  <a:lnTo>
                    <a:pt x="535128" y="663095"/>
                  </a:lnTo>
                  <a:lnTo>
                    <a:pt x="543584" y="688388"/>
                  </a:lnTo>
                  <a:lnTo>
                    <a:pt x="552311" y="744172"/>
                  </a:lnTo>
                  <a:lnTo>
                    <a:pt x="560767" y="822530"/>
                  </a:lnTo>
                  <a:lnTo>
                    <a:pt x="569509" y="867980"/>
                  </a:lnTo>
                  <a:lnTo>
                    <a:pt x="578236" y="862525"/>
                  </a:lnTo>
                  <a:lnTo>
                    <a:pt x="586692" y="824434"/>
                  </a:lnTo>
                  <a:lnTo>
                    <a:pt x="595434" y="788791"/>
                  </a:lnTo>
                  <a:lnTo>
                    <a:pt x="604162" y="735741"/>
                  </a:lnTo>
                  <a:lnTo>
                    <a:pt x="612617" y="661176"/>
                  </a:lnTo>
                  <a:lnTo>
                    <a:pt x="621360" y="641050"/>
                  </a:lnTo>
                  <a:lnTo>
                    <a:pt x="629815" y="675605"/>
                  </a:lnTo>
                  <a:lnTo>
                    <a:pt x="638542" y="675877"/>
                  </a:lnTo>
                  <a:lnTo>
                    <a:pt x="647285" y="708529"/>
                  </a:lnTo>
                  <a:lnTo>
                    <a:pt x="655740" y="764298"/>
                  </a:lnTo>
                  <a:lnTo>
                    <a:pt x="664468" y="786887"/>
                  </a:lnTo>
                  <a:lnTo>
                    <a:pt x="673195" y="758859"/>
                  </a:lnTo>
                  <a:lnTo>
                    <a:pt x="681665" y="697650"/>
                  </a:lnTo>
                  <a:lnTo>
                    <a:pt x="690393" y="684852"/>
                  </a:lnTo>
                  <a:lnTo>
                    <a:pt x="698848" y="654649"/>
                  </a:lnTo>
                  <a:lnTo>
                    <a:pt x="707591" y="602687"/>
                  </a:lnTo>
                  <a:lnTo>
                    <a:pt x="716318" y="605407"/>
                  </a:lnTo>
                  <a:lnTo>
                    <a:pt x="724774" y="663095"/>
                  </a:lnTo>
                  <a:lnTo>
                    <a:pt x="733516" y="688388"/>
                  </a:lnTo>
                  <a:lnTo>
                    <a:pt x="742243" y="744172"/>
                  </a:lnTo>
                  <a:lnTo>
                    <a:pt x="750699" y="822530"/>
                  </a:lnTo>
                  <a:lnTo>
                    <a:pt x="759426" y="867980"/>
                  </a:lnTo>
                  <a:lnTo>
                    <a:pt x="767897" y="862525"/>
                  </a:lnTo>
                  <a:lnTo>
                    <a:pt x="776624" y="824434"/>
                  </a:lnTo>
                  <a:lnTo>
                    <a:pt x="785351" y="788791"/>
                  </a:lnTo>
                  <a:lnTo>
                    <a:pt x="793822" y="735741"/>
                  </a:lnTo>
                  <a:lnTo>
                    <a:pt x="802549" y="661176"/>
                  </a:lnTo>
                  <a:lnTo>
                    <a:pt x="811277" y="641050"/>
                  </a:lnTo>
                  <a:lnTo>
                    <a:pt x="819747" y="675605"/>
                  </a:lnTo>
                  <a:lnTo>
                    <a:pt x="828474" y="688388"/>
                  </a:lnTo>
                  <a:lnTo>
                    <a:pt x="836930" y="744172"/>
                  </a:lnTo>
                  <a:lnTo>
                    <a:pt x="845657" y="822530"/>
                  </a:lnTo>
                  <a:lnTo>
                    <a:pt x="854400" y="867980"/>
                  </a:lnTo>
                  <a:lnTo>
                    <a:pt x="862855" y="862525"/>
                  </a:lnTo>
                  <a:lnTo>
                    <a:pt x="871583" y="824434"/>
                  </a:lnTo>
                  <a:lnTo>
                    <a:pt x="880053" y="788791"/>
                  </a:lnTo>
                  <a:lnTo>
                    <a:pt x="888780" y="723215"/>
                  </a:lnTo>
                  <a:lnTo>
                    <a:pt x="897508" y="625533"/>
                  </a:lnTo>
                  <a:lnTo>
                    <a:pt x="905978" y="582818"/>
                  </a:lnTo>
                  <a:lnTo>
                    <a:pt x="914706" y="594528"/>
                  </a:lnTo>
                  <a:lnTo>
                    <a:pt x="923433" y="571939"/>
                  </a:lnTo>
                  <a:lnTo>
                    <a:pt x="931889" y="570851"/>
                  </a:lnTo>
                  <a:lnTo>
                    <a:pt x="940631" y="629083"/>
                  </a:lnTo>
                  <a:lnTo>
                    <a:pt x="949086" y="642138"/>
                  </a:lnTo>
                  <a:lnTo>
                    <a:pt x="957814" y="580370"/>
                  </a:lnTo>
                  <a:lnTo>
                    <a:pt x="966556" y="475616"/>
                  </a:lnTo>
                  <a:lnTo>
                    <a:pt x="975012" y="419016"/>
                  </a:lnTo>
                  <a:lnTo>
                    <a:pt x="983739" y="375214"/>
                  </a:lnTo>
                  <a:lnTo>
                    <a:pt x="992481" y="296856"/>
                  </a:lnTo>
                  <a:lnTo>
                    <a:pt x="1000937" y="318613"/>
                  </a:lnTo>
                  <a:lnTo>
                    <a:pt x="1009664" y="442693"/>
                  </a:lnTo>
                  <a:lnTo>
                    <a:pt x="1018120" y="522138"/>
                  </a:lnTo>
                  <a:lnTo>
                    <a:pt x="1026862" y="601327"/>
                  </a:lnTo>
                  <a:lnTo>
                    <a:pt x="1035589" y="683493"/>
                  </a:lnTo>
                  <a:lnTo>
                    <a:pt x="1044045" y="709889"/>
                  </a:lnTo>
                  <a:lnTo>
                    <a:pt x="1052787" y="650297"/>
                  </a:lnTo>
                  <a:lnTo>
                    <a:pt x="1061515" y="543639"/>
                  </a:lnTo>
                  <a:lnTo>
                    <a:pt x="1069970" y="501197"/>
                  </a:lnTo>
                  <a:lnTo>
                    <a:pt x="1078713" y="481056"/>
                  </a:lnTo>
                  <a:lnTo>
                    <a:pt x="1087168" y="429094"/>
                  </a:lnTo>
                  <a:lnTo>
                    <a:pt x="1095895" y="477520"/>
                  </a:lnTo>
                  <a:lnTo>
                    <a:pt x="1104623" y="569763"/>
                  </a:lnTo>
                  <a:lnTo>
                    <a:pt x="1113093" y="592337"/>
                  </a:lnTo>
                  <a:lnTo>
                    <a:pt x="1121821" y="575203"/>
                  </a:lnTo>
                  <a:lnTo>
                    <a:pt x="1130276" y="614654"/>
                  </a:lnTo>
                  <a:lnTo>
                    <a:pt x="1139019" y="598335"/>
                  </a:lnTo>
                  <a:lnTo>
                    <a:pt x="1147746" y="532216"/>
                  </a:lnTo>
                  <a:lnTo>
                    <a:pt x="1156201" y="503100"/>
                  </a:lnTo>
                  <a:lnTo>
                    <a:pt x="1164944" y="607311"/>
                  </a:lnTo>
                  <a:lnTo>
                    <a:pt x="1173671" y="667174"/>
                  </a:lnTo>
                  <a:lnTo>
                    <a:pt x="1182127" y="724031"/>
                  </a:lnTo>
                  <a:lnTo>
                    <a:pt x="1190854" y="813555"/>
                  </a:lnTo>
                  <a:lnTo>
                    <a:pt x="1199325" y="834240"/>
                  </a:lnTo>
                  <a:lnTo>
                    <a:pt x="1208052" y="737917"/>
                  </a:lnTo>
                  <a:lnTo>
                    <a:pt x="1216779" y="562692"/>
                  </a:lnTo>
                  <a:lnTo>
                    <a:pt x="1225250" y="426102"/>
                  </a:lnTo>
                  <a:lnTo>
                    <a:pt x="1233977" y="292504"/>
                  </a:lnTo>
                  <a:lnTo>
                    <a:pt x="1242704" y="158906"/>
                  </a:lnTo>
                  <a:lnTo>
                    <a:pt x="1251175" y="155914"/>
                  </a:lnTo>
                  <a:lnTo>
                    <a:pt x="1259902" y="300935"/>
                  </a:lnTo>
                  <a:lnTo>
                    <a:pt x="1268358" y="397802"/>
                  </a:lnTo>
                  <a:lnTo>
                    <a:pt x="1277085" y="439157"/>
                  </a:lnTo>
                  <a:lnTo>
                    <a:pt x="1285828" y="538472"/>
                  </a:lnTo>
                  <a:lnTo>
                    <a:pt x="1294283" y="606223"/>
                  </a:lnTo>
                  <a:lnTo>
                    <a:pt x="1303010" y="554246"/>
                  </a:lnTo>
                  <a:lnTo>
                    <a:pt x="1311753" y="413577"/>
                  </a:lnTo>
                  <a:lnTo>
                    <a:pt x="1320208" y="376029"/>
                  </a:lnTo>
                  <a:lnTo>
                    <a:pt x="1328936" y="270187"/>
                  </a:lnTo>
                  <a:lnTo>
                    <a:pt x="1337406" y="155914"/>
                  </a:lnTo>
                  <a:lnTo>
                    <a:pt x="1346134" y="125710"/>
                  </a:lnTo>
                  <a:lnTo>
                    <a:pt x="1354861" y="165433"/>
                  </a:lnTo>
                  <a:lnTo>
                    <a:pt x="1363316" y="210324"/>
                  </a:lnTo>
                  <a:lnTo>
                    <a:pt x="1372059" y="215491"/>
                  </a:lnTo>
                  <a:lnTo>
                    <a:pt x="1380786" y="286793"/>
                  </a:lnTo>
                  <a:lnTo>
                    <a:pt x="1389242" y="301207"/>
                  </a:lnTo>
                  <a:lnTo>
                    <a:pt x="1397984" y="219042"/>
                  </a:lnTo>
                  <a:lnTo>
                    <a:pt x="1406440" y="139853"/>
                  </a:lnTo>
                  <a:lnTo>
                    <a:pt x="1415167" y="121903"/>
                  </a:lnTo>
                  <a:lnTo>
                    <a:pt x="1423909" y="127342"/>
                  </a:lnTo>
                  <a:lnTo>
                    <a:pt x="1432365" y="79732"/>
                  </a:lnTo>
                  <a:lnTo>
                    <a:pt x="1441092" y="72374"/>
                  </a:lnTo>
                  <a:lnTo>
                    <a:pt x="1449548" y="176584"/>
                  </a:lnTo>
                  <a:lnTo>
                    <a:pt x="1458290" y="279434"/>
                  </a:lnTo>
                  <a:lnTo>
                    <a:pt x="1467017" y="420104"/>
                  </a:lnTo>
                  <a:lnTo>
                    <a:pt x="1475473" y="589617"/>
                  </a:lnTo>
                  <a:lnTo>
                    <a:pt x="1484215" y="790694"/>
                  </a:lnTo>
                  <a:lnTo>
                    <a:pt x="1492943" y="937090"/>
                  </a:lnTo>
                  <a:lnTo>
                    <a:pt x="1501398" y="1019800"/>
                  </a:lnTo>
                  <a:lnTo>
                    <a:pt x="1510140" y="1053539"/>
                  </a:lnTo>
                  <a:lnTo>
                    <a:pt x="1518596" y="1033126"/>
                  </a:lnTo>
                  <a:lnTo>
                    <a:pt x="1527323" y="973278"/>
                  </a:lnTo>
                  <a:lnTo>
                    <a:pt x="1536066" y="948785"/>
                  </a:lnTo>
                  <a:lnTo>
                    <a:pt x="1544521" y="925924"/>
                  </a:lnTo>
                  <a:lnTo>
                    <a:pt x="1553249" y="940626"/>
                  </a:lnTo>
                  <a:lnTo>
                    <a:pt x="1561976" y="930548"/>
                  </a:lnTo>
                  <a:lnTo>
                    <a:pt x="1570446" y="946609"/>
                  </a:lnTo>
                  <a:lnTo>
                    <a:pt x="1579174" y="899528"/>
                  </a:lnTo>
                  <a:lnTo>
                    <a:pt x="1587629" y="784983"/>
                  </a:lnTo>
                  <a:lnTo>
                    <a:pt x="1596372" y="653017"/>
                  </a:lnTo>
                  <a:lnTo>
                    <a:pt x="1605099" y="559972"/>
                  </a:lnTo>
                  <a:lnTo>
                    <a:pt x="1613555" y="503372"/>
                  </a:lnTo>
                </a:path>
                <a:path w="1619885" h="1054100">
                  <a:moveTo>
                    <a:pt x="1510684" y="0"/>
                  </a:moveTo>
                  <a:lnTo>
                    <a:pt x="1619564" y="0"/>
                  </a:lnTo>
                </a:path>
              </a:pathLst>
            </a:custGeom>
            <a:ln w="7552">
              <a:solidFill>
                <a:srgbClr val="004FE9"/>
              </a:solidFill>
            </a:ln>
          </p:spPr>
          <p:txBody>
            <a:bodyPr wrap="square" lIns="0" tIns="0" rIns="0" bIns="0" rtlCol="0"/>
            <a:lstStyle/>
            <a:p>
              <a:endParaRPr/>
            </a:p>
          </p:txBody>
        </p:sp>
        <p:sp>
          <p:nvSpPr>
            <p:cNvPr id="374" name="object 374"/>
            <p:cNvSpPr/>
            <p:nvPr/>
          </p:nvSpPr>
          <p:spPr>
            <a:xfrm>
              <a:off x="1452822" y="2327502"/>
              <a:ext cx="1708785" cy="1135380"/>
            </a:xfrm>
            <a:custGeom>
              <a:avLst/>
              <a:gdLst/>
              <a:ahLst/>
              <a:cxnLst/>
              <a:rect l="l" t="t" r="r" b="b"/>
              <a:pathLst>
                <a:path w="1708785" h="1135379">
                  <a:moveTo>
                    <a:pt x="0" y="1134889"/>
                  </a:moveTo>
                  <a:lnTo>
                    <a:pt x="1708528" y="1134889"/>
                  </a:lnTo>
                  <a:lnTo>
                    <a:pt x="1708528" y="0"/>
                  </a:lnTo>
                  <a:lnTo>
                    <a:pt x="0" y="0"/>
                  </a:lnTo>
                  <a:lnTo>
                    <a:pt x="0" y="1134889"/>
                  </a:lnTo>
                  <a:close/>
                </a:path>
              </a:pathLst>
            </a:custGeom>
            <a:ln w="3776">
              <a:solidFill>
                <a:srgbClr val="000000"/>
              </a:solidFill>
            </a:ln>
          </p:spPr>
          <p:txBody>
            <a:bodyPr wrap="square" lIns="0" tIns="0" rIns="0" bIns="0" rtlCol="0"/>
            <a:lstStyle/>
            <a:p>
              <a:endParaRPr/>
            </a:p>
          </p:txBody>
        </p:sp>
      </p:grpSp>
      <p:sp>
        <p:nvSpPr>
          <p:cNvPr id="375" name="object 375"/>
          <p:cNvSpPr txBox="1"/>
          <p:nvPr/>
        </p:nvSpPr>
        <p:spPr>
          <a:xfrm>
            <a:off x="1431933" y="2044995"/>
            <a:ext cx="1394460" cy="266065"/>
          </a:xfrm>
          <a:prstGeom prst="rect">
            <a:avLst/>
          </a:prstGeom>
        </p:spPr>
        <p:txBody>
          <a:bodyPr vert="horz" wrap="square" lIns="0" tIns="13970" rIns="0" bIns="0" rtlCol="0">
            <a:spAutoFit/>
          </a:bodyPr>
          <a:lstStyle/>
          <a:p>
            <a:pPr marL="38100">
              <a:lnSpc>
                <a:spcPct val="100000"/>
              </a:lnSpc>
              <a:spcBef>
                <a:spcPts val="110"/>
              </a:spcBef>
            </a:pPr>
            <a:r>
              <a:rPr sz="700" spc="-20" dirty="0">
                <a:latin typeface="Arial"/>
                <a:cs typeface="Arial"/>
              </a:rPr>
              <a:t>A.gerardii</a:t>
            </a:r>
            <a:r>
              <a:rPr sz="700" spc="25" dirty="0">
                <a:latin typeface="Arial"/>
                <a:cs typeface="Arial"/>
              </a:rPr>
              <a:t> </a:t>
            </a:r>
            <a:r>
              <a:rPr sz="700" spc="-20" dirty="0">
                <a:latin typeface="Arial"/>
                <a:cs typeface="Arial"/>
              </a:rPr>
              <a:t>Ag00001aa069574_T002</a:t>
            </a:r>
            <a:endParaRPr sz="700">
              <a:latin typeface="Arial"/>
              <a:cs typeface="Arial"/>
            </a:endParaRPr>
          </a:p>
          <a:p>
            <a:pPr marL="582295">
              <a:lnSpc>
                <a:spcPct val="100000"/>
              </a:lnSpc>
              <a:spcBef>
                <a:spcPts val="685"/>
              </a:spcBef>
            </a:pPr>
            <a:r>
              <a:rPr sz="450" baseline="18518" dirty="0">
                <a:latin typeface="Arial"/>
                <a:cs typeface="Arial"/>
              </a:rPr>
              <a:t>ProtScale</a:t>
            </a:r>
            <a:r>
              <a:rPr sz="450" spc="7" baseline="18518" dirty="0">
                <a:latin typeface="Arial"/>
                <a:cs typeface="Arial"/>
              </a:rPr>
              <a:t> </a:t>
            </a:r>
            <a:r>
              <a:rPr sz="450" baseline="18518" dirty="0">
                <a:latin typeface="Arial"/>
                <a:cs typeface="Arial"/>
              </a:rPr>
              <a:t>output</a:t>
            </a:r>
            <a:r>
              <a:rPr sz="450" spc="7" baseline="18518" dirty="0">
                <a:latin typeface="Arial"/>
                <a:cs typeface="Arial"/>
              </a:rPr>
              <a:t> </a:t>
            </a:r>
            <a:r>
              <a:rPr sz="450" baseline="18518" dirty="0">
                <a:latin typeface="Arial"/>
                <a:cs typeface="Arial"/>
              </a:rPr>
              <a:t>for</a:t>
            </a:r>
            <a:r>
              <a:rPr sz="450" spc="15" baseline="18518" dirty="0">
                <a:latin typeface="Arial"/>
                <a:cs typeface="Arial"/>
              </a:rPr>
              <a:t> </a:t>
            </a:r>
            <a:r>
              <a:rPr sz="450" spc="-15" baseline="18518" dirty="0">
                <a:latin typeface="Arial"/>
                <a:cs typeface="Arial"/>
              </a:rPr>
              <a:t>user</a:t>
            </a:r>
            <a:r>
              <a:rPr sz="200" spc="-10" dirty="0">
                <a:latin typeface="Arial"/>
                <a:cs typeface="Arial"/>
              </a:rPr>
              <a:t>s</a:t>
            </a:r>
            <a:r>
              <a:rPr sz="450" spc="-15" baseline="18518" dirty="0">
                <a:latin typeface="Arial"/>
                <a:cs typeface="Arial"/>
              </a:rPr>
              <a:t>equence</a:t>
            </a:r>
            <a:endParaRPr sz="450" baseline="18518">
              <a:latin typeface="Arial"/>
              <a:cs typeface="Arial"/>
            </a:endParaRPr>
          </a:p>
        </p:txBody>
      </p:sp>
      <p:sp>
        <p:nvSpPr>
          <p:cNvPr id="376" name="object 376"/>
          <p:cNvSpPr txBox="1"/>
          <p:nvPr/>
        </p:nvSpPr>
        <p:spPr>
          <a:xfrm>
            <a:off x="1503065" y="2355361"/>
            <a:ext cx="86995" cy="89535"/>
          </a:xfrm>
          <a:prstGeom prst="rect">
            <a:avLst/>
          </a:prstGeom>
        </p:spPr>
        <p:txBody>
          <a:bodyPr vert="horz" wrap="square" lIns="0" tIns="15240" rIns="0" bIns="0" rtlCol="0">
            <a:spAutoFit/>
          </a:bodyPr>
          <a:lstStyle/>
          <a:p>
            <a:pPr marL="12700">
              <a:lnSpc>
                <a:spcPct val="100000"/>
              </a:lnSpc>
              <a:spcBef>
                <a:spcPts val="120"/>
              </a:spcBef>
            </a:pPr>
            <a:r>
              <a:rPr sz="400" spc="-25" dirty="0">
                <a:latin typeface="Arial"/>
                <a:cs typeface="Arial"/>
              </a:rPr>
              <a:t>Ag</a:t>
            </a:r>
            <a:endParaRPr sz="400">
              <a:latin typeface="Arial"/>
              <a:cs typeface="Arial"/>
            </a:endParaRPr>
          </a:p>
        </p:txBody>
      </p:sp>
      <p:sp>
        <p:nvSpPr>
          <p:cNvPr id="377" name="object 377"/>
          <p:cNvSpPr/>
          <p:nvPr/>
        </p:nvSpPr>
        <p:spPr>
          <a:xfrm>
            <a:off x="1798019" y="2637534"/>
            <a:ext cx="754380" cy="666750"/>
          </a:xfrm>
          <a:custGeom>
            <a:avLst/>
            <a:gdLst/>
            <a:ahLst/>
            <a:cxnLst/>
            <a:rect l="l" t="t" r="r" b="b"/>
            <a:pathLst>
              <a:path w="754380" h="666750">
                <a:moveTo>
                  <a:pt x="0" y="666661"/>
                </a:moveTo>
                <a:lnTo>
                  <a:pt x="754232" y="666661"/>
                </a:lnTo>
                <a:lnTo>
                  <a:pt x="754232" y="0"/>
                </a:lnTo>
                <a:lnTo>
                  <a:pt x="0" y="0"/>
                </a:lnTo>
                <a:lnTo>
                  <a:pt x="0" y="666661"/>
                </a:lnTo>
                <a:close/>
              </a:path>
            </a:pathLst>
          </a:custGeom>
          <a:ln w="7552">
            <a:solidFill>
              <a:srgbClr val="ED1C24"/>
            </a:solidFill>
          </a:ln>
        </p:spPr>
        <p:txBody>
          <a:bodyPr wrap="square" lIns="0" tIns="0" rIns="0" bIns="0" rtlCol="0"/>
          <a:lstStyle/>
          <a:p>
            <a:endParaRPr/>
          </a:p>
        </p:txBody>
      </p:sp>
      <p:sp>
        <p:nvSpPr>
          <p:cNvPr id="378" name="object 378"/>
          <p:cNvSpPr txBox="1"/>
          <p:nvPr/>
        </p:nvSpPr>
        <p:spPr>
          <a:xfrm>
            <a:off x="1409413" y="3450913"/>
            <a:ext cx="1499235" cy="376555"/>
          </a:xfrm>
          <a:prstGeom prst="rect">
            <a:avLst/>
          </a:prstGeom>
        </p:spPr>
        <p:txBody>
          <a:bodyPr vert="horz" wrap="square" lIns="0" tIns="24130" rIns="0" bIns="0" rtlCol="0">
            <a:spAutoFit/>
          </a:bodyPr>
          <a:lstStyle/>
          <a:p>
            <a:pPr marL="38100">
              <a:lnSpc>
                <a:spcPct val="100000"/>
              </a:lnSpc>
              <a:spcBef>
                <a:spcPts val="190"/>
              </a:spcBef>
              <a:tabLst>
                <a:tab pos="199390" algn="l"/>
                <a:tab pos="372110" algn="l"/>
                <a:tab pos="544830" algn="l"/>
                <a:tab pos="717550" algn="l"/>
              </a:tabLst>
            </a:pPr>
            <a:r>
              <a:rPr sz="300" spc="-50" dirty="0">
                <a:latin typeface="Arial"/>
                <a:cs typeface="Arial"/>
              </a:rPr>
              <a:t>0</a:t>
            </a:r>
            <a:r>
              <a:rPr sz="300" dirty="0">
                <a:latin typeface="Arial"/>
                <a:cs typeface="Arial"/>
              </a:rPr>
              <a:t>	</a:t>
            </a:r>
            <a:r>
              <a:rPr sz="300" spc="-25" dirty="0">
                <a:latin typeface="Arial"/>
                <a:cs typeface="Arial"/>
              </a:rPr>
              <a:t>20</a:t>
            </a:r>
            <a:r>
              <a:rPr sz="300" dirty="0">
                <a:latin typeface="Arial"/>
                <a:cs typeface="Arial"/>
              </a:rPr>
              <a:t>	</a:t>
            </a:r>
            <a:r>
              <a:rPr sz="300" spc="-25" dirty="0">
                <a:latin typeface="Arial"/>
                <a:cs typeface="Arial"/>
              </a:rPr>
              <a:t>40</a:t>
            </a:r>
            <a:r>
              <a:rPr sz="300" dirty="0">
                <a:latin typeface="Arial"/>
                <a:cs typeface="Arial"/>
              </a:rPr>
              <a:t>	</a:t>
            </a:r>
            <a:r>
              <a:rPr sz="300" spc="-35" dirty="0">
                <a:latin typeface="Arial"/>
                <a:cs typeface="Arial"/>
              </a:rPr>
              <a:t>60</a:t>
            </a:r>
            <a:r>
              <a:rPr sz="300" dirty="0">
                <a:latin typeface="Arial"/>
                <a:cs typeface="Arial"/>
              </a:rPr>
              <a:t>	80</a:t>
            </a:r>
            <a:r>
              <a:rPr sz="300" spc="405" dirty="0">
                <a:latin typeface="Arial"/>
                <a:cs typeface="Arial"/>
              </a:rPr>
              <a:t>  </a:t>
            </a:r>
            <a:r>
              <a:rPr sz="300" dirty="0">
                <a:latin typeface="Arial"/>
                <a:cs typeface="Arial"/>
              </a:rPr>
              <a:t>100</a:t>
            </a:r>
            <a:r>
              <a:rPr sz="300" spc="365" dirty="0">
                <a:latin typeface="Arial"/>
                <a:cs typeface="Arial"/>
              </a:rPr>
              <a:t>  </a:t>
            </a:r>
            <a:r>
              <a:rPr sz="300" dirty="0">
                <a:latin typeface="Arial"/>
                <a:cs typeface="Arial"/>
              </a:rPr>
              <a:t>120</a:t>
            </a:r>
            <a:r>
              <a:rPr sz="300" spc="360" dirty="0">
                <a:latin typeface="Arial"/>
                <a:cs typeface="Arial"/>
              </a:rPr>
              <a:t>  </a:t>
            </a:r>
            <a:r>
              <a:rPr sz="300" dirty="0">
                <a:latin typeface="Arial"/>
                <a:cs typeface="Arial"/>
              </a:rPr>
              <a:t>140</a:t>
            </a:r>
            <a:r>
              <a:rPr sz="300" spc="365" dirty="0">
                <a:latin typeface="Arial"/>
                <a:cs typeface="Arial"/>
              </a:rPr>
              <a:t>  </a:t>
            </a:r>
            <a:r>
              <a:rPr sz="300" spc="-25" dirty="0">
                <a:latin typeface="Arial"/>
                <a:cs typeface="Arial"/>
              </a:rPr>
              <a:t>160</a:t>
            </a:r>
            <a:endParaRPr sz="300">
              <a:latin typeface="Arial"/>
              <a:cs typeface="Arial"/>
            </a:endParaRPr>
          </a:p>
          <a:p>
            <a:pPr marL="829310">
              <a:lnSpc>
                <a:spcPts val="345"/>
              </a:lnSpc>
              <a:spcBef>
                <a:spcPts val="90"/>
              </a:spcBef>
            </a:pPr>
            <a:r>
              <a:rPr sz="300" spc="-10" dirty="0">
                <a:latin typeface="Arial"/>
                <a:cs typeface="Arial"/>
              </a:rPr>
              <a:t>Position</a:t>
            </a:r>
            <a:endParaRPr sz="300">
              <a:latin typeface="Arial"/>
              <a:cs typeface="Arial"/>
            </a:endParaRPr>
          </a:p>
          <a:p>
            <a:pPr marL="38100">
              <a:lnSpc>
                <a:spcPts val="825"/>
              </a:lnSpc>
            </a:pPr>
            <a:r>
              <a:rPr sz="700" spc="-20" dirty="0">
                <a:latin typeface="Arial"/>
                <a:cs typeface="Arial"/>
              </a:rPr>
              <a:t>M.giganteus</a:t>
            </a:r>
            <a:r>
              <a:rPr sz="700" spc="15" dirty="0">
                <a:latin typeface="Arial"/>
                <a:cs typeface="Arial"/>
              </a:rPr>
              <a:t> </a:t>
            </a:r>
            <a:r>
              <a:rPr sz="700" spc="-10" dirty="0">
                <a:latin typeface="Arial"/>
                <a:cs typeface="Arial"/>
              </a:rPr>
              <a:t>Misin17G219700.1.v7.1</a:t>
            </a:r>
            <a:endParaRPr sz="700">
              <a:latin typeface="Arial"/>
              <a:cs typeface="Arial"/>
            </a:endParaRPr>
          </a:p>
          <a:p>
            <a:pPr marL="589280">
              <a:lnSpc>
                <a:spcPct val="100000"/>
              </a:lnSpc>
              <a:spcBef>
                <a:spcPts val="685"/>
              </a:spcBef>
            </a:pPr>
            <a:r>
              <a:rPr sz="450" baseline="18518" dirty="0">
                <a:latin typeface="Arial"/>
                <a:cs typeface="Arial"/>
              </a:rPr>
              <a:t>ProtScale</a:t>
            </a:r>
            <a:r>
              <a:rPr sz="450" spc="-7" baseline="18518" dirty="0">
                <a:latin typeface="Arial"/>
                <a:cs typeface="Arial"/>
              </a:rPr>
              <a:t> </a:t>
            </a:r>
            <a:r>
              <a:rPr sz="450" baseline="18518" dirty="0">
                <a:latin typeface="Arial"/>
                <a:cs typeface="Arial"/>
              </a:rPr>
              <a:t>output for </a:t>
            </a:r>
            <a:r>
              <a:rPr sz="450" spc="-15" baseline="18518" dirty="0">
                <a:latin typeface="Arial"/>
                <a:cs typeface="Arial"/>
              </a:rPr>
              <a:t>user</a:t>
            </a:r>
            <a:r>
              <a:rPr sz="250" spc="-10" dirty="0">
                <a:latin typeface="Arial"/>
                <a:cs typeface="Arial"/>
              </a:rPr>
              <a:t>s</a:t>
            </a:r>
            <a:r>
              <a:rPr sz="450" spc="-15" baseline="18518" dirty="0">
                <a:latin typeface="Arial"/>
                <a:cs typeface="Arial"/>
              </a:rPr>
              <a:t>equence</a:t>
            </a:r>
            <a:endParaRPr sz="450" baseline="18518">
              <a:latin typeface="Arial"/>
              <a:cs typeface="Arial"/>
            </a:endParaRPr>
          </a:p>
        </p:txBody>
      </p:sp>
      <p:sp>
        <p:nvSpPr>
          <p:cNvPr id="379" name="object 379"/>
          <p:cNvSpPr txBox="1"/>
          <p:nvPr/>
        </p:nvSpPr>
        <p:spPr>
          <a:xfrm>
            <a:off x="5964626" y="1620088"/>
            <a:ext cx="9144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2.5</a:t>
            </a:r>
            <a:endParaRPr sz="300">
              <a:latin typeface="Arial"/>
              <a:cs typeface="Arial"/>
            </a:endParaRPr>
          </a:p>
        </p:txBody>
      </p:sp>
      <p:grpSp>
        <p:nvGrpSpPr>
          <p:cNvPr id="380" name="object 380"/>
          <p:cNvGrpSpPr/>
          <p:nvPr/>
        </p:nvGrpSpPr>
        <p:grpSpPr>
          <a:xfrm>
            <a:off x="6063853" y="518888"/>
            <a:ext cx="1706245" cy="1141730"/>
            <a:chOff x="6063853" y="518888"/>
            <a:chExt cx="1706245" cy="1141730"/>
          </a:xfrm>
        </p:grpSpPr>
        <p:sp>
          <p:nvSpPr>
            <p:cNvPr id="381" name="object 381"/>
            <p:cNvSpPr/>
            <p:nvPr/>
          </p:nvSpPr>
          <p:spPr>
            <a:xfrm>
              <a:off x="6065758" y="1495680"/>
              <a:ext cx="1702435" cy="0"/>
            </a:xfrm>
            <a:custGeom>
              <a:avLst/>
              <a:gdLst/>
              <a:ahLst/>
              <a:cxnLst/>
              <a:rect l="l" t="t" r="r" b="b"/>
              <a:pathLst>
                <a:path w="1702434">
                  <a:moveTo>
                    <a:pt x="0" y="0"/>
                  </a:moveTo>
                  <a:lnTo>
                    <a:pt x="1702428" y="0"/>
                  </a:lnTo>
                </a:path>
              </a:pathLst>
            </a:custGeom>
            <a:ln w="3777">
              <a:solidFill>
                <a:srgbClr val="000000"/>
              </a:solidFill>
              <a:prstDash val="dash"/>
            </a:ln>
          </p:spPr>
          <p:txBody>
            <a:bodyPr wrap="square" lIns="0" tIns="0" rIns="0" bIns="0" rtlCol="0"/>
            <a:lstStyle/>
            <a:p>
              <a:endParaRPr/>
            </a:p>
          </p:txBody>
        </p:sp>
        <p:sp>
          <p:nvSpPr>
            <p:cNvPr id="382" name="object 382"/>
            <p:cNvSpPr/>
            <p:nvPr/>
          </p:nvSpPr>
          <p:spPr>
            <a:xfrm>
              <a:off x="6065762" y="1495680"/>
              <a:ext cx="1702435" cy="0"/>
            </a:xfrm>
            <a:custGeom>
              <a:avLst/>
              <a:gdLst/>
              <a:ahLst/>
              <a:cxnLst/>
              <a:rect l="l" t="t" r="r" b="b"/>
              <a:pathLst>
                <a:path w="1702434">
                  <a:moveTo>
                    <a:pt x="1702428" y="0"/>
                  </a:moveTo>
                  <a:lnTo>
                    <a:pt x="1685291" y="0"/>
                  </a:lnTo>
                </a:path>
                <a:path w="1702434">
                  <a:moveTo>
                    <a:pt x="0" y="0"/>
                  </a:moveTo>
                  <a:lnTo>
                    <a:pt x="17122" y="0"/>
                  </a:lnTo>
                </a:path>
              </a:pathLst>
            </a:custGeom>
            <a:ln w="3776">
              <a:solidFill>
                <a:srgbClr val="000000"/>
              </a:solidFill>
            </a:ln>
          </p:spPr>
          <p:txBody>
            <a:bodyPr wrap="square" lIns="0" tIns="0" rIns="0" bIns="0" rtlCol="0"/>
            <a:lstStyle/>
            <a:p>
              <a:endParaRPr/>
            </a:p>
          </p:txBody>
        </p:sp>
        <p:sp>
          <p:nvSpPr>
            <p:cNvPr id="383" name="object 383"/>
            <p:cNvSpPr/>
            <p:nvPr/>
          </p:nvSpPr>
          <p:spPr>
            <a:xfrm>
              <a:off x="6065758" y="1333155"/>
              <a:ext cx="1702435" cy="0"/>
            </a:xfrm>
            <a:custGeom>
              <a:avLst/>
              <a:gdLst/>
              <a:ahLst/>
              <a:cxnLst/>
              <a:rect l="l" t="t" r="r" b="b"/>
              <a:pathLst>
                <a:path w="1702434">
                  <a:moveTo>
                    <a:pt x="0" y="0"/>
                  </a:moveTo>
                  <a:lnTo>
                    <a:pt x="1702428" y="0"/>
                  </a:lnTo>
                </a:path>
              </a:pathLst>
            </a:custGeom>
            <a:ln w="3777">
              <a:solidFill>
                <a:srgbClr val="000000"/>
              </a:solidFill>
              <a:prstDash val="dash"/>
            </a:ln>
          </p:spPr>
          <p:txBody>
            <a:bodyPr wrap="square" lIns="0" tIns="0" rIns="0" bIns="0" rtlCol="0"/>
            <a:lstStyle/>
            <a:p>
              <a:endParaRPr/>
            </a:p>
          </p:txBody>
        </p:sp>
        <p:sp>
          <p:nvSpPr>
            <p:cNvPr id="384" name="object 384"/>
            <p:cNvSpPr/>
            <p:nvPr/>
          </p:nvSpPr>
          <p:spPr>
            <a:xfrm>
              <a:off x="6065762" y="1333155"/>
              <a:ext cx="1702435" cy="0"/>
            </a:xfrm>
            <a:custGeom>
              <a:avLst/>
              <a:gdLst/>
              <a:ahLst/>
              <a:cxnLst/>
              <a:rect l="l" t="t" r="r" b="b"/>
              <a:pathLst>
                <a:path w="1702434">
                  <a:moveTo>
                    <a:pt x="1702428" y="0"/>
                  </a:moveTo>
                  <a:lnTo>
                    <a:pt x="1685291" y="0"/>
                  </a:lnTo>
                </a:path>
                <a:path w="1702434">
                  <a:moveTo>
                    <a:pt x="0" y="0"/>
                  </a:moveTo>
                  <a:lnTo>
                    <a:pt x="17122" y="0"/>
                  </a:lnTo>
                </a:path>
              </a:pathLst>
            </a:custGeom>
            <a:ln w="3776">
              <a:solidFill>
                <a:srgbClr val="000000"/>
              </a:solidFill>
            </a:ln>
          </p:spPr>
          <p:txBody>
            <a:bodyPr wrap="square" lIns="0" tIns="0" rIns="0" bIns="0" rtlCol="0"/>
            <a:lstStyle/>
            <a:p>
              <a:endParaRPr/>
            </a:p>
          </p:txBody>
        </p:sp>
        <p:sp>
          <p:nvSpPr>
            <p:cNvPr id="385" name="object 385"/>
            <p:cNvSpPr/>
            <p:nvPr/>
          </p:nvSpPr>
          <p:spPr>
            <a:xfrm>
              <a:off x="6065758" y="1170630"/>
              <a:ext cx="1702435" cy="0"/>
            </a:xfrm>
            <a:custGeom>
              <a:avLst/>
              <a:gdLst/>
              <a:ahLst/>
              <a:cxnLst/>
              <a:rect l="l" t="t" r="r" b="b"/>
              <a:pathLst>
                <a:path w="1702434">
                  <a:moveTo>
                    <a:pt x="0" y="0"/>
                  </a:moveTo>
                  <a:lnTo>
                    <a:pt x="1702428" y="0"/>
                  </a:lnTo>
                </a:path>
              </a:pathLst>
            </a:custGeom>
            <a:ln w="3777">
              <a:solidFill>
                <a:srgbClr val="000000"/>
              </a:solidFill>
              <a:prstDash val="dash"/>
            </a:ln>
          </p:spPr>
          <p:txBody>
            <a:bodyPr wrap="square" lIns="0" tIns="0" rIns="0" bIns="0" rtlCol="0"/>
            <a:lstStyle/>
            <a:p>
              <a:endParaRPr/>
            </a:p>
          </p:txBody>
        </p:sp>
        <p:sp>
          <p:nvSpPr>
            <p:cNvPr id="386" name="object 386"/>
            <p:cNvSpPr/>
            <p:nvPr/>
          </p:nvSpPr>
          <p:spPr>
            <a:xfrm>
              <a:off x="6065762" y="1170630"/>
              <a:ext cx="1702435" cy="0"/>
            </a:xfrm>
            <a:custGeom>
              <a:avLst/>
              <a:gdLst/>
              <a:ahLst/>
              <a:cxnLst/>
              <a:rect l="l" t="t" r="r" b="b"/>
              <a:pathLst>
                <a:path w="1702434">
                  <a:moveTo>
                    <a:pt x="1702428" y="0"/>
                  </a:moveTo>
                  <a:lnTo>
                    <a:pt x="1685291" y="0"/>
                  </a:lnTo>
                </a:path>
                <a:path w="1702434">
                  <a:moveTo>
                    <a:pt x="0" y="0"/>
                  </a:moveTo>
                  <a:lnTo>
                    <a:pt x="17122" y="0"/>
                  </a:lnTo>
                </a:path>
              </a:pathLst>
            </a:custGeom>
            <a:ln w="3776">
              <a:solidFill>
                <a:srgbClr val="000000"/>
              </a:solidFill>
            </a:ln>
          </p:spPr>
          <p:txBody>
            <a:bodyPr wrap="square" lIns="0" tIns="0" rIns="0" bIns="0" rtlCol="0"/>
            <a:lstStyle/>
            <a:p>
              <a:endParaRPr/>
            </a:p>
          </p:txBody>
        </p:sp>
        <p:sp>
          <p:nvSpPr>
            <p:cNvPr id="387" name="object 387"/>
            <p:cNvSpPr/>
            <p:nvPr/>
          </p:nvSpPr>
          <p:spPr>
            <a:xfrm>
              <a:off x="6065758" y="1008377"/>
              <a:ext cx="1702435" cy="0"/>
            </a:xfrm>
            <a:custGeom>
              <a:avLst/>
              <a:gdLst/>
              <a:ahLst/>
              <a:cxnLst/>
              <a:rect l="l" t="t" r="r" b="b"/>
              <a:pathLst>
                <a:path w="1702434">
                  <a:moveTo>
                    <a:pt x="0" y="0"/>
                  </a:moveTo>
                  <a:lnTo>
                    <a:pt x="1702428" y="0"/>
                  </a:lnTo>
                </a:path>
              </a:pathLst>
            </a:custGeom>
            <a:ln w="3777">
              <a:solidFill>
                <a:srgbClr val="000000"/>
              </a:solidFill>
              <a:prstDash val="dash"/>
            </a:ln>
          </p:spPr>
          <p:txBody>
            <a:bodyPr wrap="square" lIns="0" tIns="0" rIns="0" bIns="0" rtlCol="0"/>
            <a:lstStyle/>
            <a:p>
              <a:endParaRPr/>
            </a:p>
          </p:txBody>
        </p:sp>
        <p:sp>
          <p:nvSpPr>
            <p:cNvPr id="388" name="object 388"/>
            <p:cNvSpPr/>
            <p:nvPr/>
          </p:nvSpPr>
          <p:spPr>
            <a:xfrm>
              <a:off x="6065762" y="1008377"/>
              <a:ext cx="1702435" cy="0"/>
            </a:xfrm>
            <a:custGeom>
              <a:avLst/>
              <a:gdLst/>
              <a:ahLst/>
              <a:cxnLst/>
              <a:rect l="l" t="t" r="r" b="b"/>
              <a:pathLst>
                <a:path w="1702434">
                  <a:moveTo>
                    <a:pt x="1702428" y="0"/>
                  </a:moveTo>
                  <a:lnTo>
                    <a:pt x="1685291" y="0"/>
                  </a:lnTo>
                </a:path>
                <a:path w="1702434">
                  <a:moveTo>
                    <a:pt x="0" y="0"/>
                  </a:moveTo>
                  <a:lnTo>
                    <a:pt x="17122" y="0"/>
                  </a:lnTo>
                </a:path>
              </a:pathLst>
            </a:custGeom>
            <a:ln w="3776">
              <a:solidFill>
                <a:srgbClr val="000000"/>
              </a:solidFill>
            </a:ln>
          </p:spPr>
          <p:txBody>
            <a:bodyPr wrap="square" lIns="0" tIns="0" rIns="0" bIns="0" rtlCol="0"/>
            <a:lstStyle/>
            <a:p>
              <a:endParaRPr/>
            </a:p>
          </p:txBody>
        </p:sp>
        <p:sp>
          <p:nvSpPr>
            <p:cNvPr id="389" name="object 389"/>
            <p:cNvSpPr/>
            <p:nvPr/>
          </p:nvSpPr>
          <p:spPr>
            <a:xfrm>
              <a:off x="6065758" y="845851"/>
              <a:ext cx="1702435" cy="0"/>
            </a:xfrm>
            <a:custGeom>
              <a:avLst/>
              <a:gdLst/>
              <a:ahLst/>
              <a:cxnLst/>
              <a:rect l="l" t="t" r="r" b="b"/>
              <a:pathLst>
                <a:path w="1702434">
                  <a:moveTo>
                    <a:pt x="0" y="0"/>
                  </a:moveTo>
                  <a:lnTo>
                    <a:pt x="1702428" y="0"/>
                  </a:lnTo>
                </a:path>
              </a:pathLst>
            </a:custGeom>
            <a:ln w="3777">
              <a:solidFill>
                <a:srgbClr val="000000"/>
              </a:solidFill>
              <a:prstDash val="dash"/>
            </a:ln>
          </p:spPr>
          <p:txBody>
            <a:bodyPr wrap="square" lIns="0" tIns="0" rIns="0" bIns="0" rtlCol="0"/>
            <a:lstStyle/>
            <a:p>
              <a:endParaRPr/>
            </a:p>
          </p:txBody>
        </p:sp>
        <p:sp>
          <p:nvSpPr>
            <p:cNvPr id="390" name="object 390"/>
            <p:cNvSpPr/>
            <p:nvPr/>
          </p:nvSpPr>
          <p:spPr>
            <a:xfrm>
              <a:off x="6065762" y="845851"/>
              <a:ext cx="1702435" cy="0"/>
            </a:xfrm>
            <a:custGeom>
              <a:avLst/>
              <a:gdLst/>
              <a:ahLst/>
              <a:cxnLst/>
              <a:rect l="l" t="t" r="r" b="b"/>
              <a:pathLst>
                <a:path w="1702434">
                  <a:moveTo>
                    <a:pt x="1702428" y="0"/>
                  </a:moveTo>
                  <a:lnTo>
                    <a:pt x="1685291" y="0"/>
                  </a:lnTo>
                </a:path>
                <a:path w="1702434">
                  <a:moveTo>
                    <a:pt x="0" y="0"/>
                  </a:moveTo>
                  <a:lnTo>
                    <a:pt x="17122" y="0"/>
                  </a:lnTo>
                </a:path>
              </a:pathLst>
            </a:custGeom>
            <a:ln w="3776">
              <a:solidFill>
                <a:srgbClr val="000000"/>
              </a:solidFill>
            </a:ln>
          </p:spPr>
          <p:txBody>
            <a:bodyPr wrap="square" lIns="0" tIns="0" rIns="0" bIns="0" rtlCol="0"/>
            <a:lstStyle/>
            <a:p>
              <a:endParaRPr/>
            </a:p>
          </p:txBody>
        </p:sp>
        <p:sp>
          <p:nvSpPr>
            <p:cNvPr id="391" name="object 391"/>
            <p:cNvSpPr/>
            <p:nvPr/>
          </p:nvSpPr>
          <p:spPr>
            <a:xfrm>
              <a:off x="6065758" y="683326"/>
              <a:ext cx="1702435" cy="0"/>
            </a:xfrm>
            <a:custGeom>
              <a:avLst/>
              <a:gdLst/>
              <a:ahLst/>
              <a:cxnLst/>
              <a:rect l="l" t="t" r="r" b="b"/>
              <a:pathLst>
                <a:path w="1702434">
                  <a:moveTo>
                    <a:pt x="0" y="0"/>
                  </a:moveTo>
                  <a:lnTo>
                    <a:pt x="1702428" y="0"/>
                  </a:lnTo>
                </a:path>
              </a:pathLst>
            </a:custGeom>
            <a:ln w="3777">
              <a:solidFill>
                <a:srgbClr val="000000"/>
              </a:solidFill>
              <a:prstDash val="dash"/>
            </a:ln>
          </p:spPr>
          <p:txBody>
            <a:bodyPr wrap="square" lIns="0" tIns="0" rIns="0" bIns="0" rtlCol="0"/>
            <a:lstStyle/>
            <a:p>
              <a:endParaRPr/>
            </a:p>
          </p:txBody>
        </p:sp>
        <p:sp>
          <p:nvSpPr>
            <p:cNvPr id="392" name="object 392"/>
            <p:cNvSpPr/>
            <p:nvPr/>
          </p:nvSpPr>
          <p:spPr>
            <a:xfrm>
              <a:off x="6065762" y="683326"/>
              <a:ext cx="1702435" cy="0"/>
            </a:xfrm>
            <a:custGeom>
              <a:avLst/>
              <a:gdLst/>
              <a:ahLst/>
              <a:cxnLst/>
              <a:rect l="l" t="t" r="r" b="b"/>
              <a:pathLst>
                <a:path w="1702434">
                  <a:moveTo>
                    <a:pt x="1702428" y="0"/>
                  </a:moveTo>
                  <a:lnTo>
                    <a:pt x="1685291" y="0"/>
                  </a:lnTo>
                </a:path>
                <a:path w="1702434">
                  <a:moveTo>
                    <a:pt x="0" y="0"/>
                  </a:moveTo>
                  <a:lnTo>
                    <a:pt x="17122" y="0"/>
                  </a:lnTo>
                </a:path>
              </a:pathLst>
            </a:custGeom>
            <a:ln w="3776">
              <a:solidFill>
                <a:srgbClr val="000000"/>
              </a:solidFill>
            </a:ln>
          </p:spPr>
          <p:txBody>
            <a:bodyPr wrap="square" lIns="0" tIns="0" rIns="0" bIns="0" rtlCol="0"/>
            <a:lstStyle/>
            <a:p>
              <a:endParaRPr/>
            </a:p>
          </p:txBody>
        </p:sp>
        <p:sp>
          <p:nvSpPr>
            <p:cNvPr id="393" name="object 393"/>
            <p:cNvSpPr/>
            <p:nvPr/>
          </p:nvSpPr>
          <p:spPr>
            <a:xfrm>
              <a:off x="6065758" y="520800"/>
              <a:ext cx="1702435" cy="0"/>
            </a:xfrm>
            <a:custGeom>
              <a:avLst/>
              <a:gdLst/>
              <a:ahLst/>
              <a:cxnLst/>
              <a:rect l="l" t="t" r="r" b="b"/>
              <a:pathLst>
                <a:path w="1702434">
                  <a:moveTo>
                    <a:pt x="0" y="0"/>
                  </a:moveTo>
                  <a:lnTo>
                    <a:pt x="1702428" y="0"/>
                  </a:lnTo>
                </a:path>
              </a:pathLst>
            </a:custGeom>
            <a:ln w="3777">
              <a:solidFill>
                <a:srgbClr val="000000"/>
              </a:solidFill>
              <a:prstDash val="dash"/>
            </a:ln>
          </p:spPr>
          <p:txBody>
            <a:bodyPr wrap="square" lIns="0" tIns="0" rIns="0" bIns="0" rtlCol="0"/>
            <a:lstStyle/>
            <a:p>
              <a:endParaRPr/>
            </a:p>
          </p:txBody>
        </p:sp>
        <p:sp>
          <p:nvSpPr>
            <p:cNvPr id="394" name="object 394"/>
            <p:cNvSpPr/>
            <p:nvPr/>
          </p:nvSpPr>
          <p:spPr>
            <a:xfrm>
              <a:off x="6065762" y="520800"/>
              <a:ext cx="1702435" cy="0"/>
            </a:xfrm>
            <a:custGeom>
              <a:avLst/>
              <a:gdLst/>
              <a:ahLst/>
              <a:cxnLst/>
              <a:rect l="l" t="t" r="r" b="b"/>
              <a:pathLst>
                <a:path w="1702434">
                  <a:moveTo>
                    <a:pt x="1702428" y="0"/>
                  </a:moveTo>
                  <a:lnTo>
                    <a:pt x="1685291" y="0"/>
                  </a:lnTo>
                </a:path>
                <a:path w="1702434">
                  <a:moveTo>
                    <a:pt x="0" y="0"/>
                  </a:moveTo>
                  <a:lnTo>
                    <a:pt x="17122" y="0"/>
                  </a:lnTo>
                </a:path>
              </a:pathLst>
            </a:custGeom>
            <a:ln w="3776">
              <a:solidFill>
                <a:srgbClr val="000000"/>
              </a:solidFill>
            </a:ln>
          </p:spPr>
          <p:txBody>
            <a:bodyPr wrap="square" lIns="0" tIns="0" rIns="0" bIns="0" rtlCol="0"/>
            <a:lstStyle/>
            <a:p>
              <a:endParaRPr/>
            </a:p>
          </p:txBody>
        </p:sp>
        <p:sp>
          <p:nvSpPr>
            <p:cNvPr id="395" name="object 395"/>
            <p:cNvSpPr/>
            <p:nvPr/>
          </p:nvSpPr>
          <p:spPr>
            <a:xfrm>
              <a:off x="6065758" y="520793"/>
              <a:ext cx="0" cy="1137920"/>
            </a:xfrm>
            <a:custGeom>
              <a:avLst/>
              <a:gdLst/>
              <a:ahLst/>
              <a:cxnLst/>
              <a:rect l="l" t="t" r="r" b="b"/>
              <a:pathLst>
                <a:path h="1137920">
                  <a:moveTo>
                    <a:pt x="0" y="1137412"/>
                  </a:moveTo>
                  <a:lnTo>
                    <a:pt x="0" y="0"/>
                  </a:lnTo>
                </a:path>
              </a:pathLst>
            </a:custGeom>
            <a:ln w="3774">
              <a:solidFill>
                <a:srgbClr val="000000"/>
              </a:solidFill>
              <a:prstDash val="dash"/>
            </a:ln>
          </p:spPr>
          <p:txBody>
            <a:bodyPr wrap="square" lIns="0" tIns="0" rIns="0" bIns="0" rtlCol="0"/>
            <a:lstStyle/>
            <a:p>
              <a:endParaRPr/>
            </a:p>
          </p:txBody>
        </p:sp>
        <p:sp>
          <p:nvSpPr>
            <p:cNvPr id="396" name="object 396"/>
            <p:cNvSpPr/>
            <p:nvPr/>
          </p:nvSpPr>
          <p:spPr>
            <a:xfrm>
              <a:off x="6065758" y="520800"/>
              <a:ext cx="0" cy="1137920"/>
            </a:xfrm>
            <a:custGeom>
              <a:avLst/>
              <a:gdLst/>
              <a:ahLst/>
              <a:cxnLst/>
              <a:rect l="l" t="t" r="r" b="b"/>
              <a:pathLst>
                <a:path h="1137920">
                  <a:moveTo>
                    <a:pt x="0" y="0"/>
                  </a:moveTo>
                  <a:lnTo>
                    <a:pt x="0" y="17179"/>
                  </a:lnTo>
                </a:path>
                <a:path h="1137920">
                  <a:moveTo>
                    <a:pt x="0" y="1137412"/>
                  </a:moveTo>
                  <a:lnTo>
                    <a:pt x="0" y="1120233"/>
                  </a:lnTo>
                </a:path>
              </a:pathLst>
            </a:custGeom>
            <a:ln w="3776">
              <a:solidFill>
                <a:srgbClr val="000000"/>
              </a:solidFill>
            </a:ln>
          </p:spPr>
          <p:txBody>
            <a:bodyPr wrap="square" lIns="0" tIns="0" rIns="0" bIns="0" rtlCol="0"/>
            <a:lstStyle/>
            <a:p>
              <a:endParaRPr/>
            </a:p>
          </p:txBody>
        </p:sp>
      </p:grpSp>
      <p:sp>
        <p:nvSpPr>
          <p:cNvPr id="397" name="object 397"/>
          <p:cNvSpPr txBox="1"/>
          <p:nvPr/>
        </p:nvSpPr>
        <p:spPr>
          <a:xfrm>
            <a:off x="5996372" y="1457528"/>
            <a:ext cx="5969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2</a:t>
            </a:r>
            <a:endParaRPr sz="300">
              <a:latin typeface="Arial"/>
              <a:cs typeface="Arial"/>
            </a:endParaRPr>
          </a:p>
        </p:txBody>
      </p:sp>
      <p:sp>
        <p:nvSpPr>
          <p:cNvPr id="398" name="object 398"/>
          <p:cNvSpPr txBox="1"/>
          <p:nvPr/>
        </p:nvSpPr>
        <p:spPr>
          <a:xfrm>
            <a:off x="5964626" y="1295005"/>
            <a:ext cx="9144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1.5</a:t>
            </a:r>
            <a:endParaRPr sz="300">
              <a:latin typeface="Arial"/>
              <a:cs typeface="Arial"/>
            </a:endParaRPr>
          </a:p>
        </p:txBody>
      </p:sp>
      <p:sp>
        <p:nvSpPr>
          <p:cNvPr id="399" name="object 399"/>
          <p:cNvSpPr txBox="1"/>
          <p:nvPr/>
        </p:nvSpPr>
        <p:spPr>
          <a:xfrm>
            <a:off x="5996372" y="1132475"/>
            <a:ext cx="5969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1</a:t>
            </a:r>
            <a:endParaRPr sz="300">
              <a:latin typeface="Arial"/>
              <a:cs typeface="Arial"/>
            </a:endParaRPr>
          </a:p>
        </p:txBody>
      </p:sp>
      <p:sp>
        <p:nvSpPr>
          <p:cNvPr id="400" name="object 400"/>
          <p:cNvSpPr txBox="1"/>
          <p:nvPr/>
        </p:nvSpPr>
        <p:spPr>
          <a:xfrm>
            <a:off x="5964626" y="970254"/>
            <a:ext cx="9144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0.5</a:t>
            </a:r>
            <a:endParaRPr sz="300">
              <a:latin typeface="Arial"/>
              <a:cs typeface="Arial"/>
            </a:endParaRPr>
          </a:p>
        </p:txBody>
      </p:sp>
      <p:sp>
        <p:nvSpPr>
          <p:cNvPr id="401" name="object 401"/>
          <p:cNvSpPr txBox="1"/>
          <p:nvPr/>
        </p:nvSpPr>
        <p:spPr>
          <a:xfrm>
            <a:off x="6009049" y="807709"/>
            <a:ext cx="46990" cy="71755"/>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0</a:t>
            </a:r>
            <a:endParaRPr sz="300">
              <a:latin typeface="Arial"/>
              <a:cs typeface="Arial"/>
            </a:endParaRPr>
          </a:p>
        </p:txBody>
      </p:sp>
      <p:sp>
        <p:nvSpPr>
          <p:cNvPr id="402" name="object 402"/>
          <p:cNvSpPr txBox="1"/>
          <p:nvPr/>
        </p:nvSpPr>
        <p:spPr>
          <a:xfrm>
            <a:off x="5977303" y="645200"/>
            <a:ext cx="78740"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0.5</a:t>
            </a:r>
            <a:endParaRPr sz="300">
              <a:latin typeface="Arial"/>
              <a:cs typeface="Arial"/>
            </a:endParaRPr>
          </a:p>
        </p:txBody>
      </p:sp>
      <p:sp>
        <p:nvSpPr>
          <p:cNvPr id="403" name="object 403"/>
          <p:cNvSpPr txBox="1"/>
          <p:nvPr/>
        </p:nvSpPr>
        <p:spPr>
          <a:xfrm>
            <a:off x="6009049" y="482663"/>
            <a:ext cx="46990" cy="71755"/>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1</a:t>
            </a:r>
            <a:endParaRPr sz="300">
              <a:latin typeface="Arial"/>
              <a:cs typeface="Arial"/>
            </a:endParaRPr>
          </a:p>
        </p:txBody>
      </p:sp>
      <p:sp>
        <p:nvSpPr>
          <p:cNvPr id="404" name="object 404"/>
          <p:cNvSpPr txBox="1"/>
          <p:nvPr/>
        </p:nvSpPr>
        <p:spPr>
          <a:xfrm>
            <a:off x="6047771" y="1658239"/>
            <a:ext cx="46990" cy="71755"/>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0</a:t>
            </a:r>
            <a:endParaRPr sz="300">
              <a:latin typeface="Arial"/>
              <a:cs typeface="Arial"/>
            </a:endParaRPr>
          </a:p>
        </p:txBody>
      </p:sp>
      <p:grpSp>
        <p:nvGrpSpPr>
          <p:cNvPr id="405" name="object 405"/>
          <p:cNvGrpSpPr/>
          <p:nvPr/>
        </p:nvGrpSpPr>
        <p:grpSpPr>
          <a:xfrm>
            <a:off x="6467369" y="518888"/>
            <a:ext cx="3810" cy="1141730"/>
            <a:chOff x="6467369" y="518888"/>
            <a:chExt cx="3810" cy="1141730"/>
          </a:xfrm>
        </p:grpSpPr>
        <p:sp>
          <p:nvSpPr>
            <p:cNvPr id="406" name="object 406"/>
            <p:cNvSpPr/>
            <p:nvPr/>
          </p:nvSpPr>
          <p:spPr>
            <a:xfrm>
              <a:off x="6469274" y="520793"/>
              <a:ext cx="0" cy="1137920"/>
            </a:xfrm>
            <a:custGeom>
              <a:avLst/>
              <a:gdLst/>
              <a:ahLst/>
              <a:cxnLst/>
              <a:rect l="l" t="t" r="r" b="b"/>
              <a:pathLst>
                <a:path h="1137920">
                  <a:moveTo>
                    <a:pt x="0" y="1137412"/>
                  </a:moveTo>
                  <a:lnTo>
                    <a:pt x="0" y="0"/>
                  </a:lnTo>
                </a:path>
              </a:pathLst>
            </a:custGeom>
            <a:ln w="3774">
              <a:solidFill>
                <a:srgbClr val="000000"/>
              </a:solidFill>
              <a:prstDash val="dash"/>
            </a:ln>
          </p:spPr>
          <p:txBody>
            <a:bodyPr wrap="square" lIns="0" tIns="0" rIns="0" bIns="0" rtlCol="0"/>
            <a:lstStyle/>
            <a:p>
              <a:endParaRPr/>
            </a:p>
          </p:txBody>
        </p:sp>
        <p:sp>
          <p:nvSpPr>
            <p:cNvPr id="407" name="object 407"/>
            <p:cNvSpPr/>
            <p:nvPr/>
          </p:nvSpPr>
          <p:spPr>
            <a:xfrm>
              <a:off x="6469274" y="520800"/>
              <a:ext cx="0" cy="1137920"/>
            </a:xfrm>
            <a:custGeom>
              <a:avLst/>
              <a:gdLst/>
              <a:ahLst/>
              <a:cxnLst/>
              <a:rect l="l" t="t" r="r" b="b"/>
              <a:pathLst>
                <a:path h="1137920">
                  <a:moveTo>
                    <a:pt x="0" y="0"/>
                  </a:moveTo>
                  <a:lnTo>
                    <a:pt x="0" y="17179"/>
                  </a:lnTo>
                </a:path>
                <a:path h="1137920">
                  <a:moveTo>
                    <a:pt x="0" y="1137412"/>
                  </a:moveTo>
                  <a:lnTo>
                    <a:pt x="0" y="1120233"/>
                  </a:lnTo>
                </a:path>
              </a:pathLst>
            </a:custGeom>
            <a:ln w="3776">
              <a:solidFill>
                <a:srgbClr val="000000"/>
              </a:solidFill>
            </a:ln>
          </p:spPr>
          <p:txBody>
            <a:bodyPr wrap="square" lIns="0" tIns="0" rIns="0" bIns="0" rtlCol="0"/>
            <a:lstStyle/>
            <a:p>
              <a:endParaRPr/>
            </a:p>
          </p:txBody>
        </p:sp>
      </p:grpSp>
      <p:sp>
        <p:nvSpPr>
          <p:cNvPr id="408" name="object 408"/>
          <p:cNvSpPr txBox="1"/>
          <p:nvPr/>
        </p:nvSpPr>
        <p:spPr>
          <a:xfrm>
            <a:off x="6440687" y="1658239"/>
            <a:ext cx="67945"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50</a:t>
            </a:r>
            <a:endParaRPr sz="300">
              <a:latin typeface="Arial"/>
              <a:cs typeface="Arial"/>
            </a:endParaRPr>
          </a:p>
        </p:txBody>
      </p:sp>
      <p:grpSp>
        <p:nvGrpSpPr>
          <p:cNvPr id="409" name="object 409"/>
          <p:cNvGrpSpPr/>
          <p:nvPr/>
        </p:nvGrpSpPr>
        <p:grpSpPr>
          <a:xfrm>
            <a:off x="6870613" y="518888"/>
            <a:ext cx="407670" cy="1141730"/>
            <a:chOff x="6870613" y="518888"/>
            <a:chExt cx="407670" cy="1141730"/>
          </a:xfrm>
        </p:grpSpPr>
        <p:sp>
          <p:nvSpPr>
            <p:cNvPr id="410" name="object 410"/>
            <p:cNvSpPr/>
            <p:nvPr/>
          </p:nvSpPr>
          <p:spPr>
            <a:xfrm>
              <a:off x="6872518" y="520793"/>
              <a:ext cx="0" cy="1137920"/>
            </a:xfrm>
            <a:custGeom>
              <a:avLst/>
              <a:gdLst/>
              <a:ahLst/>
              <a:cxnLst/>
              <a:rect l="l" t="t" r="r" b="b"/>
              <a:pathLst>
                <a:path h="1137920">
                  <a:moveTo>
                    <a:pt x="0" y="1137412"/>
                  </a:moveTo>
                  <a:lnTo>
                    <a:pt x="0" y="0"/>
                  </a:lnTo>
                </a:path>
              </a:pathLst>
            </a:custGeom>
            <a:ln w="3774">
              <a:solidFill>
                <a:srgbClr val="000000"/>
              </a:solidFill>
              <a:prstDash val="dash"/>
            </a:ln>
          </p:spPr>
          <p:txBody>
            <a:bodyPr wrap="square" lIns="0" tIns="0" rIns="0" bIns="0" rtlCol="0"/>
            <a:lstStyle/>
            <a:p>
              <a:endParaRPr/>
            </a:p>
          </p:txBody>
        </p:sp>
        <p:sp>
          <p:nvSpPr>
            <p:cNvPr id="411" name="object 411"/>
            <p:cNvSpPr/>
            <p:nvPr/>
          </p:nvSpPr>
          <p:spPr>
            <a:xfrm>
              <a:off x="6872518" y="520800"/>
              <a:ext cx="0" cy="1137920"/>
            </a:xfrm>
            <a:custGeom>
              <a:avLst/>
              <a:gdLst/>
              <a:ahLst/>
              <a:cxnLst/>
              <a:rect l="l" t="t" r="r" b="b"/>
              <a:pathLst>
                <a:path h="1137920">
                  <a:moveTo>
                    <a:pt x="0" y="0"/>
                  </a:moveTo>
                  <a:lnTo>
                    <a:pt x="0" y="17179"/>
                  </a:lnTo>
                </a:path>
                <a:path h="1137920">
                  <a:moveTo>
                    <a:pt x="0" y="1137412"/>
                  </a:moveTo>
                  <a:lnTo>
                    <a:pt x="0" y="1120233"/>
                  </a:lnTo>
                </a:path>
              </a:pathLst>
            </a:custGeom>
            <a:ln w="3776">
              <a:solidFill>
                <a:srgbClr val="000000"/>
              </a:solidFill>
            </a:ln>
          </p:spPr>
          <p:txBody>
            <a:bodyPr wrap="square" lIns="0" tIns="0" rIns="0" bIns="0" rtlCol="0"/>
            <a:lstStyle/>
            <a:p>
              <a:endParaRPr/>
            </a:p>
          </p:txBody>
        </p:sp>
        <p:sp>
          <p:nvSpPr>
            <p:cNvPr id="412" name="object 412"/>
            <p:cNvSpPr/>
            <p:nvPr/>
          </p:nvSpPr>
          <p:spPr>
            <a:xfrm>
              <a:off x="7276033" y="520801"/>
              <a:ext cx="0" cy="1137920"/>
            </a:xfrm>
            <a:custGeom>
              <a:avLst/>
              <a:gdLst/>
              <a:ahLst/>
              <a:cxnLst/>
              <a:rect l="l" t="t" r="r" b="b"/>
              <a:pathLst>
                <a:path h="1137920">
                  <a:moveTo>
                    <a:pt x="0" y="17179"/>
                  </a:moveTo>
                  <a:lnTo>
                    <a:pt x="0" y="0"/>
                  </a:lnTo>
                </a:path>
                <a:path h="1137920">
                  <a:moveTo>
                    <a:pt x="0" y="1137412"/>
                  </a:moveTo>
                  <a:lnTo>
                    <a:pt x="0" y="55361"/>
                  </a:lnTo>
                </a:path>
              </a:pathLst>
            </a:custGeom>
            <a:ln w="3776">
              <a:solidFill>
                <a:srgbClr val="000000"/>
              </a:solidFill>
              <a:prstDash val="dash"/>
            </a:ln>
          </p:spPr>
          <p:txBody>
            <a:bodyPr wrap="square" lIns="0" tIns="0" rIns="0" bIns="0" rtlCol="0"/>
            <a:lstStyle/>
            <a:p>
              <a:endParaRPr/>
            </a:p>
          </p:txBody>
        </p:sp>
        <p:sp>
          <p:nvSpPr>
            <p:cNvPr id="413" name="object 413"/>
            <p:cNvSpPr/>
            <p:nvPr/>
          </p:nvSpPr>
          <p:spPr>
            <a:xfrm>
              <a:off x="7276033" y="520800"/>
              <a:ext cx="0" cy="1137920"/>
            </a:xfrm>
            <a:custGeom>
              <a:avLst/>
              <a:gdLst/>
              <a:ahLst/>
              <a:cxnLst/>
              <a:rect l="l" t="t" r="r" b="b"/>
              <a:pathLst>
                <a:path h="1137920">
                  <a:moveTo>
                    <a:pt x="0" y="0"/>
                  </a:moveTo>
                  <a:lnTo>
                    <a:pt x="0" y="17179"/>
                  </a:lnTo>
                </a:path>
                <a:path h="1137920">
                  <a:moveTo>
                    <a:pt x="0" y="1137412"/>
                  </a:moveTo>
                  <a:lnTo>
                    <a:pt x="0" y="1120233"/>
                  </a:lnTo>
                </a:path>
              </a:pathLst>
            </a:custGeom>
            <a:ln w="3776">
              <a:solidFill>
                <a:srgbClr val="000000"/>
              </a:solidFill>
            </a:ln>
          </p:spPr>
          <p:txBody>
            <a:bodyPr wrap="square" lIns="0" tIns="0" rIns="0" bIns="0" rtlCol="0"/>
            <a:lstStyle/>
            <a:p>
              <a:endParaRPr/>
            </a:p>
          </p:txBody>
        </p:sp>
      </p:grpSp>
      <p:sp>
        <p:nvSpPr>
          <p:cNvPr id="414" name="object 414"/>
          <p:cNvSpPr txBox="1"/>
          <p:nvPr/>
        </p:nvSpPr>
        <p:spPr>
          <a:xfrm>
            <a:off x="7236857" y="1658239"/>
            <a:ext cx="88900"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150</a:t>
            </a:r>
            <a:endParaRPr sz="300">
              <a:latin typeface="Arial"/>
              <a:cs typeface="Arial"/>
            </a:endParaRPr>
          </a:p>
        </p:txBody>
      </p:sp>
      <p:grpSp>
        <p:nvGrpSpPr>
          <p:cNvPr id="415" name="object 415"/>
          <p:cNvGrpSpPr/>
          <p:nvPr/>
        </p:nvGrpSpPr>
        <p:grpSpPr>
          <a:xfrm>
            <a:off x="7677643" y="518895"/>
            <a:ext cx="3810" cy="1141730"/>
            <a:chOff x="7677643" y="518895"/>
            <a:chExt cx="3810" cy="1141730"/>
          </a:xfrm>
        </p:grpSpPr>
        <p:sp>
          <p:nvSpPr>
            <p:cNvPr id="416" name="object 416"/>
            <p:cNvSpPr/>
            <p:nvPr/>
          </p:nvSpPr>
          <p:spPr>
            <a:xfrm>
              <a:off x="7679548" y="520801"/>
              <a:ext cx="0" cy="1137920"/>
            </a:xfrm>
            <a:custGeom>
              <a:avLst/>
              <a:gdLst/>
              <a:ahLst/>
              <a:cxnLst/>
              <a:rect l="l" t="t" r="r" b="b"/>
              <a:pathLst>
                <a:path h="1137920">
                  <a:moveTo>
                    <a:pt x="0" y="17179"/>
                  </a:moveTo>
                  <a:lnTo>
                    <a:pt x="0" y="0"/>
                  </a:lnTo>
                </a:path>
                <a:path h="1137920">
                  <a:moveTo>
                    <a:pt x="0" y="1137412"/>
                  </a:moveTo>
                  <a:lnTo>
                    <a:pt x="0" y="55361"/>
                  </a:lnTo>
                </a:path>
              </a:pathLst>
            </a:custGeom>
            <a:ln w="3776">
              <a:solidFill>
                <a:srgbClr val="000000"/>
              </a:solidFill>
              <a:prstDash val="dash"/>
            </a:ln>
          </p:spPr>
          <p:txBody>
            <a:bodyPr wrap="square" lIns="0" tIns="0" rIns="0" bIns="0" rtlCol="0"/>
            <a:lstStyle/>
            <a:p>
              <a:endParaRPr/>
            </a:p>
          </p:txBody>
        </p:sp>
        <p:sp>
          <p:nvSpPr>
            <p:cNvPr id="417" name="object 417"/>
            <p:cNvSpPr/>
            <p:nvPr/>
          </p:nvSpPr>
          <p:spPr>
            <a:xfrm>
              <a:off x="7679548" y="520800"/>
              <a:ext cx="0" cy="1137920"/>
            </a:xfrm>
            <a:custGeom>
              <a:avLst/>
              <a:gdLst/>
              <a:ahLst/>
              <a:cxnLst/>
              <a:rect l="l" t="t" r="r" b="b"/>
              <a:pathLst>
                <a:path h="1137920">
                  <a:moveTo>
                    <a:pt x="0" y="0"/>
                  </a:moveTo>
                  <a:lnTo>
                    <a:pt x="0" y="17179"/>
                  </a:lnTo>
                </a:path>
                <a:path h="1137920">
                  <a:moveTo>
                    <a:pt x="0" y="1137412"/>
                  </a:moveTo>
                  <a:lnTo>
                    <a:pt x="0" y="1120233"/>
                  </a:lnTo>
                </a:path>
              </a:pathLst>
            </a:custGeom>
            <a:ln w="3776">
              <a:solidFill>
                <a:srgbClr val="000000"/>
              </a:solidFill>
            </a:ln>
          </p:spPr>
          <p:txBody>
            <a:bodyPr wrap="square" lIns="0" tIns="0" rIns="0" bIns="0" rtlCol="0"/>
            <a:lstStyle/>
            <a:p>
              <a:endParaRPr/>
            </a:p>
          </p:txBody>
        </p:sp>
      </p:grpSp>
      <p:sp>
        <p:nvSpPr>
          <p:cNvPr id="418" name="object 418"/>
          <p:cNvSpPr txBox="1"/>
          <p:nvPr/>
        </p:nvSpPr>
        <p:spPr>
          <a:xfrm>
            <a:off x="7640363" y="1658239"/>
            <a:ext cx="88900"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200</a:t>
            </a:r>
            <a:endParaRPr sz="300">
              <a:latin typeface="Arial"/>
              <a:cs typeface="Arial"/>
            </a:endParaRPr>
          </a:p>
        </p:txBody>
      </p:sp>
      <p:sp>
        <p:nvSpPr>
          <p:cNvPr id="419" name="object 419"/>
          <p:cNvSpPr/>
          <p:nvPr/>
        </p:nvSpPr>
        <p:spPr>
          <a:xfrm>
            <a:off x="6065762" y="520799"/>
            <a:ext cx="1702435" cy="1137920"/>
          </a:xfrm>
          <a:custGeom>
            <a:avLst/>
            <a:gdLst/>
            <a:ahLst/>
            <a:cxnLst/>
            <a:rect l="l" t="t" r="r" b="b"/>
            <a:pathLst>
              <a:path w="1702434" h="1137920">
                <a:moveTo>
                  <a:pt x="0" y="1137412"/>
                </a:moveTo>
                <a:lnTo>
                  <a:pt x="1702428" y="1137412"/>
                </a:lnTo>
                <a:lnTo>
                  <a:pt x="1702428" y="0"/>
                </a:lnTo>
                <a:lnTo>
                  <a:pt x="0" y="0"/>
                </a:lnTo>
                <a:lnTo>
                  <a:pt x="0" y="1137412"/>
                </a:lnTo>
                <a:close/>
              </a:path>
            </a:pathLst>
          </a:custGeom>
          <a:ln w="3776">
            <a:solidFill>
              <a:srgbClr val="000000"/>
            </a:solidFill>
          </a:ln>
        </p:spPr>
        <p:txBody>
          <a:bodyPr wrap="square" lIns="0" tIns="0" rIns="0" bIns="0" rtlCol="0"/>
          <a:lstStyle/>
          <a:p>
            <a:endParaRPr/>
          </a:p>
        </p:txBody>
      </p:sp>
      <p:sp>
        <p:nvSpPr>
          <p:cNvPr id="420" name="object 420"/>
          <p:cNvSpPr txBox="1"/>
          <p:nvPr/>
        </p:nvSpPr>
        <p:spPr>
          <a:xfrm>
            <a:off x="6833339" y="1646772"/>
            <a:ext cx="164465" cy="140335"/>
          </a:xfrm>
          <a:prstGeom prst="rect">
            <a:avLst/>
          </a:prstGeom>
        </p:spPr>
        <p:txBody>
          <a:bodyPr vert="horz" wrap="square" lIns="0" tIns="24130" rIns="0" bIns="0" rtlCol="0">
            <a:spAutoFit/>
          </a:bodyPr>
          <a:lstStyle/>
          <a:p>
            <a:pPr marL="12700">
              <a:lnSpc>
                <a:spcPct val="100000"/>
              </a:lnSpc>
              <a:spcBef>
                <a:spcPts val="190"/>
              </a:spcBef>
            </a:pPr>
            <a:r>
              <a:rPr sz="300" spc="-25" dirty="0">
                <a:latin typeface="Arial"/>
                <a:cs typeface="Arial"/>
              </a:rPr>
              <a:t>100</a:t>
            </a:r>
            <a:endParaRPr sz="300">
              <a:latin typeface="Arial"/>
              <a:cs typeface="Arial"/>
            </a:endParaRPr>
          </a:p>
          <a:p>
            <a:pPr marL="15240">
              <a:lnSpc>
                <a:spcPct val="100000"/>
              </a:lnSpc>
              <a:spcBef>
                <a:spcPts val="90"/>
              </a:spcBef>
            </a:pPr>
            <a:r>
              <a:rPr sz="300" spc="-10" dirty="0">
                <a:latin typeface="Arial"/>
                <a:cs typeface="Arial"/>
              </a:rPr>
              <a:t>Position</a:t>
            </a:r>
            <a:endParaRPr sz="300">
              <a:latin typeface="Arial"/>
              <a:cs typeface="Arial"/>
            </a:endParaRPr>
          </a:p>
        </p:txBody>
      </p:sp>
      <p:sp>
        <p:nvSpPr>
          <p:cNvPr id="421" name="object 421"/>
          <p:cNvSpPr txBox="1"/>
          <p:nvPr/>
        </p:nvSpPr>
        <p:spPr>
          <a:xfrm>
            <a:off x="5880900" y="1027126"/>
            <a:ext cx="67945" cy="125730"/>
          </a:xfrm>
          <a:prstGeom prst="rect">
            <a:avLst/>
          </a:prstGeom>
        </p:spPr>
        <p:txBody>
          <a:bodyPr vert="vert270" wrap="square" lIns="0" tIns="8890" rIns="0" bIns="0" rtlCol="0">
            <a:spAutoFit/>
          </a:bodyPr>
          <a:lstStyle/>
          <a:p>
            <a:pPr marL="12700">
              <a:lnSpc>
                <a:spcPct val="100000"/>
              </a:lnSpc>
              <a:spcBef>
                <a:spcPts val="70"/>
              </a:spcBef>
            </a:pPr>
            <a:r>
              <a:rPr sz="300" spc="-20" dirty="0">
                <a:latin typeface="Arial"/>
                <a:cs typeface="Arial"/>
              </a:rPr>
              <a:t>Score</a:t>
            </a:r>
            <a:endParaRPr sz="300">
              <a:latin typeface="Arial"/>
              <a:cs typeface="Arial"/>
            </a:endParaRPr>
          </a:p>
        </p:txBody>
      </p:sp>
      <p:sp>
        <p:nvSpPr>
          <p:cNvPr id="422" name="object 422"/>
          <p:cNvSpPr txBox="1"/>
          <p:nvPr/>
        </p:nvSpPr>
        <p:spPr>
          <a:xfrm>
            <a:off x="6874405" y="518883"/>
            <a:ext cx="803275" cy="71755"/>
          </a:xfrm>
          <a:prstGeom prst="rect">
            <a:avLst/>
          </a:prstGeom>
        </p:spPr>
        <p:txBody>
          <a:bodyPr vert="horz" wrap="square" lIns="0" tIns="12700" rIns="0" bIns="0" rtlCol="0">
            <a:spAutoFit/>
          </a:bodyPr>
          <a:lstStyle/>
          <a:p>
            <a:pPr marL="263525">
              <a:lnSpc>
                <a:spcPct val="100000"/>
              </a:lnSpc>
              <a:spcBef>
                <a:spcPts val="100"/>
              </a:spcBef>
            </a:pPr>
            <a:r>
              <a:rPr sz="300" dirty="0">
                <a:latin typeface="Arial"/>
                <a:cs typeface="Arial"/>
              </a:rPr>
              <a:t>Hydropath.</a:t>
            </a:r>
            <a:r>
              <a:rPr sz="300" spc="-5" dirty="0">
                <a:latin typeface="Arial"/>
                <a:cs typeface="Arial"/>
              </a:rPr>
              <a:t> </a:t>
            </a:r>
            <a:r>
              <a:rPr sz="300" dirty="0">
                <a:latin typeface="Arial"/>
                <a:cs typeface="Arial"/>
              </a:rPr>
              <a:t>/ Kyte</a:t>
            </a:r>
            <a:r>
              <a:rPr sz="300" spc="80" dirty="0">
                <a:latin typeface="Arial"/>
                <a:cs typeface="Arial"/>
              </a:rPr>
              <a:t> </a:t>
            </a:r>
            <a:r>
              <a:rPr sz="300" spc="-10" dirty="0">
                <a:latin typeface="Arial"/>
                <a:cs typeface="Arial"/>
              </a:rPr>
              <a:t>Doolittle</a:t>
            </a:r>
            <a:endParaRPr sz="300">
              <a:latin typeface="Arial"/>
              <a:cs typeface="Arial"/>
            </a:endParaRPr>
          </a:p>
        </p:txBody>
      </p:sp>
      <p:grpSp>
        <p:nvGrpSpPr>
          <p:cNvPr id="423" name="object 423"/>
          <p:cNvGrpSpPr/>
          <p:nvPr/>
        </p:nvGrpSpPr>
        <p:grpSpPr>
          <a:xfrm>
            <a:off x="6063874" y="518911"/>
            <a:ext cx="1706245" cy="1141730"/>
            <a:chOff x="6063874" y="518911"/>
            <a:chExt cx="1706245" cy="1141730"/>
          </a:xfrm>
        </p:grpSpPr>
        <p:sp>
          <p:nvSpPr>
            <p:cNvPr id="424" name="object 424"/>
            <p:cNvSpPr/>
            <p:nvPr/>
          </p:nvSpPr>
          <p:spPr>
            <a:xfrm>
              <a:off x="6106002" y="557071"/>
              <a:ext cx="1616710" cy="1068705"/>
            </a:xfrm>
            <a:custGeom>
              <a:avLst/>
              <a:gdLst/>
              <a:ahLst/>
              <a:cxnLst/>
              <a:rect l="l" t="t" r="r" b="b"/>
              <a:pathLst>
                <a:path w="1616709" h="1068705">
                  <a:moveTo>
                    <a:pt x="0" y="930155"/>
                  </a:moveTo>
                  <a:lnTo>
                    <a:pt x="8153" y="904514"/>
                  </a:lnTo>
                  <a:lnTo>
                    <a:pt x="16322" y="780450"/>
                  </a:lnTo>
                  <a:lnTo>
                    <a:pt x="24203" y="709541"/>
                  </a:lnTo>
                  <a:lnTo>
                    <a:pt x="32357" y="662913"/>
                  </a:lnTo>
                  <a:lnTo>
                    <a:pt x="40511" y="651732"/>
                  </a:lnTo>
                  <a:lnTo>
                    <a:pt x="48407" y="617917"/>
                  </a:lnTo>
                  <a:lnTo>
                    <a:pt x="56561" y="675998"/>
                  </a:lnTo>
                  <a:lnTo>
                    <a:pt x="64714" y="762455"/>
                  </a:lnTo>
                  <a:lnTo>
                    <a:pt x="72596" y="792719"/>
                  </a:lnTo>
                  <a:lnTo>
                    <a:pt x="80750" y="855711"/>
                  </a:lnTo>
                  <a:lnTo>
                    <a:pt x="88918" y="898244"/>
                  </a:lnTo>
                  <a:lnTo>
                    <a:pt x="96800" y="1011142"/>
                  </a:lnTo>
                  <a:lnTo>
                    <a:pt x="104954" y="1026690"/>
                  </a:lnTo>
                  <a:lnTo>
                    <a:pt x="113107" y="1068407"/>
                  </a:lnTo>
                  <a:lnTo>
                    <a:pt x="121004" y="1052587"/>
                  </a:lnTo>
                  <a:lnTo>
                    <a:pt x="129158" y="955237"/>
                  </a:lnTo>
                  <a:lnTo>
                    <a:pt x="137311" y="784258"/>
                  </a:lnTo>
                  <a:lnTo>
                    <a:pt x="145193" y="600194"/>
                  </a:lnTo>
                  <a:lnTo>
                    <a:pt x="153362" y="433310"/>
                  </a:lnTo>
                  <a:lnTo>
                    <a:pt x="161515" y="239153"/>
                  </a:lnTo>
                  <a:lnTo>
                    <a:pt x="169397" y="207785"/>
                  </a:lnTo>
                  <a:lnTo>
                    <a:pt x="177550" y="293411"/>
                  </a:lnTo>
                  <a:lnTo>
                    <a:pt x="185719" y="404405"/>
                  </a:lnTo>
                  <a:lnTo>
                    <a:pt x="193873" y="552750"/>
                  </a:lnTo>
                  <a:lnTo>
                    <a:pt x="201754" y="726993"/>
                  </a:lnTo>
                  <a:lnTo>
                    <a:pt x="209908" y="841251"/>
                  </a:lnTo>
                  <a:lnTo>
                    <a:pt x="218076" y="856255"/>
                  </a:lnTo>
                  <a:lnTo>
                    <a:pt x="225958" y="804172"/>
                  </a:lnTo>
                  <a:lnTo>
                    <a:pt x="234112" y="789712"/>
                  </a:lnTo>
                  <a:lnTo>
                    <a:pt x="242265" y="755081"/>
                  </a:lnTo>
                  <a:lnTo>
                    <a:pt x="250162" y="695641"/>
                  </a:lnTo>
                  <a:lnTo>
                    <a:pt x="258316" y="698632"/>
                  </a:lnTo>
                  <a:lnTo>
                    <a:pt x="266469" y="764631"/>
                  </a:lnTo>
                  <a:lnTo>
                    <a:pt x="274351" y="779075"/>
                  </a:lnTo>
                  <a:lnTo>
                    <a:pt x="282520" y="816713"/>
                  </a:lnTo>
                  <a:lnTo>
                    <a:pt x="290673" y="880520"/>
                  </a:lnTo>
                  <a:lnTo>
                    <a:pt x="298555" y="906705"/>
                  </a:lnTo>
                  <a:lnTo>
                    <a:pt x="306708" y="874250"/>
                  </a:lnTo>
                  <a:lnTo>
                    <a:pt x="314877" y="804172"/>
                  </a:lnTo>
                  <a:lnTo>
                    <a:pt x="322759" y="789712"/>
                  </a:lnTo>
                  <a:lnTo>
                    <a:pt x="330912" y="755081"/>
                  </a:lnTo>
                  <a:lnTo>
                    <a:pt x="339066" y="695641"/>
                  </a:lnTo>
                  <a:lnTo>
                    <a:pt x="346963" y="698632"/>
                  </a:lnTo>
                  <a:lnTo>
                    <a:pt x="355116" y="764631"/>
                  </a:lnTo>
                  <a:lnTo>
                    <a:pt x="363270" y="779075"/>
                  </a:lnTo>
                  <a:lnTo>
                    <a:pt x="371152" y="816713"/>
                  </a:lnTo>
                  <a:lnTo>
                    <a:pt x="379320" y="880520"/>
                  </a:lnTo>
                  <a:lnTo>
                    <a:pt x="387474" y="906705"/>
                  </a:lnTo>
                  <a:lnTo>
                    <a:pt x="395356" y="859805"/>
                  </a:lnTo>
                  <a:lnTo>
                    <a:pt x="403509" y="763543"/>
                  </a:lnTo>
                  <a:lnTo>
                    <a:pt x="411678" y="722913"/>
                  </a:lnTo>
                  <a:lnTo>
                    <a:pt x="419559" y="662370"/>
                  </a:lnTo>
                  <a:lnTo>
                    <a:pt x="427713" y="576744"/>
                  </a:lnTo>
                  <a:lnTo>
                    <a:pt x="435867" y="553566"/>
                  </a:lnTo>
                  <a:lnTo>
                    <a:pt x="443763" y="645462"/>
                  </a:lnTo>
                  <a:lnTo>
                    <a:pt x="451917" y="686363"/>
                  </a:lnTo>
                  <a:lnTo>
                    <a:pt x="460070" y="750171"/>
                  </a:lnTo>
                  <a:lnTo>
                    <a:pt x="467952" y="839891"/>
                  </a:lnTo>
                  <a:lnTo>
                    <a:pt x="476121" y="877529"/>
                  </a:lnTo>
                  <a:lnTo>
                    <a:pt x="484274" y="833621"/>
                  </a:lnTo>
                  <a:lnTo>
                    <a:pt x="492156" y="737630"/>
                  </a:lnTo>
                  <a:lnTo>
                    <a:pt x="500310" y="696729"/>
                  </a:lnTo>
                  <a:lnTo>
                    <a:pt x="508478" y="636185"/>
                  </a:lnTo>
                  <a:lnTo>
                    <a:pt x="516360" y="550559"/>
                  </a:lnTo>
                  <a:lnTo>
                    <a:pt x="524514" y="579751"/>
                  </a:lnTo>
                  <a:lnTo>
                    <a:pt x="532667" y="671647"/>
                  </a:lnTo>
                  <a:lnTo>
                    <a:pt x="540564" y="712548"/>
                  </a:lnTo>
                  <a:lnTo>
                    <a:pt x="548718" y="776084"/>
                  </a:lnTo>
                  <a:lnTo>
                    <a:pt x="556871" y="866076"/>
                  </a:lnTo>
                  <a:lnTo>
                    <a:pt x="564753" y="906705"/>
                  </a:lnTo>
                  <a:lnTo>
                    <a:pt x="572921" y="859805"/>
                  </a:lnTo>
                  <a:lnTo>
                    <a:pt x="581075" y="763543"/>
                  </a:lnTo>
                  <a:lnTo>
                    <a:pt x="588957" y="722913"/>
                  </a:lnTo>
                  <a:lnTo>
                    <a:pt x="597110" y="662370"/>
                  </a:lnTo>
                  <a:lnTo>
                    <a:pt x="605279" y="576744"/>
                  </a:lnTo>
                  <a:lnTo>
                    <a:pt x="613432" y="553566"/>
                  </a:lnTo>
                  <a:lnTo>
                    <a:pt x="621314" y="645462"/>
                  </a:lnTo>
                  <a:lnTo>
                    <a:pt x="629468" y="686363"/>
                  </a:lnTo>
                  <a:lnTo>
                    <a:pt x="637636" y="737358"/>
                  </a:lnTo>
                  <a:lnTo>
                    <a:pt x="645518" y="804172"/>
                  </a:lnTo>
                  <a:lnTo>
                    <a:pt x="653672" y="818889"/>
                  </a:lnTo>
                  <a:lnTo>
                    <a:pt x="661825" y="770357"/>
                  </a:lnTo>
                  <a:lnTo>
                    <a:pt x="669722" y="684732"/>
                  </a:lnTo>
                  <a:lnTo>
                    <a:pt x="677876" y="687723"/>
                  </a:lnTo>
                  <a:lnTo>
                    <a:pt x="686029" y="743084"/>
                  </a:lnTo>
                  <a:lnTo>
                    <a:pt x="693911" y="740093"/>
                  </a:lnTo>
                  <a:lnTo>
                    <a:pt x="702080" y="825718"/>
                  </a:lnTo>
                  <a:lnTo>
                    <a:pt x="710233" y="888710"/>
                  </a:lnTo>
                  <a:lnTo>
                    <a:pt x="718115" y="885703"/>
                  </a:lnTo>
                  <a:lnTo>
                    <a:pt x="726268" y="794079"/>
                  </a:lnTo>
                  <a:lnTo>
                    <a:pt x="734437" y="699735"/>
                  </a:lnTo>
                  <a:lnTo>
                    <a:pt x="742319" y="635913"/>
                  </a:lnTo>
                  <a:lnTo>
                    <a:pt x="750472" y="521111"/>
                  </a:lnTo>
                  <a:lnTo>
                    <a:pt x="758626" y="468756"/>
                  </a:lnTo>
                  <a:lnTo>
                    <a:pt x="766523" y="535027"/>
                  </a:lnTo>
                  <a:lnTo>
                    <a:pt x="774676" y="564475"/>
                  </a:lnTo>
                  <a:lnTo>
                    <a:pt x="782830" y="608096"/>
                  </a:lnTo>
                  <a:lnTo>
                    <a:pt x="790712" y="707366"/>
                  </a:lnTo>
                  <a:lnTo>
                    <a:pt x="798880" y="768997"/>
                  </a:lnTo>
                  <a:lnTo>
                    <a:pt x="807034" y="779075"/>
                  </a:lnTo>
                  <a:lnTo>
                    <a:pt x="814915" y="739549"/>
                  </a:lnTo>
                  <a:lnTo>
                    <a:pt x="823069" y="785905"/>
                  </a:lnTo>
                  <a:lnTo>
                    <a:pt x="831238" y="871530"/>
                  </a:lnTo>
                  <a:lnTo>
                    <a:pt x="839119" y="897156"/>
                  </a:lnTo>
                  <a:lnTo>
                    <a:pt x="847273" y="953605"/>
                  </a:lnTo>
                  <a:lnTo>
                    <a:pt x="855426" y="980878"/>
                  </a:lnTo>
                  <a:lnTo>
                    <a:pt x="863308" y="936969"/>
                  </a:lnTo>
                  <a:lnTo>
                    <a:pt x="871477" y="785633"/>
                  </a:lnTo>
                  <a:lnTo>
                    <a:pt x="879630" y="647910"/>
                  </a:lnTo>
                  <a:lnTo>
                    <a:pt x="887512" y="563931"/>
                  </a:lnTo>
                  <a:lnTo>
                    <a:pt x="895666" y="507754"/>
                  </a:lnTo>
                  <a:lnTo>
                    <a:pt x="903834" y="487024"/>
                  </a:lnTo>
                  <a:lnTo>
                    <a:pt x="911716" y="587109"/>
                  </a:lnTo>
                  <a:lnTo>
                    <a:pt x="919870" y="683372"/>
                  </a:lnTo>
                  <a:lnTo>
                    <a:pt x="928023" y="726721"/>
                  </a:lnTo>
                  <a:lnTo>
                    <a:pt x="935920" y="732991"/>
                  </a:lnTo>
                  <a:lnTo>
                    <a:pt x="944074" y="774180"/>
                  </a:lnTo>
                  <a:lnTo>
                    <a:pt x="952227" y="739821"/>
                  </a:lnTo>
                  <a:lnTo>
                    <a:pt x="960109" y="706278"/>
                  </a:lnTo>
                  <a:lnTo>
                    <a:pt x="968277" y="740637"/>
                  </a:lnTo>
                  <a:lnTo>
                    <a:pt x="976431" y="752362"/>
                  </a:lnTo>
                  <a:lnTo>
                    <a:pt x="984313" y="724273"/>
                  </a:lnTo>
                  <a:lnTo>
                    <a:pt x="992466" y="658275"/>
                  </a:lnTo>
                  <a:lnTo>
                    <a:pt x="1000635" y="647366"/>
                  </a:lnTo>
                  <a:lnTo>
                    <a:pt x="1008517" y="635913"/>
                  </a:lnTo>
                  <a:lnTo>
                    <a:pt x="1016670" y="573193"/>
                  </a:lnTo>
                  <a:lnTo>
                    <a:pt x="1024824" y="573193"/>
                  </a:lnTo>
                  <a:lnTo>
                    <a:pt x="1032992" y="635913"/>
                  </a:lnTo>
                  <a:lnTo>
                    <a:pt x="1040874" y="647366"/>
                  </a:lnTo>
                  <a:lnTo>
                    <a:pt x="1049028" y="674094"/>
                  </a:lnTo>
                  <a:lnTo>
                    <a:pt x="1057181" y="767909"/>
                  </a:lnTo>
                  <a:lnTo>
                    <a:pt x="1065078" y="824343"/>
                  </a:lnTo>
                  <a:lnTo>
                    <a:pt x="1073232" y="807723"/>
                  </a:lnTo>
                  <a:lnTo>
                    <a:pt x="1081385" y="741997"/>
                  </a:lnTo>
                  <a:lnTo>
                    <a:pt x="1089267" y="749627"/>
                  </a:lnTo>
                  <a:lnTo>
                    <a:pt x="1097436" y="731631"/>
                  </a:lnTo>
                  <a:lnTo>
                    <a:pt x="1105589" y="674366"/>
                  </a:lnTo>
                  <a:lnTo>
                    <a:pt x="1113471" y="679549"/>
                  </a:lnTo>
                  <a:lnTo>
                    <a:pt x="1121624" y="781538"/>
                  </a:lnTo>
                  <a:lnTo>
                    <a:pt x="1129793" y="804172"/>
                  </a:lnTo>
                  <a:lnTo>
                    <a:pt x="1137675" y="762999"/>
                  </a:lnTo>
                  <a:lnTo>
                    <a:pt x="1145828" y="722082"/>
                  </a:lnTo>
                  <a:lnTo>
                    <a:pt x="1153982" y="647638"/>
                  </a:lnTo>
                  <a:lnTo>
                    <a:pt x="1161879" y="534211"/>
                  </a:lnTo>
                  <a:lnTo>
                    <a:pt x="1170032" y="448857"/>
                  </a:lnTo>
                  <a:lnTo>
                    <a:pt x="1178186" y="499565"/>
                  </a:lnTo>
                  <a:lnTo>
                    <a:pt x="1186068" y="604561"/>
                  </a:lnTo>
                  <a:lnTo>
                    <a:pt x="1194236" y="729728"/>
                  </a:lnTo>
                  <a:lnTo>
                    <a:pt x="1202390" y="791359"/>
                  </a:lnTo>
                  <a:lnTo>
                    <a:pt x="1210271" y="762727"/>
                  </a:lnTo>
                  <a:lnTo>
                    <a:pt x="1218425" y="640279"/>
                  </a:lnTo>
                  <a:lnTo>
                    <a:pt x="1226594" y="506938"/>
                  </a:lnTo>
                  <a:lnTo>
                    <a:pt x="1234475" y="362673"/>
                  </a:lnTo>
                  <a:lnTo>
                    <a:pt x="1242629" y="215975"/>
                  </a:lnTo>
                  <a:lnTo>
                    <a:pt x="1250782" y="218150"/>
                  </a:lnTo>
                  <a:lnTo>
                    <a:pt x="1258679" y="358321"/>
                  </a:lnTo>
                  <a:lnTo>
                    <a:pt x="1266833" y="430031"/>
                  </a:lnTo>
                  <a:lnTo>
                    <a:pt x="1274986" y="390761"/>
                  </a:lnTo>
                  <a:lnTo>
                    <a:pt x="1282868" y="395944"/>
                  </a:lnTo>
                  <a:lnTo>
                    <a:pt x="1291037" y="383947"/>
                  </a:lnTo>
                  <a:lnTo>
                    <a:pt x="1299190" y="223877"/>
                  </a:lnTo>
                  <a:lnTo>
                    <a:pt x="1307072" y="44180"/>
                  </a:lnTo>
                  <a:lnTo>
                    <a:pt x="1315226" y="7358"/>
                  </a:lnTo>
                  <a:lnTo>
                    <a:pt x="1323394" y="61631"/>
                  </a:lnTo>
                  <a:lnTo>
                    <a:pt x="1331276" y="48531"/>
                  </a:lnTo>
                  <a:lnTo>
                    <a:pt x="1339430" y="130077"/>
                  </a:lnTo>
                  <a:lnTo>
                    <a:pt x="1347583" y="328586"/>
                  </a:lnTo>
                  <a:lnTo>
                    <a:pt x="1355480" y="406037"/>
                  </a:lnTo>
                  <a:lnTo>
                    <a:pt x="1363633" y="401126"/>
                  </a:lnTo>
                  <a:lnTo>
                    <a:pt x="1371787" y="437676"/>
                  </a:lnTo>
                  <a:lnTo>
                    <a:pt x="1379669" y="424848"/>
                  </a:lnTo>
                  <a:lnTo>
                    <a:pt x="1387837" y="290419"/>
                  </a:lnTo>
                  <a:lnTo>
                    <a:pt x="1395991" y="170163"/>
                  </a:lnTo>
                  <a:lnTo>
                    <a:pt x="1403873" y="181888"/>
                  </a:lnTo>
                  <a:lnTo>
                    <a:pt x="1412026" y="243791"/>
                  </a:lnTo>
                  <a:lnTo>
                    <a:pt x="1420195" y="251150"/>
                  </a:lnTo>
                  <a:lnTo>
                    <a:pt x="1428077" y="310862"/>
                  </a:lnTo>
                  <a:lnTo>
                    <a:pt x="1436230" y="498205"/>
                  </a:lnTo>
                  <a:lnTo>
                    <a:pt x="1444384" y="653092"/>
                  </a:lnTo>
                  <a:lnTo>
                    <a:pt x="1452552" y="697816"/>
                  </a:lnTo>
                  <a:lnTo>
                    <a:pt x="1460434" y="765990"/>
                  </a:lnTo>
                  <a:lnTo>
                    <a:pt x="1468588" y="862797"/>
                  </a:lnTo>
                  <a:lnTo>
                    <a:pt x="1476741" y="893076"/>
                  </a:lnTo>
                  <a:lnTo>
                    <a:pt x="1484638" y="837987"/>
                  </a:lnTo>
                  <a:lnTo>
                    <a:pt x="1492792" y="846705"/>
                  </a:lnTo>
                  <a:lnTo>
                    <a:pt x="1500945" y="868523"/>
                  </a:lnTo>
                  <a:lnTo>
                    <a:pt x="1508827" y="810171"/>
                  </a:lnTo>
                  <a:lnTo>
                    <a:pt x="1516995" y="700007"/>
                  </a:lnTo>
                  <a:lnTo>
                    <a:pt x="1525149" y="619005"/>
                  </a:lnTo>
                  <a:lnTo>
                    <a:pt x="1533031" y="559021"/>
                  </a:lnTo>
                  <a:lnTo>
                    <a:pt x="1541184" y="515928"/>
                  </a:lnTo>
                  <a:lnTo>
                    <a:pt x="1549353" y="506666"/>
                  </a:lnTo>
                  <a:lnTo>
                    <a:pt x="1557235" y="581383"/>
                  </a:lnTo>
                  <a:lnTo>
                    <a:pt x="1565388" y="672191"/>
                  </a:lnTo>
                  <a:lnTo>
                    <a:pt x="1573542" y="763543"/>
                  </a:lnTo>
                  <a:lnTo>
                    <a:pt x="1581439" y="788624"/>
                  </a:lnTo>
                  <a:lnTo>
                    <a:pt x="1589592" y="753722"/>
                  </a:lnTo>
                  <a:lnTo>
                    <a:pt x="1597746" y="727537"/>
                  </a:lnTo>
                  <a:lnTo>
                    <a:pt x="1605627" y="720994"/>
                  </a:lnTo>
                  <a:lnTo>
                    <a:pt x="1613796" y="741725"/>
                  </a:lnTo>
                </a:path>
                <a:path w="1616709" h="1068705">
                  <a:moveTo>
                    <a:pt x="1508012" y="0"/>
                  </a:moveTo>
                  <a:lnTo>
                    <a:pt x="1616514" y="0"/>
                  </a:lnTo>
                </a:path>
              </a:pathLst>
            </a:custGeom>
            <a:ln w="7552">
              <a:solidFill>
                <a:srgbClr val="004FE9"/>
              </a:solidFill>
            </a:ln>
          </p:spPr>
          <p:txBody>
            <a:bodyPr wrap="square" lIns="0" tIns="0" rIns="0" bIns="0" rtlCol="0"/>
            <a:lstStyle/>
            <a:p>
              <a:endParaRPr/>
            </a:p>
          </p:txBody>
        </p:sp>
        <p:sp>
          <p:nvSpPr>
            <p:cNvPr id="425" name="object 425"/>
            <p:cNvSpPr/>
            <p:nvPr/>
          </p:nvSpPr>
          <p:spPr>
            <a:xfrm>
              <a:off x="6065762" y="520799"/>
              <a:ext cx="1702435" cy="1137920"/>
            </a:xfrm>
            <a:custGeom>
              <a:avLst/>
              <a:gdLst/>
              <a:ahLst/>
              <a:cxnLst/>
              <a:rect l="l" t="t" r="r" b="b"/>
              <a:pathLst>
                <a:path w="1702434" h="1137920">
                  <a:moveTo>
                    <a:pt x="0" y="1137412"/>
                  </a:moveTo>
                  <a:lnTo>
                    <a:pt x="1702428" y="1137412"/>
                  </a:lnTo>
                  <a:lnTo>
                    <a:pt x="1702428" y="0"/>
                  </a:lnTo>
                  <a:lnTo>
                    <a:pt x="0" y="0"/>
                  </a:lnTo>
                  <a:lnTo>
                    <a:pt x="0" y="1137412"/>
                  </a:lnTo>
                  <a:close/>
                </a:path>
              </a:pathLst>
            </a:custGeom>
            <a:ln w="3776">
              <a:solidFill>
                <a:srgbClr val="000000"/>
              </a:solidFill>
            </a:ln>
          </p:spPr>
          <p:txBody>
            <a:bodyPr wrap="square" lIns="0" tIns="0" rIns="0" bIns="0" rtlCol="0"/>
            <a:lstStyle/>
            <a:p>
              <a:endParaRPr/>
            </a:p>
          </p:txBody>
        </p:sp>
      </p:grpSp>
      <p:sp>
        <p:nvSpPr>
          <p:cNvPr id="426" name="object 426"/>
          <p:cNvSpPr txBox="1"/>
          <p:nvPr/>
        </p:nvSpPr>
        <p:spPr>
          <a:xfrm>
            <a:off x="6067702" y="251358"/>
            <a:ext cx="1670050" cy="253365"/>
          </a:xfrm>
          <a:prstGeom prst="rect">
            <a:avLst/>
          </a:prstGeom>
        </p:spPr>
        <p:txBody>
          <a:bodyPr vert="horz" wrap="square" lIns="0" tIns="13970" rIns="0" bIns="0" rtlCol="0">
            <a:spAutoFit/>
          </a:bodyPr>
          <a:lstStyle/>
          <a:p>
            <a:pPr algn="ctr">
              <a:lnSpc>
                <a:spcPct val="100000"/>
              </a:lnSpc>
              <a:spcBef>
                <a:spcPts val="110"/>
              </a:spcBef>
            </a:pPr>
            <a:r>
              <a:rPr sz="700" spc="-35" dirty="0">
                <a:latin typeface="Arial"/>
                <a:cs typeface="Arial"/>
              </a:rPr>
              <a:t>T.aestivum</a:t>
            </a:r>
            <a:r>
              <a:rPr sz="700" spc="15" dirty="0">
                <a:latin typeface="Arial"/>
                <a:cs typeface="Arial"/>
              </a:rPr>
              <a:t> </a:t>
            </a:r>
            <a:r>
              <a:rPr sz="700" spc="-30" dirty="0">
                <a:latin typeface="Arial"/>
                <a:cs typeface="Arial"/>
              </a:rPr>
              <a:t>TraesCS1B02G381200_Q8GV47</a:t>
            </a:r>
            <a:endParaRPr sz="700">
              <a:latin typeface="Arial"/>
              <a:cs typeface="Arial"/>
            </a:endParaRPr>
          </a:p>
          <a:p>
            <a:pPr marL="28575" algn="ctr">
              <a:lnSpc>
                <a:spcPct val="100000"/>
              </a:lnSpc>
              <a:spcBef>
                <a:spcPts val="580"/>
              </a:spcBef>
            </a:pPr>
            <a:r>
              <a:rPr sz="450" baseline="18518" dirty="0">
                <a:latin typeface="Arial"/>
                <a:cs typeface="Arial"/>
              </a:rPr>
              <a:t>ProtScale</a:t>
            </a:r>
            <a:r>
              <a:rPr sz="450" spc="-15" baseline="18518" dirty="0">
                <a:latin typeface="Arial"/>
                <a:cs typeface="Arial"/>
              </a:rPr>
              <a:t> </a:t>
            </a:r>
            <a:r>
              <a:rPr sz="450" baseline="18518" dirty="0">
                <a:latin typeface="Arial"/>
                <a:cs typeface="Arial"/>
              </a:rPr>
              <a:t>output for </a:t>
            </a:r>
            <a:r>
              <a:rPr sz="450" spc="-15" baseline="18518" dirty="0">
                <a:latin typeface="Arial"/>
                <a:cs typeface="Arial"/>
              </a:rPr>
              <a:t>user</a:t>
            </a:r>
            <a:r>
              <a:rPr sz="250" spc="-10" dirty="0">
                <a:latin typeface="Arial"/>
                <a:cs typeface="Arial"/>
              </a:rPr>
              <a:t>s</a:t>
            </a:r>
            <a:r>
              <a:rPr sz="450" spc="-15" baseline="18518" dirty="0">
                <a:latin typeface="Arial"/>
                <a:cs typeface="Arial"/>
              </a:rPr>
              <a:t>equence</a:t>
            </a:r>
            <a:endParaRPr sz="450" baseline="18518">
              <a:latin typeface="Arial"/>
              <a:cs typeface="Arial"/>
            </a:endParaRPr>
          </a:p>
        </p:txBody>
      </p:sp>
      <p:sp>
        <p:nvSpPr>
          <p:cNvPr id="427" name="object 427"/>
          <p:cNvSpPr txBox="1"/>
          <p:nvPr/>
        </p:nvSpPr>
        <p:spPr>
          <a:xfrm>
            <a:off x="6067650" y="544893"/>
            <a:ext cx="400050" cy="91440"/>
          </a:xfrm>
          <a:prstGeom prst="rect">
            <a:avLst/>
          </a:prstGeom>
        </p:spPr>
        <p:txBody>
          <a:bodyPr vert="horz" wrap="square" lIns="0" tIns="16510" rIns="0" bIns="0" rtlCol="0">
            <a:spAutoFit/>
          </a:bodyPr>
          <a:lstStyle/>
          <a:p>
            <a:pPr marL="38100">
              <a:lnSpc>
                <a:spcPct val="100000"/>
              </a:lnSpc>
              <a:spcBef>
                <a:spcPts val="130"/>
              </a:spcBef>
            </a:pPr>
            <a:r>
              <a:rPr sz="400" spc="-25" dirty="0">
                <a:latin typeface="Arial"/>
                <a:cs typeface="Arial"/>
              </a:rPr>
              <a:t>Ta</a:t>
            </a:r>
            <a:endParaRPr sz="400">
              <a:latin typeface="Arial"/>
              <a:cs typeface="Arial"/>
            </a:endParaRPr>
          </a:p>
        </p:txBody>
      </p:sp>
      <p:sp>
        <p:nvSpPr>
          <p:cNvPr id="428" name="object 428"/>
          <p:cNvSpPr txBox="1"/>
          <p:nvPr/>
        </p:nvSpPr>
        <p:spPr>
          <a:xfrm>
            <a:off x="3548186" y="2044995"/>
            <a:ext cx="1291590" cy="134620"/>
          </a:xfrm>
          <a:prstGeom prst="rect">
            <a:avLst/>
          </a:prstGeom>
        </p:spPr>
        <p:txBody>
          <a:bodyPr vert="horz" wrap="square" lIns="0" tIns="13970" rIns="0" bIns="0" rtlCol="0">
            <a:spAutoFit/>
          </a:bodyPr>
          <a:lstStyle/>
          <a:p>
            <a:pPr marL="12700">
              <a:lnSpc>
                <a:spcPct val="100000"/>
              </a:lnSpc>
              <a:spcBef>
                <a:spcPts val="110"/>
              </a:spcBef>
            </a:pPr>
            <a:r>
              <a:rPr sz="700" spc="-35" dirty="0">
                <a:latin typeface="Arial"/>
                <a:cs typeface="Arial"/>
              </a:rPr>
              <a:t>S.nutans</a:t>
            </a:r>
            <a:r>
              <a:rPr sz="700" spc="5" dirty="0">
                <a:latin typeface="Arial"/>
                <a:cs typeface="Arial"/>
              </a:rPr>
              <a:t> </a:t>
            </a:r>
            <a:r>
              <a:rPr sz="700" spc="-35" dirty="0">
                <a:latin typeface="Arial"/>
                <a:cs typeface="Arial"/>
              </a:rPr>
              <a:t>Sn00001aa056018_T001</a:t>
            </a:r>
            <a:endParaRPr sz="700">
              <a:latin typeface="Arial"/>
              <a:cs typeface="Arial"/>
            </a:endParaRPr>
          </a:p>
        </p:txBody>
      </p:sp>
      <p:sp>
        <p:nvSpPr>
          <p:cNvPr id="429" name="object 429"/>
          <p:cNvSpPr txBox="1"/>
          <p:nvPr/>
        </p:nvSpPr>
        <p:spPr>
          <a:xfrm>
            <a:off x="6067702" y="2065484"/>
            <a:ext cx="1173480" cy="224790"/>
          </a:xfrm>
          <a:prstGeom prst="rect">
            <a:avLst/>
          </a:prstGeom>
        </p:spPr>
        <p:txBody>
          <a:bodyPr vert="horz" wrap="square" lIns="0" tIns="13970" rIns="0" bIns="0" rtlCol="0">
            <a:spAutoFit/>
          </a:bodyPr>
          <a:lstStyle/>
          <a:p>
            <a:pPr marL="38100">
              <a:lnSpc>
                <a:spcPct val="100000"/>
              </a:lnSpc>
              <a:spcBef>
                <a:spcPts val="110"/>
              </a:spcBef>
            </a:pPr>
            <a:r>
              <a:rPr sz="700" spc="-20" dirty="0">
                <a:latin typeface="Arial"/>
                <a:cs typeface="Arial"/>
              </a:rPr>
              <a:t>A.thaliana</a:t>
            </a:r>
            <a:r>
              <a:rPr sz="700" spc="25" dirty="0">
                <a:latin typeface="Arial"/>
                <a:cs typeface="Arial"/>
              </a:rPr>
              <a:t> </a:t>
            </a:r>
            <a:r>
              <a:rPr sz="700" spc="-10" dirty="0">
                <a:latin typeface="Arial"/>
                <a:cs typeface="Arial"/>
              </a:rPr>
              <a:t>AT1G52690.1</a:t>
            </a:r>
            <a:endParaRPr sz="700">
              <a:latin typeface="Arial"/>
              <a:cs typeface="Arial"/>
            </a:endParaRPr>
          </a:p>
          <a:p>
            <a:pPr marL="544830">
              <a:lnSpc>
                <a:spcPct val="100000"/>
              </a:lnSpc>
              <a:spcBef>
                <a:spcPts val="355"/>
              </a:spcBef>
            </a:pPr>
            <a:r>
              <a:rPr sz="450" baseline="18518" dirty="0">
                <a:latin typeface="Arial"/>
                <a:cs typeface="Arial"/>
              </a:rPr>
              <a:t>ProtScale</a:t>
            </a:r>
            <a:r>
              <a:rPr sz="450" spc="22" baseline="18518" dirty="0">
                <a:latin typeface="Arial"/>
                <a:cs typeface="Arial"/>
              </a:rPr>
              <a:t> </a:t>
            </a:r>
            <a:r>
              <a:rPr sz="450" baseline="18518" dirty="0">
                <a:latin typeface="Arial"/>
                <a:cs typeface="Arial"/>
              </a:rPr>
              <a:t>output</a:t>
            </a:r>
            <a:r>
              <a:rPr sz="450" spc="22" baseline="18518" dirty="0">
                <a:latin typeface="Arial"/>
                <a:cs typeface="Arial"/>
              </a:rPr>
              <a:t> </a:t>
            </a:r>
            <a:r>
              <a:rPr sz="450" baseline="18518" dirty="0">
                <a:latin typeface="Arial"/>
                <a:cs typeface="Arial"/>
              </a:rPr>
              <a:t>for</a:t>
            </a:r>
            <a:r>
              <a:rPr sz="450" spc="22" baseline="18518" dirty="0">
                <a:latin typeface="Arial"/>
                <a:cs typeface="Arial"/>
              </a:rPr>
              <a:t> </a:t>
            </a:r>
            <a:r>
              <a:rPr sz="450" spc="-15" baseline="18518" dirty="0">
                <a:latin typeface="Arial"/>
                <a:cs typeface="Arial"/>
              </a:rPr>
              <a:t>user</a:t>
            </a:r>
            <a:r>
              <a:rPr sz="250" spc="-10" dirty="0">
                <a:latin typeface="Arial"/>
                <a:cs typeface="Arial"/>
              </a:rPr>
              <a:t>s</a:t>
            </a:r>
            <a:r>
              <a:rPr sz="450" spc="-15" baseline="18518" dirty="0">
                <a:latin typeface="Arial"/>
                <a:cs typeface="Arial"/>
              </a:rPr>
              <a:t>equence</a:t>
            </a:r>
            <a:endParaRPr sz="450" baseline="18518">
              <a:latin typeface="Arial"/>
              <a:cs typeface="Arial"/>
            </a:endParaRPr>
          </a:p>
        </p:txBody>
      </p:sp>
      <p:grpSp>
        <p:nvGrpSpPr>
          <p:cNvPr id="430" name="object 430"/>
          <p:cNvGrpSpPr/>
          <p:nvPr/>
        </p:nvGrpSpPr>
        <p:grpSpPr>
          <a:xfrm>
            <a:off x="6043592" y="3454711"/>
            <a:ext cx="1728470" cy="3810"/>
            <a:chOff x="6043592" y="3454711"/>
            <a:chExt cx="1728470" cy="3810"/>
          </a:xfrm>
        </p:grpSpPr>
        <p:sp>
          <p:nvSpPr>
            <p:cNvPr id="431" name="object 431"/>
            <p:cNvSpPr/>
            <p:nvPr/>
          </p:nvSpPr>
          <p:spPr>
            <a:xfrm>
              <a:off x="6045501" y="3456616"/>
              <a:ext cx="1724660" cy="0"/>
            </a:xfrm>
            <a:custGeom>
              <a:avLst/>
              <a:gdLst/>
              <a:ahLst/>
              <a:cxnLst/>
              <a:rect l="l" t="t" r="r" b="b"/>
              <a:pathLst>
                <a:path w="1724659">
                  <a:moveTo>
                    <a:pt x="0" y="0"/>
                  </a:moveTo>
                  <a:lnTo>
                    <a:pt x="1724654" y="0"/>
                  </a:lnTo>
                </a:path>
              </a:pathLst>
            </a:custGeom>
            <a:ln w="3777">
              <a:solidFill>
                <a:srgbClr val="000000"/>
              </a:solidFill>
              <a:prstDash val="dash"/>
            </a:ln>
          </p:spPr>
          <p:txBody>
            <a:bodyPr wrap="square" lIns="0" tIns="0" rIns="0" bIns="0" rtlCol="0"/>
            <a:lstStyle/>
            <a:p>
              <a:endParaRPr/>
            </a:p>
          </p:txBody>
        </p:sp>
        <p:sp>
          <p:nvSpPr>
            <p:cNvPr id="432" name="object 432"/>
            <p:cNvSpPr/>
            <p:nvPr/>
          </p:nvSpPr>
          <p:spPr>
            <a:xfrm>
              <a:off x="6045497" y="3456616"/>
              <a:ext cx="1724660" cy="0"/>
            </a:xfrm>
            <a:custGeom>
              <a:avLst/>
              <a:gdLst/>
              <a:ahLst/>
              <a:cxnLst/>
              <a:rect l="l" t="t" r="r" b="b"/>
              <a:pathLst>
                <a:path w="1724659">
                  <a:moveTo>
                    <a:pt x="1724654" y="0"/>
                  </a:moveTo>
                  <a:lnTo>
                    <a:pt x="1707305" y="0"/>
                  </a:lnTo>
                </a:path>
                <a:path w="1724659">
                  <a:moveTo>
                    <a:pt x="0" y="0"/>
                  </a:moveTo>
                  <a:lnTo>
                    <a:pt x="17364" y="0"/>
                  </a:lnTo>
                </a:path>
              </a:pathLst>
            </a:custGeom>
            <a:ln w="3776">
              <a:solidFill>
                <a:srgbClr val="000000"/>
              </a:solidFill>
            </a:ln>
          </p:spPr>
          <p:txBody>
            <a:bodyPr wrap="square" lIns="0" tIns="0" rIns="0" bIns="0" rtlCol="0"/>
            <a:lstStyle/>
            <a:p>
              <a:endParaRPr/>
            </a:p>
          </p:txBody>
        </p:sp>
      </p:grpSp>
      <p:sp>
        <p:nvSpPr>
          <p:cNvPr id="433" name="object 433"/>
          <p:cNvSpPr txBox="1"/>
          <p:nvPr/>
        </p:nvSpPr>
        <p:spPr>
          <a:xfrm>
            <a:off x="5975405" y="3418226"/>
            <a:ext cx="5969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3</a:t>
            </a:r>
            <a:endParaRPr sz="300">
              <a:latin typeface="Arial"/>
              <a:cs typeface="Arial"/>
            </a:endParaRPr>
          </a:p>
        </p:txBody>
      </p:sp>
      <p:grpSp>
        <p:nvGrpSpPr>
          <p:cNvPr id="434" name="object 434"/>
          <p:cNvGrpSpPr/>
          <p:nvPr/>
        </p:nvGrpSpPr>
        <p:grpSpPr>
          <a:xfrm>
            <a:off x="6043592" y="2304982"/>
            <a:ext cx="1728470" cy="1153795"/>
            <a:chOff x="6043592" y="2304982"/>
            <a:chExt cx="1728470" cy="1153795"/>
          </a:xfrm>
        </p:grpSpPr>
        <p:sp>
          <p:nvSpPr>
            <p:cNvPr id="435" name="object 435"/>
            <p:cNvSpPr/>
            <p:nvPr/>
          </p:nvSpPr>
          <p:spPr>
            <a:xfrm>
              <a:off x="6045501" y="3313003"/>
              <a:ext cx="1724660" cy="0"/>
            </a:xfrm>
            <a:custGeom>
              <a:avLst/>
              <a:gdLst/>
              <a:ahLst/>
              <a:cxnLst/>
              <a:rect l="l" t="t" r="r" b="b"/>
              <a:pathLst>
                <a:path w="1724659">
                  <a:moveTo>
                    <a:pt x="0" y="0"/>
                  </a:moveTo>
                  <a:lnTo>
                    <a:pt x="1724654" y="0"/>
                  </a:lnTo>
                </a:path>
              </a:pathLst>
            </a:custGeom>
            <a:ln w="3777">
              <a:solidFill>
                <a:srgbClr val="000000"/>
              </a:solidFill>
              <a:prstDash val="dash"/>
            </a:ln>
          </p:spPr>
          <p:txBody>
            <a:bodyPr wrap="square" lIns="0" tIns="0" rIns="0" bIns="0" rtlCol="0"/>
            <a:lstStyle/>
            <a:p>
              <a:endParaRPr/>
            </a:p>
          </p:txBody>
        </p:sp>
        <p:sp>
          <p:nvSpPr>
            <p:cNvPr id="436" name="object 436"/>
            <p:cNvSpPr/>
            <p:nvPr/>
          </p:nvSpPr>
          <p:spPr>
            <a:xfrm>
              <a:off x="6045497" y="3313003"/>
              <a:ext cx="1724660" cy="0"/>
            </a:xfrm>
            <a:custGeom>
              <a:avLst/>
              <a:gdLst/>
              <a:ahLst/>
              <a:cxnLst/>
              <a:rect l="l" t="t" r="r" b="b"/>
              <a:pathLst>
                <a:path w="1724659">
                  <a:moveTo>
                    <a:pt x="1724654" y="0"/>
                  </a:moveTo>
                  <a:lnTo>
                    <a:pt x="1707305" y="0"/>
                  </a:lnTo>
                </a:path>
                <a:path w="1724659">
                  <a:moveTo>
                    <a:pt x="0" y="0"/>
                  </a:moveTo>
                  <a:lnTo>
                    <a:pt x="17364" y="0"/>
                  </a:lnTo>
                </a:path>
              </a:pathLst>
            </a:custGeom>
            <a:ln w="3776">
              <a:solidFill>
                <a:srgbClr val="000000"/>
              </a:solidFill>
            </a:ln>
          </p:spPr>
          <p:txBody>
            <a:bodyPr wrap="square" lIns="0" tIns="0" rIns="0" bIns="0" rtlCol="0"/>
            <a:lstStyle/>
            <a:p>
              <a:endParaRPr/>
            </a:p>
          </p:txBody>
        </p:sp>
        <p:sp>
          <p:nvSpPr>
            <p:cNvPr id="437" name="object 437"/>
            <p:cNvSpPr/>
            <p:nvPr/>
          </p:nvSpPr>
          <p:spPr>
            <a:xfrm>
              <a:off x="6045501" y="3169113"/>
              <a:ext cx="1724660" cy="0"/>
            </a:xfrm>
            <a:custGeom>
              <a:avLst/>
              <a:gdLst/>
              <a:ahLst/>
              <a:cxnLst/>
              <a:rect l="l" t="t" r="r" b="b"/>
              <a:pathLst>
                <a:path w="1724659">
                  <a:moveTo>
                    <a:pt x="0" y="0"/>
                  </a:moveTo>
                  <a:lnTo>
                    <a:pt x="1724654" y="0"/>
                  </a:lnTo>
                </a:path>
              </a:pathLst>
            </a:custGeom>
            <a:ln w="3777">
              <a:solidFill>
                <a:srgbClr val="000000"/>
              </a:solidFill>
              <a:prstDash val="dash"/>
            </a:ln>
          </p:spPr>
          <p:txBody>
            <a:bodyPr wrap="square" lIns="0" tIns="0" rIns="0" bIns="0" rtlCol="0"/>
            <a:lstStyle/>
            <a:p>
              <a:endParaRPr/>
            </a:p>
          </p:txBody>
        </p:sp>
        <p:sp>
          <p:nvSpPr>
            <p:cNvPr id="438" name="object 438"/>
            <p:cNvSpPr/>
            <p:nvPr/>
          </p:nvSpPr>
          <p:spPr>
            <a:xfrm>
              <a:off x="6045497" y="3169113"/>
              <a:ext cx="1724660" cy="0"/>
            </a:xfrm>
            <a:custGeom>
              <a:avLst/>
              <a:gdLst/>
              <a:ahLst/>
              <a:cxnLst/>
              <a:rect l="l" t="t" r="r" b="b"/>
              <a:pathLst>
                <a:path w="1724659">
                  <a:moveTo>
                    <a:pt x="1724654" y="0"/>
                  </a:moveTo>
                  <a:lnTo>
                    <a:pt x="1707305" y="0"/>
                  </a:lnTo>
                </a:path>
                <a:path w="1724659">
                  <a:moveTo>
                    <a:pt x="0" y="0"/>
                  </a:moveTo>
                  <a:lnTo>
                    <a:pt x="17364" y="0"/>
                  </a:lnTo>
                </a:path>
              </a:pathLst>
            </a:custGeom>
            <a:ln w="3776">
              <a:solidFill>
                <a:srgbClr val="000000"/>
              </a:solidFill>
            </a:ln>
          </p:spPr>
          <p:txBody>
            <a:bodyPr wrap="square" lIns="0" tIns="0" rIns="0" bIns="0" rtlCol="0"/>
            <a:lstStyle/>
            <a:p>
              <a:endParaRPr/>
            </a:p>
          </p:txBody>
        </p:sp>
        <p:sp>
          <p:nvSpPr>
            <p:cNvPr id="439" name="object 439"/>
            <p:cNvSpPr/>
            <p:nvPr/>
          </p:nvSpPr>
          <p:spPr>
            <a:xfrm>
              <a:off x="6045501" y="3025500"/>
              <a:ext cx="1724660" cy="0"/>
            </a:xfrm>
            <a:custGeom>
              <a:avLst/>
              <a:gdLst/>
              <a:ahLst/>
              <a:cxnLst/>
              <a:rect l="l" t="t" r="r" b="b"/>
              <a:pathLst>
                <a:path w="1724659">
                  <a:moveTo>
                    <a:pt x="0" y="0"/>
                  </a:moveTo>
                  <a:lnTo>
                    <a:pt x="1724654" y="0"/>
                  </a:lnTo>
                </a:path>
              </a:pathLst>
            </a:custGeom>
            <a:ln w="3777">
              <a:solidFill>
                <a:srgbClr val="000000"/>
              </a:solidFill>
              <a:prstDash val="dash"/>
            </a:ln>
          </p:spPr>
          <p:txBody>
            <a:bodyPr wrap="square" lIns="0" tIns="0" rIns="0" bIns="0" rtlCol="0"/>
            <a:lstStyle/>
            <a:p>
              <a:endParaRPr/>
            </a:p>
          </p:txBody>
        </p:sp>
        <p:sp>
          <p:nvSpPr>
            <p:cNvPr id="440" name="object 440"/>
            <p:cNvSpPr/>
            <p:nvPr/>
          </p:nvSpPr>
          <p:spPr>
            <a:xfrm>
              <a:off x="6045497" y="3025500"/>
              <a:ext cx="1724660" cy="0"/>
            </a:xfrm>
            <a:custGeom>
              <a:avLst/>
              <a:gdLst/>
              <a:ahLst/>
              <a:cxnLst/>
              <a:rect l="l" t="t" r="r" b="b"/>
              <a:pathLst>
                <a:path w="1724659">
                  <a:moveTo>
                    <a:pt x="1724654" y="0"/>
                  </a:moveTo>
                  <a:lnTo>
                    <a:pt x="1707305" y="0"/>
                  </a:lnTo>
                </a:path>
                <a:path w="1724659">
                  <a:moveTo>
                    <a:pt x="0" y="0"/>
                  </a:moveTo>
                  <a:lnTo>
                    <a:pt x="17364" y="0"/>
                  </a:lnTo>
                </a:path>
              </a:pathLst>
            </a:custGeom>
            <a:ln w="3776">
              <a:solidFill>
                <a:srgbClr val="000000"/>
              </a:solidFill>
            </a:ln>
          </p:spPr>
          <p:txBody>
            <a:bodyPr wrap="square" lIns="0" tIns="0" rIns="0" bIns="0" rtlCol="0"/>
            <a:lstStyle/>
            <a:p>
              <a:endParaRPr/>
            </a:p>
          </p:txBody>
        </p:sp>
        <p:sp>
          <p:nvSpPr>
            <p:cNvPr id="441" name="object 441"/>
            <p:cNvSpPr/>
            <p:nvPr/>
          </p:nvSpPr>
          <p:spPr>
            <a:xfrm>
              <a:off x="6045501" y="2881613"/>
              <a:ext cx="1724660" cy="0"/>
            </a:xfrm>
            <a:custGeom>
              <a:avLst/>
              <a:gdLst/>
              <a:ahLst/>
              <a:cxnLst/>
              <a:rect l="l" t="t" r="r" b="b"/>
              <a:pathLst>
                <a:path w="1724659">
                  <a:moveTo>
                    <a:pt x="0" y="0"/>
                  </a:moveTo>
                  <a:lnTo>
                    <a:pt x="1724654" y="0"/>
                  </a:lnTo>
                </a:path>
              </a:pathLst>
            </a:custGeom>
            <a:ln w="3777">
              <a:solidFill>
                <a:srgbClr val="000000"/>
              </a:solidFill>
              <a:prstDash val="dash"/>
            </a:ln>
          </p:spPr>
          <p:txBody>
            <a:bodyPr wrap="square" lIns="0" tIns="0" rIns="0" bIns="0" rtlCol="0"/>
            <a:lstStyle/>
            <a:p>
              <a:endParaRPr/>
            </a:p>
          </p:txBody>
        </p:sp>
        <p:sp>
          <p:nvSpPr>
            <p:cNvPr id="442" name="object 442"/>
            <p:cNvSpPr/>
            <p:nvPr/>
          </p:nvSpPr>
          <p:spPr>
            <a:xfrm>
              <a:off x="6045497" y="2881613"/>
              <a:ext cx="1724660" cy="0"/>
            </a:xfrm>
            <a:custGeom>
              <a:avLst/>
              <a:gdLst/>
              <a:ahLst/>
              <a:cxnLst/>
              <a:rect l="l" t="t" r="r" b="b"/>
              <a:pathLst>
                <a:path w="1724659">
                  <a:moveTo>
                    <a:pt x="1724654" y="0"/>
                  </a:moveTo>
                  <a:lnTo>
                    <a:pt x="1707305" y="0"/>
                  </a:lnTo>
                </a:path>
                <a:path w="1724659">
                  <a:moveTo>
                    <a:pt x="0" y="0"/>
                  </a:moveTo>
                  <a:lnTo>
                    <a:pt x="17364" y="0"/>
                  </a:lnTo>
                </a:path>
              </a:pathLst>
            </a:custGeom>
            <a:ln w="3776">
              <a:solidFill>
                <a:srgbClr val="000000"/>
              </a:solidFill>
            </a:ln>
          </p:spPr>
          <p:txBody>
            <a:bodyPr wrap="square" lIns="0" tIns="0" rIns="0" bIns="0" rtlCol="0"/>
            <a:lstStyle/>
            <a:p>
              <a:endParaRPr/>
            </a:p>
          </p:txBody>
        </p:sp>
        <p:sp>
          <p:nvSpPr>
            <p:cNvPr id="443" name="object 443"/>
            <p:cNvSpPr/>
            <p:nvPr/>
          </p:nvSpPr>
          <p:spPr>
            <a:xfrm>
              <a:off x="6045501" y="2738000"/>
              <a:ext cx="1724660" cy="0"/>
            </a:xfrm>
            <a:custGeom>
              <a:avLst/>
              <a:gdLst/>
              <a:ahLst/>
              <a:cxnLst/>
              <a:rect l="l" t="t" r="r" b="b"/>
              <a:pathLst>
                <a:path w="1724659">
                  <a:moveTo>
                    <a:pt x="0" y="0"/>
                  </a:moveTo>
                  <a:lnTo>
                    <a:pt x="1724654" y="0"/>
                  </a:lnTo>
                </a:path>
              </a:pathLst>
            </a:custGeom>
            <a:ln w="3777">
              <a:solidFill>
                <a:srgbClr val="000000"/>
              </a:solidFill>
              <a:prstDash val="dash"/>
            </a:ln>
          </p:spPr>
          <p:txBody>
            <a:bodyPr wrap="square" lIns="0" tIns="0" rIns="0" bIns="0" rtlCol="0"/>
            <a:lstStyle/>
            <a:p>
              <a:endParaRPr/>
            </a:p>
          </p:txBody>
        </p:sp>
        <p:sp>
          <p:nvSpPr>
            <p:cNvPr id="444" name="object 444"/>
            <p:cNvSpPr/>
            <p:nvPr/>
          </p:nvSpPr>
          <p:spPr>
            <a:xfrm>
              <a:off x="6045497" y="2738000"/>
              <a:ext cx="1724660" cy="0"/>
            </a:xfrm>
            <a:custGeom>
              <a:avLst/>
              <a:gdLst/>
              <a:ahLst/>
              <a:cxnLst/>
              <a:rect l="l" t="t" r="r" b="b"/>
              <a:pathLst>
                <a:path w="1724659">
                  <a:moveTo>
                    <a:pt x="1724654" y="0"/>
                  </a:moveTo>
                  <a:lnTo>
                    <a:pt x="1707305" y="0"/>
                  </a:lnTo>
                </a:path>
                <a:path w="1724659">
                  <a:moveTo>
                    <a:pt x="0" y="0"/>
                  </a:moveTo>
                  <a:lnTo>
                    <a:pt x="17364" y="0"/>
                  </a:lnTo>
                </a:path>
              </a:pathLst>
            </a:custGeom>
            <a:ln w="3776">
              <a:solidFill>
                <a:srgbClr val="000000"/>
              </a:solidFill>
            </a:ln>
          </p:spPr>
          <p:txBody>
            <a:bodyPr wrap="square" lIns="0" tIns="0" rIns="0" bIns="0" rtlCol="0"/>
            <a:lstStyle/>
            <a:p>
              <a:endParaRPr/>
            </a:p>
          </p:txBody>
        </p:sp>
        <p:sp>
          <p:nvSpPr>
            <p:cNvPr id="445" name="object 445"/>
            <p:cNvSpPr/>
            <p:nvPr/>
          </p:nvSpPr>
          <p:spPr>
            <a:xfrm>
              <a:off x="6045501" y="2594387"/>
              <a:ext cx="1724660" cy="0"/>
            </a:xfrm>
            <a:custGeom>
              <a:avLst/>
              <a:gdLst/>
              <a:ahLst/>
              <a:cxnLst/>
              <a:rect l="l" t="t" r="r" b="b"/>
              <a:pathLst>
                <a:path w="1724659">
                  <a:moveTo>
                    <a:pt x="0" y="0"/>
                  </a:moveTo>
                  <a:lnTo>
                    <a:pt x="1724654" y="0"/>
                  </a:lnTo>
                </a:path>
              </a:pathLst>
            </a:custGeom>
            <a:ln w="3777">
              <a:solidFill>
                <a:srgbClr val="000000"/>
              </a:solidFill>
              <a:prstDash val="dash"/>
            </a:ln>
          </p:spPr>
          <p:txBody>
            <a:bodyPr wrap="square" lIns="0" tIns="0" rIns="0" bIns="0" rtlCol="0"/>
            <a:lstStyle/>
            <a:p>
              <a:endParaRPr/>
            </a:p>
          </p:txBody>
        </p:sp>
        <p:sp>
          <p:nvSpPr>
            <p:cNvPr id="446" name="object 446"/>
            <p:cNvSpPr/>
            <p:nvPr/>
          </p:nvSpPr>
          <p:spPr>
            <a:xfrm>
              <a:off x="6045497" y="2594387"/>
              <a:ext cx="1724660" cy="0"/>
            </a:xfrm>
            <a:custGeom>
              <a:avLst/>
              <a:gdLst/>
              <a:ahLst/>
              <a:cxnLst/>
              <a:rect l="l" t="t" r="r" b="b"/>
              <a:pathLst>
                <a:path w="1724659">
                  <a:moveTo>
                    <a:pt x="1724654" y="0"/>
                  </a:moveTo>
                  <a:lnTo>
                    <a:pt x="1707305" y="0"/>
                  </a:lnTo>
                </a:path>
                <a:path w="1724659">
                  <a:moveTo>
                    <a:pt x="0" y="0"/>
                  </a:moveTo>
                  <a:lnTo>
                    <a:pt x="17364" y="0"/>
                  </a:lnTo>
                </a:path>
              </a:pathLst>
            </a:custGeom>
            <a:ln w="3776">
              <a:solidFill>
                <a:srgbClr val="000000"/>
              </a:solidFill>
            </a:ln>
          </p:spPr>
          <p:txBody>
            <a:bodyPr wrap="square" lIns="0" tIns="0" rIns="0" bIns="0" rtlCol="0"/>
            <a:lstStyle/>
            <a:p>
              <a:endParaRPr/>
            </a:p>
          </p:txBody>
        </p:sp>
        <p:sp>
          <p:nvSpPr>
            <p:cNvPr id="447" name="object 447"/>
            <p:cNvSpPr/>
            <p:nvPr/>
          </p:nvSpPr>
          <p:spPr>
            <a:xfrm>
              <a:off x="6045501" y="2450499"/>
              <a:ext cx="1724660" cy="0"/>
            </a:xfrm>
            <a:custGeom>
              <a:avLst/>
              <a:gdLst/>
              <a:ahLst/>
              <a:cxnLst/>
              <a:rect l="l" t="t" r="r" b="b"/>
              <a:pathLst>
                <a:path w="1724659">
                  <a:moveTo>
                    <a:pt x="0" y="0"/>
                  </a:moveTo>
                  <a:lnTo>
                    <a:pt x="1724654" y="0"/>
                  </a:lnTo>
                </a:path>
              </a:pathLst>
            </a:custGeom>
            <a:ln w="3777">
              <a:solidFill>
                <a:srgbClr val="000000"/>
              </a:solidFill>
              <a:prstDash val="dash"/>
            </a:ln>
          </p:spPr>
          <p:txBody>
            <a:bodyPr wrap="square" lIns="0" tIns="0" rIns="0" bIns="0" rtlCol="0"/>
            <a:lstStyle/>
            <a:p>
              <a:endParaRPr/>
            </a:p>
          </p:txBody>
        </p:sp>
        <p:sp>
          <p:nvSpPr>
            <p:cNvPr id="448" name="object 448"/>
            <p:cNvSpPr/>
            <p:nvPr/>
          </p:nvSpPr>
          <p:spPr>
            <a:xfrm>
              <a:off x="6045497" y="2450499"/>
              <a:ext cx="1724660" cy="0"/>
            </a:xfrm>
            <a:custGeom>
              <a:avLst/>
              <a:gdLst/>
              <a:ahLst/>
              <a:cxnLst/>
              <a:rect l="l" t="t" r="r" b="b"/>
              <a:pathLst>
                <a:path w="1724659">
                  <a:moveTo>
                    <a:pt x="1724654" y="0"/>
                  </a:moveTo>
                  <a:lnTo>
                    <a:pt x="1707305" y="0"/>
                  </a:lnTo>
                </a:path>
                <a:path w="1724659">
                  <a:moveTo>
                    <a:pt x="0" y="0"/>
                  </a:moveTo>
                  <a:lnTo>
                    <a:pt x="17364" y="0"/>
                  </a:lnTo>
                </a:path>
              </a:pathLst>
            </a:custGeom>
            <a:ln w="3776">
              <a:solidFill>
                <a:srgbClr val="000000"/>
              </a:solidFill>
            </a:ln>
          </p:spPr>
          <p:txBody>
            <a:bodyPr wrap="square" lIns="0" tIns="0" rIns="0" bIns="0" rtlCol="0"/>
            <a:lstStyle/>
            <a:p>
              <a:endParaRPr/>
            </a:p>
          </p:txBody>
        </p:sp>
        <p:sp>
          <p:nvSpPr>
            <p:cNvPr id="449" name="object 449"/>
            <p:cNvSpPr/>
            <p:nvPr/>
          </p:nvSpPr>
          <p:spPr>
            <a:xfrm>
              <a:off x="6045501" y="2306887"/>
              <a:ext cx="1724660" cy="0"/>
            </a:xfrm>
            <a:custGeom>
              <a:avLst/>
              <a:gdLst/>
              <a:ahLst/>
              <a:cxnLst/>
              <a:rect l="l" t="t" r="r" b="b"/>
              <a:pathLst>
                <a:path w="1724659">
                  <a:moveTo>
                    <a:pt x="0" y="0"/>
                  </a:moveTo>
                  <a:lnTo>
                    <a:pt x="1724654" y="0"/>
                  </a:lnTo>
                </a:path>
              </a:pathLst>
            </a:custGeom>
            <a:ln w="3777">
              <a:solidFill>
                <a:srgbClr val="000000"/>
              </a:solidFill>
              <a:prstDash val="dash"/>
            </a:ln>
          </p:spPr>
          <p:txBody>
            <a:bodyPr wrap="square" lIns="0" tIns="0" rIns="0" bIns="0" rtlCol="0"/>
            <a:lstStyle/>
            <a:p>
              <a:endParaRPr/>
            </a:p>
          </p:txBody>
        </p:sp>
        <p:sp>
          <p:nvSpPr>
            <p:cNvPr id="450" name="object 450"/>
            <p:cNvSpPr/>
            <p:nvPr/>
          </p:nvSpPr>
          <p:spPr>
            <a:xfrm>
              <a:off x="6045497" y="2306887"/>
              <a:ext cx="1724660" cy="0"/>
            </a:xfrm>
            <a:custGeom>
              <a:avLst/>
              <a:gdLst/>
              <a:ahLst/>
              <a:cxnLst/>
              <a:rect l="l" t="t" r="r" b="b"/>
              <a:pathLst>
                <a:path w="1724659">
                  <a:moveTo>
                    <a:pt x="1724654" y="0"/>
                  </a:moveTo>
                  <a:lnTo>
                    <a:pt x="1707305" y="0"/>
                  </a:lnTo>
                </a:path>
                <a:path w="1724659">
                  <a:moveTo>
                    <a:pt x="0" y="0"/>
                  </a:moveTo>
                  <a:lnTo>
                    <a:pt x="17364" y="0"/>
                  </a:lnTo>
                </a:path>
              </a:pathLst>
            </a:custGeom>
            <a:ln w="3776">
              <a:solidFill>
                <a:srgbClr val="000000"/>
              </a:solidFill>
            </a:ln>
          </p:spPr>
          <p:txBody>
            <a:bodyPr wrap="square" lIns="0" tIns="0" rIns="0" bIns="0" rtlCol="0"/>
            <a:lstStyle/>
            <a:p>
              <a:endParaRPr/>
            </a:p>
          </p:txBody>
        </p:sp>
        <p:sp>
          <p:nvSpPr>
            <p:cNvPr id="451" name="object 451"/>
            <p:cNvSpPr/>
            <p:nvPr/>
          </p:nvSpPr>
          <p:spPr>
            <a:xfrm>
              <a:off x="6045501" y="2306889"/>
              <a:ext cx="0" cy="1149985"/>
            </a:xfrm>
            <a:custGeom>
              <a:avLst/>
              <a:gdLst/>
              <a:ahLst/>
              <a:cxnLst/>
              <a:rect l="l" t="t" r="r" b="b"/>
              <a:pathLst>
                <a:path h="1149985">
                  <a:moveTo>
                    <a:pt x="0" y="1149726"/>
                  </a:moveTo>
                  <a:lnTo>
                    <a:pt x="0" y="0"/>
                  </a:lnTo>
                </a:path>
              </a:pathLst>
            </a:custGeom>
            <a:ln w="3774">
              <a:solidFill>
                <a:srgbClr val="000000"/>
              </a:solidFill>
              <a:prstDash val="dash"/>
            </a:ln>
          </p:spPr>
          <p:txBody>
            <a:bodyPr wrap="square" lIns="0" tIns="0" rIns="0" bIns="0" rtlCol="0"/>
            <a:lstStyle/>
            <a:p>
              <a:endParaRPr/>
            </a:p>
          </p:txBody>
        </p:sp>
        <p:sp>
          <p:nvSpPr>
            <p:cNvPr id="452" name="object 452"/>
            <p:cNvSpPr/>
            <p:nvPr/>
          </p:nvSpPr>
          <p:spPr>
            <a:xfrm>
              <a:off x="6045501" y="2306887"/>
              <a:ext cx="0" cy="1149985"/>
            </a:xfrm>
            <a:custGeom>
              <a:avLst/>
              <a:gdLst/>
              <a:ahLst/>
              <a:cxnLst/>
              <a:rect l="l" t="t" r="r" b="b"/>
              <a:pathLst>
                <a:path h="1149985">
                  <a:moveTo>
                    <a:pt x="0" y="0"/>
                  </a:moveTo>
                  <a:lnTo>
                    <a:pt x="0" y="17360"/>
                  </a:lnTo>
                </a:path>
                <a:path h="1149985">
                  <a:moveTo>
                    <a:pt x="0" y="1149726"/>
                  </a:moveTo>
                  <a:lnTo>
                    <a:pt x="0" y="1132365"/>
                  </a:lnTo>
                </a:path>
              </a:pathLst>
            </a:custGeom>
            <a:ln w="3776">
              <a:solidFill>
                <a:srgbClr val="000000"/>
              </a:solidFill>
            </a:ln>
          </p:spPr>
          <p:txBody>
            <a:bodyPr wrap="square" lIns="0" tIns="0" rIns="0" bIns="0" rtlCol="0"/>
            <a:lstStyle/>
            <a:p>
              <a:endParaRPr/>
            </a:p>
          </p:txBody>
        </p:sp>
      </p:grpSp>
      <p:sp>
        <p:nvSpPr>
          <p:cNvPr id="453" name="object 453"/>
          <p:cNvSpPr txBox="1"/>
          <p:nvPr/>
        </p:nvSpPr>
        <p:spPr>
          <a:xfrm>
            <a:off x="5943215" y="3274614"/>
            <a:ext cx="92075"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2.5</a:t>
            </a:r>
            <a:endParaRPr sz="300">
              <a:latin typeface="Arial"/>
              <a:cs typeface="Arial"/>
            </a:endParaRPr>
          </a:p>
        </p:txBody>
      </p:sp>
      <p:sp>
        <p:nvSpPr>
          <p:cNvPr id="454" name="object 454"/>
          <p:cNvSpPr txBox="1"/>
          <p:nvPr/>
        </p:nvSpPr>
        <p:spPr>
          <a:xfrm>
            <a:off x="5975405" y="3130691"/>
            <a:ext cx="5969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2</a:t>
            </a:r>
            <a:endParaRPr sz="300">
              <a:latin typeface="Arial"/>
              <a:cs typeface="Arial"/>
            </a:endParaRPr>
          </a:p>
        </p:txBody>
      </p:sp>
      <p:sp>
        <p:nvSpPr>
          <p:cNvPr id="455" name="object 455"/>
          <p:cNvSpPr txBox="1"/>
          <p:nvPr/>
        </p:nvSpPr>
        <p:spPr>
          <a:xfrm>
            <a:off x="5943215" y="2987090"/>
            <a:ext cx="92075"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1.5</a:t>
            </a:r>
            <a:endParaRPr sz="300">
              <a:latin typeface="Arial"/>
              <a:cs typeface="Arial"/>
            </a:endParaRPr>
          </a:p>
        </p:txBody>
      </p:sp>
      <p:sp>
        <p:nvSpPr>
          <p:cNvPr id="456" name="object 456"/>
          <p:cNvSpPr txBox="1"/>
          <p:nvPr/>
        </p:nvSpPr>
        <p:spPr>
          <a:xfrm>
            <a:off x="5975405" y="2843196"/>
            <a:ext cx="59690"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50" dirty="0">
                <a:latin typeface="Arial"/>
                <a:cs typeface="Arial"/>
              </a:rPr>
              <a:t>1</a:t>
            </a:r>
            <a:endParaRPr sz="300">
              <a:latin typeface="Arial"/>
              <a:cs typeface="Arial"/>
            </a:endParaRPr>
          </a:p>
        </p:txBody>
      </p:sp>
      <p:sp>
        <p:nvSpPr>
          <p:cNvPr id="457" name="object 457"/>
          <p:cNvSpPr txBox="1"/>
          <p:nvPr/>
        </p:nvSpPr>
        <p:spPr>
          <a:xfrm>
            <a:off x="5943215" y="2699597"/>
            <a:ext cx="92075"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a:t>
            </a:r>
            <a:r>
              <a:rPr sz="300" spc="-25" dirty="0">
                <a:latin typeface="Arial"/>
                <a:cs typeface="Arial"/>
              </a:rPr>
              <a:t>0.5</a:t>
            </a:r>
            <a:endParaRPr sz="300">
              <a:latin typeface="Arial"/>
              <a:cs typeface="Arial"/>
            </a:endParaRPr>
          </a:p>
        </p:txBody>
      </p:sp>
      <p:sp>
        <p:nvSpPr>
          <p:cNvPr id="458" name="object 458"/>
          <p:cNvSpPr txBox="1"/>
          <p:nvPr/>
        </p:nvSpPr>
        <p:spPr>
          <a:xfrm>
            <a:off x="5988219" y="2555983"/>
            <a:ext cx="46990" cy="71755"/>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0</a:t>
            </a:r>
            <a:endParaRPr sz="300">
              <a:latin typeface="Arial"/>
              <a:cs typeface="Arial"/>
            </a:endParaRPr>
          </a:p>
        </p:txBody>
      </p:sp>
      <p:sp>
        <p:nvSpPr>
          <p:cNvPr id="459" name="object 459"/>
          <p:cNvSpPr txBox="1"/>
          <p:nvPr/>
        </p:nvSpPr>
        <p:spPr>
          <a:xfrm>
            <a:off x="5956074" y="2412104"/>
            <a:ext cx="79375"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0.5</a:t>
            </a:r>
            <a:endParaRPr sz="300">
              <a:latin typeface="Arial"/>
              <a:cs typeface="Arial"/>
            </a:endParaRPr>
          </a:p>
        </p:txBody>
      </p:sp>
      <p:sp>
        <p:nvSpPr>
          <p:cNvPr id="460" name="object 460"/>
          <p:cNvSpPr txBox="1"/>
          <p:nvPr/>
        </p:nvSpPr>
        <p:spPr>
          <a:xfrm>
            <a:off x="5988219" y="2268489"/>
            <a:ext cx="46990" cy="71755"/>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1</a:t>
            </a:r>
            <a:endParaRPr sz="300">
              <a:latin typeface="Arial"/>
              <a:cs typeface="Arial"/>
            </a:endParaRPr>
          </a:p>
        </p:txBody>
      </p:sp>
      <p:sp>
        <p:nvSpPr>
          <p:cNvPr id="461" name="object 461"/>
          <p:cNvSpPr txBox="1"/>
          <p:nvPr/>
        </p:nvSpPr>
        <p:spPr>
          <a:xfrm>
            <a:off x="6027457" y="3456799"/>
            <a:ext cx="46990" cy="71755"/>
          </a:xfrm>
          <a:prstGeom prst="rect">
            <a:avLst/>
          </a:prstGeom>
        </p:spPr>
        <p:txBody>
          <a:bodyPr vert="horz" wrap="square" lIns="0" tIns="12700" rIns="0" bIns="0" rtlCol="0">
            <a:spAutoFit/>
          </a:bodyPr>
          <a:lstStyle/>
          <a:p>
            <a:pPr marL="12700">
              <a:lnSpc>
                <a:spcPct val="100000"/>
              </a:lnSpc>
              <a:spcBef>
                <a:spcPts val="100"/>
              </a:spcBef>
            </a:pPr>
            <a:r>
              <a:rPr sz="300" spc="-50" dirty="0">
                <a:latin typeface="Arial"/>
                <a:cs typeface="Arial"/>
              </a:rPr>
              <a:t>0</a:t>
            </a:r>
            <a:endParaRPr sz="300">
              <a:latin typeface="Arial"/>
              <a:cs typeface="Arial"/>
            </a:endParaRPr>
          </a:p>
        </p:txBody>
      </p:sp>
      <p:grpSp>
        <p:nvGrpSpPr>
          <p:cNvPr id="462" name="object 462"/>
          <p:cNvGrpSpPr/>
          <p:nvPr/>
        </p:nvGrpSpPr>
        <p:grpSpPr>
          <a:xfrm>
            <a:off x="6247710" y="2304982"/>
            <a:ext cx="3810" cy="1153795"/>
            <a:chOff x="6247710" y="2304982"/>
            <a:chExt cx="3810" cy="1153795"/>
          </a:xfrm>
        </p:grpSpPr>
        <p:sp>
          <p:nvSpPr>
            <p:cNvPr id="463" name="object 463"/>
            <p:cNvSpPr/>
            <p:nvPr/>
          </p:nvSpPr>
          <p:spPr>
            <a:xfrm>
              <a:off x="6249615" y="2306889"/>
              <a:ext cx="0" cy="1149985"/>
            </a:xfrm>
            <a:custGeom>
              <a:avLst/>
              <a:gdLst/>
              <a:ahLst/>
              <a:cxnLst/>
              <a:rect l="l" t="t" r="r" b="b"/>
              <a:pathLst>
                <a:path h="1149985">
                  <a:moveTo>
                    <a:pt x="0" y="1149726"/>
                  </a:moveTo>
                  <a:lnTo>
                    <a:pt x="0" y="0"/>
                  </a:lnTo>
                </a:path>
              </a:pathLst>
            </a:custGeom>
            <a:ln w="3774">
              <a:solidFill>
                <a:srgbClr val="000000"/>
              </a:solidFill>
              <a:prstDash val="dash"/>
            </a:ln>
          </p:spPr>
          <p:txBody>
            <a:bodyPr wrap="square" lIns="0" tIns="0" rIns="0" bIns="0" rtlCol="0"/>
            <a:lstStyle/>
            <a:p>
              <a:endParaRPr/>
            </a:p>
          </p:txBody>
        </p:sp>
        <p:sp>
          <p:nvSpPr>
            <p:cNvPr id="464" name="object 464"/>
            <p:cNvSpPr/>
            <p:nvPr/>
          </p:nvSpPr>
          <p:spPr>
            <a:xfrm>
              <a:off x="6249615" y="2306887"/>
              <a:ext cx="0" cy="1149985"/>
            </a:xfrm>
            <a:custGeom>
              <a:avLst/>
              <a:gdLst/>
              <a:ahLst/>
              <a:cxnLst/>
              <a:rect l="l" t="t" r="r" b="b"/>
              <a:pathLst>
                <a:path h="1149985">
                  <a:moveTo>
                    <a:pt x="0" y="0"/>
                  </a:moveTo>
                  <a:lnTo>
                    <a:pt x="0" y="17360"/>
                  </a:lnTo>
                </a:path>
                <a:path h="1149985">
                  <a:moveTo>
                    <a:pt x="0" y="1149726"/>
                  </a:moveTo>
                  <a:lnTo>
                    <a:pt x="0" y="1132365"/>
                  </a:lnTo>
                </a:path>
              </a:pathLst>
            </a:custGeom>
            <a:ln w="3776">
              <a:solidFill>
                <a:srgbClr val="000000"/>
              </a:solidFill>
            </a:ln>
          </p:spPr>
          <p:txBody>
            <a:bodyPr wrap="square" lIns="0" tIns="0" rIns="0" bIns="0" rtlCol="0"/>
            <a:lstStyle/>
            <a:p>
              <a:endParaRPr/>
            </a:p>
          </p:txBody>
        </p:sp>
      </p:grpSp>
      <p:sp>
        <p:nvSpPr>
          <p:cNvPr id="465" name="object 465"/>
          <p:cNvSpPr txBox="1"/>
          <p:nvPr/>
        </p:nvSpPr>
        <p:spPr>
          <a:xfrm>
            <a:off x="6220841" y="3456799"/>
            <a:ext cx="68580"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20</a:t>
            </a:r>
            <a:endParaRPr sz="300">
              <a:latin typeface="Arial"/>
              <a:cs typeface="Arial"/>
            </a:endParaRPr>
          </a:p>
        </p:txBody>
      </p:sp>
      <p:grpSp>
        <p:nvGrpSpPr>
          <p:cNvPr id="466" name="object 466"/>
          <p:cNvGrpSpPr/>
          <p:nvPr/>
        </p:nvGrpSpPr>
        <p:grpSpPr>
          <a:xfrm>
            <a:off x="6451825" y="2304982"/>
            <a:ext cx="208279" cy="1153795"/>
            <a:chOff x="6451825" y="2304982"/>
            <a:chExt cx="208279" cy="1153795"/>
          </a:xfrm>
        </p:grpSpPr>
        <p:sp>
          <p:nvSpPr>
            <p:cNvPr id="467" name="object 467"/>
            <p:cNvSpPr/>
            <p:nvPr/>
          </p:nvSpPr>
          <p:spPr>
            <a:xfrm>
              <a:off x="6453730" y="2306889"/>
              <a:ext cx="0" cy="1149985"/>
            </a:xfrm>
            <a:custGeom>
              <a:avLst/>
              <a:gdLst/>
              <a:ahLst/>
              <a:cxnLst/>
              <a:rect l="l" t="t" r="r" b="b"/>
              <a:pathLst>
                <a:path h="1149985">
                  <a:moveTo>
                    <a:pt x="0" y="1149726"/>
                  </a:moveTo>
                  <a:lnTo>
                    <a:pt x="0" y="0"/>
                  </a:lnTo>
                </a:path>
              </a:pathLst>
            </a:custGeom>
            <a:ln w="3774">
              <a:solidFill>
                <a:srgbClr val="000000"/>
              </a:solidFill>
              <a:prstDash val="dash"/>
            </a:ln>
          </p:spPr>
          <p:txBody>
            <a:bodyPr wrap="square" lIns="0" tIns="0" rIns="0" bIns="0" rtlCol="0"/>
            <a:lstStyle/>
            <a:p>
              <a:endParaRPr/>
            </a:p>
          </p:txBody>
        </p:sp>
        <p:sp>
          <p:nvSpPr>
            <p:cNvPr id="468" name="object 468"/>
            <p:cNvSpPr/>
            <p:nvPr/>
          </p:nvSpPr>
          <p:spPr>
            <a:xfrm>
              <a:off x="6453730" y="2306887"/>
              <a:ext cx="0" cy="1149985"/>
            </a:xfrm>
            <a:custGeom>
              <a:avLst/>
              <a:gdLst/>
              <a:ahLst/>
              <a:cxnLst/>
              <a:rect l="l" t="t" r="r" b="b"/>
              <a:pathLst>
                <a:path h="1149985">
                  <a:moveTo>
                    <a:pt x="0" y="0"/>
                  </a:moveTo>
                  <a:lnTo>
                    <a:pt x="0" y="17360"/>
                  </a:lnTo>
                </a:path>
                <a:path h="1149985">
                  <a:moveTo>
                    <a:pt x="0" y="1149726"/>
                  </a:moveTo>
                  <a:lnTo>
                    <a:pt x="0" y="1132365"/>
                  </a:lnTo>
                </a:path>
              </a:pathLst>
            </a:custGeom>
            <a:ln w="3776">
              <a:solidFill>
                <a:srgbClr val="000000"/>
              </a:solidFill>
            </a:ln>
          </p:spPr>
          <p:txBody>
            <a:bodyPr wrap="square" lIns="0" tIns="0" rIns="0" bIns="0" rtlCol="0"/>
            <a:lstStyle/>
            <a:p>
              <a:endParaRPr/>
            </a:p>
          </p:txBody>
        </p:sp>
        <p:sp>
          <p:nvSpPr>
            <p:cNvPr id="469" name="object 469"/>
            <p:cNvSpPr/>
            <p:nvPr/>
          </p:nvSpPr>
          <p:spPr>
            <a:xfrm>
              <a:off x="6657846" y="2306889"/>
              <a:ext cx="0" cy="1149985"/>
            </a:xfrm>
            <a:custGeom>
              <a:avLst/>
              <a:gdLst/>
              <a:ahLst/>
              <a:cxnLst/>
              <a:rect l="l" t="t" r="r" b="b"/>
              <a:pathLst>
                <a:path h="1149985">
                  <a:moveTo>
                    <a:pt x="0" y="1149726"/>
                  </a:moveTo>
                  <a:lnTo>
                    <a:pt x="0" y="0"/>
                  </a:lnTo>
                </a:path>
              </a:pathLst>
            </a:custGeom>
            <a:ln w="3774">
              <a:solidFill>
                <a:srgbClr val="000000"/>
              </a:solidFill>
              <a:prstDash val="dash"/>
            </a:ln>
          </p:spPr>
          <p:txBody>
            <a:bodyPr wrap="square" lIns="0" tIns="0" rIns="0" bIns="0" rtlCol="0"/>
            <a:lstStyle/>
            <a:p>
              <a:endParaRPr/>
            </a:p>
          </p:txBody>
        </p:sp>
        <p:sp>
          <p:nvSpPr>
            <p:cNvPr id="470" name="object 470"/>
            <p:cNvSpPr/>
            <p:nvPr/>
          </p:nvSpPr>
          <p:spPr>
            <a:xfrm>
              <a:off x="6657846" y="2306887"/>
              <a:ext cx="0" cy="1149985"/>
            </a:xfrm>
            <a:custGeom>
              <a:avLst/>
              <a:gdLst/>
              <a:ahLst/>
              <a:cxnLst/>
              <a:rect l="l" t="t" r="r" b="b"/>
              <a:pathLst>
                <a:path h="1149985">
                  <a:moveTo>
                    <a:pt x="0" y="0"/>
                  </a:moveTo>
                  <a:lnTo>
                    <a:pt x="0" y="17360"/>
                  </a:lnTo>
                </a:path>
                <a:path h="1149985">
                  <a:moveTo>
                    <a:pt x="0" y="1149726"/>
                  </a:moveTo>
                  <a:lnTo>
                    <a:pt x="0" y="1132365"/>
                  </a:lnTo>
                </a:path>
              </a:pathLst>
            </a:custGeom>
            <a:ln w="3776">
              <a:solidFill>
                <a:srgbClr val="000000"/>
              </a:solidFill>
            </a:ln>
          </p:spPr>
          <p:txBody>
            <a:bodyPr wrap="square" lIns="0" tIns="0" rIns="0" bIns="0" rtlCol="0"/>
            <a:lstStyle/>
            <a:p>
              <a:endParaRPr/>
            </a:p>
          </p:txBody>
        </p:sp>
      </p:grpSp>
      <p:sp>
        <p:nvSpPr>
          <p:cNvPr id="471" name="object 471"/>
          <p:cNvSpPr txBox="1"/>
          <p:nvPr/>
        </p:nvSpPr>
        <p:spPr>
          <a:xfrm>
            <a:off x="6424946" y="3456799"/>
            <a:ext cx="272415" cy="71755"/>
          </a:xfrm>
          <a:prstGeom prst="rect">
            <a:avLst/>
          </a:prstGeom>
        </p:spPr>
        <p:txBody>
          <a:bodyPr vert="horz" wrap="square" lIns="0" tIns="12700" rIns="0" bIns="0" rtlCol="0">
            <a:spAutoFit/>
          </a:bodyPr>
          <a:lstStyle/>
          <a:p>
            <a:pPr marL="12700">
              <a:lnSpc>
                <a:spcPct val="100000"/>
              </a:lnSpc>
              <a:spcBef>
                <a:spcPts val="100"/>
              </a:spcBef>
              <a:tabLst>
                <a:tab pos="216535" algn="l"/>
              </a:tabLst>
            </a:pPr>
            <a:r>
              <a:rPr sz="300" spc="-25" dirty="0">
                <a:latin typeface="Arial"/>
                <a:cs typeface="Arial"/>
              </a:rPr>
              <a:t>40</a:t>
            </a:r>
            <a:r>
              <a:rPr sz="300" dirty="0">
                <a:latin typeface="Arial"/>
                <a:cs typeface="Arial"/>
              </a:rPr>
              <a:t>	</a:t>
            </a:r>
            <a:r>
              <a:rPr sz="300" spc="-25" dirty="0">
                <a:latin typeface="Arial"/>
                <a:cs typeface="Arial"/>
              </a:rPr>
              <a:t>60</a:t>
            </a:r>
            <a:endParaRPr sz="300">
              <a:latin typeface="Arial"/>
              <a:cs typeface="Arial"/>
            </a:endParaRPr>
          </a:p>
        </p:txBody>
      </p:sp>
      <p:grpSp>
        <p:nvGrpSpPr>
          <p:cNvPr id="472" name="object 472"/>
          <p:cNvGrpSpPr/>
          <p:nvPr/>
        </p:nvGrpSpPr>
        <p:grpSpPr>
          <a:xfrm>
            <a:off x="6860057" y="2304982"/>
            <a:ext cx="412115" cy="1153795"/>
            <a:chOff x="6860057" y="2304982"/>
            <a:chExt cx="412115" cy="1153795"/>
          </a:xfrm>
        </p:grpSpPr>
        <p:sp>
          <p:nvSpPr>
            <p:cNvPr id="473" name="object 473"/>
            <p:cNvSpPr/>
            <p:nvPr/>
          </p:nvSpPr>
          <p:spPr>
            <a:xfrm>
              <a:off x="6861962" y="2306889"/>
              <a:ext cx="0" cy="1149985"/>
            </a:xfrm>
            <a:custGeom>
              <a:avLst/>
              <a:gdLst/>
              <a:ahLst/>
              <a:cxnLst/>
              <a:rect l="l" t="t" r="r" b="b"/>
              <a:pathLst>
                <a:path h="1149985">
                  <a:moveTo>
                    <a:pt x="0" y="1149726"/>
                  </a:moveTo>
                  <a:lnTo>
                    <a:pt x="0" y="0"/>
                  </a:lnTo>
                </a:path>
              </a:pathLst>
            </a:custGeom>
            <a:ln w="3774">
              <a:solidFill>
                <a:srgbClr val="000000"/>
              </a:solidFill>
              <a:prstDash val="dash"/>
            </a:ln>
          </p:spPr>
          <p:txBody>
            <a:bodyPr wrap="square" lIns="0" tIns="0" rIns="0" bIns="0" rtlCol="0"/>
            <a:lstStyle/>
            <a:p>
              <a:endParaRPr/>
            </a:p>
          </p:txBody>
        </p:sp>
        <p:sp>
          <p:nvSpPr>
            <p:cNvPr id="474" name="object 474"/>
            <p:cNvSpPr/>
            <p:nvPr/>
          </p:nvSpPr>
          <p:spPr>
            <a:xfrm>
              <a:off x="6861962" y="2306887"/>
              <a:ext cx="0" cy="1149985"/>
            </a:xfrm>
            <a:custGeom>
              <a:avLst/>
              <a:gdLst/>
              <a:ahLst/>
              <a:cxnLst/>
              <a:rect l="l" t="t" r="r" b="b"/>
              <a:pathLst>
                <a:path h="1149985">
                  <a:moveTo>
                    <a:pt x="0" y="0"/>
                  </a:moveTo>
                  <a:lnTo>
                    <a:pt x="0" y="17360"/>
                  </a:lnTo>
                </a:path>
                <a:path h="1149985">
                  <a:moveTo>
                    <a:pt x="0" y="1149726"/>
                  </a:moveTo>
                  <a:lnTo>
                    <a:pt x="0" y="1132365"/>
                  </a:lnTo>
                </a:path>
              </a:pathLst>
            </a:custGeom>
            <a:ln w="3776">
              <a:solidFill>
                <a:srgbClr val="000000"/>
              </a:solidFill>
            </a:ln>
          </p:spPr>
          <p:txBody>
            <a:bodyPr wrap="square" lIns="0" tIns="0" rIns="0" bIns="0" rtlCol="0"/>
            <a:lstStyle/>
            <a:p>
              <a:endParaRPr/>
            </a:p>
          </p:txBody>
        </p:sp>
        <p:sp>
          <p:nvSpPr>
            <p:cNvPr id="475" name="object 475"/>
            <p:cNvSpPr/>
            <p:nvPr/>
          </p:nvSpPr>
          <p:spPr>
            <a:xfrm>
              <a:off x="7066076" y="2306891"/>
              <a:ext cx="0" cy="1149985"/>
            </a:xfrm>
            <a:custGeom>
              <a:avLst/>
              <a:gdLst/>
              <a:ahLst/>
              <a:cxnLst/>
              <a:rect l="l" t="t" r="r" b="b"/>
              <a:pathLst>
                <a:path h="1149985">
                  <a:moveTo>
                    <a:pt x="0" y="17360"/>
                  </a:moveTo>
                  <a:lnTo>
                    <a:pt x="0" y="0"/>
                  </a:lnTo>
                </a:path>
                <a:path h="1149985">
                  <a:moveTo>
                    <a:pt x="0" y="1149726"/>
                  </a:moveTo>
                  <a:lnTo>
                    <a:pt x="0" y="55950"/>
                  </a:lnTo>
                </a:path>
              </a:pathLst>
            </a:custGeom>
            <a:ln w="3776">
              <a:solidFill>
                <a:srgbClr val="000000"/>
              </a:solidFill>
              <a:prstDash val="dash"/>
            </a:ln>
          </p:spPr>
          <p:txBody>
            <a:bodyPr wrap="square" lIns="0" tIns="0" rIns="0" bIns="0" rtlCol="0"/>
            <a:lstStyle/>
            <a:p>
              <a:endParaRPr/>
            </a:p>
          </p:txBody>
        </p:sp>
        <p:sp>
          <p:nvSpPr>
            <p:cNvPr id="476" name="object 476"/>
            <p:cNvSpPr/>
            <p:nvPr/>
          </p:nvSpPr>
          <p:spPr>
            <a:xfrm>
              <a:off x="7066076" y="2306887"/>
              <a:ext cx="0" cy="1149985"/>
            </a:xfrm>
            <a:custGeom>
              <a:avLst/>
              <a:gdLst/>
              <a:ahLst/>
              <a:cxnLst/>
              <a:rect l="l" t="t" r="r" b="b"/>
              <a:pathLst>
                <a:path h="1149985">
                  <a:moveTo>
                    <a:pt x="0" y="0"/>
                  </a:moveTo>
                  <a:lnTo>
                    <a:pt x="0" y="17360"/>
                  </a:lnTo>
                </a:path>
                <a:path h="1149985">
                  <a:moveTo>
                    <a:pt x="0" y="1149726"/>
                  </a:moveTo>
                  <a:lnTo>
                    <a:pt x="0" y="1132365"/>
                  </a:lnTo>
                </a:path>
              </a:pathLst>
            </a:custGeom>
            <a:ln w="3776">
              <a:solidFill>
                <a:srgbClr val="000000"/>
              </a:solidFill>
            </a:ln>
          </p:spPr>
          <p:txBody>
            <a:bodyPr wrap="square" lIns="0" tIns="0" rIns="0" bIns="0" rtlCol="0"/>
            <a:lstStyle/>
            <a:p>
              <a:endParaRPr/>
            </a:p>
          </p:txBody>
        </p:sp>
        <p:sp>
          <p:nvSpPr>
            <p:cNvPr id="477" name="object 477"/>
            <p:cNvSpPr/>
            <p:nvPr/>
          </p:nvSpPr>
          <p:spPr>
            <a:xfrm>
              <a:off x="7270193" y="2306891"/>
              <a:ext cx="0" cy="1149985"/>
            </a:xfrm>
            <a:custGeom>
              <a:avLst/>
              <a:gdLst/>
              <a:ahLst/>
              <a:cxnLst/>
              <a:rect l="l" t="t" r="r" b="b"/>
              <a:pathLst>
                <a:path h="1149985">
                  <a:moveTo>
                    <a:pt x="0" y="17360"/>
                  </a:moveTo>
                  <a:lnTo>
                    <a:pt x="0" y="0"/>
                  </a:lnTo>
                </a:path>
                <a:path h="1149985">
                  <a:moveTo>
                    <a:pt x="0" y="1149726"/>
                  </a:moveTo>
                  <a:lnTo>
                    <a:pt x="0" y="55950"/>
                  </a:lnTo>
                </a:path>
              </a:pathLst>
            </a:custGeom>
            <a:ln w="3776">
              <a:solidFill>
                <a:srgbClr val="000000"/>
              </a:solidFill>
              <a:prstDash val="dash"/>
            </a:ln>
          </p:spPr>
          <p:txBody>
            <a:bodyPr wrap="square" lIns="0" tIns="0" rIns="0" bIns="0" rtlCol="0"/>
            <a:lstStyle/>
            <a:p>
              <a:endParaRPr/>
            </a:p>
          </p:txBody>
        </p:sp>
        <p:sp>
          <p:nvSpPr>
            <p:cNvPr id="478" name="object 478"/>
            <p:cNvSpPr/>
            <p:nvPr/>
          </p:nvSpPr>
          <p:spPr>
            <a:xfrm>
              <a:off x="7270193" y="2306887"/>
              <a:ext cx="0" cy="1149985"/>
            </a:xfrm>
            <a:custGeom>
              <a:avLst/>
              <a:gdLst/>
              <a:ahLst/>
              <a:cxnLst/>
              <a:rect l="l" t="t" r="r" b="b"/>
              <a:pathLst>
                <a:path h="1149985">
                  <a:moveTo>
                    <a:pt x="0" y="0"/>
                  </a:moveTo>
                  <a:lnTo>
                    <a:pt x="0" y="17360"/>
                  </a:lnTo>
                </a:path>
                <a:path h="1149985">
                  <a:moveTo>
                    <a:pt x="0" y="1149726"/>
                  </a:moveTo>
                  <a:lnTo>
                    <a:pt x="0" y="1132365"/>
                  </a:lnTo>
                </a:path>
              </a:pathLst>
            </a:custGeom>
            <a:ln w="3776">
              <a:solidFill>
                <a:srgbClr val="000000"/>
              </a:solidFill>
            </a:ln>
          </p:spPr>
          <p:txBody>
            <a:bodyPr wrap="square" lIns="0" tIns="0" rIns="0" bIns="0" rtlCol="0"/>
            <a:lstStyle/>
            <a:p>
              <a:endParaRPr/>
            </a:p>
          </p:txBody>
        </p:sp>
      </p:grpSp>
      <p:sp>
        <p:nvSpPr>
          <p:cNvPr id="479" name="object 479"/>
          <p:cNvSpPr txBox="1"/>
          <p:nvPr/>
        </p:nvSpPr>
        <p:spPr>
          <a:xfrm>
            <a:off x="7230698" y="3456799"/>
            <a:ext cx="90170"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120</a:t>
            </a:r>
            <a:endParaRPr sz="300">
              <a:latin typeface="Arial"/>
              <a:cs typeface="Arial"/>
            </a:endParaRPr>
          </a:p>
        </p:txBody>
      </p:sp>
      <p:grpSp>
        <p:nvGrpSpPr>
          <p:cNvPr id="480" name="object 480"/>
          <p:cNvGrpSpPr/>
          <p:nvPr/>
        </p:nvGrpSpPr>
        <p:grpSpPr>
          <a:xfrm>
            <a:off x="7472402" y="2304982"/>
            <a:ext cx="3810" cy="1153795"/>
            <a:chOff x="7472402" y="2304982"/>
            <a:chExt cx="3810" cy="1153795"/>
          </a:xfrm>
        </p:grpSpPr>
        <p:sp>
          <p:nvSpPr>
            <p:cNvPr id="481" name="object 481"/>
            <p:cNvSpPr/>
            <p:nvPr/>
          </p:nvSpPr>
          <p:spPr>
            <a:xfrm>
              <a:off x="7474307" y="2306891"/>
              <a:ext cx="0" cy="1149985"/>
            </a:xfrm>
            <a:custGeom>
              <a:avLst/>
              <a:gdLst/>
              <a:ahLst/>
              <a:cxnLst/>
              <a:rect l="l" t="t" r="r" b="b"/>
              <a:pathLst>
                <a:path h="1149985">
                  <a:moveTo>
                    <a:pt x="0" y="17360"/>
                  </a:moveTo>
                  <a:lnTo>
                    <a:pt x="0" y="0"/>
                  </a:lnTo>
                </a:path>
                <a:path h="1149985">
                  <a:moveTo>
                    <a:pt x="0" y="1149726"/>
                  </a:moveTo>
                  <a:lnTo>
                    <a:pt x="0" y="55950"/>
                  </a:lnTo>
                </a:path>
              </a:pathLst>
            </a:custGeom>
            <a:ln w="3776">
              <a:solidFill>
                <a:srgbClr val="000000"/>
              </a:solidFill>
              <a:prstDash val="dash"/>
            </a:ln>
          </p:spPr>
          <p:txBody>
            <a:bodyPr wrap="square" lIns="0" tIns="0" rIns="0" bIns="0" rtlCol="0"/>
            <a:lstStyle/>
            <a:p>
              <a:endParaRPr/>
            </a:p>
          </p:txBody>
        </p:sp>
        <p:sp>
          <p:nvSpPr>
            <p:cNvPr id="482" name="object 482"/>
            <p:cNvSpPr/>
            <p:nvPr/>
          </p:nvSpPr>
          <p:spPr>
            <a:xfrm>
              <a:off x="7474307" y="2306887"/>
              <a:ext cx="0" cy="1149985"/>
            </a:xfrm>
            <a:custGeom>
              <a:avLst/>
              <a:gdLst/>
              <a:ahLst/>
              <a:cxnLst/>
              <a:rect l="l" t="t" r="r" b="b"/>
              <a:pathLst>
                <a:path h="1149985">
                  <a:moveTo>
                    <a:pt x="0" y="0"/>
                  </a:moveTo>
                  <a:lnTo>
                    <a:pt x="0" y="17360"/>
                  </a:lnTo>
                </a:path>
                <a:path h="1149985">
                  <a:moveTo>
                    <a:pt x="0" y="1149726"/>
                  </a:moveTo>
                  <a:lnTo>
                    <a:pt x="0" y="1132365"/>
                  </a:lnTo>
                </a:path>
              </a:pathLst>
            </a:custGeom>
            <a:ln w="3776">
              <a:solidFill>
                <a:srgbClr val="000000"/>
              </a:solidFill>
            </a:ln>
          </p:spPr>
          <p:txBody>
            <a:bodyPr wrap="square" lIns="0" tIns="0" rIns="0" bIns="0" rtlCol="0"/>
            <a:lstStyle/>
            <a:p>
              <a:endParaRPr/>
            </a:p>
          </p:txBody>
        </p:sp>
      </p:grpSp>
      <p:sp>
        <p:nvSpPr>
          <p:cNvPr id="483" name="object 483"/>
          <p:cNvSpPr txBox="1"/>
          <p:nvPr/>
        </p:nvSpPr>
        <p:spPr>
          <a:xfrm>
            <a:off x="7434818" y="3456799"/>
            <a:ext cx="90170"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140</a:t>
            </a:r>
            <a:endParaRPr sz="300">
              <a:latin typeface="Arial"/>
              <a:cs typeface="Arial"/>
            </a:endParaRPr>
          </a:p>
        </p:txBody>
      </p:sp>
      <p:grpSp>
        <p:nvGrpSpPr>
          <p:cNvPr id="484" name="object 484"/>
          <p:cNvGrpSpPr/>
          <p:nvPr/>
        </p:nvGrpSpPr>
        <p:grpSpPr>
          <a:xfrm>
            <a:off x="7676517" y="2304982"/>
            <a:ext cx="3810" cy="1153795"/>
            <a:chOff x="7676517" y="2304982"/>
            <a:chExt cx="3810" cy="1153795"/>
          </a:xfrm>
        </p:grpSpPr>
        <p:sp>
          <p:nvSpPr>
            <p:cNvPr id="485" name="object 485"/>
            <p:cNvSpPr/>
            <p:nvPr/>
          </p:nvSpPr>
          <p:spPr>
            <a:xfrm>
              <a:off x="7678422" y="2306891"/>
              <a:ext cx="0" cy="1149985"/>
            </a:xfrm>
            <a:custGeom>
              <a:avLst/>
              <a:gdLst/>
              <a:ahLst/>
              <a:cxnLst/>
              <a:rect l="l" t="t" r="r" b="b"/>
              <a:pathLst>
                <a:path h="1149985">
                  <a:moveTo>
                    <a:pt x="0" y="17360"/>
                  </a:moveTo>
                  <a:lnTo>
                    <a:pt x="0" y="0"/>
                  </a:lnTo>
                </a:path>
                <a:path h="1149985">
                  <a:moveTo>
                    <a:pt x="0" y="1149726"/>
                  </a:moveTo>
                  <a:lnTo>
                    <a:pt x="0" y="55950"/>
                  </a:lnTo>
                </a:path>
              </a:pathLst>
            </a:custGeom>
            <a:ln w="3776">
              <a:solidFill>
                <a:srgbClr val="000000"/>
              </a:solidFill>
              <a:prstDash val="dash"/>
            </a:ln>
          </p:spPr>
          <p:txBody>
            <a:bodyPr wrap="square" lIns="0" tIns="0" rIns="0" bIns="0" rtlCol="0"/>
            <a:lstStyle/>
            <a:p>
              <a:endParaRPr/>
            </a:p>
          </p:txBody>
        </p:sp>
        <p:sp>
          <p:nvSpPr>
            <p:cNvPr id="486" name="object 486"/>
            <p:cNvSpPr/>
            <p:nvPr/>
          </p:nvSpPr>
          <p:spPr>
            <a:xfrm>
              <a:off x="7678422" y="2306887"/>
              <a:ext cx="0" cy="1149985"/>
            </a:xfrm>
            <a:custGeom>
              <a:avLst/>
              <a:gdLst/>
              <a:ahLst/>
              <a:cxnLst/>
              <a:rect l="l" t="t" r="r" b="b"/>
              <a:pathLst>
                <a:path h="1149985">
                  <a:moveTo>
                    <a:pt x="0" y="0"/>
                  </a:moveTo>
                  <a:lnTo>
                    <a:pt x="0" y="17360"/>
                  </a:lnTo>
                </a:path>
                <a:path h="1149985">
                  <a:moveTo>
                    <a:pt x="0" y="1149726"/>
                  </a:moveTo>
                  <a:lnTo>
                    <a:pt x="0" y="1132365"/>
                  </a:lnTo>
                </a:path>
              </a:pathLst>
            </a:custGeom>
            <a:ln w="3776">
              <a:solidFill>
                <a:srgbClr val="000000"/>
              </a:solidFill>
            </a:ln>
          </p:spPr>
          <p:txBody>
            <a:bodyPr wrap="square" lIns="0" tIns="0" rIns="0" bIns="0" rtlCol="0"/>
            <a:lstStyle/>
            <a:p>
              <a:endParaRPr/>
            </a:p>
          </p:txBody>
        </p:sp>
      </p:grpSp>
      <p:sp>
        <p:nvSpPr>
          <p:cNvPr id="487" name="object 487"/>
          <p:cNvSpPr txBox="1"/>
          <p:nvPr/>
        </p:nvSpPr>
        <p:spPr>
          <a:xfrm>
            <a:off x="7638951" y="3456799"/>
            <a:ext cx="90170" cy="71755"/>
          </a:xfrm>
          <a:prstGeom prst="rect">
            <a:avLst/>
          </a:prstGeom>
        </p:spPr>
        <p:txBody>
          <a:bodyPr vert="horz" wrap="square" lIns="0" tIns="12700" rIns="0" bIns="0" rtlCol="0">
            <a:spAutoFit/>
          </a:bodyPr>
          <a:lstStyle/>
          <a:p>
            <a:pPr marL="12700">
              <a:lnSpc>
                <a:spcPct val="100000"/>
              </a:lnSpc>
              <a:spcBef>
                <a:spcPts val="100"/>
              </a:spcBef>
            </a:pPr>
            <a:r>
              <a:rPr sz="300" spc="-25" dirty="0">
                <a:latin typeface="Arial"/>
                <a:cs typeface="Arial"/>
              </a:rPr>
              <a:t>160</a:t>
            </a:r>
            <a:endParaRPr sz="300">
              <a:latin typeface="Arial"/>
              <a:cs typeface="Arial"/>
            </a:endParaRPr>
          </a:p>
        </p:txBody>
      </p:sp>
      <p:sp>
        <p:nvSpPr>
          <p:cNvPr id="488" name="object 488"/>
          <p:cNvSpPr/>
          <p:nvPr/>
        </p:nvSpPr>
        <p:spPr>
          <a:xfrm>
            <a:off x="6045499" y="2306893"/>
            <a:ext cx="1724660" cy="1149985"/>
          </a:xfrm>
          <a:custGeom>
            <a:avLst/>
            <a:gdLst/>
            <a:ahLst/>
            <a:cxnLst/>
            <a:rect l="l" t="t" r="r" b="b"/>
            <a:pathLst>
              <a:path w="1724659" h="1149985">
                <a:moveTo>
                  <a:pt x="0" y="1149726"/>
                </a:moveTo>
                <a:lnTo>
                  <a:pt x="1724654" y="1149726"/>
                </a:lnTo>
                <a:lnTo>
                  <a:pt x="1724654" y="0"/>
                </a:lnTo>
                <a:lnTo>
                  <a:pt x="0" y="0"/>
                </a:lnTo>
                <a:lnTo>
                  <a:pt x="0" y="1149726"/>
                </a:lnTo>
                <a:close/>
              </a:path>
            </a:pathLst>
          </a:custGeom>
          <a:ln w="3776">
            <a:solidFill>
              <a:srgbClr val="000000"/>
            </a:solidFill>
          </a:ln>
        </p:spPr>
        <p:txBody>
          <a:bodyPr wrap="square" lIns="0" tIns="0" rIns="0" bIns="0" rtlCol="0"/>
          <a:lstStyle/>
          <a:p>
            <a:endParaRPr/>
          </a:p>
        </p:txBody>
      </p:sp>
      <p:sp>
        <p:nvSpPr>
          <p:cNvPr id="489" name="object 489"/>
          <p:cNvSpPr txBox="1"/>
          <p:nvPr/>
        </p:nvSpPr>
        <p:spPr>
          <a:xfrm>
            <a:off x="6826412" y="3445209"/>
            <a:ext cx="290195" cy="141605"/>
          </a:xfrm>
          <a:prstGeom prst="rect">
            <a:avLst/>
          </a:prstGeom>
        </p:spPr>
        <p:txBody>
          <a:bodyPr vert="horz" wrap="square" lIns="0" tIns="24765" rIns="0" bIns="0" rtlCol="0">
            <a:spAutoFit/>
          </a:bodyPr>
          <a:lstStyle/>
          <a:p>
            <a:pPr marL="19050">
              <a:lnSpc>
                <a:spcPct val="100000"/>
              </a:lnSpc>
              <a:spcBef>
                <a:spcPts val="195"/>
              </a:spcBef>
              <a:tabLst>
                <a:tab pos="212725" algn="l"/>
              </a:tabLst>
            </a:pPr>
            <a:r>
              <a:rPr sz="300" spc="-25" dirty="0">
                <a:latin typeface="Arial"/>
                <a:cs typeface="Arial"/>
              </a:rPr>
              <a:t>80</a:t>
            </a:r>
            <a:r>
              <a:rPr sz="300" dirty="0">
                <a:latin typeface="Arial"/>
                <a:cs typeface="Arial"/>
              </a:rPr>
              <a:t>	</a:t>
            </a:r>
            <a:r>
              <a:rPr sz="300" spc="-25" dirty="0">
                <a:latin typeface="Arial"/>
                <a:cs typeface="Arial"/>
              </a:rPr>
              <a:t>100</a:t>
            </a:r>
            <a:endParaRPr sz="300">
              <a:latin typeface="Arial"/>
              <a:cs typeface="Arial"/>
            </a:endParaRPr>
          </a:p>
          <a:p>
            <a:pPr marL="12700">
              <a:lnSpc>
                <a:spcPct val="100000"/>
              </a:lnSpc>
              <a:spcBef>
                <a:spcPts val="95"/>
              </a:spcBef>
            </a:pPr>
            <a:r>
              <a:rPr sz="300" spc="-10" dirty="0">
                <a:latin typeface="Arial"/>
                <a:cs typeface="Arial"/>
              </a:rPr>
              <a:t>Position</a:t>
            </a:r>
            <a:endParaRPr sz="300">
              <a:latin typeface="Arial"/>
              <a:cs typeface="Arial"/>
            </a:endParaRPr>
          </a:p>
        </p:txBody>
      </p:sp>
      <p:sp>
        <p:nvSpPr>
          <p:cNvPr id="490" name="object 490"/>
          <p:cNvSpPr txBox="1"/>
          <p:nvPr/>
        </p:nvSpPr>
        <p:spPr>
          <a:xfrm>
            <a:off x="5858421" y="2818837"/>
            <a:ext cx="68580" cy="126364"/>
          </a:xfrm>
          <a:prstGeom prst="rect">
            <a:avLst/>
          </a:prstGeom>
        </p:spPr>
        <p:txBody>
          <a:bodyPr vert="vert270" wrap="square" lIns="0" tIns="9525" rIns="0" bIns="0" rtlCol="0">
            <a:spAutoFit/>
          </a:bodyPr>
          <a:lstStyle/>
          <a:p>
            <a:pPr marL="12700">
              <a:lnSpc>
                <a:spcPct val="100000"/>
              </a:lnSpc>
              <a:spcBef>
                <a:spcPts val="75"/>
              </a:spcBef>
            </a:pPr>
            <a:r>
              <a:rPr sz="300" spc="-20" dirty="0">
                <a:latin typeface="Arial"/>
                <a:cs typeface="Arial"/>
              </a:rPr>
              <a:t>Score</a:t>
            </a:r>
            <a:endParaRPr sz="300">
              <a:latin typeface="Arial"/>
              <a:cs typeface="Arial"/>
            </a:endParaRPr>
          </a:p>
        </p:txBody>
      </p:sp>
      <p:sp>
        <p:nvSpPr>
          <p:cNvPr id="491" name="object 491"/>
          <p:cNvSpPr txBox="1"/>
          <p:nvPr/>
        </p:nvSpPr>
        <p:spPr>
          <a:xfrm>
            <a:off x="7119466" y="2305086"/>
            <a:ext cx="484505" cy="71755"/>
          </a:xfrm>
          <a:prstGeom prst="rect">
            <a:avLst/>
          </a:prstGeom>
        </p:spPr>
        <p:txBody>
          <a:bodyPr vert="horz" wrap="square" lIns="0" tIns="12700" rIns="0" bIns="0" rtlCol="0">
            <a:spAutoFit/>
          </a:bodyPr>
          <a:lstStyle/>
          <a:p>
            <a:pPr marL="12700">
              <a:lnSpc>
                <a:spcPct val="100000"/>
              </a:lnSpc>
              <a:spcBef>
                <a:spcPts val="100"/>
              </a:spcBef>
            </a:pPr>
            <a:r>
              <a:rPr sz="300" dirty="0">
                <a:latin typeface="Arial"/>
                <a:cs typeface="Arial"/>
              </a:rPr>
              <a:t>Hydropath.</a:t>
            </a:r>
            <a:r>
              <a:rPr sz="300" spc="5" dirty="0">
                <a:latin typeface="Arial"/>
                <a:cs typeface="Arial"/>
              </a:rPr>
              <a:t> </a:t>
            </a:r>
            <a:r>
              <a:rPr sz="300" dirty="0">
                <a:latin typeface="Arial"/>
                <a:cs typeface="Arial"/>
              </a:rPr>
              <a:t>/</a:t>
            </a:r>
            <a:r>
              <a:rPr sz="300" spc="10" dirty="0">
                <a:latin typeface="Arial"/>
                <a:cs typeface="Arial"/>
              </a:rPr>
              <a:t> </a:t>
            </a:r>
            <a:r>
              <a:rPr sz="300" dirty="0">
                <a:latin typeface="Arial"/>
                <a:cs typeface="Arial"/>
              </a:rPr>
              <a:t>Kyte</a:t>
            </a:r>
            <a:r>
              <a:rPr sz="300" spc="100" dirty="0">
                <a:latin typeface="Arial"/>
                <a:cs typeface="Arial"/>
              </a:rPr>
              <a:t> </a:t>
            </a:r>
            <a:r>
              <a:rPr sz="300" spc="-10" dirty="0">
                <a:latin typeface="Arial"/>
                <a:cs typeface="Arial"/>
              </a:rPr>
              <a:t>Doolittle</a:t>
            </a:r>
            <a:endParaRPr sz="300">
              <a:latin typeface="Arial"/>
              <a:cs typeface="Arial"/>
            </a:endParaRPr>
          </a:p>
        </p:txBody>
      </p:sp>
      <p:grpSp>
        <p:nvGrpSpPr>
          <p:cNvPr id="492" name="object 492"/>
          <p:cNvGrpSpPr/>
          <p:nvPr/>
        </p:nvGrpSpPr>
        <p:grpSpPr>
          <a:xfrm>
            <a:off x="6043610" y="2305004"/>
            <a:ext cx="1728470" cy="1153795"/>
            <a:chOff x="6043610" y="2305004"/>
            <a:chExt cx="1728470" cy="1153795"/>
          </a:xfrm>
        </p:grpSpPr>
        <p:sp>
          <p:nvSpPr>
            <p:cNvPr id="493" name="object 493"/>
            <p:cNvSpPr/>
            <p:nvPr/>
          </p:nvSpPr>
          <p:spPr>
            <a:xfrm>
              <a:off x="6096459" y="2343545"/>
              <a:ext cx="1627505" cy="997585"/>
            </a:xfrm>
            <a:custGeom>
              <a:avLst/>
              <a:gdLst/>
              <a:ahLst/>
              <a:cxnLst/>
              <a:rect l="l" t="t" r="r" b="b"/>
              <a:pathLst>
                <a:path w="1627504" h="997585">
                  <a:moveTo>
                    <a:pt x="0" y="917085"/>
                  </a:moveTo>
                  <a:lnTo>
                    <a:pt x="10191" y="915151"/>
                  </a:lnTo>
                  <a:lnTo>
                    <a:pt x="20383" y="850936"/>
                  </a:lnTo>
                  <a:lnTo>
                    <a:pt x="30575" y="783941"/>
                  </a:lnTo>
                  <a:lnTo>
                    <a:pt x="40767" y="735983"/>
                  </a:lnTo>
                  <a:lnTo>
                    <a:pt x="50959" y="667341"/>
                  </a:lnTo>
                  <a:lnTo>
                    <a:pt x="61423" y="686091"/>
                  </a:lnTo>
                  <a:lnTo>
                    <a:pt x="71615" y="736542"/>
                  </a:lnTo>
                  <a:lnTo>
                    <a:pt x="81807" y="754175"/>
                  </a:lnTo>
                  <a:lnTo>
                    <a:pt x="91999" y="800485"/>
                  </a:lnTo>
                  <a:lnTo>
                    <a:pt x="102191" y="820883"/>
                  </a:lnTo>
                  <a:lnTo>
                    <a:pt x="112382" y="866091"/>
                  </a:lnTo>
                  <a:lnTo>
                    <a:pt x="122574" y="836325"/>
                  </a:lnTo>
                  <a:lnTo>
                    <a:pt x="132766" y="876018"/>
                  </a:lnTo>
                  <a:lnTo>
                    <a:pt x="142958" y="877121"/>
                  </a:lnTo>
                  <a:lnTo>
                    <a:pt x="153150" y="818405"/>
                  </a:lnTo>
                  <a:lnTo>
                    <a:pt x="163342" y="706761"/>
                  </a:lnTo>
                  <a:lnTo>
                    <a:pt x="173534" y="605331"/>
                  </a:lnTo>
                  <a:lnTo>
                    <a:pt x="183726" y="502239"/>
                  </a:lnTo>
                  <a:lnTo>
                    <a:pt x="193918" y="333814"/>
                  </a:lnTo>
                  <a:lnTo>
                    <a:pt x="204110" y="250575"/>
                  </a:lnTo>
                  <a:lnTo>
                    <a:pt x="214302" y="270973"/>
                  </a:lnTo>
                  <a:lnTo>
                    <a:pt x="224494" y="326365"/>
                  </a:lnTo>
                  <a:lnTo>
                    <a:pt x="234686" y="395007"/>
                  </a:lnTo>
                  <a:lnTo>
                    <a:pt x="244877" y="520159"/>
                  </a:lnTo>
                  <a:lnTo>
                    <a:pt x="255069" y="632060"/>
                  </a:lnTo>
                  <a:lnTo>
                    <a:pt x="265261" y="674790"/>
                  </a:lnTo>
                  <a:lnTo>
                    <a:pt x="275740" y="671209"/>
                  </a:lnTo>
                  <a:lnTo>
                    <a:pt x="285932" y="694084"/>
                  </a:lnTo>
                  <a:lnTo>
                    <a:pt x="296124" y="667628"/>
                  </a:lnTo>
                  <a:lnTo>
                    <a:pt x="306316" y="687466"/>
                  </a:lnTo>
                  <a:lnTo>
                    <a:pt x="316508" y="788912"/>
                  </a:lnTo>
                  <a:lnTo>
                    <a:pt x="326700" y="870503"/>
                  </a:lnTo>
                  <a:lnTo>
                    <a:pt x="336892" y="903849"/>
                  </a:lnTo>
                  <a:lnTo>
                    <a:pt x="347084" y="893651"/>
                  </a:lnTo>
                  <a:lnTo>
                    <a:pt x="357275" y="899725"/>
                  </a:lnTo>
                  <a:lnTo>
                    <a:pt x="367467" y="818405"/>
                  </a:lnTo>
                  <a:lnTo>
                    <a:pt x="377659" y="689672"/>
                  </a:lnTo>
                  <a:lnTo>
                    <a:pt x="387851" y="614971"/>
                  </a:lnTo>
                  <a:lnTo>
                    <a:pt x="398043" y="641715"/>
                  </a:lnTo>
                  <a:lnTo>
                    <a:pt x="408235" y="633450"/>
                  </a:lnTo>
                  <a:lnTo>
                    <a:pt x="418427" y="637575"/>
                  </a:lnTo>
                  <a:lnTo>
                    <a:pt x="428619" y="738189"/>
                  </a:lnTo>
                  <a:lnTo>
                    <a:pt x="438811" y="812890"/>
                  </a:lnTo>
                  <a:lnTo>
                    <a:pt x="449003" y="812890"/>
                  </a:lnTo>
                  <a:lnTo>
                    <a:pt x="459195" y="756653"/>
                  </a:lnTo>
                  <a:lnTo>
                    <a:pt x="469387" y="773198"/>
                  </a:lnTo>
                  <a:lnTo>
                    <a:pt x="479579" y="721644"/>
                  </a:lnTo>
                  <a:lnTo>
                    <a:pt x="490042" y="622964"/>
                  </a:lnTo>
                  <a:lnTo>
                    <a:pt x="500234" y="577756"/>
                  </a:lnTo>
                  <a:lnTo>
                    <a:pt x="510426" y="633994"/>
                  </a:lnTo>
                  <a:lnTo>
                    <a:pt x="520618" y="657973"/>
                  </a:lnTo>
                  <a:lnTo>
                    <a:pt x="530810" y="677827"/>
                  </a:lnTo>
                  <a:lnTo>
                    <a:pt x="541002" y="783125"/>
                  </a:lnTo>
                  <a:lnTo>
                    <a:pt x="551194" y="842384"/>
                  </a:lnTo>
                  <a:lnTo>
                    <a:pt x="561386" y="816471"/>
                  </a:lnTo>
                  <a:lnTo>
                    <a:pt x="571578" y="734336"/>
                  </a:lnTo>
                  <a:lnTo>
                    <a:pt x="581770" y="678370"/>
                  </a:lnTo>
                  <a:lnTo>
                    <a:pt x="591961" y="610846"/>
                  </a:lnTo>
                  <a:lnTo>
                    <a:pt x="602153" y="506364"/>
                  </a:lnTo>
                  <a:lnTo>
                    <a:pt x="612345" y="501680"/>
                  </a:lnTo>
                  <a:lnTo>
                    <a:pt x="622537" y="601750"/>
                  </a:lnTo>
                  <a:lnTo>
                    <a:pt x="632729" y="669275"/>
                  </a:lnTo>
                  <a:lnTo>
                    <a:pt x="642921" y="741498"/>
                  </a:lnTo>
                  <a:lnTo>
                    <a:pt x="653113" y="851208"/>
                  </a:lnTo>
                  <a:lnTo>
                    <a:pt x="663305" y="925637"/>
                  </a:lnTo>
                  <a:lnTo>
                    <a:pt x="673497" y="941895"/>
                  </a:lnTo>
                  <a:lnTo>
                    <a:pt x="683689" y="914335"/>
                  </a:lnTo>
                  <a:lnTo>
                    <a:pt x="693881" y="974970"/>
                  </a:lnTo>
                  <a:lnTo>
                    <a:pt x="704344" y="997302"/>
                  </a:lnTo>
                  <a:lnTo>
                    <a:pt x="714536" y="977448"/>
                  </a:lnTo>
                  <a:lnTo>
                    <a:pt x="724728" y="981316"/>
                  </a:lnTo>
                  <a:lnTo>
                    <a:pt x="734920" y="959256"/>
                  </a:lnTo>
                  <a:lnTo>
                    <a:pt x="745112" y="884011"/>
                  </a:lnTo>
                  <a:lnTo>
                    <a:pt x="755304" y="737917"/>
                  </a:lnTo>
                  <a:lnTo>
                    <a:pt x="765496" y="632619"/>
                  </a:lnTo>
                  <a:lnTo>
                    <a:pt x="775688" y="559021"/>
                  </a:lnTo>
                  <a:lnTo>
                    <a:pt x="785880" y="495893"/>
                  </a:lnTo>
                  <a:lnTo>
                    <a:pt x="796072" y="462546"/>
                  </a:lnTo>
                  <a:lnTo>
                    <a:pt x="806264" y="503614"/>
                  </a:lnTo>
                  <a:lnTo>
                    <a:pt x="816456" y="522078"/>
                  </a:lnTo>
                  <a:lnTo>
                    <a:pt x="826647" y="482944"/>
                  </a:lnTo>
                  <a:lnTo>
                    <a:pt x="836839" y="469980"/>
                  </a:lnTo>
                  <a:lnTo>
                    <a:pt x="847031" y="493415"/>
                  </a:lnTo>
                  <a:lnTo>
                    <a:pt x="857223" y="457863"/>
                  </a:lnTo>
                  <a:lnTo>
                    <a:pt x="867415" y="458134"/>
                  </a:lnTo>
                  <a:lnTo>
                    <a:pt x="877607" y="591264"/>
                  </a:lnTo>
                  <a:lnTo>
                    <a:pt x="887799" y="678098"/>
                  </a:lnTo>
                  <a:lnTo>
                    <a:pt x="897991" y="689128"/>
                  </a:lnTo>
                  <a:lnTo>
                    <a:pt x="908183" y="654951"/>
                  </a:lnTo>
                  <a:lnTo>
                    <a:pt x="918375" y="685547"/>
                  </a:lnTo>
                  <a:lnTo>
                    <a:pt x="928854" y="638406"/>
                  </a:lnTo>
                  <a:lnTo>
                    <a:pt x="939046" y="542204"/>
                  </a:lnTo>
                  <a:lnTo>
                    <a:pt x="949237" y="547991"/>
                  </a:lnTo>
                  <a:lnTo>
                    <a:pt x="959429" y="638678"/>
                  </a:lnTo>
                  <a:lnTo>
                    <a:pt x="969621" y="670937"/>
                  </a:lnTo>
                  <a:lnTo>
                    <a:pt x="979813" y="693812"/>
                  </a:lnTo>
                  <a:lnTo>
                    <a:pt x="990005" y="739564"/>
                  </a:lnTo>
                  <a:lnTo>
                    <a:pt x="1000197" y="718350"/>
                  </a:lnTo>
                  <a:lnTo>
                    <a:pt x="1010389" y="637847"/>
                  </a:lnTo>
                  <a:lnTo>
                    <a:pt x="1020581" y="583271"/>
                  </a:lnTo>
                  <a:lnTo>
                    <a:pt x="1030773" y="619655"/>
                  </a:lnTo>
                  <a:lnTo>
                    <a:pt x="1040965" y="620758"/>
                  </a:lnTo>
                  <a:lnTo>
                    <a:pt x="1051157" y="681407"/>
                  </a:lnTo>
                  <a:lnTo>
                    <a:pt x="1061349" y="774573"/>
                  </a:lnTo>
                  <a:lnTo>
                    <a:pt x="1071541" y="794970"/>
                  </a:lnTo>
                  <a:lnTo>
                    <a:pt x="1081732" y="708967"/>
                  </a:lnTo>
                  <a:lnTo>
                    <a:pt x="1091924" y="542476"/>
                  </a:lnTo>
                  <a:lnTo>
                    <a:pt x="1102116" y="393073"/>
                  </a:lnTo>
                  <a:lnTo>
                    <a:pt x="1112308" y="239545"/>
                  </a:lnTo>
                  <a:lnTo>
                    <a:pt x="1122500" y="101445"/>
                  </a:lnTo>
                  <a:lnTo>
                    <a:pt x="1132692" y="100614"/>
                  </a:lnTo>
                  <a:lnTo>
                    <a:pt x="1143156" y="235964"/>
                  </a:lnTo>
                  <a:lnTo>
                    <a:pt x="1153348" y="380124"/>
                  </a:lnTo>
                  <a:lnTo>
                    <a:pt x="1163540" y="468877"/>
                  </a:lnTo>
                  <a:lnTo>
                    <a:pt x="1173732" y="584646"/>
                  </a:lnTo>
                  <a:lnTo>
                    <a:pt x="1183923" y="681136"/>
                  </a:lnTo>
                  <a:lnTo>
                    <a:pt x="1194115" y="657142"/>
                  </a:lnTo>
                  <a:lnTo>
                    <a:pt x="1204307" y="533652"/>
                  </a:lnTo>
                  <a:lnTo>
                    <a:pt x="1214499" y="498371"/>
                  </a:lnTo>
                  <a:lnTo>
                    <a:pt x="1224691" y="404103"/>
                  </a:lnTo>
                  <a:lnTo>
                    <a:pt x="1234883" y="246707"/>
                  </a:lnTo>
                  <a:lnTo>
                    <a:pt x="1245075" y="161807"/>
                  </a:lnTo>
                  <a:lnTo>
                    <a:pt x="1255267" y="147468"/>
                  </a:lnTo>
                  <a:lnTo>
                    <a:pt x="1265459" y="140034"/>
                  </a:lnTo>
                  <a:lnTo>
                    <a:pt x="1275651" y="122673"/>
                  </a:lnTo>
                  <a:lnTo>
                    <a:pt x="1285843" y="205081"/>
                  </a:lnTo>
                  <a:lnTo>
                    <a:pt x="1296035" y="301570"/>
                  </a:lnTo>
                  <a:lnTo>
                    <a:pt x="1306227" y="299636"/>
                  </a:lnTo>
                  <a:lnTo>
                    <a:pt x="1316418" y="300467"/>
                  </a:lnTo>
                  <a:lnTo>
                    <a:pt x="1326610" y="352836"/>
                  </a:lnTo>
                  <a:lnTo>
                    <a:pt x="1336802" y="335189"/>
                  </a:lnTo>
                  <a:lnTo>
                    <a:pt x="1346994" y="274267"/>
                  </a:lnTo>
                  <a:lnTo>
                    <a:pt x="1357458" y="238986"/>
                  </a:lnTo>
                  <a:lnTo>
                    <a:pt x="1367650" y="316997"/>
                  </a:lnTo>
                  <a:lnTo>
                    <a:pt x="1377842" y="377646"/>
                  </a:lnTo>
                  <a:lnTo>
                    <a:pt x="1388034" y="522637"/>
                  </a:lnTo>
                  <a:lnTo>
                    <a:pt x="1398226" y="651642"/>
                  </a:lnTo>
                  <a:lnTo>
                    <a:pt x="1408418" y="821442"/>
                  </a:lnTo>
                  <a:lnTo>
                    <a:pt x="1418609" y="944932"/>
                  </a:lnTo>
                  <a:lnTo>
                    <a:pt x="1428801" y="977735"/>
                  </a:lnTo>
                  <a:lnTo>
                    <a:pt x="1438993" y="976345"/>
                  </a:lnTo>
                  <a:lnTo>
                    <a:pt x="1449185" y="916813"/>
                  </a:lnTo>
                  <a:lnTo>
                    <a:pt x="1459377" y="805169"/>
                  </a:lnTo>
                  <a:lnTo>
                    <a:pt x="1469569" y="647502"/>
                  </a:lnTo>
                  <a:lnTo>
                    <a:pt x="1479761" y="473848"/>
                  </a:lnTo>
                  <a:lnTo>
                    <a:pt x="1489953" y="404375"/>
                  </a:lnTo>
                  <a:lnTo>
                    <a:pt x="1500145" y="342638"/>
                  </a:lnTo>
                  <a:lnTo>
                    <a:pt x="1510337" y="306798"/>
                  </a:lnTo>
                  <a:lnTo>
                    <a:pt x="1520529" y="345115"/>
                  </a:lnTo>
                  <a:lnTo>
                    <a:pt x="1530721" y="391426"/>
                  </a:lnTo>
                  <a:lnTo>
                    <a:pt x="1540913" y="428641"/>
                  </a:lnTo>
                  <a:lnTo>
                    <a:pt x="1561296" y="473848"/>
                  </a:lnTo>
                  <a:lnTo>
                    <a:pt x="1571775" y="527049"/>
                  </a:lnTo>
                  <a:lnTo>
                    <a:pt x="1581967" y="582455"/>
                  </a:lnTo>
                  <a:lnTo>
                    <a:pt x="1592159" y="657142"/>
                  </a:lnTo>
                  <a:lnTo>
                    <a:pt x="1602351" y="763543"/>
                  </a:lnTo>
                  <a:lnTo>
                    <a:pt x="1612543" y="901931"/>
                  </a:lnTo>
                </a:path>
                <a:path w="1627504" h="997585">
                  <a:moveTo>
                    <a:pt x="1517509" y="0"/>
                  </a:moveTo>
                  <a:lnTo>
                    <a:pt x="1627416" y="0"/>
                  </a:lnTo>
                </a:path>
              </a:pathLst>
            </a:custGeom>
            <a:ln w="7552">
              <a:solidFill>
                <a:srgbClr val="004FE9"/>
              </a:solidFill>
            </a:ln>
          </p:spPr>
          <p:txBody>
            <a:bodyPr wrap="square" lIns="0" tIns="0" rIns="0" bIns="0" rtlCol="0"/>
            <a:lstStyle/>
            <a:p>
              <a:endParaRPr/>
            </a:p>
          </p:txBody>
        </p:sp>
        <p:sp>
          <p:nvSpPr>
            <p:cNvPr id="494" name="object 494"/>
            <p:cNvSpPr/>
            <p:nvPr/>
          </p:nvSpPr>
          <p:spPr>
            <a:xfrm>
              <a:off x="6045499" y="2306892"/>
              <a:ext cx="1724660" cy="1149985"/>
            </a:xfrm>
            <a:custGeom>
              <a:avLst/>
              <a:gdLst/>
              <a:ahLst/>
              <a:cxnLst/>
              <a:rect l="l" t="t" r="r" b="b"/>
              <a:pathLst>
                <a:path w="1724659" h="1149985">
                  <a:moveTo>
                    <a:pt x="0" y="1149726"/>
                  </a:moveTo>
                  <a:lnTo>
                    <a:pt x="1724654" y="1149726"/>
                  </a:lnTo>
                  <a:lnTo>
                    <a:pt x="1724654" y="0"/>
                  </a:lnTo>
                  <a:lnTo>
                    <a:pt x="0" y="0"/>
                  </a:lnTo>
                  <a:lnTo>
                    <a:pt x="0" y="1149726"/>
                  </a:lnTo>
                  <a:close/>
                </a:path>
              </a:pathLst>
            </a:custGeom>
            <a:ln w="3776">
              <a:solidFill>
                <a:srgbClr val="000000"/>
              </a:solidFill>
            </a:ln>
          </p:spPr>
          <p:txBody>
            <a:bodyPr wrap="square" lIns="0" tIns="0" rIns="0" bIns="0" rtlCol="0"/>
            <a:lstStyle/>
            <a:p>
              <a:endParaRPr/>
            </a:p>
          </p:txBody>
        </p:sp>
        <p:sp>
          <p:nvSpPr>
            <p:cNvPr id="495" name="object 495"/>
            <p:cNvSpPr/>
            <p:nvPr/>
          </p:nvSpPr>
          <p:spPr>
            <a:xfrm>
              <a:off x="6391616" y="2751625"/>
              <a:ext cx="497205" cy="606425"/>
            </a:xfrm>
            <a:custGeom>
              <a:avLst/>
              <a:gdLst/>
              <a:ahLst/>
              <a:cxnLst/>
              <a:rect l="l" t="t" r="r" b="b"/>
              <a:pathLst>
                <a:path w="497204" h="606425">
                  <a:moveTo>
                    <a:pt x="0" y="605920"/>
                  </a:moveTo>
                  <a:lnTo>
                    <a:pt x="497154" y="605920"/>
                  </a:lnTo>
                  <a:lnTo>
                    <a:pt x="497154" y="0"/>
                  </a:lnTo>
                  <a:lnTo>
                    <a:pt x="0" y="0"/>
                  </a:lnTo>
                  <a:lnTo>
                    <a:pt x="0" y="605920"/>
                  </a:lnTo>
                  <a:close/>
                </a:path>
              </a:pathLst>
            </a:custGeom>
            <a:ln w="7551">
              <a:solidFill>
                <a:srgbClr val="ED1C24"/>
              </a:solidFill>
            </a:ln>
          </p:spPr>
          <p:txBody>
            <a:bodyPr wrap="square" lIns="0" tIns="0" rIns="0" bIns="0" rtlCol="0"/>
            <a:lstStyle/>
            <a:p>
              <a:endParaRPr/>
            </a:p>
          </p:txBody>
        </p:sp>
      </p:grpSp>
      <p:sp>
        <p:nvSpPr>
          <p:cNvPr id="496" name="object 496"/>
          <p:cNvSpPr txBox="1"/>
          <p:nvPr/>
        </p:nvSpPr>
        <p:spPr>
          <a:xfrm>
            <a:off x="76200" y="5958332"/>
            <a:ext cx="9770110" cy="741229"/>
          </a:xfrm>
          <a:prstGeom prst="rect">
            <a:avLst/>
          </a:prstGeom>
        </p:spPr>
        <p:txBody>
          <a:bodyPr vert="horz" wrap="square" lIns="0" tIns="22860" rIns="0" bIns="0" rtlCol="0">
            <a:spAutoFit/>
          </a:bodyPr>
          <a:lstStyle/>
          <a:p>
            <a:pPr marL="12700" marR="5080" algn="just">
              <a:lnSpc>
                <a:spcPts val="1400"/>
              </a:lnSpc>
              <a:spcBef>
                <a:spcPts val="180"/>
              </a:spcBef>
            </a:pPr>
            <a:r>
              <a:rPr lang="en-US" sz="1200" b="1" dirty="0">
                <a:latin typeface="Times New Roman"/>
                <a:cs typeface="Times New Roman"/>
              </a:rPr>
              <a:t>Fig. </a:t>
            </a:r>
            <a:r>
              <a:rPr sz="1200" b="1" dirty="0">
                <a:latin typeface="Times New Roman"/>
                <a:cs typeface="Times New Roman"/>
              </a:rPr>
              <a:t>S</a:t>
            </a:r>
            <a:r>
              <a:rPr lang="en-US" sz="1200" b="1" dirty="0">
                <a:latin typeface="Times New Roman"/>
                <a:cs typeface="Times New Roman"/>
              </a:rPr>
              <a:t>6</a:t>
            </a:r>
            <a:r>
              <a:rPr sz="1200" dirty="0">
                <a:latin typeface="Times New Roman"/>
                <a:cs typeface="Times New Roman"/>
              </a:rPr>
              <a:t>.</a:t>
            </a:r>
            <a:r>
              <a:rPr sz="1200" spc="260" dirty="0">
                <a:latin typeface="Times New Roman"/>
                <a:cs typeface="Times New Roman"/>
              </a:rPr>
              <a:t> </a:t>
            </a:r>
            <a:r>
              <a:rPr sz="1200" dirty="0">
                <a:solidFill>
                  <a:srgbClr val="0E0E0E"/>
                </a:solidFill>
                <a:latin typeface="Times New Roman" panose="02020603050405020304" pitchFamily="18" charset="0"/>
                <a:cs typeface="Times New Roman" panose="02020603050405020304" pitchFamily="18" charset="0"/>
              </a:rPr>
              <a:t>Hydropathy</a:t>
            </a:r>
            <a:r>
              <a:rPr sz="1200" spc="260" dirty="0">
                <a:solidFill>
                  <a:srgbClr val="0E0E0E"/>
                </a:solidFill>
                <a:latin typeface="Times New Roman" panose="02020603050405020304" pitchFamily="18" charset="0"/>
                <a:cs typeface="Times New Roman" panose="02020603050405020304" pitchFamily="18" charset="0"/>
              </a:rPr>
              <a:t> </a:t>
            </a:r>
            <a:r>
              <a:rPr sz="1200" dirty="0">
                <a:solidFill>
                  <a:srgbClr val="0E0E0E"/>
                </a:solidFill>
                <a:latin typeface="Times New Roman" panose="02020603050405020304" pitchFamily="18" charset="0"/>
                <a:cs typeface="Times New Roman" panose="02020603050405020304" pitchFamily="18" charset="0"/>
              </a:rPr>
              <a:t>profiles</a:t>
            </a:r>
            <a:r>
              <a:rPr sz="1200" spc="265" dirty="0">
                <a:solidFill>
                  <a:srgbClr val="0E0E0E"/>
                </a:solidFill>
                <a:latin typeface="Times New Roman" panose="02020603050405020304" pitchFamily="18" charset="0"/>
                <a:cs typeface="Times New Roman" panose="02020603050405020304" pitchFamily="18" charset="0"/>
              </a:rPr>
              <a:t> </a:t>
            </a:r>
            <a:r>
              <a:rPr sz="1200" dirty="0">
                <a:solidFill>
                  <a:srgbClr val="0E0E0E"/>
                </a:solidFill>
                <a:latin typeface="Times New Roman" panose="02020603050405020304" pitchFamily="18" charset="0"/>
                <a:cs typeface="Times New Roman" panose="02020603050405020304" pitchFamily="18" charset="0"/>
              </a:rPr>
              <a:t>of</a:t>
            </a:r>
            <a:r>
              <a:rPr sz="1200" spc="265" dirty="0">
                <a:solidFill>
                  <a:srgbClr val="0E0E0E"/>
                </a:solidFill>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hydropathy profiles of LEA3 orthologs from </a:t>
            </a:r>
            <a:r>
              <a:rPr lang="en-US" sz="1200" i="1" dirty="0">
                <a:latin typeface="Times New Roman" panose="02020603050405020304" pitchFamily="18" charset="0"/>
                <a:cs typeface="Times New Roman" panose="02020603050405020304" pitchFamily="18" charset="0"/>
              </a:rPr>
              <a:t>Tripsacum dactyloides</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Zea mays</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Andropogon gerardii</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Sorghastrum nutans</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Miscanthus</a:t>
            </a:r>
            <a:r>
              <a:rPr lang="en-US" sz="1200" dirty="0">
                <a:latin typeface="Times New Roman" panose="02020603050405020304" pitchFamily="18" charset="0"/>
                <a:cs typeface="Times New Roman" panose="02020603050405020304" pitchFamily="18" charset="0"/>
              </a:rPr>
              <a:t> × </a:t>
            </a:r>
            <a:r>
              <a:rPr lang="en-US" sz="1200" i="1" dirty="0">
                <a:latin typeface="Times New Roman" panose="02020603050405020304" pitchFamily="18" charset="0"/>
                <a:cs typeface="Times New Roman" panose="02020603050405020304" pitchFamily="18" charset="0"/>
              </a:rPr>
              <a:t>giganteus</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Panicum virgatum</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Triticum aestivum</a:t>
            </a:r>
            <a:r>
              <a:rPr lang="en-US" sz="1200" dirty="0">
                <a:latin typeface="Times New Roman" panose="02020603050405020304" pitchFamily="18" charset="0"/>
                <a:cs typeface="Times New Roman" panose="02020603050405020304" pitchFamily="18" charset="0"/>
              </a:rPr>
              <a:t>, and </a:t>
            </a:r>
            <a:r>
              <a:rPr lang="en-US" sz="1200" i="1" dirty="0">
                <a:latin typeface="Times New Roman" panose="02020603050405020304" pitchFamily="18" charset="0"/>
                <a:cs typeface="Times New Roman" panose="02020603050405020304" pitchFamily="18" charset="0"/>
              </a:rPr>
              <a:t>Arabidopsis thaliana</a:t>
            </a:r>
            <a:r>
              <a:rPr sz="1200" dirty="0">
                <a:solidFill>
                  <a:srgbClr val="0E0E0E"/>
                </a:solidFill>
                <a:latin typeface="Times New Roman"/>
                <a:cs typeface="Times New Roman"/>
              </a:rPr>
              <a:t>.</a:t>
            </a:r>
            <a:r>
              <a:rPr sz="1200" spc="265" dirty="0">
                <a:solidFill>
                  <a:srgbClr val="0E0E0E"/>
                </a:solidFill>
                <a:latin typeface="Times New Roman"/>
                <a:cs typeface="Times New Roman"/>
              </a:rPr>
              <a:t> </a:t>
            </a:r>
            <a:r>
              <a:rPr sz="1200" spc="-10" dirty="0">
                <a:solidFill>
                  <a:srgbClr val="0E0E0E"/>
                </a:solidFill>
                <a:latin typeface="Times New Roman"/>
                <a:cs typeface="Times New Roman"/>
              </a:rPr>
              <a:t>Kyte-</a:t>
            </a:r>
            <a:r>
              <a:rPr sz="1200" dirty="0">
                <a:solidFill>
                  <a:srgbClr val="0E0E0E"/>
                </a:solidFill>
                <a:latin typeface="Times New Roman"/>
                <a:cs typeface="Times New Roman"/>
              </a:rPr>
              <a:t>Doolittle</a:t>
            </a:r>
            <a:r>
              <a:rPr sz="1200" spc="260" dirty="0">
                <a:solidFill>
                  <a:srgbClr val="0E0E0E"/>
                </a:solidFill>
                <a:latin typeface="Times New Roman"/>
                <a:cs typeface="Times New Roman"/>
              </a:rPr>
              <a:t> </a:t>
            </a:r>
            <a:r>
              <a:rPr sz="1200" dirty="0">
                <a:solidFill>
                  <a:srgbClr val="0E0E0E"/>
                </a:solidFill>
                <a:latin typeface="Times New Roman"/>
                <a:cs typeface="Times New Roman"/>
              </a:rPr>
              <a:t>plots</a:t>
            </a:r>
            <a:r>
              <a:rPr sz="1200" spc="260" dirty="0">
                <a:solidFill>
                  <a:srgbClr val="0E0E0E"/>
                </a:solidFill>
                <a:latin typeface="Times New Roman"/>
                <a:cs typeface="Times New Roman"/>
              </a:rPr>
              <a:t> </a:t>
            </a:r>
            <a:r>
              <a:rPr sz="1200" spc="-20" dirty="0">
                <a:solidFill>
                  <a:srgbClr val="0E0E0E"/>
                </a:solidFill>
                <a:latin typeface="Times New Roman"/>
                <a:cs typeface="Times New Roman"/>
              </a:rPr>
              <a:t>were </a:t>
            </a:r>
            <a:r>
              <a:rPr sz="1200" dirty="0">
                <a:solidFill>
                  <a:srgbClr val="0E0E0E"/>
                </a:solidFill>
                <a:latin typeface="Times New Roman"/>
                <a:cs typeface="Times New Roman"/>
              </a:rPr>
              <a:t>generated</a:t>
            </a:r>
            <a:r>
              <a:rPr sz="1200" spc="45" dirty="0">
                <a:solidFill>
                  <a:srgbClr val="0E0E0E"/>
                </a:solidFill>
                <a:latin typeface="Times New Roman"/>
                <a:cs typeface="Times New Roman"/>
              </a:rPr>
              <a:t> </a:t>
            </a:r>
            <a:r>
              <a:rPr sz="1200" dirty="0">
                <a:solidFill>
                  <a:srgbClr val="0E0E0E"/>
                </a:solidFill>
                <a:latin typeface="Times New Roman"/>
                <a:cs typeface="Times New Roman"/>
              </a:rPr>
              <a:t>using</a:t>
            </a:r>
            <a:r>
              <a:rPr sz="1200" spc="50" dirty="0">
                <a:solidFill>
                  <a:srgbClr val="0E0E0E"/>
                </a:solidFill>
                <a:latin typeface="Times New Roman"/>
                <a:cs typeface="Times New Roman"/>
              </a:rPr>
              <a:t> </a:t>
            </a:r>
            <a:r>
              <a:rPr sz="1200" dirty="0">
                <a:solidFill>
                  <a:srgbClr val="0E0E0E"/>
                </a:solidFill>
                <a:latin typeface="Times New Roman"/>
                <a:cs typeface="Times New Roman"/>
              </a:rPr>
              <a:t>ProtScale</a:t>
            </a:r>
            <a:r>
              <a:rPr sz="1200" spc="60" dirty="0">
                <a:solidFill>
                  <a:srgbClr val="0E0E0E"/>
                </a:solidFill>
                <a:latin typeface="Times New Roman"/>
                <a:cs typeface="Times New Roman"/>
              </a:rPr>
              <a:t> </a:t>
            </a:r>
            <a:r>
              <a:rPr sz="1200" spc="-10" dirty="0">
                <a:solidFill>
                  <a:srgbClr val="0E0E0E"/>
                </a:solidFill>
                <a:latin typeface="Times New Roman"/>
                <a:cs typeface="Times New Roman"/>
              </a:rPr>
              <a:t>(ExPASy)</a:t>
            </a:r>
            <a:r>
              <a:rPr sz="1200" spc="45" dirty="0">
                <a:solidFill>
                  <a:srgbClr val="0E0E0E"/>
                </a:solidFill>
                <a:latin typeface="Times New Roman"/>
                <a:cs typeface="Times New Roman"/>
              </a:rPr>
              <a:t> </a:t>
            </a:r>
            <a:r>
              <a:rPr sz="1200" dirty="0">
                <a:solidFill>
                  <a:srgbClr val="0E0E0E"/>
                </a:solidFill>
                <a:latin typeface="Times New Roman"/>
                <a:cs typeface="Times New Roman"/>
              </a:rPr>
              <a:t>with</a:t>
            </a:r>
            <a:r>
              <a:rPr sz="1200" spc="50" dirty="0">
                <a:solidFill>
                  <a:srgbClr val="0E0E0E"/>
                </a:solidFill>
                <a:latin typeface="Times New Roman"/>
                <a:cs typeface="Times New Roman"/>
              </a:rPr>
              <a:t> </a:t>
            </a:r>
            <a:r>
              <a:rPr sz="1200" dirty="0">
                <a:solidFill>
                  <a:srgbClr val="0E0E0E"/>
                </a:solidFill>
                <a:latin typeface="Times New Roman"/>
                <a:cs typeface="Times New Roman"/>
              </a:rPr>
              <a:t>a</a:t>
            </a:r>
            <a:r>
              <a:rPr sz="1200" spc="55" dirty="0">
                <a:solidFill>
                  <a:srgbClr val="0E0E0E"/>
                </a:solidFill>
                <a:latin typeface="Times New Roman"/>
                <a:cs typeface="Times New Roman"/>
              </a:rPr>
              <a:t> </a:t>
            </a:r>
            <a:r>
              <a:rPr sz="1200" dirty="0">
                <a:solidFill>
                  <a:srgbClr val="0E0E0E"/>
                </a:solidFill>
                <a:latin typeface="Times New Roman"/>
                <a:cs typeface="Times New Roman"/>
              </a:rPr>
              <a:t>window</a:t>
            </a:r>
            <a:r>
              <a:rPr sz="1200" spc="50" dirty="0">
                <a:solidFill>
                  <a:srgbClr val="0E0E0E"/>
                </a:solidFill>
                <a:latin typeface="Times New Roman"/>
                <a:cs typeface="Times New Roman"/>
              </a:rPr>
              <a:t> </a:t>
            </a:r>
            <a:r>
              <a:rPr sz="1200" dirty="0">
                <a:solidFill>
                  <a:srgbClr val="0E0E0E"/>
                </a:solidFill>
                <a:latin typeface="Times New Roman"/>
                <a:cs typeface="Times New Roman"/>
              </a:rPr>
              <a:t>size</a:t>
            </a:r>
            <a:r>
              <a:rPr sz="1200" spc="55" dirty="0">
                <a:solidFill>
                  <a:srgbClr val="0E0E0E"/>
                </a:solidFill>
                <a:latin typeface="Times New Roman"/>
                <a:cs typeface="Times New Roman"/>
              </a:rPr>
              <a:t> </a:t>
            </a:r>
            <a:r>
              <a:rPr sz="1200" dirty="0">
                <a:solidFill>
                  <a:srgbClr val="0E0E0E"/>
                </a:solidFill>
                <a:latin typeface="Times New Roman"/>
                <a:cs typeface="Times New Roman"/>
              </a:rPr>
              <a:t>of</a:t>
            </a:r>
            <a:r>
              <a:rPr sz="1200" spc="55" dirty="0">
                <a:solidFill>
                  <a:srgbClr val="0E0E0E"/>
                </a:solidFill>
                <a:latin typeface="Times New Roman"/>
                <a:cs typeface="Times New Roman"/>
              </a:rPr>
              <a:t> </a:t>
            </a:r>
            <a:r>
              <a:rPr sz="1200" dirty="0">
                <a:solidFill>
                  <a:srgbClr val="0E0E0E"/>
                </a:solidFill>
                <a:latin typeface="Times New Roman"/>
                <a:cs typeface="Times New Roman"/>
              </a:rPr>
              <a:t>11</a:t>
            </a:r>
            <a:r>
              <a:rPr sz="1200" spc="50" dirty="0">
                <a:solidFill>
                  <a:srgbClr val="0E0E0E"/>
                </a:solidFill>
                <a:latin typeface="Times New Roman"/>
                <a:cs typeface="Times New Roman"/>
              </a:rPr>
              <a:t> </a:t>
            </a:r>
            <a:r>
              <a:rPr sz="1200" dirty="0">
                <a:solidFill>
                  <a:srgbClr val="0E0E0E"/>
                </a:solidFill>
                <a:latin typeface="Times New Roman"/>
                <a:cs typeface="Times New Roman"/>
              </a:rPr>
              <a:t>amino</a:t>
            </a:r>
            <a:r>
              <a:rPr sz="1200" spc="50" dirty="0">
                <a:solidFill>
                  <a:srgbClr val="0E0E0E"/>
                </a:solidFill>
                <a:latin typeface="Times New Roman"/>
                <a:cs typeface="Times New Roman"/>
              </a:rPr>
              <a:t> </a:t>
            </a:r>
            <a:r>
              <a:rPr sz="1200" dirty="0">
                <a:solidFill>
                  <a:srgbClr val="0E0E0E"/>
                </a:solidFill>
                <a:latin typeface="Times New Roman"/>
                <a:cs typeface="Times New Roman"/>
              </a:rPr>
              <a:t>acids.</a:t>
            </a:r>
            <a:r>
              <a:rPr sz="1200" spc="45" dirty="0">
                <a:solidFill>
                  <a:srgbClr val="0E0E0E"/>
                </a:solidFill>
                <a:latin typeface="Times New Roman"/>
                <a:cs typeface="Times New Roman"/>
              </a:rPr>
              <a:t> </a:t>
            </a:r>
            <a:r>
              <a:rPr sz="1200" dirty="0">
                <a:solidFill>
                  <a:srgbClr val="0E0E0E"/>
                </a:solidFill>
                <a:latin typeface="Times New Roman"/>
                <a:cs typeface="Times New Roman"/>
              </a:rPr>
              <a:t>The</a:t>
            </a:r>
            <a:r>
              <a:rPr sz="1200" spc="60" dirty="0">
                <a:solidFill>
                  <a:srgbClr val="0E0E0E"/>
                </a:solidFill>
                <a:latin typeface="Times New Roman"/>
                <a:cs typeface="Times New Roman"/>
              </a:rPr>
              <a:t> </a:t>
            </a:r>
            <a:r>
              <a:rPr sz="1200" spc="-10" dirty="0">
                <a:solidFill>
                  <a:srgbClr val="0E0E0E"/>
                </a:solidFill>
                <a:latin typeface="Times New Roman"/>
                <a:cs typeface="Times New Roman"/>
              </a:rPr>
              <a:t>x-</a:t>
            </a:r>
            <a:r>
              <a:rPr sz="1200" dirty="0">
                <a:solidFill>
                  <a:srgbClr val="0E0E0E"/>
                </a:solidFill>
                <a:latin typeface="Times New Roman"/>
                <a:cs typeface="Times New Roman"/>
              </a:rPr>
              <a:t>axis</a:t>
            </a:r>
            <a:r>
              <a:rPr sz="1200" spc="50" dirty="0">
                <a:solidFill>
                  <a:srgbClr val="0E0E0E"/>
                </a:solidFill>
                <a:latin typeface="Times New Roman"/>
                <a:cs typeface="Times New Roman"/>
              </a:rPr>
              <a:t> </a:t>
            </a:r>
            <a:r>
              <a:rPr sz="1200" dirty="0">
                <a:solidFill>
                  <a:srgbClr val="0E0E0E"/>
                </a:solidFill>
                <a:latin typeface="Times New Roman"/>
                <a:cs typeface="Times New Roman"/>
              </a:rPr>
              <a:t>indicates</a:t>
            </a:r>
            <a:r>
              <a:rPr sz="1200" spc="50" dirty="0">
                <a:solidFill>
                  <a:srgbClr val="0E0E0E"/>
                </a:solidFill>
                <a:latin typeface="Times New Roman"/>
                <a:cs typeface="Times New Roman"/>
              </a:rPr>
              <a:t> </a:t>
            </a:r>
            <a:r>
              <a:rPr sz="1200" dirty="0">
                <a:solidFill>
                  <a:srgbClr val="0E0E0E"/>
                </a:solidFill>
                <a:latin typeface="Times New Roman"/>
                <a:cs typeface="Times New Roman"/>
              </a:rPr>
              <a:t>amino</a:t>
            </a:r>
            <a:r>
              <a:rPr sz="1200" spc="45" dirty="0">
                <a:solidFill>
                  <a:srgbClr val="0E0E0E"/>
                </a:solidFill>
                <a:latin typeface="Times New Roman"/>
                <a:cs typeface="Times New Roman"/>
              </a:rPr>
              <a:t> </a:t>
            </a:r>
            <a:r>
              <a:rPr sz="1200" dirty="0">
                <a:solidFill>
                  <a:srgbClr val="0E0E0E"/>
                </a:solidFill>
                <a:latin typeface="Times New Roman"/>
                <a:cs typeface="Times New Roman"/>
              </a:rPr>
              <a:t>acid</a:t>
            </a:r>
            <a:r>
              <a:rPr sz="1200" spc="55" dirty="0">
                <a:solidFill>
                  <a:srgbClr val="0E0E0E"/>
                </a:solidFill>
                <a:latin typeface="Times New Roman"/>
                <a:cs typeface="Times New Roman"/>
              </a:rPr>
              <a:t> </a:t>
            </a:r>
            <a:r>
              <a:rPr sz="1200" spc="-10" dirty="0">
                <a:solidFill>
                  <a:srgbClr val="0E0E0E"/>
                </a:solidFill>
                <a:latin typeface="Times New Roman"/>
                <a:cs typeface="Times New Roman"/>
              </a:rPr>
              <a:t>position, </a:t>
            </a:r>
            <a:r>
              <a:rPr sz="1200" dirty="0">
                <a:solidFill>
                  <a:srgbClr val="0E0E0E"/>
                </a:solidFill>
                <a:latin typeface="Times New Roman"/>
                <a:cs typeface="Times New Roman"/>
              </a:rPr>
              <a:t>and</a:t>
            </a:r>
            <a:r>
              <a:rPr sz="1200" spc="210" dirty="0">
                <a:solidFill>
                  <a:srgbClr val="0E0E0E"/>
                </a:solidFill>
                <a:latin typeface="Times New Roman"/>
                <a:cs typeface="Times New Roman"/>
              </a:rPr>
              <a:t> </a:t>
            </a:r>
            <a:r>
              <a:rPr sz="1200" dirty="0">
                <a:solidFill>
                  <a:srgbClr val="0E0E0E"/>
                </a:solidFill>
                <a:latin typeface="Times New Roman"/>
                <a:cs typeface="Times New Roman"/>
              </a:rPr>
              <a:t>the</a:t>
            </a:r>
            <a:r>
              <a:rPr sz="1200" spc="229" dirty="0">
                <a:solidFill>
                  <a:srgbClr val="0E0E0E"/>
                </a:solidFill>
                <a:latin typeface="Times New Roman"/>
                <a:cs typeface="Times New Roman"/>
              </a:rPr>
              <a:t> </a:t>
            </a:r>
            <a:r>
              <a:rPr sz="1200" spc="-10" dirty="0">
                <a:solidFill>
                  <a:srgbClr val="0E0E0E"/>
                </a:solidFill>
                <a:latin typeface="Times New Roman"/>
                <a:cs typeface="Times New Roman"/>
              </a:rPr>
              <a:t>y-</a:t>
            </a:r>
            <a:r>
              <a:rPr sz="1200" dirty="0">
                <a:solidFill>
                  <a:srgbClr val="0E0E0E"/>
                </a:solidFill>
                <a:latin typeface="Times New Roman"/>
                <a:cs typeface="Times New Roman"/>
              </a:rPr>
              <a:t>axis</a:t>
            </a:r>
            <a:r>
              <a:rPr sz="1200" spc="225" dirty="0">
                <a:solidFill>
                  <a:srgbClr val="0E0E0E"/>
                </a:solidFill>
                <a:latin typeface="Times New Roman"/>
                <a:cs typeface="Times New Roman"/>
              </a:rPr>
              <a:t> </a:t>
            </a:r>
            <a:r>
              <a:rPr sz="1200" dirty="0">
                <a:solidFill>
                  <a:srgbClr val="0E0E0E"/>
                </a:solidFill>
                <a:latin typeface="Times New Roman"/>
                <a:cs typeface="Times New Roman"/>
              </a:rPr>
              <a:t>represents</a:t>
            </a:r>
            <a:r>
              <a:rPr sz="1200" spc="220" dirty="0">
                <a:solidFill>
                  <a:srgbClr val="0E0E0E"/>
                </a:solidFill>
                <a:latin typeface="Times New Roman"/>
                <a:cs typeface="Times New Roman"/>
              </a:rPr>
              <a:t> </a:t>
            </a:r>
            <a:r>
              <a:rPr sz="1200" dirty="0">
                <a:solidFill>
                  <a:srgbClr val="0E0E0E"/>
                </a:solidFill>
                <a:latin typeface="Times New Roman"/>
                <a:cs typeface="Times New Roman"/>
              </a:rPr>
              <a:t>hydropathy</a:t>
            </a:r>
            <a:r>
              <a:rPr sz="1200" spc="210" dirty="0">
                <a:solidFill>
                  <a:srgbClr val="0E0E0E"/>
                </a:solidFill>
                <a:latin typeface="Times New Roman"/>
                <a:cs typeface="Times New Roman"/>
              </a:rPr>
              <a:t> </a:t>
            </a:r>
            <a:r>
              <a:rPr sz="1200" dirty="0">
                <a:solidFill>
                  <a:srgbClr val="0E0E0E"/>
                </a:solidFill>
                <a:latin typeface="Times New Roman"/>
                <a:cs typeface="Times New Roman"/>
              </a:rPr>
              <a:t>score.</a:t>
            </a:r>
            <a:r>
              <a:rPr sz="1200" spc="215" dirty="0">
                <a:solidFill>
                  <a:srgbClr val="0E0E0E"/>
                </a:solidFill>
                <a:latin typeface="Times New Roman"/>
                <a:cs typeface="Times New Roman"/>
              </a:rPr>
              <a:t> </a:t>
            </a:r>
            <a:r>
              <a:rPr sz="1200" dirty="0">
                <a:solidFill>
                  <a:srgbClr val="0E0E0E"/>
                </a:solidFill>
                <a:latin typeface="Times New Roman"/>
                <a:cs typeface="Times New Roman"/>
              </a:rPr>
              <a:t>Red</a:t>
            </a:r>
            <a:r>
              <a:rPr sz="1200" spc="225" dirty="0">
                <a:solidFill>
                  <a:srgbClr val="0E0E0E"/>
                </a:solidFill>
                <a:latin typeface="Times New Roman"/>
                <a:cs typeface="Times New Roman"/>
              </a:rPr>
              <a:t> </a:t>
            </a:r>
            <a:r>
              <a:rPr sz="1200" dirty="0">
                <a:solidFill>
                  <a:srgbClr val="0E0E0E"/>
                </a:solidFill>
                <a:latin typeface="Times New Roman"/>
                <a:cs typeface="Times New Roman"/>
              </a:rPr>
              <a:t>boxes</a:t>
            </a:r>
            <a:r>
              <a:rPr sz="1200" spc="220" dirty="0">
                <a:solidFill>
                  <a:srgbClr val="0E0E0E"/>
                </a:solidFill>
                <a:latin typeface="Times New Roman"/>
                <a:cs typeface="Times New Roman"/>
              </a:rPr>
              <a:t> </a:t>
            </a:r>
            <a:r>
              <a:rPr sz="1200" dirty="0">
                <a:solidFill>
                  <a:srgbClr val="0E0E0E"/>
                </a:solidFill>
                <a:latin typeface="Times New Roman"/>
                <a:cs typeface="Times New Roman"/>
              </a:rPr>
              <a:t>highlight</a:t>
            </a:r>
            <a:r>
              <a:rPr sz="1200" spc="229" dirty="0">
                <a:solidFill>
                  <a:srgbClr val="0E0E0E"/>
                </a:solidFill>
                <a:latin typeface="Times New Roman"/>
                <a:cs typeface="Times New Roman"/>
              </a:rPr>
              <a:t> </a:t>
            </a:r>
            <a:r>
              <a:rPr sz="1200" dirty="0">
                <a:solidFill>
                  <a:srgbClr val="0E0E0E"/>
                </a:solidFill>
                <a:latin typeface="Times New Roman"/>
                <a:cs typeface="Times New Roman"/>
              </a:rPr>
              <a:t>regions</a:t>
            </a:r>
            <a:r>
              <a:rPr sz="1200" spc="220" dirty="0">
                <a:solidFill>
                  <a:srgbClr val="0E0E0E"/>
                </a:solidFill>
                <a:latin typeface="Times New Roman"/>
                <a:cs typeface="Times New Roman"/>
              </a:rPr>
              <a:t> </a:t>
            </a:r>
            <a:r>
              <a:rPr sz="1200" dirty="0">
                <a:solidFill>
                  <a:srgbClr val="0E0E0E"/>
                </a:solidFill>
                <a:latin typeface="Times New Roman"/>
                <a:cs typeface="Times New Roman"/>
              </a:rPr>
              <a:t>corresponding</a:t>
            </a:r>
            <a:r>
              <a:rPr sz="1200" spc="215" dirty="0">
                <a:solidFill>
                  <a:srgbClr val="0E0E0E"/>
                </a:solidFill>
                <a:latin typeface="Times New Roman"/>
                <a:cs typeface="Times New Roman"/>
              </a:rPr>
              <a:t> </a:t>
            </a:r>
            <a:r>
              <a:rPr sz="1200" dirty="0">
                <a:solidFill>
                  <a:srgbClr val="0E0E0E"/>
                </a:solidFill>
                <a:latin typeface="Times New Roman"/>
                <a:cs typeface="Times New Roman"/>
              </a:rPr>
              <a:t>to</a:t>
            </a:r>
            <a:r>
              <a:rPr sz="1200" spc="225" dirty="0">
                <a:solidFill>
                  <a:srgbClr val="0E0E0E"/>
                </a:solidFill>
                <a:latin typeface="Times New Roman"/>
                <a:cs typeface="Times New Roman"/>
              </a:rPr>
              <a:t> </a:t>
            </a:r>
            <a:r>
              <a:rPr sz="1200" dirty="0">
                <a:solidFill>
                  <a:srgbClr val="0E0E0E"/>
                </a:solidFill>
                <a:latin typeface="Times New Roman"/>
                <a:cs typeface="Times New Roman"/>
              </a:rPr>
              <a:t>conserved</a:t>
            </a:r>
            <a:r>
              <a:rPr sz="1200" spc="210" dirty="0">
                <a:solidFill>
                  <a:srgbClr val="0E0E0E"/>
                </a:solidFill>
                <a:latin typeface="Times New Roman"/>
                <a:cs typeface="Times New Roman"/>
              </a:rPr>
              <a:t> </a:t>
            </a:r>
            <a:r>
              <a:rPr sz="1200" spc="-55" dirty="0">
                <a:solidFill>
                  <a:srgbClr val="0E0E0E"/>
                </a:solidFill>
                <a:latin typeface="Times New Roman"/>
                <a:cs typeface="Times New Roman"/>
              </a:rPr>
              <a:t>11-</a:t>
            </a:r>
            <a:r>
              <a:rPr sz="1200" dirty="0">
                <a:solidFill>
                  <a:srgbClr val="0E0E0E"/>
                </a:solidFill>
                <a:latin typeface="Times New Roman"/>
                <a:cs typeface="Times New Roman"/>
              </a:rPr>
              <a:t>mer</a:t>
            </a:r>
            <a:r>
              <a:rPr sz="1200" spc="229" dirty="0">
                <a:solidFill>
                  <a:srgbClr val="0E0E0E"/>
                </a:solidFill>
                <a:latin typeface="Times New Roman"/>
                <a:cs typeface="Times New Roman"/>
              </a:rPr>
              <a:t> </a:t>
            </a:r>
            <a:r>
              <a:rPr sz="1200" spc="-25" dirty="0">
                <a:solidFill>
                  <a:srgbClr val="0E0E0E"/>
                </a:solidFill>
                <a:latin typeface="Times New Roman"/>
                <a:cs typeface="Times New Roman"/>
              </a:rPr>
              <a:t>LEA </a:t>
            </a:r>
            <a:r>
              <a:rPr sz="1200" spc="-10" dirty="0">
                <a:solidFill>
                  <a:srgbClr val="0E0E0E"/>
                </a:solidFill>
                <a:latin typeface="Times New Roman"/>
                <a:cs typeface="Times New Roman"/>
              </a:rPr>
              <a:t>motifs.</a:t>
            </a:r>
            <a:endParaRPr sz="12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728203" y="3157369"/>
            <a:ext cx="83820" cy="151765"/>
          </a:xfrm>
          <a:prstGeom prst="rect">
            <a:avLst/>
          </a:prstGeom>
        </p:spPr>
        <p:txBody>
          <a:bodyPr vert="horz" wrap="square" lIns="0" tIns="15875" rIns="0" bIns="0" rtlCol="0">
            <a:spAutoFit/>
          </a:bodyPr>
          <a:lstStyle/>
          <a:p>
            <a:pPr marL="12700">
              <a:lnSpc>
                <a:spcPct val="100000"/>
              </a:lnSpc>
              <a:spcBef>
                <a:spcPts val="125"/>
              </a:spcBef>
            </a:pPr>
            <a:r>
              <a:rPr sz="800" spc="-50" dirty="0">
                <a:solidFill>
                  <a:srgbClr val="4D4D4D"/>
                </a:solidFill>
                <a:latin typeface="Arial"/>
                <a:cs typeface="Arial"/>
              </a:rPr>
              <a:t>0</a:t>
            </a:r>
            <a:endParaRPr sz="800">
              <a:latin typeface="Arial"/>
              <a:cs typeface="Arial"/>
            </a:endParaRPr>
          </a:p>
        </p:txBody>
      </p:sp>
      <p:sp>
        <p:nvSpPr>
          <p:cNvPr id="3" name="object 3"/>
          <p:cNvSpPr txBox="1"/>
          <p:nvPr/>
        </p:nvSpPr>
        <p:spPr>
          <a:xfrm>
            <a:off x="1677972" y="2343556"/>
            <a:ext cx="142240" cy="151765"/>
          </a:xfrm>
          <a:prstGeom prst="rect">
            <a:avLst/>
          </a:prstGeom>
        </p:spPr>
        <p:txBody>
          <a:bodyPr vert="horz" wrap="square" lIns="0" tIns="15875" rIns="0" bIns="0" rtlCol="0">
            <a:spAutoFit/>
          </a:bodyPr>
          <a:lstStyle/>
          <a:p>
            <a:pPr marL="12700">
              <a:lnSpc>
                <a:spcPct val="100000"/>
              </a:lnSpc>
              <a:spcBef>
                <a:spcPts val="125"/>
              </a:spcBef>
            </a:pPr>
            <a:r>
              <a:rPr sz="800" spc="-25" dirty="0">
                <a:solidFill>
                  <a:srgbClr val="4D4D4D"/>
                </a:solidFill>
                <a:latin typeface="Arial"/>
                <a:cs typeface="Arial"/>
              </a:rPr>
              <a:t>20</a:t>
            </a:r>
            <a:endParaRPr sz="800">
              <a:latin typeface="Arial"/>
              <a:cs typeface="Arial"/>
            </a:endParaRPr>
          </a:p>
        </p:txBody>
      </p:sp>
      <p:sp>
        <p:nvSpPr>
          <p:cNvPr id="4" name="object 4"/>
          <p:cNvSpPr txBox="1"/>
          <p:nvPr/>
        </p:nvSpPr>
        <p:spPr>
          <a:xfrm>
            <a:off x="1677972" y="1529742"/>
            <a:ext cx="142240" cy="151765"/>
          </a:xfrm>
          <a:prstGeom prst="rect">
            <a:avLst/>
          </a:prstGeom>
        </p:spPr>
        <p:txBody>
          <a:bodyPr vert="horz" wrap="square" lIns="0" tIns="15875" rIns="0" bIns="0" rtlCol="0">
            <a:spAutoFit/>
          </a:bodyPr>
          <a:lstStyle/>
          <a:p>
            <a:pPr marL="12700">
              <a:lnSpc>
                <a:spcPct val="100000"/>
              </a:lnSpc>
              <a:spcBef>
                <a:spcPts val="125"/>
              </a:spcBef>
            </a:pPr>
            <a:r>
              <a:rPr sz="800" spc="-25" dirty="0">
                <a:solidFill>
                  <a:srgbClr val="4D4D4D"/>
                </a:solidFill>
                <a:latin typeface="Arial"/>
                <a:cs typeface="Arial"/>
              </a:rPr>
              <a:t>40</a:t>
            </a:r>
            <a:endParaRPr sz="800">
              <a:latin typeface="Arial"/>
              <a:cs typeface="Arial"/>
            </a:endParaRPr>
          </a:p>
        </p:txBody>
      </p:sp>
      <p:sp>
        <p:nvSpPr>
          <p:cNvPr id="5" name="object 5"/>
          <p:cNvSpPr txBox="1"/>
          <p:nvPr/>
        </p:nvSpPr>
        <p:spPr>
          <a:xfrm>
            <a:off x="1677972" y="715929"/>
            <a:ext cx="142240" cy="151765"/>
          </a:xfrm>
          <a:prstGeom prst="rect">
            <a:avLst/>
          </a:prstGeom>
        </p:spPr>
        <p:txBody>
          <a:bodyPr vert="horz" wrap="square" lIns="0" tIns="15875" rIns="0" bIns="0" rtlCol="0">
            <a:spAutoFit/>
          </a:bodyPr>
          <a:lstStyle/>
          <a:p>
            <a:pPr marL="12700">
              <a:lnSpc>
                <a:spcPct val="100000"/>
              </a:lnSpc>
              <a:spcBef>
                <a:spcPts val="125"/>
              </a:spcBef>
            </a:pPr>
            <a:r>
              <a:rPr sz="800" spc="-25" dirty="0">
                <a:solidFill>
                  <a:srgbClr val="4D4D4D"/>
                </a:solidFill>
                <a:latin typeface="Arial"/>
                <a:cs typeface="Arial"/>
              </a:rPr>
              <a:t>60</a:t>
            </a:r>
            <a:endParaRPr sz="800">
              <a:latin typeface="Arial"/>
              <a:cs typeface="Arial"/>
            </a:endParaRPr>
          </a:p>
        </p:txBody>
      </p:sp>
      <p:sp>
        <p:nvSpPr>
          <p:cNvPr id="6" name="object 6"/>
          <p:cNvSpPr txBox="1"/>
          <p:nvPr/>
        </p:nvSpPr>
        <p:spPr>
          <a:xfrm rot="18000000">
            <a:off x="922002" y="3966673"/>
            <a:ext cx="1616576" cy="127000"/>
          </a:xfrm>
          <a:prstGeom prst="rect">
            <a:avLst/>
          </a:prstGeom>
        </p:spPr>
        <p:txBody>
          <a:bodyPr vert="horz" wrap="square" lIns="0" tIns="0" rIns="0" bIns="0" rtlCol="0">
            <a:spAutoFit/>
          </a:bodyPr>
          <a:lstStyle/>
          <a:p>
            <a:pPr>
              <a:lnSpc>
                <a:spcPts val="990"/>
              </a:lnSpc>
            </a:pPr>
            <a:r>
              <a:rPr sz="1000" dirty="0">
                <a:latin typeface="Arial"/>
                <a:cs typeface="Arial"/>
              </a:rPr>
              <a:t>Metabolism</a:t>
            </a:r>
            <a:r>
              <a:rPr sz="1000" spc="-35" dirty="0">
                <a:latin typeface="Arial"/>
                <a:cs typeface="Arial"/>
              </a:rPr>
              <a:t> </a:t>
            </a:r>
            <a:r>
              <a:rPr sz="1000" dirty="0">
                <a:latin typeface="Arial"/>
                <a:cs typeface="Arial"/>
              </a:rPr>
              <a:t>/</a:t>
            </a:r>
            <a:r>
              <a:rPr sz="1000" spc="-30" dirty="0">
                <a:latin typeface="Arial"/>
                <a:cs typeface="Arial"/>
              </a:rPr>
              <a:t> </a:t>
            </a:r>
            <a:r>
              <a:rPr sz="1000" spc="-10" dirty="0">
                <a:latin typeface="Arial"/>
                <a:cs typeface="Arial"/>
              </a:rPr>
              <a:t>osmoregulation</a:t>
            </a:r>
            <a:endParaRPr sz="1000">
              <a:latin typeface="Arial"/>
              <a:cs typeface="Arial"/>
            </a:endParaRPr>
          </a:p>
        </p:txBody>
      </p:sp>
      <p:sp>
        <p:nvSpPr>
          <p:cNvPr id="7" name="object 7"/>
          <p:cNvSpPr txBox="1"/>
          <p:nvPr/>
        </p:nvSpPr>
        <p:spPr>
          <a:xfrm rot="18000000">
            <a:off x="1601070" y="3844938"/>
            <a:ext cx="1336945" cy="127000"/>
          </a:xfrm>
          <a:prstGeom prst="rect">
            <a:avLst/>
          </a:prstGeom>
        </p:spPr>
        <p:txBody>
          <a:bodyPr vert="horz" wrap="square" lIns="0" tIns="0" rIns="0" bIns="0" rtlCol="0">
            <a:spAutoFit/>
          </a:bodyPr>
          <a:lstStyle/>
          <a:p>
            <a:pPr>
              <a:lnSpc>
                <a:spcPts val="990"/>
              </a:lnSpc>
            </a:pPr>
            <a:r>
              <a:rPr sz="1000" dirty="0">
                <a:latin typeface="Arial"/>
                <a:cs typeface="Arial"/>
              </a:rPr>
              <a:t>Protein</a:t>
            </a:r>
            <a:r>
              <a:rPr sz="1000" spc="-50" dirty="0">
                <a:latin typeface="Arial"/>
                <a:cs typeface="Arial"/>
              </a:rPr>
              <a:t> </a:t>
            </a:r>
            <a:r>
              <a:rPr sz="1000" dirty="0">
                <a:latin typeface="Arial"/>
                <a:cs typeface="Arial"/>
              </a:rPr>
              <a:t>folding</a:t>
            </a:r>
            <a:r>
              <a:rPr sz="1000" spc="-45" dirty="0">
                <a:latin typeface="Arial"/>
                <a:cs typeface="Arial"/>
              </a:rPr>
              <a:t> </a:t>
            </a:r>
            <a:r>
              <a:rPr sz="1000" dirty="0">
                <a:latin typeface="Arial"/>
                <a:cs typeface="Arial"/>
              </a:rPr>
              <a:t>/</a:t>
            </a:r>
            <a:r>
              <a:rPr sz="1000" spc="-45" dirty="0">
                <a:latin typeface="Arial"/>
                <a:cs typeface="Arial"/>
              </a:rPr>
              <a:t> </a:t>
            </a:r>
            <a:r>
              <a:rPr sz="1000" spc="-10" dirty="0">
                <a:latin typeface="Arial"/>
                <a:cs typeface="Arial"/>
              </a:rPr>
              <a:t>stability</a:t>
            </a:r>
            <a:endParaRPr sz="1000">
              <a:latin typeface="Arial"/>
              <a:cs typeface="Arial"/>
            </a:endParaRPr>
          </a:p>
        </p:txBody>
      </p:sp>
      <p:sp>
        <p:nvSpPr>
          <p:cNvPr id="8" name="object 8"/>
          <p:cNvSpPr txBox="1"/>
          <p:nvPr/>
        </p:nvSpPr>
        <p:spPr>
          <a:xfrm rot="18000000">
            <a:off x="1746316" y="4051511"/>
            <a:ext cx="1811622" cy="127000"/>
          </a:xfrm>
          <a:prstGeom prst="rect">
            <a:avLst/>
          </a:prstGeom>
        </p:spPr>
        <p:txBody>
          <a:bodyPr vert="horz" wrap="square" lIns="0" tIns="0" rIns="0" bIns="0" rtlCol="0">
            <a:spAutoFit/>
          </a:bodyPr>
          <a:lstStyle/>
          <a:p>
            <a:pPr>
              <a:lnSpc>
                <a:spcPts val="990"/>
              </a:lnSpc>
            </a:pPr>
            <a:r>
              <a:rPr sz="1000" spc="-10" dirty="0">
                <a:latin typeface="Arial"/>
                <a:cs typeface="Arial"/>
              </a:rPr>
              <a:t>Detoxification </a:t>
            </a:r>
            <a:r>
              <a:rPr sz="1000" dirty="0">
                <a:latin typeface="Arial"/>
                <a:cs typeface="Arial"/>
              </a:rPr>
              <a:t>/</a:t>
            </a:r>
            <a:r>
              <a:rPr sz="1000" spc="-5" dirty="0">
                <a:latin typeface="Arial"/>
                <a:cs typeface="Arial"/>
              </a:rPr>
              <a:t> </a:t>
            </a:r>
            <a:r>
              <a:rPr sz="1000" dirty="0">
                <a:latin typeface="Arial"/>
                <a:cs typeface="Arial"/>
              </a:rPr>
              <a:t>ROS</a:t>
            </a:r>
            <a:r>
              <a:rPr sz="1000" spc="-10" dirty="0">
                <a:latin typeface="Arial"/>
                <a:cs typeface="Arial"/>
              </a:rPr>
              <a:t> scavenging</a:t>
            </a:r>
            <a:endParaRPr sz="1000">
              <a:latin typeface="Arial"/>
              <a:cs typeface="Arial"/>
            </a:endParaRPr>
          </a:p>
        </p:txBody>
      </p:sp>
      <p:sp>
        <p:nvSpPr>
          <p:cNvPr id="9" name="object 9"/>
          <p:cNvSpPr txBox="1"/>
          <p:nvPr/>
        </p:nvSpPr>
        <p:spPr>
          <a:xfrm rot="18000000">
            <a:off x="1884418" y="4248843"/>
            <a:ext cx="2266031" cy="127000"/>
          </a:xfrm>
          <a:prstGeom prst="rect">
            <a:avLst/>
          </a:prstGeom>
        </p:spPr>
        <p:txBody>
          <a:bodyPr vert="horz" wrap="square" lIns="0" tIns="0" rIns="0" bIns="0" rtlCol="0">
            <a:spAutoFit/>
          </a:bodyPr>
          <a:lstStyle/>
          <a:p>
            <a:pPr>
              <a:lnSpc>
                <a:spcPts val="990"/>
              </a:lnSpc>
            </a:pPr>
            <a:r>
              <a:rPr sz="1000" dirty="0">
                <a:latin typeface="Arial"/>
                <a:cs typeface="Arial"/>
              </a:rPr>
              <a:t>Protein</a:t>
            </a:r>
            <a:r>
              <a:rPr sz="1000" spc="-35" dirty="0">
                <a:latin typeface="Arial"/>
                <a:cs typeface="Arial"/>
              </a:rPr>
              <a:t> </a:t>
            </a:r>
            <a:r>
              <a:rPr sz="1000" dirty="0">
                <a:latin typeface="Arial"/>
                <a:cs typeface="Arial"/>
              </a:rPr>
              <a:t>aggregation</a:t>
            </a:r>
            <a:r>
              <a:rPr sz="1000" spc="-35" dirty="0">
                <a:latin typeface="Arial"/>
                <a:cs typeface="Arial"/>
              </a:rPr>
              <a:t> </a:t>
            </a:r>
            <a:r>
              <a:rPr sz="1000" dirty="0">
                <a:latin typeface="Arial"/>
                <a:cs typeface="Arial"/>
              </a:rPr>
              <a:t>/</a:t>
            </a:r>
            <a:r>
              <a:rPr sz="1000" spc="-35" dirty="0">
                <a:latin typeface="Arial"/>
                <a:cs typeface="Arial"/>
              </a:rPr>
              <a:t> </a:t>
            </a:r>
            <a:r>
              <a:rPr sz="1000" spc="-10" dirty="0">
                <a:latin typeface="Arial"/>
                <a:cs typeface="Arial"/>
              </a:rPr>
              <a:t>membrane</a:t>
            </a:r>
            <a:r>
              <a:rPr sz="1000" spc="-30" dirty="0">
                <a:latin typeface="Arial"/>
                <a:cs typeface="Arial"/>
              </a:rPr>
              <a:t> </a:t>
            </a:r>
            <a:r>
              <a:rPr sz="1000" spc="-10" dirty="0">
                <a:latin typeface="Arial"/>
                <a:cs typeface="Arial"/>
              </a:rPr>
              <a:t>stability</a:t>
            </a:r>
            <a:endParaRPr sz="1000">
              <a:latin typeface="Arial"/>
              <a:cs typeface="Arial"/>
            </a:endParaRPr>
          </a:p>
        </p:txBody>
      </p:sp>
      <p:sp>
        <p:nvSpPr>
          <p:cNvPr id="10" name="object 10"/>
          <p:cNvSpPr txBox="1"/>
          <p:nvPr/>
        </p:nvSpPr>
        <p:spPr>
          <a:xfrm rot="18000000">
            <a:off x="3025133" y="3851245"/>
            <a:ext cx="1350853" cy="127000"/>
          </a:xfrm>
          <a:prstGeom prst="rect">
            <a:avLst/>
          </a:prstGeom>
        </p:spPr>
        <p:txBody>
          <a:bodyPr vert="horz" wrap="square" lIns="0" tIns="0" rIns="0" bIns="0" rtlCol="0">
            <a:spAutoFit/>
          </a:bodyPr>
          <a:lstStyle/>
          <a:p>
            <a:pPr>
              <a:lnSpc>
                <a:spcPts val="990"/>
              </a:lnSpc>
            </a:pPr>
            <a:r>
              <a:rPr sz="1000" dirty="0">
                <a:latin typeface="Arial"/>
                <a:cs typeface="Arial"/>
              </a:rPr>
              <a:t>Cold</a:t>
            </a:r>
            <a:r>
              <a:rPr sz="1000" spc="-50" dirty="0">
                <a:latin typeface="Arial"/>
                <a:cs typeface="Arial"/>
              </a:rPr>
              <a:t> </a:t>
            </a:r>
            <a:r>
              <a:rPr sz="1000" dirty="0">
                <a:latin typeface="Arial"/>
                <a:cs typeface="Arial"/>
              </a:rPr>
              <a:t>signal</a:t>
            </a:r>
            <a:r>
              <a:rPr sz="1000" spc="-50" dirty="0">
                <a:latin typeface="Arial"/>
                <a:cs typeface="Arial"/>
              </a:rPr>
              <a:t> </a:t>
            </a:r>
            <a:r>
              <a:rPr sz="1000" spc="-10" dirty="0">
                <a:latin typeface="Arial"/>
                <a:cs typeface="Arial"/>
              </a:rPr>
              <a:t>transduction</a:t>
            </a:r>
            <a:endParaRPr sz="1000">
              <a:latin typeface="Arial"/>
              <a:cs typeface="Arial"/>
            </a:endParaRPr>
          </a:p>
        </p:txBody>
      </p:sp>
      <p:sp>
        <p:nvSpPr>
          <p:cNvPr id="11" name="object 11"/>
          <p:cNvSpPr txBox="1"/>
          <p:nvPr/>
        </p:nvSpPr>
        <p:spPr>
          <a:xfrm rot="18000000">
            <a:off x="4777983" y="3678166"/>
            <a:ext cx="954551" cy="127000"/>
          </a:xfrm>
          <a:prstGeom prst="rect">
            <a:avLst/>
          </a:prstGeom>
        </p:spPr>
        <p:txBody>
          <a:bodyPr vert="horz" wrap="square" lIns="0" tIns="0" rIns="0" bIns="0" rtlCol="0">
            <a:spAutoFit/>
          </a:bodyPr>
          <a:lstStyle/>
          <a:p>
            <a:pPr>
              <a:lnSpc>
                <a:spcPts val="990"/>
              </a:lnSpc>
            </a:pPr>
            <a:r>
              <a:rPr sz="1000" dirty="0">
                <a:latin typeface="Arial"/>
                <a:cs typeface="Arial"/>
              </a:rPr>
              <a:t>Lipid</a:t>
            </a:r>
            <a:r>
              <a:rPr sz="1000" spc="-50" dirty="0">
                <a:latin typeface="Arial"/>
                <a:cs typeface="Arial"/>
              </a:rPr>
              <a:t> </a:t>
            </a:r>
            <a:r>
              <a:rPr sz="1000" spc="-10" dirty="0">
                <a:latin typeface="Arial"/>
                <a:cs typeface="Arial"/>
              </a:rPr>
              <a:t>metabolism</a:t>
            </a:r>
            <a:endParaRPr sz="1000">
              <a:latin typeface="Arial"/>
              <a:cs typeface="Arial"/>
            </a:endParaRPr>
          </a:p>
        </p:txBody>
      </p:sp>
      <p:sp>
        <p:nvSpPr>
          <p:cNvPr id="12" name="object 12"/>
          <p:cNvSpPr txBox="1"/>
          <p:nvPr/>
        </p:nvSpPr>
        <p:spPr>
          <a:xfrm rot="18000000">
            <a:off x="4139694" y="3781475"/>
            <a:ext cx="1190997" cy="127000"/>
          </a:xfrm>
          <a:prstGeom prst="rect">
            <a:avLst/>
          </a:prstGeom>
        </p:spPr>
        <p:txBody>
          <a:bodyPr vert="horz" wrap="square" lIns="0" tIns="0" rIns="0" bIns="0" rtlCol="0">
            <a:spAutoFit/>
          </a:bodyPr>
          <a:lstStyle/>
          <a:p>
            <a:pPr>
              <a:lnSpc>
                <a:spcPts val="990"/>
              </a:lnSpc>
            </a:pPr>
            <a:r>
              <a:rPr sz="1000" spc="-10" dirty="0">
                <a:latin typeface="Arial"/>
                <a:cs typeface="Arial"/>
              </a:rPr>
              <a:t>Cytoskeleton</a:t>
            </a:r>
            <a:r>
              <a:rPr sz="1000" dirty="0">
                <a:latin typeface="Arial"/>
                <a:cs typeface="Arial"/>
              </a:rPr>
              <a:t> </a:t>
            </a:r>
            <a:r>
              <a:rPr sz="1000" spc="-10" dirty="0">
                <a:latin typeface="Arial"/>
                <a:cs typeface="Arial"/>
              </a:rPr>
              <a:t>stability</a:t>
            </a:r>
            <a:endParaRPr sz="1000">
              <a:latin typeface="Arial"/>
              <a:cs typeface="Arial"/>
            </a:endParaRPr>
          </a:p>
        </p:txBody>
      </p:sp>
      <p:sp>
        <p:nvSpPr>
          <p:cNvPr id="13" name="object 13"/>
          <p:cNvSpPr txBox="1"/>
          <p:nvPr/>
        </p:nvSpPr>
        <p:spPr>
          <a:xfrm rot="18000000">
            <a:off x="4075602" y="3514299"/>
            <a:ext cx="581584" cy="127000"/>
          </a:xfrm>
          <a:prstGeom prst="rect">
            <a:avLst/>
          </a:prstGeom>
        </p:spPr>
        <p:txBody>
          <a:bodyPr vert="horz" wrap="square" lIns="0" tIns="0" rIns="0" bIns="0" rtlCol="0">
            <a:spAutoFit/>
          </a:bodyPr>
          <a:lstStyle/>
          <a:p>
            <a:pPr>
              <a:lnSpc>
                <a:spcPts val="990"/>
              </a:lnSpc>
            </a:pPr>
            <a:r>
              <a:rPr sz="1000" spc="-10" dirty="0">
                <a:latin typeface="Arial"/>
                <a:cs typeface="Arial"/>
              </a:rPr>
              <a:t>Antifreeze</a:t>
            </a:r>
            <a:endParaRPr sz="1000">
              <a:latin typeface="Arial"/>
              <a:cs typeface="Arial"/>
            </a:endParaRPr>
          </a:p>
        </p:txBody>
      </p:sp>
      <p:sp>
        <p:nvSpPr>
          <p:cNvPr id="14" name="object 14"/>
          <p:cNvSpPr txBox="1"/>
          <p:nvPr/>
        </p:nvSpPr>
        <p:spPr>
          <a:xfrm>
            <a:off x="2684172" y="5268930"/>
            <a:ext cx="1601772" cy="293670"/>
          </a:xfrm>
          <a:prstGeom prst="rect">
            <a:avLst/>
          </a:prstGeom>
        </p:spPr>
        <p:txBody>
          <a:bodyPr vert="horz" wrap="square" lIns="0" tIns="115570" rIns="0" bIns="0" rtlCol="0">
            <a:spAutoFit/>
          </a:bodyPr>
          <a:lstStyle/>
          <a:p>
            <a:pPr>
              <a:lnSpc>
                <a:spcPct val="100000"/>
              </a:lnSpc>
            </a:pPr>
            <a:r>
              <a:rPr lang="en-US" sz="1150" b="1" dirty="0">
                <a:latin typeface="Arial"/>
                <a:cs typeface="Arial"/>
              </a:rPr>
              <a:t>Cold−related </a:t>
            </a:r>
            <a:r>
              <a:rPr lang="en-US" sz="1150" b="1" spc="-10" dirty="0">
                <a:latin typeface="Arial"/>
                <a:cs typeface="Arial"/>
              </a:rPr>
              <a:t>category</a:t>
            </a:r>
            <a:endParaRPr lang="en-US" sz="1150" dirty="0">
              <a:latin typeface="Arial"/>
              <a:cs typeface="Arial"/>
            </a:endParaRPr>
          </a:p>
        </p:txBody>
      </p:sp>
      <p:sp>
        <p:nvSpPr>
          <p:cNvPr id="15" name="object 15"/>
          <p:cNvSpPr txBox="1"/>
          <p:nvPr/>
        </p:nvSpPr>
        <p:spPr>
          <a:xfrm>
            <a:off x="1265687" y="1127698"/>
            <a:ext cx="189865" cy="974090"/>
          </a:xfrm>
          <a:prstGeom prst="rect">
            <a:avLst/>
          </a:prstGeom>
        </p:spPr>
        <p:txBody>
          <a:bodyPr vert="vert270" wrap="square" lIns="0" tIns="0" rIns="0" bIns="0" rtlCol="0">
            <a:spAutoFit/>
          </a:bodyPr>
          <a:lstStyle/>
          <a:p>
            <a:pPr marL="12700">
              <a:lnSpc>
                <a:spcPts val="1375"/>
              </a:lnSpc>
            </a:pPr>
            <a:r>
              <a:rPr sz="1150" b="1" dirty="0">
                <a:latin typeface="Arial"/>
                <a:cs typeface="Arial"/>
              </a:rPr>
              <a:t>Protein </a:t>
            </a:r>
            <a:r>
              <a:rPr sz="1150" b="1" spc="-10" dirty="0">
                <a:latin typeface="Arial"/>
                <a:cs typeface="Arial"/>
              </a:rPr>
              <a:t>count</a:t>
            </a:r>
            <a:endParaRPr sz="1150">
              <a:latin typeface="Arial"/>
              <a:cs typeface="Arial"/>
            </a:endParaRPr>
          </a:p>
        </p:txBody>
      </p:sp>
      <p:grpSp>
        <p:nvGrpSpPr>
          <p:cNvPr id="16" name="object 16"/>
          <p:cNvGrpSpPr/>
          <p:nvPr/>
        </p:nvGrpSpPr>
        <p:grpSpPr>
          <a:xfrm>
            <a:off x="5926809" y="284844"/>
            <a:ext cx="155575" cy="155575"/>
            <a:chOff x="5926809" y="284844"/>
            <a:chExt cx="155575" cy="155575"/>
          </a:xfrm>
        </p:grpSpPr>
        <p:sp>
          <p:nvSpPr>
            <p:cNvPr id="17" name="object 17"/>
            <p:cNvSpPr/>
            <p:nvPr/>
          </p:nvSpPr>
          <p:spPr>
            <a:xfrm>
              <a:off x="5928751" y="286786"/>
              <a:ext cx="151130" cy="151765"/>
            </a:xfrm>
            <a:custGeom>
              <a:avLst/>
              <a:gdLst/>
              <a:ahLst/>
              <a:cxnLst/>
              <a:rect l="l" t="t" r="r" b="b"/>
              <a:pathLst>
                <a:path w="151129" h="151765">
                  <a:moveTo>
                    <a:pt x="151089" y="0"/>
                  </a:moveTo>
                  <a:lnTo>
                    <a:pt x="0" y="0"/>
                  </a:lnTo>
                  <a:lnTo>
                    <a:pt x="0" y="151393"/>
                  </a:lnTo>
                  <a:lnTo>
                    <a:pt x="151089" y="151393"/>
                  </a:lnTo>
                  <a:lnTo>
                    <a:pt x="151089" y="0"/>
                  </a:lnTo>
                  <a:close/>
                </a:path>
              </a:pathLst>
            </a:custGeom>
            <a:solidFill>
              <a:srgbClr val="FC8D62"/>
            </a:solidFill>
          </p:spPr>
          <p:txBody>
            <a:bodyPr wrap="square" lIns="0" tIns="0" rIns="0" bIns="0" rtlCol="0"/>
            <a:lstStyle/>
            <a:p>
              <a:endParaRPr/>
            </a:p>
          </p:txBody>
        </p:sp>
        <p:sp>
          <p:nvSpPr>
            <p:cNvPr id="18" name="object 18"/>
            <p:cNvSpPr/>
            <p:nvPr/>
          </p:nvSpPr>
          <p:spPr>
            <a:xfrm>
              <a:off x="5928751" y="286786"/>
              <a:ext cx="151130" cy="151765"/>
            </a:xfrm>
            <a:custGeom>
              <a:avLst/>
              <a:gdLst/>
              <a:ahLst/>
              <a:cxnLst/>
              <a:rect l="l" t="t" r="r" b="b"/>
              <a:pathLst>
                <a:path w="151129" h="151765">
                  <a:moveTo>
                    <a:pt x="0" y="151393"/>
                  </a:moveTo>
                  <a:lnTo>
                    <a:pt x="151089" y="151393"/>
                  </a:lnTo>
                  <a:lnTo>
                    <a:pt x="151089" y="0"/>
                  </a:lnTo>
                  <a:lnTo>
                    <a:pt x="0" y="0"/>
                  </a:lnTo>
                  <a:lnTo>
                    <a:pt x="0" y="151393"/>
                  </a:lnTo>
                  <a:close/>
                </a:path>
              </a:pathLst>
            </a:custGeom>
            <a:ln w="3883">
              <a:solidFill>
                <a:srgbClr val="000000"/>
              </a:solidFill>
            </a:ln>
          </p:spPr>
          <p:txBody>
            <a:bodyPr wrap="square" lIns="0" tIns="0" rIns="0" bIns="0" rtlCol="0"/>
            <a:lstStyle/>
            <a:p>
              <a:endParaRPr/>
            </a:p>
          </p:txBody>
        </p:sp>
      </p:grpSp>
      <p:grpSp>
        <p:nvGrpSpPr>
          <p:cNvPr id="19" name="object 19"/>
          <p:cNvGrpSpPr/>
          <p:nvPr/>
        </p:nvGrpSpPr>
        <p:grpSpPr>
          <a:xfrm>
            <a:off x="5926809" y="495795"/>
            <a:ext cx="155575" cy="155575"/>
            <a:chOff x="5926809" y="495795"/>
            <a:chExt cx="155575" cy="155575"/>
          </a:xfrm>
        </p:grpSpPr>
        <p:sp>
          <p:nvSpPr>
            <p:cNvPr id="20" name="object 20"/>
            <p:cNvSpPr/>
            <p:nvPr/>
          </p:nvSpPr>
          <p:spPr>
            <a:xfrm>
              <a:off x="5928751" y="497737"/>
              <a:ext cx="151130" cy="151765"/>
            </a:xfrm>
            <a:custGeom>
              <a:avLst/>
              <a:gdLst/>
              <a:ahLst/>
              <a:cxnLst/>
              <a:rect l="l" t="t" r="r" b="b"/>
              <a:pathLst>
                <a:path w="151129" h="151765">
                  <a:moveTo>
                    <a:pt x="151089" y="0"/>
                  </a:moveTo>
                  <a:lnTo>
                    <a:pt x="0" y="0"/>
                  </a:lnTo>
                  <a:lnTo>
                    <a:pt x="0" y="151393"/>
                  </a:lnTo>
                  <a:lnTo>
                    <a:pt x="151089" y="151393"/>
                  </a:lnTo>
                  <a:lnTo>
                    <a:pt x="151089" y="0"/>
                  </a:lnTo>
                  <a:close/>
                </a:path>
              </a:pathLst>
            </a:custGeom>
            <a:solidFill>
              <a:srgbClr val="66C2A5"/>
            </a:solidFill>
          </p:spPr>
          <p:txBody>
            <a:bodyPr wrap="square" lIns="0" tIns="0" rIns="0" bIns="0" rtlCol="0"/>
            <a:lstStyle/>
            <a:p>
              <a:endParaRPr/>
            </a:p>
          </p:txBody>
        </p:sp>
        <p:sp>
          <p:nvSpPr>
            <p:cNvPr id="21" name="object 21"/>
            <p:cNvSpPr/>
            <p:nvPr/>
          </p:nvSpPr>
          <p:spPr>
            <a:xfrm>
              <a:off x="5928751" y="497737"/>
              <a:ext cx="151130" cy="151765"/>
            </a:xfrm>
            <a:custGeom>
              <a:avLst/>
              <a:gdLst/>
              <a:ahLst/>
              <a:cxnLst/>
              <a:rect l="l" t="t" r="r" b="b"/>
              <a:pathLst>
                <a:path w="151129" h="151765">
                  <a:moveTo>
                    <a:pt x="0" y="151393"/>
                  </a:moveTo>
                  <a:lnTo>
                    <a:pt x="151089" y="151393"/>
                  </a:lnTo>
                  <a:lnTo>
                    <a:pt x="151089" y="0"/>
                  </a:lnTo>
                  <a:lnTo>
                    <a:pt x="0" y="0"/>
                  </a:lnTo>
                  <a:lnTo>
                    <a:pt x="0" y="151393"/>
                  </a:lnTo>
                  <a:close/>
                </a:path>
              </a:pathLst>
            </a:custGeom>
            <a:ln w="3883">
              <a:solidFill>
                <a:srgbClr val="000000"/>
              </a:solidFill>
            </a:ln>
          </p:spPr>
          <p:txBody>
            <a:bodyPr wrap="square" lIns="0" tIns="0" rIns="0" bIns="0" rtlCol="0"/>
            <a:lstStyle/>
            <a:p>
              <a:endParaRPr/>
            </a:p>
          </p:txBody>
        </p:sp>
      </p:grpSp>
      <p:grpSp>
        <p:nvGrpSpPr>
          <p:cNvPr id="22" name="object 22"/>
          <p:cNvGrpSpPr/>
          <p:nvPr/>
        </p:nvGrpSpPr>
        <p:grpSpPr>
          <a:xfrm>
            <a:off x="5926809" y="706767"/>
            <a:ext cx="155575" cy="155575"/>
            <a:chOff x="5926809" y="706767"/>
            <a:chExt cx="155575" cy="155575"/>
          </a:xfrm>
        </p:grpSpPr>
        <p:sp>
          <p:nvSpPr>
            <p:cNvPr id="23" name="object 23"/>
            <p:cNvSpPr/>
            <p:nvPr/>
          </p:nvSpPr>
          <p:spPr>
            <a:xfrm>
              <a:off x="5928751" y="708709"/>
              <a:ext cx="151130" cy="151765"/>
            </a:xfrm>
            <a:custGeom>
              <a:avLst/>
              <a:gdLst/>
              <a:ahLst/>
              <a:cxnLst/>
              <a:rect l="l" t="t" r="r" b="b"/>
              <a:pathLst>
                <a:path w="151129" h="151765">
                  <a:moveTo>
                    <a:pt x="151089" y="0"/>
                  </a:moveTo>
                  <a:lnTo>
                    <a:pt x="0" y="0"/>
                  </a:lnTo>
                  <a:lnTo>
                    <a:pt x="0" y="151393"/>
                  </a:lnTo>
                  <a:lnTo>
                    <a:pt x="151089" y="151393"/>
                  </a:lnTo>
                  <a:lnTo>
                    <a:pt x="151089" y="0"/>
                  </a:lnTo>
                  <a:close/>
                </a:path>
              </a:pathLst>
            </a:custGeom>
            <a:solidFill>
              <a:srgbClr val="B1A783"/>
            </a:solidFill>
          </p:spPr>
          <p:txBody>
            <a:bodyPr wrap="square" lIns="0" tIns="0" rIns="0" bIns="0" rtlCol="0"/>
            <a:lstStyle/>
            <a:p>
              <a:endParaRPr/>
            </a:p>
          </p:txBody>
        </p:sp>
        <p:sp>
          <p:nvSpPr>
            <p:cNvPr id="24" name="object 24"/>
            <p:cNvSpPr/>
            <p:nvPr/>
          </p:nvSpPr>
          <p:spPr>
            <a:xfrm>
              <a:off x="5928751" y="708709"/>
              <a:ext cx="151130" cy="151765"/>
            </a:xfrm>
            <a:custGeom>
              <a:avLst/>
              <a:gdLst/>
              <a:ahLst/>
              <a:cxnLst/>
              <a:rect l="l" t="t" r="r" b="b"/>
              <a:pathLst>
                <a:path w="151129" h="151765">
                  <a:moveTo>
                    <a:pt x="0" y="151393"/>
                  </a:moveTo>
                  <a:lnTo>
                    <a:pt x="151089" y="151393"/>
                  </a:lnTo>
                  <a:lnTo>
                    <a:pt x="151089" y="0"/>
                  </a:lnTo>
                  <a:lnTo>
                    <a:pt x="0" y="0"/>
                  </a:lnTo>
                  <a:lnTo>
                    <a:pt x="0" y="151393"/>
                  </a:lnTo>
                  <a:close/>
                </a:path>
              </a:pathLst>
            </a:custGeom>
            <a:ln w="3883">
              <a:solidFill>
                <a:srgbClr val="000000"/>
              </a:solidFill>
            </a:ln>
          </p:spPr>
          <p:txBody>
            <a:bodyPr wrap="square" lIns="0" tIns="0" rIns="0" bIns="0" rtlCol="0"/>
            <a:lstStyle/>
            <a:p>
              <a:endParaRPr/>
            </a:p>
          </p:txBody>
        </p:sp>
      </p:grpSp>
      <p:grpSp>
        <p:nvGrpSpPr>
          <p:cNvPr id="25" name="object 25"/>
          <p:cNvGrpSpPr/>
          <p:nvPr/>
        </p:nvGrpSpPr>
        <p:grpSpPr>
          <a:xfrm>
            <a:off x="5926809" y="1128689"/>
            <a:ext cx="155575" cy="155575"/>
            <a:chOff x="5926809" y="1128689"/>
            <a:chExt cx="155575" cy="155575"/>
          </a:xfrm>
        </p:grpSpPr>
        <p:sp>
          <p:nvSpPr>
            <p:cNvPr id="26" name="object 26"/>
            <p:cNvSpPr/>
            <p:nvPr/>
          </p:nvSpPr>
          <p:spPr>
            <a:xfrm>
              <a:off x="5928753" y="1130630"/>
              <a:ext cx="151130" cy="151765"/>
            </a:xfrm>
            <a:custGeom>
              <a:avLst/>
              <a:gdLst/>
              <a:ahLst/>
              <a:cxnLst/>
              <a:rect l="l" t="t" r="r" b="b"/>
              <a:pathLst>
                <a:path w="151129" h="151765">
                  <a:moveTo>
                    <a:pt x="151091" y="0"/>
                  </a:moveTo>
                  <a:lnTo>
                    <a:pt x="0" y="0"/>
                  </a:lnTo>
                  <a:lnTo>
                    <a:pt x="0" y="151396"/>
                  </a:lnTo>
                  <a:lnTo>
                    <a:pt x="151091" y="151396"/>
                  </a:lnTo>
                  <a:lnTo>
                    <a:pt x="151091" y="0"/>
                  </a:lnTo>
                  <a:close/>
                </a:path>
              </a:pathLst>
            </a:custGeom>
            <a:solidFill>
              <a:srgbClr val="8DA0CB"/>
            </a:solidFill>
          </p:spPr>
          <p:txBody>
            <a:bodyPr wrap="square" lIns="0" tIns="0" rIns="0" bIns="0" rtlCol="0"/>
            <a:lstStyle/>
            <a:p>
              <a:endParaRPr/>
            </a:p>
          </p:txBody>
        </p:sp>
        <p:sp>
          <p:nvSpPr>
            <p:cNvPr id="27" name="object 27"/>
            <p:cNvSpPr/>
            <p:nvPr/>
          </p:nvSpPr>
          <p:spPr>
            <a:xfrm>
              <a:off x="5928751" y="1130631"/>
              <a:ext cx="151130" cy="151765"/>
            </a:xfrm>
            <a:custGeom>
              <a:avLst/>
              <a:gdLst/>
              <a:ahLst/>
              <a:cxnLst/>
              <a:rect l="l" t="t" r="r" b="b"/>
              <a:pathLst>
                <a:path w="151129" h="151765">
                  <a:moveTo>
                    <a:pt x="0" y="151393"/>
                  </a:moveTo>
                  <a:lnTo>
                    <a:pt x="151089" y="151393"/>
                  </a:lnTo>
                  <a:lnTo>
                    <a:pt x="151089" y="0"/>
                  </a:lnTo>
                  <a:lnTo>
                    <a:pt x="0" y="0"/>
                  </a:lnTo>
                  <a:lnTo>
                    <a:pt x="0" y="151393"/>
                  </a:lnTo>
                  <a:close/>
                </a:path>
              </a:pathLst>
            </a:custGeom>
            <a:ln w="3883">
              <a:solidFill>
                <a:srgbClr val="000000"/>
              </a:solidFill>
            </a:ln>
          </p:spPr>
          <p:txBody>
            <a:bodyPr wrap="square" lIns="0" tIns="0" rIns="0" bIns="0" rtlCol="0"/>
            <a:lstStyle/>
            <a:p>
              <a:endParaRPr/>
            </a:p>
          </p:txBody>
        </p:sp>
      </p:grpSp>
      <p:grpSp>
        <p:nvGrpSpPr>
          <p:cNvPr id="28" name="object 28"/>
          <p:cNvGrpSpPr/>
          <p:nvPr/>
        </p:nvGrpSpPr>
        <p:grpSpPr>
          <a:xfrm>
            <a:off x="5926809" y="917717"/>
            <a:ext cx="155575" cy="155575"/>
            <a:chOff x="5926809" y="917717"/>
            <a:chExt cx="155575" cy="155575"/>
          </a:xfrm>
        </p:grpSpPr>
        <p:sp>
          <p:nvSpPr>
            <p:cNvPr id="29" name="object 29"/>
            <p:cNvSpPr/>
            <p:nvPr/>
          </p:nvSpPr>
          <p:spPr>
            <a:xfrm>
              <a:off x="5928751" y="919659"/>
              <a:ext cx="151130" cy="151765"/>
            </a:xfrm>
            <a:custGeom>
              <a:avLst/>
              <a:gdLst/>
              <a:ahLst/>
              <a:cxnLst/>
              <a:rect l="l" t="t" r="r" b="b"/>
              <a:pathLst>
                <a:path w="151129" h="151765">
                  <a:moveTo>
                    <a:pt x="0" y="151393"/>
                  </a:moveTo>
                  <a:lnTo>
                    <a:pt x="151089" y="151393"/>
                  </a:lnTo>
                  <a:lnTo>
                    <a:pt x="151089" y="0"/>
                  </a:lnTo>
                  <a:lnTo>
                    <a:pt x="0" y="0"/>
                  </a:lnTo>
                  <a:lnTo>
                    <a:pt x="0" y="151393"/>
                  </a:lnTo>
                  <a:close/>
                </a:path>
              </a:pathLst>
            </a:custGeom>
            <a:ln w="3883">
              <a:solidFill>
                <a:srgbClr val="000000"/>
              </a:solidFill>
            </a:ln>
          </p:spPr>
          <p:txBody>
            <a:bodyPr wrap="square" lIns="0" tIns="0" rIns="0" bIns="0" rtlCol="0"/>
            <a:lstStyle/>
            <a:p>
              <a:endParaRPr/>
            </a:p>
          </p:txBody>
        </p:sp>
        <p:sp>
          <p:nvSpPr>
            <p:cNvPr id="30" name="object 30"/>
            <p:cNvSpPr/>
            <p:nvPr/>
          </p:nvSpPr>
          <p:spPr>
            <a:xfrm>
              <a:off x="5928753" y="919657"/>
              <a:ext cx="151130" cy="151765"/>
            </a:xfrm>
            <a:custGeom>
              <a:avLst/>
              <a:gdLst/>
              <a:ahLst/>
              <a:cxnLst/>
              <a:rect l="l" t="t" r="r" b="b"/>
              <a:pathLst>
                <a:path w="151129" h="151765">
                  <a:moveTo>
                    <a:pt x="151091" y="0"/>
                  </a:moveTo>
                  <a:lnTo>
                    <a:pt x="0" y="0"/>
                  </a:lnTo>
                  <a:lnTo>
                    <a:pt x="0" y="151396"/>
                  </a:lnTo>
                  <a:lnTo>
                    <a:pt x="151091" y="151396"/>
                  </a:lnTo>
                  <a:lnTo>
                    <a:pt x="151091" y="0"/>
                  </a:lnTo>
                  <a:close/>
                </a:path>
              </a:pathLst>
            </a:custGeom>
            <a:solidFill>
              <a:srgbClr val="C6B18B"/>
            </a:solidFill>
          </p:spPr>
          <p:txBody>
            <a:bodyPr wrap="square" lIns="0" tIns="0" rIns="0" bIns="0" rtlCol="0"/>
            <a:lstStyle/>
            <a:p>
              <a:endParaRPr/>
            </a:p>
          </p:txBody>
        </p:sp>
      </p:grpSp>
      <p:grpSp>
        <p:nvGrpSpPr>
          <p:cNvPr id="31" name="object 31"/>
          <p:cNvGrpSpPr/>
          <p:nvPr/>
        </p:nvGrpSpPr>
        <p:grpSpPr>
          <a:xfrm>
            <a:off x="5926809" y="1339640"/>
            <a:ext cx="155575" cy="155575"/>
            <a:chOff x="5926809" y="1339640"/>
            <a:chExt cx="155575" cy="155575"/>
          </a:xfrm>
        </p:grpSpPr>
        <p:sp>
          <p:nvSpPr>
            <p:cNvPr id="32" name="object 32"/>
            <p:cNvSpPr/>
            <p:nvPr/>
          </p:nvSpPr>
          <p:spPr>
            <a:xfrm>
              <a:off x="5928751" y="1341582"/>
              <a:ext cx="151130" cy="151765"/>
            </a:xfrm>
            <a:custGeom>
              <a:avLst/>
              <a:gdLst/>
              <a:ahLst/>
              <a:cxnLst/>
              <a:rect l="l" t="t" r="r" b="b"/>
              <a:pathLst>
                <a:path w="151129" h="151765">
                  <a:moveTo>
                    <a:pt x="151089" y="0"/>
                  </a:moveTo>
                  <a:lnTo>
                    <a:pt x="0" y="0"/>
                  </a:lnTo>
                  <a:lnTo>
                    <a:pt x="0" y="151393"/>
                  </a:lnTo>
                  <a:lnTo>
                    <a:pt x="151089" y="151393"/>
                  </a:lnTo>
                  <a:lnTo>
                    <a:pt x="151089" y="0"/>
                  </a:lnTo>
                  <a:close/>
                </a:path>
              </a:pathLst>
            </a:custGeom>
            <a:solidFill>
              <a:srgbClr val="D2D841"/>
            </a:solidFill>
          </p:spPr>
          <p:txBody>
            <a:bodyPr wrap="square" lIns="0" tIns="0" rIns="0" bIns="0" rtlCol="0"/>
            <a:lstStyle/>
            <a:p>
              <a:endParaRPr/>
            </a:p>
          </p:txBody>
        </p:sp>
        <p:sp>
          <p:nvSpPr>
            <p:cNvPr id="33" name="object 33"/>
            <p:cNvSpPr/>
            <p:nvPr/>
          </p:nvSpPr>
          <p:spPr>
            <a:xfrm>
              <a:off x="5928751" y="1341582"/>
              <a:ext cx="151130" cy="151765"/>
            </a:xfrm>
            <a:custGeom>
              <a:avLst/>
              <a:gdLst/>
              <a:ahLst/>
              <a:cxnLst/>
              <a:rect l="l" t="t" r="r" b="b"/>
              <a:pathLst>
                <a:path w="151129" h="151765">
                  <a:moveTo>
                    <a:pt x="0" y="151393"/>
                  </a:moveTo>
                  <a:lnTo>
                    <a:pt x="151089" y="151393"/>
                  </a:lnTo>
                  <a:lnTo>
                    <a:pt x="151089" y="0"/>
                  </a:lnTo>
                  <a:lnTo>
                    <a:pt x="0" y="0"/>
                  </a:lnTo>
                  <a:lnTo>
                    <a:pt x="0" y="151393"/>
                  </a:lnTo>
                  <a:close/>
                </a:path>
              </a:pathLst>
            </a:custGeom>
            <a:ln w="3883">
              <a:solidFill>
                <a:srgbClr val="000000"/>
              </a:solidFill>
            </a:ln>
          </p:spPr>
          <p:txBody>
            <a:bodyPr wrap="square" lIns="0" tIns="0" rIns="0" bIns="0" rtlCol="0"/>
            <a:lstStyle/>
            <a:p>
              <a:endParaRPr/>
            </a:p>
          </p:txBody>
        </p:sp>
      </p:grpSp>
      <p:grpSp>
        <p:nvGrpSpPr>
          <p:cNvPr id="34" name="object 34"/>
          <p:cNvGrpSpPr/>
          <p:nvPr/>
        </p:nvGrpSpPr>
        <p:grpSpPr>
          <a:xfrm>
            <a:off x="5926809" y="1550612"/>
            <a:ext cx="155575" cy="155575"/>
            <a:chOff x="5926809" y="1550612"/>
            <a:chExt cx="155575" cy="155575"/>
          </a:xfrm>
        </p:grpSpPr>
        <p:sp>
          <p:nvSpPr>
            <p:cNvPr id="35" name="object 35"/>
            <p:cNvSpPr/>
            <p:nvPr/>
          </p:nvSpPr>
          <p:spPr>
            <a:xfrm>
              <a:off x="5928751" y="1552553"/>
              <a:ext cx="151130" cy="151765"/>
            </a:xfrm>
            <a:custGeom>
              <a:avLst/>
              <a:gdLst/>
              <a:ahLst/>
              <a:cxnLst/>
              <a:rect l="l" t="t" r="r" b="b"/>
              <a:pathLst>
                <a:path w="151129" h="151764">
                  <a:moveTo>
                    <a:pt x="151089" y="0"/>
                  </a:moveTo>
                  <a:lnTo>
                    <a:pt x="0" y="0"/>
                  </a:lnTo>
                  <a:lnTo>
                    <a:pt x="0" y="151393"/>
                  </a:lnTo>
                  <a:lnTo>
                    <a:pt x="151089" y="151393"/>
                  </a:lnTo>
                  <a:lnTo>
                    <a:pt x="151089" y="0"/>
                  </a:lnTo>
                  <a:close/>
                </a:path>
              </a:pathLst>
            </a:custGeom>
            <a:solidFill>
              <a:srgbClr val="A6D854"/>
            </a:solidFill>
          </p:spPr>
          <p:txBody>
            <a:bodyPr wrap="square" lIns="0" tIns="0" rIns="0" bIns="0" rtlCol="0"/>
            <a:lstStyle/>
            <a:p>
              <a:endParaRPr/>
            </a:p>
          </p:txBody>
        </p:sp>
        <p:sp>
          <p:nvSpPr>
            <p:cNvPr id="36" name="object 36"/>
            <p:cNvSpPr/>
            <p:nvPr/>
          </p:nvSpPr>
          <p:spPr>
            <a:xfrm>
              <a:off x="5928751" y="1552553"/>
              <a:ext cx="151130" cy="151765"/>
            </a:xfrm>
            <a:custGeom>
              <a:avLst/>
              <a:gdLst/>
              <a:ahLst/>
              <a:cxnLst/>
              <a:rect l="l" t="t" r="r" b="b"/>
              <a:pathLst>
                <a:path w="151129" h="151764">
                  <a:moveTo>
                    <a:pt x="0" y="151393"/>
                  </a:moveTo>
                  <a:lnTo>
                    <a:pt x="151089" y="151393"/>
                  </a:lnTo>
                  <a:lnTo>
                    <a:pt x="151089" y="0"/>
                  </a:lnTo>
                  <a:lnTo>
                    <a:pt x="0" y="0"/>
                  </a:lnTo>
                  <a:lnTo>
                    <a:pt x="0" y="151393"/>
                  </a:lnTo>
                  <a:close/>
                </a:path>
              </a:pathLst>
            </a:custGeom>
            <a:ln w="3883">
              <a:solidFill>
                <a:srgbClr val="000000"/>
              </a:solidFill>
            </a:ln>
          </p:spPr>
          <p:txBody>
            <a:bodyPr wrap="square" lIns="0" tIns="0" rIns="0" bIns="0" rtlCol="0"/>
            <a:lstStyle/>
            <a:p>
              <a:endParaRPr/>
            </a:p>
          </p:txBody>
        </p:sp>
      </p:grpSp>
      <p:grpSp>
        <p:nvGrpSpPr>
          <p:cNvPr id="37" name="object 37"/>
          <p:cNvGrpSpPr/>
          <p:nvPr/>
        </p:nvGrpSpPr>
        <p:grpSpPr>
          <a:xfrm>
            <a:off x="5926809" y="1761562"/>
            <a:ext cx="155575" cy="155575"/>
            <a:chOff x="5926809" y="1761562"/>
            <a:chExt cx="155575" cy="155575"/>
          </a:xfrm>
        </p:grpSpPr>
        <p:sp>
          <p:nvSpPr>
            <p:cNvPr id="38" name="object 38"/>
            <p:cNvSpPr/>
            <p:nvPr/>
          </p:nvSpPr>
          <p:spPr>
            <a:xfrm>
              <a:off x="5928751" y="1763504"/>
              <a:ext cx="151130" cy="151765"/>
            </a:xfrm>
            <a:custGeom>
              <a:avLst/>
              <a:gdLst/>
              <a:ahLst/>
              <a:cxnLst/>
              <a:rect l="l" t="t" r="r" b="b"/>
              <a:pathLst>
                <a:path w="151129" h="151764">
                  <a:moveTo>
                    <a:pt x="151089" y="0"/>
                  </a:moveTo>
                  <a:lnTo>
                    <a:pt x="0" y="0"/>
                  </a:lnTo>
                  <a:lnTo>
                    <a:pt x="0" y="151393"/>
                  </a:lnTo>
                  <a:lnTo>
                    <a:pt x="151089" y="151393"/>
                  </a:lnTo>
                  <a:lnTo>
                    <a:pt x="151089" y="0"/>
                  </a:lnTo>
                  <a:close/>
                </a:path>
              </a:pathLst>
            </a:custGeom>
            <a:solidFill>
              <a:srgbClr val="E78AC3"/>
            </a:solidFill>
          </p:spPr>
          <p:txBody>
            <a:bodyPr wrap="square" lIns="0" tIns="0" rIns="0" bIns="0" rtlCol="0"/>
            <a:lstStyle/>
            <a:p>
              <a:endParaRPr/>
            </a:p>
          </p:txBody>
        </p:sp>
        <p:sp>
          <p:nvSpPr>
            <p:cNvPr id="39" name="object 39"/>
            <p:cNvSpPr/>
            <p:nvPr/>
          </p:nvSpPr>
          <p:spPr>
            <a:xfrm>
              <a:off x="5928751" y="1763504"/>
              <a:ext cx="151130" cy="151765"/>
            </a:xfrm>
            <a:custGeom>
              <a:avLst/>
              <a:gdLst/>
              <a:ahLst/>
              <a:cxnLst/>
              <a:rect l="l" t="t" r="r" b="b"/>
              <a:pathLst>
                <a:path w="151129" h="151764">
                  <a:moveTo>
                    <a:pt x="0" y="151393"/>
                  </a:moveTo>
                  <a:lnTo>
                    <a:pt x="151089" y="151393"/>
                  </a:lnTo>
                  <a:lnTo>
                    <a:pt x="151089" y="0"/>
                  </a:lnTo>
                  <a:lnTo>
                    <a:pt x="0" y="0"/>
                  </a:lnTo>
                  <a:lnTo>
                    <a:pt x="0" y="151393"/>
                  </a:lnTo>
                  <a:close/>
                </a:path>
              </a:pathLst>
            </a:custGeom>
            <a:ln w="3883">
              <a:solidFill>
                <a:srgbClr val="000000"/>
              </a:solidFill>
            </a:ln>
          </p:spPr>
          <p:txBody>
            <a:bodyPr wrap="square" lIns="0" tIns="0" rIns="0" bIns="0" rtlCol="0"/>
            <a:lstStyle/>
            <a:p>
              <a:endParaRPr/>
            </a:p>
          </p:txBody>
        </p:sp>
      </p:grpSp>
      <p:grpSp>
        <p:nvGrpSpPr>
          <p:cNvPr id="40" name="object 40"/>
          <p:cNvGrpSpPr/>
          <p:nvPr/>
        </p:nvGrpSpPr>
        <p:grpSpPr>
          <a:xfrm>
            <a:off x="5926809" y="1972534"/>
            <a:ext cx="155575" cy="155575"/>
            <a:chOff x="5926809" y="1972534"/>
            <a:chExt cx="155575" cy="155575"/>
          </a:xfrm>
        </p:grpSpPr>
        <p:sp>
          <p:nvSpPr>
            <p:cNvPr id="41" name="object 41"/>
            <p:cNvSpPr/>
            <p:nvPr/>
          </p:nvSpPr>
          <p:spPr>
            <a:xfrm>
              <a:off x="5928751" y="1974476"/>
              <a:ext cx="151130" cy="151765"/>
            </a:xfrm>
            <a:custGeom>
              <a:avLst/>
              <a:gdLst/>
              <a:ahLst/>
              <a:cxnLst/>
              <a:rect l="l" t="t" r="r" b="b"/>
              <a:pathLst>
                <a:path w="151129" h="151764">
                  <a:moveTo>
                    <a:pt x="151089" y="0"/>
                  </a:moveTo>
                  <a:lnTo>
                    <a:pt x="0" y="0"/>
                  </a:lnTo>
                  <a:lnTo>
                    <a:pt x="0" y="151393"/>
                  </a:lnTo>
                  <a:lnTo>
                    <a:pt x="151089" y="151393"/>
                  </a:lnTo>
                  <a:lnTo>
                    <a:pt x="151089" y="0"/>
                  </a:lnTo>
                  <a:close/>
                </a:path>
              </a:pathLst>
            </a:custGeom>
            <a:solidFill>
              <a:srgbClr val="F2CE61"/>
            </a:solidFill>
          </p:spPr>
          <p:txBody>
            <a:bodyPr wrap="square" lIns="0" tIns="0" rIns="0" bIns="0" rtlCol="0"/>
            <a:lstStyle/>
            <a:p>
              <a:endParaRPr/>
            </a:p>
          </p:txBody>
        </p:sp>
        <p:sp>
          <p:nvSpPr>
            <p:cNvPr id="42" name="object 42"/>
            <p:cNvSpPr/>
            <p:nvPr/>
          </p:nvSpPr>
          <p:spPr>
            <a:xfrm>
              <a:off x="5928751" y="1974476"/>
              <a:ext cx="151130" cy="151765"/>
            </a:xfrm>
            <a:custGeom>
              <a:avLst/>
              <a:gdLst/>
              <a:ahLst/>
              <a:cxnLst/>
              <a:rect l="l" t="t" r="r" b="b"/>
              <a:pathLst>
                <a:path w="151129" h="151764">
                  <a:moveTo>
                    <a:pt x="0" y="151393"/>
                  </a:moveTo>
                  <a:lnTo>
                    <a:pt x="151089" y="151393"/>
                  </a:lnTo>
                  <a:lnTo>
                    <a:pt x="151089" y="0"/>
                  </a:lnTo>
                  <a:lnTo>
                    <a:pt x="0" y="0"/>
                  </a:lnTo>
                  <a:lnTo>
                    <a:pt x="0" y="151393"/>
                  </a:lnTo>
                  <a:close/>
                </a:path>
              </a:pathLst>
            </a:custGeom>
            <a:ln w="3883">
              <a:solidFill>
                <a:srgbClr val="000000"/>
              </a:solidFill>
            </a:ln>
          </p:spPr>
          <p:txBody>
            <a:bodyPr wrap="square" lIns="0" tIns="0" rIns="0" bIns="0" rtlCol="0"/>
            <a:lstStyle/>
            <a:p>
              <a:endParaRPr/>
            </a:p>
          </p:txBody>
        </p:sp>
      </p:grpSp>
      <p:grpSp>
        <p:nvGrpSpPr>
          <p:cNvPr id="43" name="object 43"/>
          <p:cNvGrpSpPr/>
          <p:nvPr/>
        </p:nvGrpSpPr>
        <p:grpSpPr>
          <a:xfrm>
            <a:off x="5926809" y="2183485"/>
            <a:ext cx="155575" cy="155575"/>
            <a:chOff x="5926809" y="2183485"/>
            <a:chExt cx="155575" cy="155575"/>
          </a:xfrm>
        </p:grpSpPr>
        <p:sp>
          <p:nvSpPr>
            <p:cNvPr id="44" name="object 44"/>
            <p:cNvSpPr/>
            <p:nvPr/>
          </p:nvSpPr>
          <p:spPr>
            <a:xfrm>
              <a:off x="5928751" y="2185427"/>
              <a:ext cx="151130" cy="151765"/>
            </a:xfrm>
            <a:custGeom>
              <a:avLst/>
              <a:gdLst/>
              <a:ahLst/>
              <a:cxnLst/>
              <a:rect l="l" t="t" r="r" b="b"/>
              <a:pathLst>
                <a:path w="151129" h="151764">
                  <a:moveTo>
                    <a:pt x="151089" y="0"/>
                  </a:moveTo>
                  <a:lnTo>
                    <a:pt x="0" y="0"/>
                  </a:lnTo>
                  <a:lnTo>
                    <a:pt x="0" y="151393"/>
                  </a:lnTo>
                  <a:lnTo>
                    <a:pt x="151089" y="151393"/>
                  </a:lnTo>
                  <a:lnTo>
                    <a:pt x="151089" y="0"/>
                  </a:lnTo>
                  <a:close/>
                </a:path>
              </a:pathLst>
            </a:custGeom>
            <a:solidFill>
              <a:srgbClr val="FFD92F"/>
            </a:solidFill>
          </p:spPr>
          <p:txBody>
            <a:bodyPr wrap="square" lIns="0" tIns="0" rIns="0" bIns="0" rtlCol="0"/>
            <a:lstStyle/>
            <a:p>
              <a:endParaRPr/>
            </a:p>
          </p:txBody>
        </p:sp>
        <p:sp>
          <p:nvSpPr>
            <p:cNvPr id="45" name="object 45"/>
            <p:cNvSpPr/>
            <p:nvPr/>
          </p:nvSpPr>
          <p:spPr>
            <a:xfrm>
              <a:off x="5928751" y="2185427"/>
              <a:ext cx="151130" cy="151765"/>
            </a:xfrm>
            <a:custGeom>
              <a:avLst/>
              <a:gdLst/>
              <a:ahLst/>
              <a:cxnLst/>
              <a:rect l="l" t="t" r="r" b="b"/>
              <a:pathLst>
                <a:path w="151129" h="151764">
                  <a:moveTo>
                    <a:pt x="0" y="151393"/>
                  </a:moveTo>
                  <a:lnTo>
                    <a:pt x="151089" y="151393"/>
                  </a:lnTo>
                  <a:lnTo>
                    <a:pt x="151089" y="0"/>
                  </a:lnTo>
                  <a:lnTo>
                    <a:pt x="0" y="0"/>
                  </a:lnTo>
                  <a:lnTo>
                    <a:pt x="0" y="151393"/>
                  </a:lnTo>
                  <a:close/>
                </a:path>
              </a:pathLst>
            </a:custGeom>
            <a:ln w="3883">
              <a:solidFill>
                <a:srgbClr val="000000"/>
              </a:solidFill>
            </a:ln>
          </p:spPr>
          <p:txBody>
            <a:bodyPr wrap="square" lIns="0" tIns="0" rIns="0" bIns="0" rtlCol="0"/>
            <a:lstStyle/>
            <a:p>
              <a:endParaRPr/>
            </a:p>
          </p:txBody>
        </p:sp>
      </p:grpSp>
      <p:grpSp>
        <p:nvGrpSpPr>
          <p:cNvPr id="46" name="object 46"/>
          <p:cNvGrpSpPr/>
          <p:nvPr/>
        </p:nvGrpSpPr>
        <p:grpSpPr>
          <a:xfrm>
            <a:off x="5926809" y="2394456"/>
            <a:ext cx="155575" cy="155575"/>
            <a:chOff x="5926809" y="2394456"/>
            <a:chExt cx="155575" cy="155575"/>
          </a:xfrm>
        </p:grpSpPr>
        <p:sp>
          <p:nvSpPr>
            <p:cNvPr id="47" name="object 47"/>
            <p:cNvSpPr/>
            <p:nvPr/>
          </p:nvSpPr>
          <p:spPr>
            <a:xfrm>
              <a:off x="5928751" y="2396398"/>
              <a:ext cx="151130" cy="151765"/>
            </a:xfrm>
            <a:custGeom>
              <a:avLst/>
              <a:gdLst/>
              <a:ahLst/>
              <a:cxnLst/>
              <a:rect l="l" t="t" r="r" b="b"/>
              <a:pathLst>
                <a:path w="151129" h="151764">
                  <a:moveTo>
                    <a:pt x="151089" y="0"/>
                  </a:moveTo>
                  <a:lnTo>
                    <a:pt x="0" y="0"/>
                  </a:lnTo>
                  <a:lnTo>
                    <a:pt x="0" y="151393"/>
                  </a:lnTo>
                  <a:lnTo>
                    <a:pt x="151089" y="151393"/>
                  </a:lnTo>
                  <a:lnTo>
                    <a:pt x="151089" y="0"/>
                  </a:lnTo>
                  <a:close/>
                </a:path>
              </a:pathLst>
            </a:custGeom>
            <a:solidFill>
              <a:srgbClr val="C49696"/>
            </a:solidFill>
          </p:spPr>
          <p:txBody>
            <a:bodyPr wrap="square" lIns="0" tIns="0" rIns="0" bIns="0" rtlCol="0"/>
            <a:lstStyle/>
            <a:p>
              <a:endParaRPr/>
            </a:p>
          </p:txBody>
        </p:sp>
        <p:sp>
          <p:nvSpPr>
            <p:cNvPr id="48" name="object 48"/>
            <p:cNvSpPr/>
            <p:nvPr/>
          </p:nvSpPr>
          <p:spPr>
            <a:xfrm>
              <a:off x="5928751" y="2396398"/>
              <a:ext cx="151130" cy="151765"/>
            </a:xfrm>
            <a:custGeom>
              <a:avLst/>
              <a:gdLst/>
              <a:ahLst/>
              <a:cxnLst/>
              <a:rect l="l" t="t" r="r" b="b"/>
              <a:pathLst>
                <a:path w="151129" h="151764">
                  <a:moveTo>
                    <a:pt x="0" y="151393"/>
                  </a:moveTo>
                  <a:lnTo>
                    <a:pt x="151089" y="151393"/>
                  </a:lnTo>
                  <a:lnTo>
                    <a:pt x="151089" y="0"/>
                  </a:lnTo>
                  <a:lnTo>
                    <a:pt x="0" y="0"/>
                  </a:lnTo>
                  <a:lnTo>
                    <a:pt x="0" y="151393"/>
                  </a:lnTo>
                  <a:close/>
                </a:path>
              </a:pathLst>
            </a:custGeom>
            <a:ln w="3883">
              <a:solidFill>
                <a:srgbClr val="000000"/>
              </a:solidFill>
            </a:ln>
          </p:spPr>
          <p:txBody>
            <a:bodyPr wrap="square" lIns="0" tIns="0" rIns="0" bIns="0" rtlCol="0"/>
            <a:lstStyle/>
            <a:p>
              <a:endParaRPr/>
            </a:p>
          </p:txBody>
        </p:sp>
      </p:grpSp>
      <p:grpSp>
        <p:nvGrpSpPr>
          <p:cNvPr id="49" name="object 49"/>
          <p:cNvGrpSpPr/>
          <p:nvPr/>
        </p:nvGrpSpPr>
        <p:grpSpPr>
          <a:xfrm>
            <a:off x="5926809" y="2605407"/>
            <a:ext cx="155575" cy="155575"/>
            <a:chOff x="5926809" y="2605407"/>
            <a:chExt cx="155575" cy="155575"/>
          </a:xfrm>
        </p:grpSpPr>
        <p:sp>
          <p:nvSpPr>
            <p:cNvPr id="50" name="object 50"/>
            <p:cNvSpPr/>
            <p:nvPr/>
          </p:nvSpPr>
          <p:spPr>
            <a:xfrm>
              <a:off x="5928751" y="2607349"/>
              <a:ext cx="151130" cy="151765"/>
            </a:xfrm>
            <a:custGeom>
              <a:avLst/>
              <a:gdLst/>
              <a:ahLst/>
              <a:cxnLst/>
              <a:rect l="l" t="t" r="r" b="b"/>
              <a:pathLst>
                <a:path w="151129" h="151764">
                  <a:moveTo>
                    <a:pt x="151089" y="0"/>
                  </a:moveTo>
                  <a:lnTo>
                    <a:pt x="0" y="0"/>
                  </a:lnTo>
                  <a:lnTo>
                    <a:pt x="0" y="151393"/>
                  </a:lnTo>
                  <a:lnTo>
                    <a:pt x="151089" y="151393"/>
                  </a:lnTo>
                  <a:lnTo>
                    <a:pt x="151089" y="0"/>
                  </a:lnTo>
                  <a:close/>
                </a:path>
              </a:pathLst>
            </a:custGeom>
            <a:solidFill>
              <a:srgbClr val="CCBBA3"/>
            </a:solidFill>
          </p:spPr>
          <p:txBody>
            <a:bodyPr wrap="square" lIns="0" tIns="0" rIns="0" bIns="0" rtlCol="0"/>
            <a:lstStyle/>
            <a:p>
              <a:endParaRPr/>
            </a:p>
          </p:txBody>
        </p:sp>
        <p:sp>
          <p:nvSpPr>
            <p:cNvPr id="51" name="object 51"/>
            <p:cNvSpPr/>
            <p:nvPr/>
          </p:nvSpPr>
          <p:spPr>
            <a:xfrm>
              <a:off x="5928751" y="2607349"/>
              <a:ext cx="151130" cy="151765"/>
            </a:xfrm>
            <a:custGeom>
              <a:avLst/>
              <a:gdLst/>
              <a:ahLst/>
              <a:cxnLst/>
              <a:rect l="l" t="t" r="r" b="b"/>
              <a:pathLst>
                <a:path w="151129" h="151764">
                  <a:moveTo>
                    <a:pt x="0" y="151393"/>
                  </a:moveTo>
                  <a:lnTo>
                    <a:pt x="151089" y="151393"/>
                  </a:lnTo>
                  <a:lnTo>
                    <a:pt x="151089" y="0"/>
                  </a:lnTo>
                  <a:lnTo>
                    <a:pt x="0" y="0"/>
                  </a:lnTo>
                  <a:lnTo>
                    <a:pt x="0" y="151393"/>
                  </a:lnTo>
                  <a:close/>
                </a:path>
              </a:pathLst>
            </a:custGeom>
            <a:ln w="3883">
              <a:solidFill>
                <a:srgbClr val="000000"/>
              </a:solidFill>
            </a:ln>
          </p:spPr>
          <p:txBody>
            <a:bodyPr wrap="square" lIns="0" tIns="0" rIns="0" bIns="0" rtlCol="0"/>
            <a:lstStyle/>
            <a:p>
              <a:endParaRPr/>
            </a:p>
          </p:txBody>
        </p:sp>
      </p:grpSp>
      <p:grpSp>
        <p:nvGrpSpPr>
          <p:cNvPr id="52" name="object 52"/>
          <p:cNvGrpSpPr/>
          <p:nvPr/>
        </p:nvGrpSpPr>
        <p:grpSpPr>
          <a:xfrm>
            <a:off x="5926809" y="2816379"/>
            <a:ext cx="155575" cy="155575"/>
            <a:chOff x="5926809" y="2816379"/>
            <a:chExt cx="155575" cy="155575"/>
          </a:xfrm>
        </p:grpSpPr>
        <p:sp>
          <p:nvSpPr>
            <p:cNvPr id="53" name="object 53"/>
            <p:cNvSpPr/>
            <p:nvPr/>
          </p:nvSpPr>
          <p:spPr>
            <a:xfrm>
              <a:off x="5928751" y="2818321"/>
              <a:ext cx="151130" cy="151765"/>
            </a:xfrm>
            <a:custGeom>
              <a:avLst/>
              <a:gdLst/>
              <a:ahLst/>
              <a:cxnLst/>
              <a:rect l="l" t="t" r="r" b="b"/>
              <a:pathLst>
                <a:path w="151129" h="151764">
                  <a:moveTo>
                    <a:pt x="151089" y="0"/>
                  </a:moveTo>
                  <a:lnTo>
                    <a:pt x="0" y="0"/>
                  </a:lnTo>
                  <a:lnTo>
                    <a:pt x="0" y="151393"/>
                  </a:lnTo>
                  <a:lnTo>
                    <a:pt x="151089" y="151393"/>
                  </a:lnTo>
                  <a:lnTo>
                    <a:pt x="151089" y="0"/>
                  </a:lnTo>
                  <a:close/>
                </a:path>
              </a:pathLst>
            </a:custGeom>
            <a:solidFill>
              <a:srgbClr val="BA95C7"/>
            </a:solidFill>
          </p:spPr>
          <p:txBody>
            <a:bodyPr wrap="square" lIns="0" tIns="0" rIns="0" bIns="0" rtlCol="0"/>
            <a:lstStyle/>
            <a:p>
              <a:endParaRPr/>
            </a:p>
          </p:txBody>
        </p:sp>
        <p:sp>
          <p:nvSpPr>
            <p:cNvPr id="54" name="object 54"/>
            <p:cNvSpPr/>
            <p:nvPr/>
          </p:nvSpPr>
          <p:spPr>
            <a:xfrm>
              <a:off x="5928751" y="2818321"/>
              <a:ext cx="151130" cy="151765"/>
            </a:xfrm>
            <a:custGeom>
              <a:avLst/>
              <a:gdLst/>
              <a:ahLst/>
              <a:cxnLst/>
              <a:rect l="l" t="t" r="r" b="b"/>
              <a:pathLst>
                <a:path w="151129" h="151764">
                  <a:moveTo>
                    <a:pt x="0" y="151393"/>
                  </a:moveTo>
                  <a:lnTo>
                    <a:pt x="151089" y="151393"/>
                  </a:lnTo>
                  <a:lnTo>
                    <a:pt x="151089" y="0"/>
                  </a:lnTo>
                  <a:lnTo>
                    <a:pt x="0" y="0"/>
                  </a:lnTo>
                  <a:lnTo>
                    <a:pt x="0" y="151393"/>
                  </a:lnTo>
                  <a:close/>
                </a:path>
              </a:pathLst>
            </a:custGeom>
            <a:ln w="3883">
              <a:solidFill>
                <a:srgbClr val="000000"/>
              </a:solidFill>
            </a:ln>
          </p:spPr>
          <p:txBody>
            <a:bodyPr wrap="square" lIns="0" tIns="0" rIns="0" bIns="0" rtlCol="0"/>
            <a:lstStyle/>
            <a:p>
              <a:endParaRPr/>
            </a:p>
          </p:txBody>
        </p:sp>
      </p:grpSp>
      <p:sp>
        <p:nvSpPr>
          <p:cNvPr id="55" name="object 55"/>
          <p:cNvSpPr/>
          <p:nvPr/>
        </p:nvSpPr>
        <p:spPr>
          <a:xfrm>
            <a:off x="5928751" y="3029271"/>
            <a:ext cx="151130" cy="151765"/>
          </a:xfrm>
          <a:custGeom>
            <a:avLst/>
            <a:gdLst/>
            <a:ahLst/>
            <a:cxnLst/>
            <a:rect l="l" t="t" r="r" b="b"/>
            <a:pathLst>
              <a:path w="151129" h="151764">
                <a:moveTo>
                  <a:pt x="0" y="151393"/>
                </a:moveTo>
                <a:lnTo>
                  <a:pt x="151089" y="151393"/>
                </a:lnTo>
                <a:lnTo>
                  <a:pt x="151089" y="0"/>
                </a:lnTo>
                <a:lnTo>
                  <a:pt x="0" y="0"/>
                </a:lnTo>
                <a:lnTo>
                  <a:pt x="0" y="151393"/>
                </a:lnTo>
                <a:close/>
              </a:path>
            </a:pathLst>
          </a:custGeom>
          <a:ln w="3883">
            <a:solidFill>
              <a:srgbClr val="000000"/>
            </a:solidFill>
          </a:ln>
        </p:spPr>
        <p:txBody>
          <a:bodyPr wrap="square" lIns="0" tIns="0" rIns="0" bIns="0" rtlCol="0"/>
          <a:lstStyle/>
          <a:p>
            <a:endParaRPr/>
          </a:p>
        </p:txBody>
      </p:sp>
      <p:sp>
        <p:nvSpPr>
          <p:cNvPr id="56" name="object 56"/>
          <p:cNvSpPr txBox="1"/>
          <p:nvPr/>
        </p:nvSpPr>
        <p:spPr>
          <a:xfrm>
            <a:off x="5913411" y="-21389"/>
            <a:ext cx="2734945" cy="3206750"/>
          </a:xfrm>
          <a:prstGeom prst="rect">
            <a:avLst/>
          </a:prstGeom>
        </p:spPr>
        <p:txBody>
          <a:bodyPr vert="horz" wrap="square" lIns="0" tIns="74930" rIns="0" bIns="0" rtlCol="0">
            <a:spAutoFit/>
          </a:bodyPr>
          <a:lstStyle/>
          <a:p>
            <a:pPr marL="12700">
              <a:lnSpc>
                <a:spcPct val="100000"/>
              </a:lnSpc>
              <a:spcBef>
                <a:spcPts val="590"/>
              </a:spcBef>
            </a:pPr>
            <a:r>
              <a:rPr sz="1000" b="1" dirty="0">
                <a:latin typeface="Arial"/>
                <a:cs typeface="Arial"/>
              </a:rPr>
              <a:t>Biological</a:t>
            </a:r>
            <a:r>
              <a:rPr sz="1000" b="1" spc="-55" dirty="0">
                <a:latin typeface="Arial"/>
                <a:cs typeface="Arial"/>
              </a:rPr>
              <a:t> </a:t>
            </a:r>
            <a:r>
              <a:rPr sz="1000" b="1" spc="-10" dirty="0">
                <a:latin typeface="Arial"/>
                <a:cs typeface="Arial"/>
              </a:rPr>
              <a:t>process</a:t>
            </a:r>
            <a:endParaRPr sz="1000">
              <a:latin typeface="Arial"/>
              <a:cs typeface="Arial"/>
            </a:endParaRPr>
          </a:p>
          <a:p>
            <a:pPr marL="218440" marR="396240">
              <a:lnSpc>
                <a:spcPct val="138900"/>
              </a:lnSpc>
              <a:spcBef>
                <a:spcPts val="20"/>
              </a:spcBef>
            </a:pPr>
            <a:r>
              <a:rPr sz="1000" dirty="0">
                <a:latin typeface="Arial"/>
                <a:cs typeface="Arial"/>
              </a:rPr>
              <a:t>Protein</a:t>
            </a:r>
            <a:r>
              <a:rPr sz="1000" spc="-45" dirty="0">
                <a:latin typeface="Arial"/>
                <a:cs typeface="Arial"/>
              </a:rPr>
              <a:t> </a:t>
            </a:r>
            <a:r>
              <a:rPr sz="1000" dirty="0">
                <a:latin typeface="Arial"/>
                <a:cs typeface="Arial"/>
              </a:rPr>
              <a:t>folding</a:t>
            </a:r>
            <a:r>
              <a:rPr sz="1000" spc="-40" dirty="0">
                <a:latin typeface="Arial"/>
                <a:cs typeface="Arial"/>
              </a:rPr>
              <a:t> </a:t>
            </a:r>
            <a:r>
              <a:rPr sz="1000" dirty="0">
                <a:latin typeface="Arial"/>
                <a:cs typeface="Arial"/>
              </a:rPr>
              <a:t>and</a:t>
            </a:r>
            <a:r>
              <a:rPr sz="1000" spc="-40" dirty="0">
                <a:latin typeface="Arial"/>
                <a:cs typeface="Arial"/>
              </a:rPr>
              <a:t> </a:t>
            </a:r>
            <a:r>
              <a:rPr sz="1000" dirty="0">
                <a:latin typeface="Arial"/>
                <a:cs typeface="Arial"/>
              </a:rPr>
              <a:t>stress</a:t>
            </a:r>
            <a:r>
              <a:rPr sz="1000" spc="-40" dirty="0">
                <a:latin typeface="Arial"/>
                <a:cs typeface="Arial"/>
              </a:rPr>
              <a:t> </a:t>
            </a:r>
            <a:r>
              <a:rPr sz="1000" spc="-10" dirty="0">
                <a:latin typeface="Arial"/>
                <a:cs typeface="Arial"/>
              </a:rPr>
              <a:t>chaperones Carbohydrate</a:t>
            </a:r>
            <a:r>
              <a:rPr sz="1000" spc="10" dirty="0">
                <a:latin typeface="Arial"/>
                <a:cs typeface="Arial"/>
              </a:rPr>
              <a:t> </a:t>
            </a:r>
            <a:r>
              <a:rPr sz="1000" spc="-10" dirty="0">
                <a:latin typeface="Arial"/>
                <a:cs typeface="Arial"/>
              </a:rPr>
              <a:t>metabolism</a:t>
            </a:r>
            <a:endParaRPr sz="1000">
              <a:latin typeface="Arial"/>
              <a:cs typeface="Arial"/>
            </a:endParaRPr>
          </a:p>
          <a:p>
            <a:pPr marL="218440" marR="165735">
              <a:lnSpc>
                <a:spcPct val="138900"/>
              </a:lnSpc>
            </a:pPr>
            <a:r>
              <a:rPr sz="1000" spc="-10" dirty="0">
                <a:latin typeface="Arial"/>
                <a:cs typeface="Arial"/>
              </a:rPr>
              <a:t>Oxidative</a:t>
            </a:r>
            <a:r>
              <a:rPr sz="1000" spc="-15" dirty="0">
                <a:latin typeface="Arial"/>
                <a:cs typeface="Arial"/>
              </a:rPr>
              <a:t> </a:t>
            </a:r>
            <a:r>
              <a:rPr sz="1000" dirty="0">
                <a:latin typeface="Arial"/>
                <a:cs typeface="Arial"/>
              </a:rPr>
              <a:t>stress</a:t>
            </a:r>
            <a:r>
              <a:rPr sz="1000" spc="-15" dirty="0">
                <a:latin typeface="Arial"/>
                <a:cs typeface="Arial"/>
              </a:rPr>
              <a:t> </a:t>
            </a:r>
            <a:r>
              <a:rPr sz="1000" spc="-10" dirty="0">
                <a:latin typeface="Arial"/>
                <a:cs typeface="Arial"/>
              </a:rPr>
              <a:t>response</a:t>
            </a:r>
            <a:r>
              <a:rPr sz="1000" spc="-15" dirty="0">
                <a:latin typeface="Arial"/>
                <a:cs typeface="Arial"/>
              </a:rPr>
              <a:t> </a:t>
            </a:r>
            <a:r>
              <a:rPr sz="1000" dirty="0">
                <a:latin typeface="Arial"/>
                <a:cs typeface="Arial"/>
              </a:rPr>
              <a:t>and</a:t>
            </a:r>
            <a:r>
              <a:rPr sz="1000" spc="-15" dirty="0">
                <a:latin typeface="Arial"/>
                <a:cs typeface="Arial"/>
              </a:rPr>
              <a:t> </a:t>
            </a:r>
            <a:r>
              <a:rPr sz="1000" dirty="0">
                <a:latin typeface="Arial"/>
                <a:cs typeface="Arial"/>
              </a:rPr>
              <a:t>ROS</a:t>
            </a:r>
            <a:r>
              <a:rPr sz="1000" spc="-15" dirty="0">
                <a:latin typeface="Arial"/>
                <a:cs typeface="Arial"/>
              </a:rPr>
              <a:t> </a:t>
            </a:r>
            <a:r>
              <a:rPr sz="1000" spc="-10" dirty="0">
                <a:latin typeface="Arial"/>
                <a:cs typeface="Arial"/>
              </a:rPr>
              <a:t>detox Water</a:t>
            </a:r>
            <a:r>
              <a:rPr sz="1000" spc="-35" dirty="0">
                <a:latin typeface="Arial"/>
                <a:cs typeface="Arial"/>
              </a:rPr>
              <a:t> </a:t>
            </a:r>
            <a:r>
              <a:rPr sz="1000" dirty="0">
                <a:latin typeface="Arial"/>
                <a:cs typeface="Arial"/>
              </a:rPr>
              <a:t>deficit</a:t>
            </a:r>
            <a:r>
              <a:rPr sz="1000" spc="-35" dirty="0">
                <a:latin typeface="Arial"/>
                <a:cs typeface="Arial"/>
              </a:rPr>
              <a:t> </a:t>
            </a:r>
            <a:r>
              <a:rPr sz="1000" dirty="0">
                <a:latin typeface="Arial"/>
                <a:cs typeface="Arial"/>
              </a:rPr>
              <a:t>and</a:t>
            </a:r>
            <a:r>
              <a:rPr sz="1000" spc="-35" dirty="0">
                <a:latin typeface="Arial"/>
                <a:cs typeface="Arial"/>
              </a:rPr>
              <a:t> </a:t>
            </a:r>
            <a:r>
              <a:rPr sz="1000" dirty="0">
                <a:latin typeface="Arial"/>
                <a:cs typeface="Arial"/>
              </a:rPr>
              <a:t>cold</a:t>
            </a:r>
            <a:r>
              <a:rPr sz="1000" spc="-35" dirty="0">
                <a:latin typeface="Arial"/>
                <a:cs typeface="Arial"/>
              </a:rPr>
              <a:t> </a:t>
            </a:r>
            <a:r>
              <a:rPr sz="1000" dirty="0">
                <a:latin typeface="Arial"/>
                <a:cs typeface="Arial"/>
              </a:rPr>
              <a:t>stress</a:t>
            </a:r>
            <a:r>
              <a:rPr sz="1000" spc="-30" dirty="0">
                <a:latin typeface="Arial"/>
                <a:cs typeface="Arial"/>
              </a:rPr>
              <a:t> </a:t>
            </a:r>
            <a:r>
              <a:rPr sz="1000" spc="-10" dirty="0">
                <a:latin typeface="Arial"/>
                <a:cs typeface="Arial"/>
              </a:rPr>
              <a:t>responses </a:t>
            </a:r>
            <a:r>
              <a:rPr sz="1000" dirty="0">
                <a:latin typeface="Arial"/>
                <a:cs typeface="Arial"/>
              </a:rPr>
              <a:t>Amino</a:t>
            </a:r>
            <a:r>
              <a:rPr sz="1000" spc="-40" dirty="0">
                <a:latin typeface="Arial"/>
                <a:cs typeface="Arial"/>
              </a:rPr>
              <a:t> </a:t>
            </a:r>
            <a:r>
              <a:rPr sz="1000" dirty="0">
                <a:latin typeface="Arial"/>
                <a:cs typeface="Arial"/>
              </a:rPr>
              <a:t>acid</a:t>
            </a:r>
            <a:r>
              <a:rPr sz="1000" spc="-35" dirty="0">
                <a:latin typeface="Arial"/>
                <a:cs typeface="Arial"/>
              </a:rPr>
              <a:t> </a:t>
            </a:r>
            <a:r>
              <a:rPr sz="1000" dirty="0">
                <a:latin typeface="Arial"/>
                <a:cs typeface="Arial"/>
              </a:rPr>
              <a:t>and</a:t>
            </a:r>
            <a:r>
              <a:rPr sz="1000" spc="-35" dirty="0">
                <a:latin typeface="Arial"/>
                <a:cs typeface="Arial"/>
              </a:rPr>
              <a:t> </a:t>
            </a:r>
            <a:r>
              <a:rPr sz="1000" dirty="0">
                <a:latin typeface="Arial"/>
                <a:cs typeface="Arial"/>
              </a:rPr>
              <a:t>peptide</a:t>
            </a:r>
            <a:r>
              <a:rPr sz="1000" spc="-35" dirty="0">
                <a:latin typeface="Arial"/>
                <a:cs typeface="Arial"/>
              </a:rPr>
              <a:t> </a:t>
            </a:r>
            <a:r>
              <a:rPr sz="1000" spc="-10" dirty="0">
                <a:latin typeface="Arial"/>
                <a:cs typeface="Arial"/>
              </a:rPr>
              <a:t>biosynthesis</a:t>
            </a:r>
            <a:endParaRPr sz="1000">
              <a:latin typeface="Arial"/>
              <a:cs typeface="Arial"/>
            </a:endParaRPr>
          </a:p>
          <a:p>
            <a:pPr marL="218440" marR="1200785">
              <a:lnSpc>
                <a:spcPct val="138900"/>
              </a:lnSpc>
            </a:pPr>
            <a:r>
              <a:rPr sz="1000" spc="-10" dirty="0">
                <a:latin typeface="Arial"/>
                <a:cs typeface="Arial"/>
              </a:rPr>
              <a:t>ABA</a:t>
            </a:r>
            <a:r>
              <a:rPr sz="1000" spc="-60" dirty="0">
                <a:latin typeface="Arial"/>
                <a:cs typeface="Arial"/>
              </a:rPr>
              <a:t> </a:t>
            </a:r>
            <a:r>
              <a:rPr sz="1000" spc="-10" dirty="0">
                <a:latin typeface="Arial"/>
                <a:cs typeface="Arial"/>
              </a:rPr>
              <a:t>hormone</a:t>
            </a:r>
            <a:r>
              <a:rPr sz="1000" spc="5" dirty="0">
                <a:latin typeface="Arial"/>
                <a:cs typeface="Arial"/>
              </a:rPr>
              <a:t> </a:t>
            </a:r>
            <a:r>
              <a:rPr sz="1000" spc="-10" dirty="0">
                <a:latin typeface="Arial"/>
                <a:cs typeface="Arial"/>
              </a:rPr>
              <a:t>signaling Response </a:t>
            </a:r>
            <a:r>
              <a:rPr sz="1000" dirty="0">
                <a:latin typeface="Arial"/>
                <a:cs typeface="Arial"/>
              </a:rPr>
              <a:t>to</a:t>
            </a:r>
            <a:r>
              <a:rPr sz="1000" spc="-5" dirty="0">
                <a:latin typeface="Arial"/>
                <a:cs typeface="Arial"/>
              </a:rPr>
              <a:t> </a:t>
            </a:r>
            <a:r>
              <a:rPr sz="1000" spc="-20" dirty="0">
                <a:latin typeface="Arial"/>
                <a:cs typeface="Arial"/>
              </a:rPr>
              <a:t>heat</a:t>
            </a:r>
            <a:endParaRPr sz="1000">
              <a:latin typeface="Arial"/>
              <a:cs typeface="Arial"/>
            </a:endParaRPr>
          </a:p>
          <a:p>
            <a:pPr marL="218440" marR="74295">
              <a:lnSpc>
                <a:spcPct val="138900"/>
              </a:lnSpc>
            </a:pPr>
            <a:r>
              <a:rPr sz="1000" spc="-10" dirty="0">
                <a:latin typeface="Arial"/>
                <a:cs typeface="Arial"/>
              </a:rPr>
              <a:t>Defense</a:t>
            </a:r>
            <a:r>
              <a:rPr sz="1000" spc="-35" dirty="0">
                <a:latin typeface="Arial"/>
                <a:cs typeface="Arial"/>
              </a:rPr>
              <a:t> </a:t>
            </a:r>
            <a:r>
              <a:rPr sz="1000" dirty="0">
                <a:latin typeface="Arial"/>
                <a:cs typeface="Arial"/>
              </a:rPr>
              <a:t>response</a:t>
            </a:r>
            <a:r>
              <a:rPr sz="1000" spc="-30" dirty="0">
                <a:latin typeface="Arial"/>
                <a:cs typeface="Arial"/>
              </a:rPr>
              <a:t> </a:t>
            </a:r>
            <a:r>
              <a:rPr sz="1000" dirty="0">
                <a:latin typeface="Arial"/>
                <a:cs typeface="Arial"/>
              </a:rPr>
              <a:t>and</a:t>
            </a:r>
            <a:r>
              <a:rPr sz="1000" spc="-30" dirty="0">
                <a:latin typeface="Arial"/>
                <a:cs typeface="Arial"/>
              </a:rPr>
              <a:t> </a:t>
            </a:r>
            <a:r>
              <a:rPr sz="1000" dirty="0">
                <a:latin typeface="Arial"/>
                <a:cs typeface="Arial"/>
              </a:rPr>
              <a:t>pathogen</a:t>
            </a:r>
            <a:r>
              <a:rPr sz="1000" spc="-30" dirty="0">
                <a:latin typeface="Arial"/>
                <a:cs typeface="Arial"/>
              </a:rPr>
              <a:t> </a:t>
            </a:r>
            <a:r>
              <a:rPr sz="1000" spc="-10" dirty="0">
                <a:latin typeface="Arial"/>
                <a:cs typeface="Arial"/>
              </a:rPr>
              <a:t>resistance polysaccharide</a:t>
            </a:r>
            <a:r>
              <a:rPr sz="1000" spc="55" dirty="0">
                <a:latin typeface="Arial"/>
                <a:cs typeface="Arial"/>
              </a:rPr>
              <a:t> </a:t>
            </a:r>
            <a:r>
              <a:rPr sz="1000" spc="-10" dirty="0">
                <a:latin typeface="Arial"/>
                <a:cs typeface="Arial"/>
              </a:rPr>
              <a:t>catabolism</a:t>
            </a:r>
            <a:endParaRPr sz="1000">
              <a:latin typeface="Arial"/>
              <a:cs typeface="Arial"/>
            </a:endParaRPr>
          </a:p>
          <a:p>
            <a:pPr marL="218440" marR="263525">
              <a:lnSpc>
                <a:spcPct val="138900"/>
              </a:lnSpc>
            </a:pPr>
            <a:r>
              <a:rPr sz="1000" spc="-10" dirty="0">
                <a:latin typeface="Arial"/>
                <a:cs typeface="Arial"/>
              </a:rPr>
              <a:t>Nucleotide</a:t>
            </a:r>
            <a:r>
              <a:rPr sz="1000" spc="-25" dirty="0">
                <a:latin typeface="Arial"/>
                <a:cs typeface="Arial"/>
              </a:rPr>
              <a:t> </a:t>
            </a:r>
            <a:r>
              <a:rPr sz="1000" dirty="0">
                <a:latin typeface="Arial"/>
                <a:cs typeface="Arial"/>
              </a:rPr>
              <a:t>biosynthesis</a:t>
            </a:r>
            <a:r>
              <a:rPr sz="1000" spc="-20" dirty="0">
                <a:latin typeface="Arial"/>
                <a:cs typeface="Arial"/>
              </a:rPr>
              <a:t> </a:t>
            </a:r>
            <a:r>
              <a:rPr sz="1000" dirty="0">
                <a:latin typeface="Arial"/>
                <a:cs typeface="Arial"/>
              </a:rPr>
              <a:t>and</a:t>
            </a:r>
            <a:r>
              <a:rPr sz="1000" spc="-25" dirty="0">
                <a:latin typeface="Arial"/>
                <a:cs typeface="Arial"/>
              </a:rPr>
              <a:t> </a:t>
            </a:r>
            <a:r>
              <a:rPr sz="1000" spc="-10" dirty="0">
                <a:latin typeface="Arial"/>
                <a:cs typeface="Arial"/>
              </a:rPr>
              <a:t>metabolism Specialized</a:t>
            </a:r>
            <a:r>
              <a:rPr sz="1000" dirty="0">
                <a:latin typeface="Arial"/>
                <a:cs typeface="Arial"/>
              </a:rPr>
              <a:t> </a:t>
            </a:r>
            <a:r>
              <a:rPr sz="1000" spc="-10" dirty="0">
                <a:latin typeface="Arial"/>
                <a:cs typeface="Arial"/>
              </a:rPr>
              <a:t>metabolite</a:t>
            </a:r>
            <a:r>
              <a:rPr sz="1000" spc="5" dirty="0">
                <a:latin typeface="Arial"/>
                <a:cs typeface="Arial"/>
              </a:rPr>
              <a:t> </a:t>
            </a:r>
            <a:r>
              <a:rPr sz="1000" spc="-10" dirty="0">
                <a:latin typeface="Arial"/>
                <a:cs typeface="Arial"/>
              </a:rPr>
              <a:t>biosynthesis</a:t>
            </a:r>
            <a:endParaRPr sz="1000">
              <a:latin typeface="Arial"/>
              <a:cs typeface="Arial"/>
            </a:endParaRPr>
          </a:p>
          <a:p>
            <a:pPr marL="218440" marR="5080">
              <a:lnSpc>
                <a:spcPct val="138900"/>
              </a:lnSpc>
            </a:pPr>
            <a:r>
              <a:rPr sz="1000" dirty="0">
                <a:latin typeface="Arial"/>
                <a:cs typeface="Arial"/>
              </a:rPr>
              <a:t>Energy</a:t>
            </a:r>
            <a:r>
              <a:rPr sz="1000" spc="-15" dirty="0">
                <a:latin typeface="Arial"/>
                <a:cs typeface="Arial"/>
              </a:rPr>
              <a:t> </a:t>
            </a:r>
            <a:r>
              <a:rPr sz="1000" spc="-10" dirty="0">
                <a:latin typeface="Arial"/>
                <a:cs typeface="Arial"/>
              </a:rPr>
              <a:t>generation</a:t>
            </a:r>
            <a:r>
              <a:rPr sz="1000" spc="-15" dirty="0">
                <a:latin typeface="Arial"/>
                <a:cs typeface="Arial"/>
              </a:rPr>
              <a:t> </a:t>
            </a:r>
            <a:r>
              <a:rPr sz="1000" spc="-10" dirty="0">
                <a:latin typeface="Arial"/>
                <a:cs typeface="Arial"/>
              </a:rPr>
              <a:t>(glyoxylate</a:t>
            </a:r>
            <a:r>
              <a:rPr sz="1000" spc="-15" dirty="0">
                <a:latin typeface="Arial"/>
                <a:cs typeface="Arial"/>
              </a:rPr>
              <a:t> </a:t>
            </a:r>
            <a:r>
              <a:rPr sz="1000" dirty="0">
                <a:latin typeface="Arial"/>
                <a:cs typeface="Arial"/>
              </a:rPr>
              <a:t>malate</a:t>
            </a:r>
            <a:r>
              <a:rPr sz="1000" spc="-15" dirty="0">
                <a:latin typeface="Arial"/>
                <a:cs typeface="Arial"/>
              </a:rPr>
              <a:t> </a:t>
            </a:r>
            <a:r>
              <a:rPr sz="1000" spc="-10" dirty="0">
                <a:latin typeface="Arial"/>
                <a:cs typeface="Arial"/>
              </a:rPr>
              <a:t>cycles) RNA</a:t>
            </a:r>
            <a:r>
              <a:rPr sz="1000" spc="-60" dirty="0">
                <a:latin typeface="Arial"/>
                <a:cs typeface="Arial"/>
              </a:rPr>
              <a:t> </a:t>
            </a:r>
            <a:r>
              <a:rPr sz="1000" spc="-10" dirty="0">
                <a:latin typeface="Arial"/>
                <a:cs typeface="Arial"/>
              </a:rPr>
              <a:t>processing </a:t>
            </a:r>
            <a:r>
              <a:rPr sz="1000" dirty="0">
                <a:latin typeface="Arial"/>
                <a:cs typeface="Arial"/>
              </a:rPr>
              <a:t>and</a:t>
            </a:r>
            <a:r>
              <a:rPr sz="1000" spc="-10" dirty="0">
                <a:latin typeface="Arial"/>
                <a:cs typeface="Arial"/>
              </a:rPr>
              <a:t> </a:t>
            </a:r>
            <a:r>
              <a:rPr sz="1000" dirty="0">
                <a:latin typeface="Arial"/>
                <a:cs typeface="Arial"/>
              </a:rPr>
              <a:t>gene</a:t>
            </a:r>
            <a:r>
              <a:rPr sz="1000" spc="-5" dirty="0">
                <a:latin typeface="Arial"/>
                <a:cs typeface="Arial"/>
              </a:rPr>
              <a:t> </a:t>
            </a:r>
            <a:r>
              <a:rPr sz="1000" spc="-10" dirty="0">
                <a:latin typeface="Arial"/>
                <a:cs typeface="Arial"/>
              </a:rPr>
              <a:t>regulation</a:t>
            </a:r>
            <a:endParaRPr sz="1000">
              <a:latin typeface="Arial"/>
              <a:cs typeface="Arial"/>
            </a:endParaRPr>
          </a:p>
          <a:p>
            <a:pPr marL="218440">
              <a:lnSpc>
                <a:spcPct val="100000"/>
              </a:lnSpc>
              <a:spcBef>
                <a:spcPts val="470"/>
              </a:spcBef>
            </a:pPr>
            <a:r>
              <a:rPr sz="1000" spc="-10" dirty="0">
                <a:latin typeface="Arial"/>
                <a:cs typeface="Arial"/>
              </a:rPr>
              <a:t>Other</a:t>
            </a:r>
            <a:endParaRPr sz="1000">
              <a:latin typeface="Arial"/>
              <a:cs typeface="Arial"/>
            </a:endParaRPr>
          </a:p>
        </p:txBody>
      </p:sp>
      <p:grpSp>
        <p:nvGrpSpPr>
          <p:cNvPr id="57" name="object 57"/>
          <p:cNvGrpSpPr/>
          <p:nvPr/>
        </p:nvGrpSpPr>
        <p:grpSpPr>
          <a:xfrm>
            <a:off x="1835743" y="178625"/>
            <a:ext cx="3919220" cy="3067050"/>
            <a:chOff x="1835743" y="178625"/>
            <a:chExt cx="3919220" cy="3067050"/>
          </a:xfrm>
        </p:grpSpPr>
        <p:sp>
          <p:nvSpPr>
            <p:cNvPr id="58" name="object 58"/>
            <p:cNvSpPr/>
            <p:nvPr/>
          </p:nvSpPr>
          <p:spPr>
            <a:xfrm>
              <a:off x="1835743" y="3240754"/>
              <a:ext cx="3919220" cy="0"/>
            </a:xfrm>
            <a:custGeom>
              <a:avLst/>
              <a:gdLst/>
              <a:ahLst/>
              <a:cxnLst/>
              <a:rect l="l" t="t" r="r" b="b"/>
              <a:pathLst>
                <a:path w="3919220">
                  <a:moveTo>
                    <a:pt x="0" y="0"/>
                  </a:moveTo>
                  <a:lnTo>
                    <a:pt x="3918837" y="0"/>
                  </a:lnTo>
                </a:path>
              </a:pathLst>
            </a:custGeom>
            <a:ln w="9645">
              <a:solidFill>
                <a:srgbClr val="EBEBEB"/>
              </a:solidFill>
            </a:ln>
          </p:spPr>
          <p:txBody>
            <a:bodyPr wrap="square" lIns="0" tIns="0" rIns="0" bIns="0" rtlCol="0"/>
            <a:lstStyle/>
            <a:p>
              <a:endParaRPr/>
            </a:p>
          </p:txBody>
        </p:sp>
        <p:sp>
          <p:nvSpPr>
            <p:cNvPr id="59" name="object 59"/>
            <p:cNvSpPr/>
            <p:nvPr/>
          </p:nvSpPr>
          <p:spPr>
            <a:xfrm>
              <a:off x="1835743" y="792579"/>
              <a:ext cx="3919220" cy="1632585"/>
            </a:xfrm>
            <a:custGeom>
              <a:avLst/>
              <a:gdLst/>
              <a:ahLst/>
              <a:cxnLst/>
              <a:rect l="l" t="t" r="r" b="b"/>
              <a:pathLst>
                <a:path w="3919220" h="1632585">
                  <a:moveTo>
                    <a:pt x="1935551" y="1632117"/>
                  </a:moveTo>
                  <a:lnTo>
                    <a:pt x="3918837" y="1632117"/>
                  </a:lnTo>
                </a:path>
                <a:path w="3919220" h="1632585">
                  <a:moveTo>
                    <a:pt x="1457596" y="1632117"/>
                  </a:moveTo>
                  <a:lnTo>
                    <a:pt x="1505414" y="1632117"/>
                  </a:lnTo>
                </a:path>
                <a:path w="3919220" h="1632585">
                  <a:moveTo>
                    <a:pt x="979746" y="1632117"/>
                  </a:moveTo>
                  <a:lnTo>
                    <a:pt x="1027459" y="1632117"/>
                  </a:lnTo>
                </a:path>
                <a:path w="3919220" h="1632585">
                  <a:moveTo>
                    <a:pt x="0" y="1632117"/>
                  </a:moveTo>
                  <a:lnTo>
                    <a:pt x="71633" y="1632117"/>
                  </a:lnTo>
                </a:path>
                <a:path w="3919220" h="1632585">
                  <a:moveTo>
                    <a:pt x="501770" y="1632117"/>
                  </a:moveTo>
                  <a:lnTo>
                    <a:pt x="549609" y="1632117"/>
                  </a:lnTo>
                </a:path>
                <a:path w="3919220" h="1632585">
                  <a:moveTo>
                    <a:pt x="501770" y="816058"/>
                  </a:moveTo>
                  <a:lnTo>
                    <a:pt x="549609" y="816058"/>
                  </a:lnTo>
                </a:path>
                <a:path w="3919220" h="1632585">
                  <a:moveTo>
                    <a:pt x="979746" y="816058"/>
                  </a:moveTo>
                  <a:lnTo>
                    <a:pt x="3918837" y="816058"/>
                  </a:lnTo>
                </a:path>
                <a:path w="3919220" h="1632585">
                  <a:moveTo>
                    <a:pt x="0" y="816058"/>
                  </a:moveTo>
                  <a:lnTo>
                    <a:pt x="71633" y="816058"/>
                  </a:lnTo>
                </a:path>
                <a:path w="3919220" h="1632585">
                  <a:moveTo>
                    <a:pt x="0" y="0"/>
                  </a:moveTo>
                  <a:lnTo>
                    <a:pt x="71633" y="0"/>
                  </a:lnTo>
                </a:path>
                <a:path w="3919220" h="1632585">
                  <a:moveTo>
                    <a:pt x="501770" y="0"/>
                  </a:moveTo>
                  <a:lnTo>
                    <a:pt x="3918837" y="0"/>
                  </a:lnTo>
                </a:path>
              </a:pathLst>
            </a:custGeom>
            <a:ln w="9645">
              <a:solidFill>
                <a:srgbClr val="EBEBEB"/>
              </a:solidFill>
            </a:ln>
          </p:spPr>
          <p:txBody>
            <a:bodyPr wrap="square" lIns="0" tIns="0" rIns="0" bIns="0" rtlCol="0"/>
            <a:lstStyle/>
            <a:p>
              <a:endParaRPr/>
            </a:p>
          </p:txBody>
        </p:sp>
        <p:sp>
          <p:nvSpPr>
            <p:cNvPr id="60" name="object 60"/>
            <p:cNvSpPr/>
            <p:nvPr/>
          </p:nvSpPr>
          <p:spPr>
            <a:xfrm>
              <a:off x="4296984" y="3159145"/>
              <a:ext cx="430530" cy="81915"/>
            </a:xfrm>
            <a:custGeom>
              <a:avLst/>
              <a:gdLst/>
              <a:ahLst/>
              <a:cxnLst/>
              <a:rect l="l" t="t" r="r" b="b"/>
              <a:pathLst>
                <a:path w="430529" h="81914">
                  <a:moveTo>
                    <a:pt x="430136" y="0"/>
                  </a:moveTo>
                  <a:lnTo>
                    <a:pt x="0" y="0"/>
                  </a:lnTo>
                  <a:lnTo>
                    <a:pt x="0" y="81602"/>
                  </a:lnTo>
                  <a:lnTo>
                    <a:pt x="430136" y="81602"/>
                  </a:lnTo>
                  <a:lnTo>
                    <a:pt x="430136" y="0"/>
                  </a:lnTo>
                  <a:close/>
                </a:path>
              </a:pathLst>
            </a:custGeom>
            <a:solidFill>
              <a:srgbClr val="E78AC3"/>
            </a:solidFill>
          </p:spPr>
          <p:txBody>
            <a:bodyPr wrap="square" lIns="0" tIns="0" rIns="0" bIns="0" rtlCol="0"/>
            <a:lstStyle/>
            <a:p>
              <a:endParaRPr/>
            </a:p>
          </p:txBody>
        </p:sp>
        <p:sp>
          <p:nvSpPr>
            <p:cNvPr id="61" name="object 61"/>
            <p:cNvSpPr/>
            <p:nvPr/>
          </p:nvSpPr>
          <p:spPr>
            <a:xfrm>
              <a:off x="4296984" y="3159145"/>
              <a:ext cx="430530" cy="81915"/>
            </a:xfrm>
            <a:custGeom>
              <a:avLst/>
              <a:gdLst/>
              <a:ahLst/>
              <a:cxnLst/>
              <a:rect l="l" t="t" r="r" b="b"/>
              <a:pathLst>
                <a:path w="430529" h="81914">
                  <a:moveTo>
                    <a:pt x="0" y="81602"/>
                  </a:moveTo>
                  <a:lnTo>
                    <a:pt x="430136" y="81602"/>
                  </a:lnTo>
                  <a:lnTo>
                    <a:pt x="430136" y="0"/>
                  </a:lnTo>
                  <a:lnTo>
                    <a:pt x="0" y="0"/>
                  </a:lnTo>
                  <a:lnTo>
                    <a:pt x="0" y="81602"/>
                  </a:lnTo>
                  <a:close/>
                </a:path>
              </a:pathLst>
            </a:custGeom>
            <a:ln w="3866">
              <a:solidFill>
                <a:srgbClr val="000000"/>
              </a:solidFill>
            </a:ln>
          </p:spPr>
          <p:txBody>
            <a:bodyPr wrap="square" lIns="0" tIns="0" rIns="0" bIns="0" rtlCol="0"/>
            <a:lstStyle/>
            <a:p>
              <a:endParaRPr/>
            </a:p>
          </p:txBody>
        </p:sp>
        <p:sp>
          <p:nvSpPr>
            <p:cNvPr id="62" name="object 62"/>
            <p:cNvSpPr/>
            <p:nvPr/>
          </p:nvSpPr>
          <p:spPr>
            <a:xfrm>
              <a:off x="4296984" y="2873528"/>
              <a:ext cx="430530" cy="285750"/>
            </a:xfrm>
            <a:custGeom>
              <a:avLst/>
              <a:gdLst/>
              <a:ahLst/>
              <a:cxnLst/>
              <a:rect l="l" t="t" r="r" b="b"/>
              <a:pathLst>
                <a:path w="430529" h="285750">
                  <a:moveTo>
                    <a:pt x="430136" y="0"/>
                  </a:moveTo>
                  <a:lnTo>
                    <a:pt x="0" y="0"/>
                  </a:lnTo>
                  <a:lnTo>
                    <a:pt x="0" y="285617"/>
                  </a:lnTo>
                  <a:lnTo>
                    <a:pt x="430136" y="285617"/>
                  </a:lnTo>
                  <a:lnTo>
                    <a:pt x="430136" y="0"/>
                  </a:lnTo>
                  <a:close/>
                </a:path>
              </a:pathLst>
            </a:custGeom>
            <a:solidFill>
              <a:srgbClr val="F2CE61"/>
            </a:solidFill>
          </p:spPr>
          <p:txBody>
            <a:bodyPr wrap="square" lIns="0" tIns="0" rIns="0" bIns="0" rtlCol="0"/>
            <a:lstStyle/>
            <a:p>
              <a:endParaRPr/>
            </a:p>
          </p:txBody>
        </p:sp>
        <p:sp>
          <p:nvSpPr>
            <p:cNvPr id="63" name="object 63"/>
            <p:cNvSpPr/>
            <p:nvPr/>
          </p:nvSpPr>
          <p:spPr>
            <a:xfrm>
              <a:off x="3819029" y="2873528"/>
              <a:ext cx="908685" cy="367665"/>
            </a:xfrm>
            <a:custGeom>
              <a:avLst/>
              <a:gdLst/>
              <a:ahLst/>
              <a:cxnLst/>
              <a:rect l="l" t="t" r="r" b="b"/>
              <a:pathLst>
                <a:path w="908685" h="367664">
                  <a:moveTo>
                    <a:pt x="477955" y="285617"/>
                  </a:moveTo>
                  <a:lnTo>
                    <a:pt x="908091" y="285617"/>
                  </a:lnTo>
                  <a:lnTo>
                    <a:pt x="908091" y="0"/>
                  </a:lnTo>
                  <a:lnTo>
                    <a:pt x="477955" y="0"/>
                  </a:lnTo>
                  <a:lnTo>
                    <a:pt x="477955" y="285617"/>
                  </a:lnTo>
                  <a:close/>
                </a:path>
                <a:path w="908685" h="367664">
                  <a:moveTo>
                    <a:pt x="0" y="367219"/>
                  </a:moveTo>
                  <a:lnTo>
                    <a:pt x="430136" y="367219"/>
                  </a:lnTo>
                  <a:lnTo>
                    <a:pt x="430136" y="40790"/>
                  </a:lnTo>
                  <a:lnTo>
                    <a:pt x="0" y="40790"/>
                  </a:lnTo>
                  <a:lnTo>
                    <a:pt x="0" y="367219"/>
                  </a:lnTo>
                  <a:close/>
                </a:path>
              </a:pathLst>
            </a:custGeom>
            <a:ln w="3862">
              <a:solidFill>
                <a:srgbClr val="000000"/>
              </a:solidFill>
            </a:ln>
          </p:spPr>
          <p:txBody>
            <a:bodyPr wrap="square" lIns="0" tIns="0" rIns="0" bIns="0" rtlCol="0"/>
            <a:lstStyle/>
            <a:p>
              <a:endParaRPr/>
            </a:p>
          </p:txBody>
        </p:sp>
        <p:sp>
          <p:nvSpPr>
            <p:cNvPr id="64" name="object 64"/>
            <p:cNvSpPr/>
            <p:nvPr/>
          </p:nvSpPr>
          <p:spPr>
            <a:xfrm>
              <a:off x="3819029" y="2791905"/>
              <a:ext cx="430530" cy="41275"/>
            </a:xfrm>
            <a:custGeom>
              <a:avLst/>
              <a:gdLst/>
              <a:ahLst/>
              <a:cxnLst/>
              <a:rect l="l" t="t" r="r" b="b"/>
              <a:pathLst>
                <a:path w="430529" h="41275">
                  <a:moveTo>
                    <a:pt x="430136" y="0"/>
                  </a:moveTo>
                  <a:lnTo>
                    <a:pt x="0" y="0"/>
                  </a:lnTo>
                  <a:lnTo>
                    <a:pt x="0" y="40811"/>
                  </a:lnTo>
                  <a:lnTo>
                    <a:pt x="430136" y="40811"/>
                  </a:lnTo>
                  <a:lnTo>
                    <a:pt x="430136" y="0"/>
                  </a:lnTo>
                  <a:close/>
                </a:path>
              </a:pathLst>
            </a:custGeom>
            <a:solidFill>
              <a:srgbClr val="B1A783"/>
            </a:solidFill>
          </p:spPr>
          <p:txBody>
            <a:bodyPr wrap="square" lIns="0" tIns="0" rIns="0" bIns="0" rtlCol="0"/>
            <a:lstStyle/>
            <a:p>
              <a:endParaRPr/>
            </a:p>
          </p:txBody>
        </p:sp>
        <p:sp>
          <p:nvSpPr>
            <p:cNvPr id="65" name="object 65"/>
            <p:cNvSpPr/>
            <p:nvPr/>
          </p:nvSpPr>
          <p:spPr>
            <a:xfrm>
              <a:off x="3819029" y="2791905"/>
              <a:ext cx="430530" cy="41275"/>
            </a:xfrm>
            <a:custGeom>
              <a:avLst/>
              <a:gdLst/>
              <a:ahLst/>
              <a:cxnLst/>
              <a:rect l="l" t="t" r="r" b="b"/>
              <a:pathLst>
                <a:path w="430529" h="41275">
                  <a:moveTo>
                    <a:pt x="0" y="40811"/>
                  </a:moveTo>
                  <a:lnTo>
                    <a:pt x="430136" y="40811"/>
                  </a:lnTo>
                  <a:lnTo>
                    <a:pt x="430136" y="0"/>
                  </a:lnTo>
                  <a:lnTo>
                    <a:pt x="0" y="0"/>
                  </a:lnTo>
                  <a:lnTo>
                    <a:pt x="0" y="40811"/>
                  </a:lnTo>
                  <a:close/>
                </a:path>
              </a:pathLst>
            </a:custGeom>
            <a:ln w="3866">
              <a:solidFill>
                <a:srgbClr val="000000"/>
              </a:solidFill>
            </a:ln>
          </p:spPr>
          <p:txBody>
            <a:bodyPr wrap="square" lIns="0" tIns="0" rIns="0" bIns="0" rtlCol="0"/>
            <a:lstStyle/>
            <a:p>
              <a:endParaRPr/>
            </a:p>
          </p:txBody>
        </p:sp>
        <p:sp>
          <p:nvSpPr>
            <p:cNvPr id="66" name="object 66"/>
            <p:cNvSpPr/>
            <p:nvPr/>
          </p:nvSpPr>
          <p:spPr>
            <a:xfrm>
              <a:off x="3819029" y="2832737"/>
              <a:ext cx="430530" cy="81915"/>
            </a:xfrm>
            <a:custGeom>
              <a:avLst/>
              <a:gdLst/>
              <a:ahLst/>
              <a:cxnLst/>
              <a:rect l="l" t="t" r="r" b="b"/>
              <a:pathLst>
                <a:path w="430529" h="81914">
                  <a:moveTo>
                    <a:pt x="430136" y="0"/>
                  </a:moveTo>
                  <a:lnTo>
                    <a:pt x="0" y="0"/>
                  </a:lnTo>
                  <a:lnTo>
                    <a:pt x="0" y="81602"/>
                  </a:lnTo>
                  <a:lnTo>
                    <a:pt x="430136" y="81602"/>
                  </a:lnTo>
                  <a:lnTo>
                    <a:pt x="430136" y="0"/>
                  </a:lnTo>
                  <a:close/>
                </a:path>
              </a:pathLst>
            </a:custGeom>
            <a:solidFill>
              <a:srgbClr val="8DA0CB"/>
            </a:solidFill>
          </p:spPr>
          <p:txBody>
            <a:bodyPr wrap="square" lIns="0" tIns="0" rIns="0" bIns="0" rtlCol="0"/>
            <a:lstStyle/>
            <a:p>
              <a:endParaRPr/>
            </a:p>
          </p:txBody>
        </p:sp>
        <p:sp>
          <p:nvSpPr>
            <p:cNvPr id="67" name="object 67"/>
            <p:cNvSpPr/>
            <p:nvPr/>
          </p:nvSpPr>
          <p:spPr>
            <a:xfrm>
              <a:off x="3819029" y="2832737"/>
              <a:ext cx="1386205" cy="408305"/>
            </a:xfrm>
            <a:custGeom>
              <a:avLst/>
              <a:gdLst/>
              <a:ahLst/>
              <a:cxnLst/>
              <a:rect l="l" t="t" r="r" b="b"/>
              <a:pathLst>
                <a:path w="1386204" h="408305">
                  <a:moveTo>
                    <a:pt x="0" y="81602"/>
                  </a:moveTo>
                  <a:lnTo>
                    <a:pt x="430136" y="81602"/>
                  </a:lnTo>
                  <a:lnTo>
                    <a:pt x="430136" y="0"/>
                  </a:lnTo>
                  <a:lnTo>
                    <a:pt x="0" y="0"/>
                  </a:lnTo>
                  <a:lnTo>
                    <a:pt x="0" y="81602"/>
                  </a:lnTo>
                  <a:close/>
                </a:path>
                <a:path w="1386204" h="408305">
                  <a:moveTo>
                    <a:pt x="955826" y="408010"/>
                  </a:moveTo>
                  <a:lnTo>
                    <a:pt x="1385962" y="408010"/>
                  </a:lnTo>
                  <a:lnTo>
                    <a:pt x="1385962" y="81581"/>
                  </a:lnTo>
                  <a:lnTo>
                    <a:pt x="955826" y="81581"/>
                  </a:lnTo>
                  <a:lnTo>
                    <a:pt x="955826" y="408010"/>
                  </a:lnTo>
                  <a:close/>
                </a:path>
              </a:pathLst>
            </a:custGeom>
            <a:ln w="3862">
              <a:solidFill>
                <a:srgbClr val="000000"/>
              </a:solidFill>
            </a:ln>
          </p:spPr>
          <p:txBody>
            <a:bodyPr wrap="square" lIns="0" tIns="0" rIns="0" bIns="0" rtlCol="0"/>
            <a:lstStyle/>
            <a:p>
              <a:endParaRPr/>
            </a:p>
          </p:txBody>
        </p:sp>
        <p:sp>
          <p:nvSpPr>
            <p:cNvPr id="68" name="object 68"/>
            <p:cNvSpPr/>
            <p:nvPr/>
          </p:nvSpPr>
          <p:spPr>
            <a:xfrm>
              <a:off x="2863203" y="2587910"/>
              <a:ext cx="430530" cy="81915"/>
            </a:xfrm>
            <a:custGeom>
              <a:avLst/>
              <a:gdLst/>
              <a:ahLst/>
              <a:cxnLst/>
              <a:rect l="l" t="t" r="r" b="b"/>
              <a:pathLst>
                <a:path w="430529" h="81914">
                  <a:moveTo>
                    <a:pt x="430136" y="0"/>
                  </a:moveTo>
                  <a:lnTo>
                    <a:pt x="0" y="0"/>
                  </a:lnTo>
                  <a:lnTo>
                    <a:pt x="0" y="81602"/>
                  </a:lnTo>
                  <a:lnTo>
                    <a:pt x="430136" y="81602"/>
                  </a:lnTo>
                  <a:lnTo>
                    <a:pt x="430136" y="0"/>
                  </a:lnTo>
                  <a:close/>
                </a:path>
              </a:pathLst>
            </a:custGeom>
            <a:solidFill>
              <a:srgbClr val="E78AC3"/>
            </a:solidFill>
          </p:spPr>
          <p:txBody>
            <a:bodyPr wrap="square" lIns="0" tIns="0" rIns="0" bIns="0" rtlCol="0"/>
            <a:lstStyle/>
            <a:p>
              <a:endParaRPr/>
            </a:p>
          </p:txBody>
        </p:sp>
        <p:sp>
          <p:nvSpPr>
            <p:cNvPr id="69" name="object 69"/>
            <p:cNvSpPr/>
            <p:nvPr/>
          </p:nvSpPr>
          <p:spPr>
            <a:xfrm>
              <a:off x="2863203" y="2587910"/>
              <a:ext cx="430530" cy="653415"/>
            </a:xfrm>
            <a:custGeom>
              <a:avLst/>
              <a:gdLst/>
              <a:ahLst/>
              <a:cxnLst/>
              <a:rect l="l" t="t" r="r" b="b"/>
              <a:pathLst>
                <a:path w="430529" h="653414">
                  <a:moveTo>
                    <a:pt x="0" y="81602"/>
                  </a:moveTo>
                  <a:lnTo>
                    <a:pt x="430136" y="81602"/>
                  </a:lnTo>
                  <a:lnTo>
                    <a:pt x="430136" y="0"/>
                  </a:lnTo>
                  <a:lnTo>
                    <a:pt x="0" y="0"/>
                  </a:lnTo>
                  <a:lnTo>
                    <a:pt x="0" y="81602"/>
                  </a:lnTo>
                  <a:close/>
                </a:path>
                <a:path w="430529" h="653414">
                  <a:moveTo>
                    <a:pt x="0" y="652837"/>
                  </a:moveTo>
                  <a:lnTo>
                    <a:pt x="430136" y="652837"/>
                  </a:lnTo>
                  <a:lnTo>
                    <a:pt x="430136" y="204015"/>
                  </a:lnTo>
                  <a:lnTo>
                    <a:pt x="0" y="204015"/>
                  </a:lnTo>
                  <a:lnTo>
                    <a:pt x="0" y="652837"/>
                  </a:lnTo>
                  <a:close/>
                </a:path>
              </a:pathLst>
            </a:custGeom>
            <a:ln w="3862">
              <a:solidFill>
                <a:srgbClr val="000000"/>
              </a:solidFill>
            </a:ln>
          </p:spPr>
          <p:txBody>
            <a:bodyPr wrap="square" lIns="0" tIns="0" rIns="0" bIns="0" rtlCol="0"/>
            <a:lstStyle/>
            <a:p>
              <a:endParaRPr/>
            </a:p>
          </p:txBody>
        </p:sp>
        <p:sp>
          <p:nvSpPr>
            <p:cNvPr id="70" name="object 70"/>
            <p:cNvSpPr/>
            <p:nvPr/>
          </p:nvSpPr>
          <p:spPr>
            <a:xfrm>
              <a:off x="2863203" y="1649434"/>
              <a:ext cx="430530" cy="897890"/>
            </a:xfrm>
            <a:custGeom>
              <a:avLst/>
              <a:gdLst/>
              <a:ahLst/>
              <a:cxnLst/>
              <a:rect l="l" t="t" r="r" b="b"/>
              <a:pathLst>
                <a:path w="430529" h="897889">
                  <a:moveTo>
                    <a:pt x="430136" y="0"/>
                  </a:moveTo>
                  <a:lnTo>
                    <a:pt x="0" y="0"/>
                  </a:lnTo>
                  <a:lnTo>
                    <a:pt x="0" y="897664"/>
                  </a:lnTo>
                  <a:lnTo>
                    <a:pt x="430136" y="897664"/>
                  </a:lnTo>
                  <a:lnTo>
                    <a:pt x="430136" y="0"/>
                  </a:lnTo>
                  <a:close/>
                </a:path>
              </a:pathLst>
            </a:custGeom>
            <a:solidFill>
              <a:srgbClr val="B1A783"/>
            </a:solidFill>
          </p:spPr>
          <p:txBody>
            <a:bodyPr wrap="square" lIns="0" tIns="0" rIns="0" bIns="0" rtlCol="0"/>
            <a:lstStyle/>
            <a:p>
              <a:endParaRPr/>
            </a:p>
          </p:txBody>
        </p:sp>
        <p:sp>
          <p:nvSpPr>
            <p:cNvPr id="71" name="object 71"/>
            <p:cNvSpPr/>
            <p:nvPr/>
          </p:nvSpPr>
          <p:spPr>
            <a:xfrm>
              <a:off x="2863203" y="1649434"/>
              <a:ext cx="430530" cy="897890"/>
            </a:xfrm>
            <a:custGeom>
              <a:avLst/>
              <a:gdLst/>
              <a:ahLst/>
              <a:cxnLst/>
              <a:rect l="l" t="t" r="r" b="b"/>
              <a:pathLst>
                <a:path w="430529" h="897889">
                  <a:moveTo>
                    <a:pt x="0" y="897664"/>
                  </a:moveTo>
                  <a:lnTo>
                    <a:pt x="430136" y="897664"/>
                  </a:lnTo>
                  <a:lnTo>
                    <a:pt x="430136" y="0"/>
                  </a:lnTo>
                  <a:lnTo>
                    <a:pt x="0" y="0"/>
                  </a:lnTo>
                  <a:lnTo>
                    <a:pt x="0" y="897664"/>
                  </a:lnTo>
                  <a:close/>
                </a:path>
              </a:pathLst>
            </a:custGeom>
            <a:ln w="3860">
              <a:solidFill>
                <a:srgbClr val="000000"/>
              </a:solidFill>
            </a:ln>
          </p:spPr>
          <p:txBody>
            <a:bodyPr wrap="square" lIns="0" tIns="0" rIns="0" bIns="0" rtlCol="0"/>
            <a:lstStyle/>
            <a:p>
              <a:endParaRPr/>
            </a:p>
          </p:txBody>
        </p:sp>
        <p:sp>
          <p:nvSpPr>
            <p:cNvPr id="72" name="object 72"/>
            <p:cNvSpPr/>
            <p:nvPr/>
          </p:nvSpPr>
          <p:spPr>
            <a:xfrm>
              <a:off x="2863203" y="2669512"/>
              <a:ext cx="430530" cy="122555"/>
            </a:xfrm>
            <a:custGeom>
              <a:avLst/>
              <a:gdLst/>
              <a:ahLst/>
              <a:cxnLst/>
              <a:rect l="l" t="t" r="r" b="b"/>
              <a:pathLst>
                <a:path w="430529" h="122555">
                  <a:moveTo>
                    <a:pt x="430136" y="0"/>
                  </a:moveTo>
                  <a:lnTo>
                    <a:pt x="0" y="0"/>
                  </a:lnTo>
                  <a:lnTo>
                    <a:pt x="0" y="122413"/>
                  </a:lnTo>
                  <a:lnTo>
                    <a:pt x="430136" y="122413"/>
                  </a:lnTo>
                  <a:lnTo>
                    <a:pt x="430136" y="0"/>
                  </a:lnTo>
                  <a:close/>
                </a:path>
              </a:pathLst>
            </a:custGeom>
            <a:solidFill>
              <a:srgbClr val="C49696"/>
            </a:solidFill>
          </p:spPr>
          <p:txBody>
            <a:bodyPr wrap="square" lIns="0" tIns="0" rIns="0" bIns="0" rtlCol="0"/>
            <a:lstStyle/>
            <a:p>
              <a:endParaRPr/>
            </a:p>
          </p:txBody>
        </p:sp>
        <p:sp>
          <p:nvSpPr>
            <p:cNvPr id="73" name="object 73"/>
            <p:cNvSpPr/>
            <p:nvPr/>
          </p:nvSpPr>
          <p:spPr>
            <a:xfrm>
              <a:off x="2863203" y="2669512"/>
              <a:ext cx="430530" cy="122555"/>
            </a:xfrm>
            <a:custGeom>
              <a:avLst/>
              <a:gdLst/>
              <a:ahLst/>
              <a:cxnLst/>
              <a:rect l="l" t="t" r="r" b="b"/>
              <a:pathLst>
                <a:path w="430529" h="122555">
                  <a:moveTo>
                    <a:pt x="0" y="122413"/>
                  </a:moveTo>
                  <a:lnTo>
                    <a:pt x="430136" y="122413"/>
                  </a:lnTo>
                  <a:lnTo>
                    <a:pt x="430136" y="0"/>
                  </a:lnTo>
                  <a:lnTo>
                    <a:pt x="0" y="0"/>
                  </a:lnTo>
                  <a:lnTo>
                    <a:pt x="0" y="122413"/>
                  </a:lnTo>
                  <a:close/>
                </a:path>
              </a:pathLst>
            </a:custGeom>
            <a:ln w="3866">
              <a:solidFill>
                <a:srgbClr val="000000"/>
              </a:solidFill>
            </a:ln>
          </p:spPr>
          <p:txBody>
            <a:bodyPr wrap="square" lIns="0" tIns="0" rIns="0" bIns="0" rtlCol="0"/>
            <a:lstStyle/>
            <a:p>
              <a:endParaRPr/>
            </a:p>
          </p:txBody>
        </p:sp>
        <p:sp>
          <p:nvSpPr>
            <p:cNvPr id="74" name="object 74"/>
            <p:cNvSpPr/>
            <p:nvPr/>
          </p:nvSpPr>
          <p:spPr>
            <a:xfrm>
              <a:off x="2863203" y="2547098"/>
              <a:ext cx="430530" cy="41275"/>
            </a:xfrm>
            <a:custGeom>
              <a:avLst/>
              <a:gdLst/>
              <a:ahLst/>
              <a:cxnLst/>
              <a:rect l="l" t="t" r="r" b="b"/>
              <a:pathLst>
                <a:path w="430529" h="41275">
                  <a:moveTo>
                    <a:pt x="430136" y="0"/>
                  </a:moveTo>
                  <a:lnTo>
                    <a:pt x="0" y="0"/>
                  </a:lnTo>
                  <a:lnTo>
                    <a:pt x="0" y="40811"/>
                  </a:lnTo>
                  <a:lnTo>
                    <a:pt x="430136" y="40811"/>
                  </a:lnTo>
                  <a:lnTo>
                    <a:pt x="430136" y="0"/>
                  </a:lnTo>
                  <a:close/>
                </a:path>
              </a:pathLst>
            </a:custGeom>
            <a:solidFill>
              <a:srgbClr val="8DA0CB"/>
            </a:solidFill>
          </p:spPr>
          <p:txBody>
            <a:bodyPr wrap="square" lIns="0" tIns="0" rIns="0" bIns="0" rtlCol="0"/>
            <a:lstStyle/>
            <a:p>
              <a:endParaRPr/>
            </a:p>
          </p:txBody>
        </p:sp>
        <p:sp>
          <p:nvSpPr>
            <p:cNvPr id="75" name="object 75"/>
            <p:cNvSpPr/>
            <p:nvPr/>
          </p:nvSpPr>
          <p:spPr>
            <a:xfrm>
              <a:off x="2863203" y="2547098"/>
              <a:ext cx="2820035" cy="694055"/>
            </a:xfrm>
            <a:custGeom>
              <a:avLst/>
              <a:gdLst/>
              <a:ahLst/>
              <a:cxnLst/>
              <a:rect l="l" t="t" r="r" b="b"/>
              <a:pathLst>
                <a:path w="2820035" h="694055">
                  <a:moveTo>
                    <a:pt x="0" y="40811"/>
                  </a:moveTo>
                  <a:lnTo>
                    <a:pt x="430136" y="40811"/>
                  </a:lnTo>
                  <a:lnTo>
                    <a:pt x="430136" y="0"/>
                  </a:lnTo>
                  <a:lnTo>
                    <a:pt x="0" y="0"/>
                  </a:lnTo>
                  <a:lnTo>
                    <a:pt x="0" y="40811"/>
                  </a:lnTo>
                  <a:close/>
                </a:path>
                <a:path w="2820035" h="694055">
                  <a:moveTo>
                    <a:pt x="2389607" y="693649"/>
                  </a:moveTo>
                  <a:lnTo>
                    <a:pt x="2819743" y="693649"/>
                  </a:lnTo>
                  <a:lnTo>
                    <a:pt x="2819743" y="367219"/>
                  </a:lnTo>
                  <a:lnTo>
                    <a:pt x="2389607" y="367219"/>
                  </a:lnTo>
                  <a:lnTo>
                    <a:pt x="2389607" y="693649"/>
                  </a:lnTo>
                  <a:close/>
                </a:path>
              </a:pathLst>
            </a:custGeom>
            <a:ln w="3862">
              <a:solidFill>
                <a:srgbClr val="000000"/>
              </a:solidFill>
            </a:ln>
          </p:spPr>
          <p:txBody>
            <a:bodyPr wrap="square" lIns="0" tIns="0" rIns="0" bIns="0" rtlCol="0"/>
            <a:lstStyle/>
            <a:p>
              <a:endParaRPr/>
            </a:p>
          </p:txBody>
        </p:sp>
        <p:sp>
          <p:nvSpPr>
            <p:cNvPr id="76" name="object 76"/>
            <p:cNvSpPr/>
            <p:nvPr/>
          </p:nvSpPr>
          <p:spPr>
            <a:xfrm>
              <a:off x="1907376" y="2302271"/>
              <a:ext cx="430530" cy="41275"/>
            </a:xfrm>
            <a:custGeom>
              <a:avLst/>
              <a:gdLst/>
              <a:ahLst/>
              <a:cxnLst/>
              <a:rect l="l" t="t" r="r" b="b"/>
              <a:pathLst>
                <a:path w="430530" h="41275">
                  <a:moveTo>
                    <a:pt x="430136" y="0"/>
                  </a:moveTo>
                  <a:lnTo>
                    <a:pt x="0" y="0"/>
                  </a:lnTo>
                  <a:lnTo>
                    <a:pt x="0" y="40811"/>
                  </a:lnTo>
                  <a:lnTo>
                    <a:pt x="430136" y="40811"/>
                  </a:lnTo>
                  <a:lnTo>
                    <a:pt x="430136" y="0"/>
                  </a:lnTo>
                  <a:close/>
                </a:path>
              </a:pathLst>
            </a:custGeom>
            <a:solidFill>
              <a:srgbClr val="D2D841"/>
            </a:solidFill>
          </p:spPr>
          <p:txBody>
            <a:bodyPr wrap="square" lIns="0" tIns="0" rIns="0" bIns="0" rtlCol="0"/>
            <a:lstStyle/>
            <a:p>
              <a:endParaRPr/>
            </a:p>
          </p:txBody>
        </p:sp>
        <p:sp>
          <p:nvSpPr>
            <p:cNvPr id="77" name="object 77"/>
            <p:cNvSpPr/>
            <p:nvPr/>
          </p:nvSpPr>
          <p:spPr>
            <a:xfrm>
              <a:off x="1907376" y="2302271"/>
              <a:ext cx="430530" cy="41275"/>
            </a:xfrm>
            <a:custGeom>
              <a:avLst/>
              <a:gdLst/>
              <a:ahLst/>
              <a:cxnLst/>
              <a:rect l="l" t="t" r="r" b="b"/>
              <a:pathLst>
                <a:path w="430530" h="41275">
                  <a:moveTo>
                    <a:pt x="0" y="40811"/>
                  </a:moveTo>
                  <a:lnTo>
                    <a:pt x="430136" y="40811"/>
                  </a:lnTo>
                  <a:lnTo>
                    <a:pt x="430136" y="0"/>
                  </a:lnTo>
                  <a:lnTo>
                    <a:pt x="0" y="0"/>
                  </a:lnTo>
                  <a:lnTo>
                    <a:pt x="0" y="40811"/>
                  </a:lnTo>
                  <a:close/>
                </a:path>
              </a:pathLst>
            </a:custGeom>
            <a:ln w="3866">
              <a:solidFill>
                <a:srgbClr val="000000"/>
              </a:solidFill>
            </a:ln>
          </p:spPr>
          <p:txBody>
            <a:bodyPr wrap="square" lIns="0" tIns="0" rIns="0" bIns="0" rtlCol="0"/>
            <a:lstStyle/>
            <a:p>
              <a:endParaRPr/>
            </a:p>
          </p:txBody>
        </p:sp>
        <p:sp>
          <p:nvSpPr>
            <p:cNvPr id="78" name="object 78"/>
            <p:cNvSpPr/>
            <p:nvPr/>
          </p:nvSpPr>
          <p:spPr>
            <a:xfrm>
              <a:off x="1907376" y="1853470"/>
              <a:ext cx="430530" cy="448945"/>
            </a:xfrm>
            <a:custGeom>
              <a:avLst/>
              <a:gdLst/>
              <a:ahLst/>
              <a:cxnLst/>
              <a:rect l="l" t="t" r="r" b="b"/>
              <a:pathLst>
                <a:path w="430530" h="448944">
                  <a:moveTo>
                    <a:pt x="430136" y="0"/>
                  </a:moveTo>
                  <a:lnTo>
                    <a:pt x="0" y="0"/>
                  </a:lnTo>
                  <a:lnTo>
                    <a:pt x="0" y="448821"/>
                  </a:lnTo>
                  <a:lnTo>
                    <a:pt x="430136" y="448821"/>
                  </a:lnTo>
                  <a:lnTo>
                    <a:pt x="430136" y="0"/>
                  </a:lnTo>
                  <a:close/>
                </a:path>
              </a:pathLst>
            </a:custGeom>
            <a:solidFill>
              <a:srgbClr val="C6B18B"/>
            </a:solidFill>
          </p:spPr>
          <p:txBody>
            <a:bodyPr wrap="square" lIns="0" tIns="0" rIns="0" bIns="0" rtlCol="0"/>
            <a:lstStyle/>
            <a:p>
              <a:endParaRPr/>
            </a:p>
          </p:txBody>
        </p:sp>
        <p:sp>
          <p:nvSpPr>
            <p:cNvPr id="79" name="object 79"/>
            <p:cNvSpPr/>
            <p:nvPr/>
          </p:nvSpPr>
          <p:spPr>
            <a:xfrm>
              <a:off x="1907376" y="1853470"/>
              <a:ext cx="430530" cy="448945"/>
            </a:xfrm>
            <a:custGeom>
              <a:avLst/>
              <a:gdLst/>
              <a:ahLst/>
              <a:cxnLst/>
              <a:rect l="l" t="t" r="r" b="b"/>
              <a:pathLst>
                <a:path w="430530" h="448944">
                  <a:moveTo>
                    <a:pt x="0" y="448821"/>
                  </a:moveTo>
                  <a:lnTo>
                    <a:pt x="430136" y="448821"/>
                  </a:lnTo>
                  <a:lnTo>
                    <a:pt x="430136" y="0"/>
                  </a:lnTo>
                  <a:lnTo>
                    <a:pt x="0" y="0"/>
                  </a:lnTo>
                  <a:lnTo>
                    <a:pt x="0" y="448821"/>
                  </a:lnTo>
                  <a:close/>
                </a:path>
              </a:pathLst>
            </a:custGeom>
            <a:ln w="3862">
              <a:solidFill>
                <a:srgbClr val="000000"/>
              </a:solidFill>
            </a:ln>
          </p:spPr>
          <p:txBody>
            <a:bodyPr wrap="square" lIns="0" tIns="0" rIns="0" bIns="0" rtlCol="0"/>
            <a:lstStyle/>
            <a:p>
              <a:endParaRPr/>
            </a:p>
          </p:txBody>
        </p:sp>
        <p:sp>
          <p:nvSpPr>
            <p:cNvPr id="80" name="object 80"/>
            <p:cNvSpPr/>
            <p:nvPr/>
          </p:nvSpPr>
          <p:spPr>
            <a:xfrm>
              <a:off x="1907376" y="180554"/>
              <a:ext cx="430530" cy="1346835"/>
            </a:xfrm>
            <a:custGeom>
              <a:avLst/>
              <a:gdLst/>
              <a:ahLst/>
              <a:cxnLst/>
              <a:rect l="l" t="t" r="r" b="b"/>
              <a:pathLst>
                <a:path w="430530" h="1346835">
                  <a:moveTo>
                    <a:pt x="430136" y="0"/>
                  </a:moveTo>
                  <a:lnTo>
                    <a:pt x="0" y="0"/>
                  </a:lnTo>
                  <a:lnTo>
                    <a:pt x="0" y="1346486"/>
                  </a:lnTo>
                  <a:lnTo>
                    <a:pt x="430136" y="1346486"/>
                  </a:lnTo>
                  <a:lnTo>
                    <a:pt x="430136" y="0"/>
                  </a:lnTo>
                  <a:close/>
                </a:path>
              </a:pathLst>
            </a:custGeom>
            <a:solidFill>
              <a:srgbClr val="66C2A5"/>
            </a:solidFill>
          </p:spPr>
          <p:txBody>
            <a:bodyPr wrap="square" lIns="0" tIns="0" rIns="0" bIns="0" rtlCol="0"/>
            <a:lstStyle/>
            <a:p>
              <a:endParaRPr/>
            </a:p>
          </p:txBody>
        </p:sp>
        <p:sp>
          <p:nvSpPr>
            <p:cNvPr id="81" name="object 81"/>
            <p:cNvSpPr/>
            <p:nvPr/>
          </p:nvSpPr>
          <p:spPr>
            <a:xfrm>
              <a:off x="1907376" y="180554"/>
              <a:ext cx="430530" cy="1346835"/>
            </a:xfrm>
            <a:custGeom>
              <a:avLst/>
              <a:gdLst/>
              <a:ahLst/>
              <a:cxnLst/>
              <a:rect l="l" t="t" r="r" b="b"/>
              <a:pathLst>
                <a:path w="430530" h="1346835">
                  <a:moveTo>
                    <a:pt x="0" y="1346486"/>
                  </a:moveTo>
                  <a:lnTo>
                    <a:pt x="430136" y="1346486"/>
                  </a:lnTo>
                  <a:lnTo>
                    <a:pt x="430136" y="0"/>
                  </a:lnTo>
                  <a:lnTo>
                    <a:pt x="0" y="0"/>
                  </a:lnTo>
                  <a:lnTo>
                    <a:pt x="0" y="1346486"/>
                  </a:lnTo>
                  <a:close/>
                </a:path>
              </a:pathLst>
            </a:custGeom>
            <a:ln w="3859">
              <a:solidFill>
                <a:srgbClr val="000000"/>
              </a:solidFill>
            </a:ln>
          </p:spPr>
          <p:txBody>
            <a:bodyPr wrap="square" lIns="0" tIns="0" rIns="0" bIns="0" rtlCol="0"/>
            <a:lstStyle/>
            <a:p>
              <a:endParaRPr/>
            </a:p>
          </p:txBody>
        </p:sp>
        <p:sp>
          <p:nvSpPr>
            <p:cNvPr id="82" name="object 82"/>
            <p:cNvSpPr/>
            <p:nvPr/>
          </p:nvSpPr>
          <p:spPr>
            <a:xfrm>
              <a:off x="1907376" y="2465496"/>
              <a:ext cx="430530" cy="81915"/>
            </a:xfrm>
            <a:custGeom>
              <a:avLst/>
              <a:gdLst/>
              <a:ahLst/>
              <a:cxnLst/>
              <a:rect l="l" t="t" r="r" b="b"/>
              <a:pathLst>
                <a:path w="430530" h="81914">
                  <a:moveTo>
                    <a:pt x="430136" y="0"/>
                  </a:moveTo>
                  <a:lnTo>
                    <a:pt x="0" y="0"/>
                  </a:lnTo>
                  <a:lnTo>
                    <a:pt x="0" y="81602"/>
                  </a:lnTo>
                  <a:lnTo>
                    <a:pt x="430136" y="81602"/>
                  </a:lnTo>
                  <a:lnTo>
                    <a:pt x="430136" y="0"/>
                  </a:lnTo>
                  <a:close/>
                </a:path>
              </a:pathLst>
            </a:custGeom>
            <a:solidFill>
              <a:srgbClr val="CCBBA3"/>
            </a:solidFill>
          </p:spPr>
          <p:txBody>
            <a:bodyPr wrap="square" lIns="0" tIns="0" rIns="0" bIns="0" rtlCol="0"/>
            <a:lstStyle/>
            <a:p>
              <a:endParaRPr/>
            </a:p>
          </p:txBody>
        </p:sp>
        <p:sp>
          <p:nvSpPr>
            <p:cNvPr id="83" name="object 83"/>
            <p:cNvSpPr/>
            <p:nvPr/>
          </p:nvSpPr>
          <p:spPr>
            <a:xfrm>
              <a:off x="1907376" y="2465496"/>
              <a:ext cx="430530" cy="81915"/>
            </a:xfrm>
            <a:custGeom>
              <a:avLst/>
              <a:gdLst/>
              <a:ahLst/>
              <a:cxnLst/>
              <a:rect l="l" t="t" r="r" b="b"/>
              <a:pathLst>
                <a:path w="430530" h="81914">
                  <a:moveTo>
                    <a:pt x="0" y="81602"/>
                  </a:moveTo>
                  <a:lnTo>
                    <a:pt x="430136" y="81602"/>
                  </a:lnTo>
                  <a:lnTo>
                    <a:pt x="430136" y="0"/>
                  </a:lnTo>
                  <a:lnTo>
                    <a:pt x="0" y="0"/>
                  </a:lnTo>
                  <a:lnTo>
                    <a:pt x="0" y="81602"/>
                  </a:lnTo>
                  <a:close/>
                </a:path>
              </a:pathLst>
            </a:custGeom>
            <a:ln w="3866">
              <a:solidFill>
                <a:srgbClr val="000000"/>
              </a:solidFill>
            </a:ln>
          </p:spPr>
          <p:txBody>
            <a:bodyPr wrap="square" lIns="0" tIns="0" rIns="0" bIns="0" rtlCol="0"/>
            <a:lstStyle/>
            <a:p>
              <a:endParaRPr/>
            </a:p>
          </p:txBody>
        </p:sp>
        <p:sp>
          <p:nvSpPr>
            <p:cNvPr id="84" name="object 84"/>
            <p:cNvSpPr/>
            <p:nvPr/>
          </p:nvSpPr>
          <p:spPr>
            <a:xfrm>
              <a:off x="1907376" y="2343083"/>
              <a:ext cx="430530" cy="122555"/>
            </a:xfrm>
            <a:custGeom>
              <a:avLst/>
              <a:gdLst/>
              <a:ahLst/>
              <a:cxnLst/>
              <a:rect l="l" t="t" r="r" b="b"/>
              <a:pathLst>
                <a:path w="430530" h="122555">
                  <a:moveTo>
                    <a:pt x="430136" y="0"/>
                  </a:moveTo>
                  <a:lnTo>
                    <a:pt x="0" y="0"/>
                  </a:lnTo>
                  <a:lnTo>
                    <a:pt x="0" y="122413"/>
                  </a:lnTo>
                  <a:lnTo>
                    <a:pt x="430136" y="122413"/>
                  </a:lnTo>
                  <a:lnTo>
                    <a:pt x="430136" y="0"/>
                  </a:lnTo>
                  <a:close/>
                </a:path>
              </a:pathLst>
            </a:custGeom>
            <a:solidFill>
              <a:srgbClr val="FFD92F"/>
            </a:solidFill>
          </p:spPr>
          <p:txBody>
            <a:bodyPr wrap="square" lIns="0" tIns="0" rIns="0" bIns="0" rtlCol="0"/>
            <a:lstStyle/>
            <a:p>
              <a:endParaRPr/>
            </a:p>
          </p:txBody>
        </p:sp>
        <p:sp>
          <p:nvSpPr>
            <p:cNvPr id="85" name="object 85"/>
            <p:cNvSpPr/>
            <p:nvPr/>
          </p:nvSpPr>
          <p:spPr>
            <a:xfrm>
              <a:off x="1907376" y="2343083"/>
              <a:ext cx="430530" cy="897890"/>
            </a:xfrm>
            <a:custGeom>
              <a:avLst/>
              <a:gdLst/>
              <a:ahLst/>
              <a:cxnLst/>
              <a:rect l="l" t="t" r="r" b="b"/>
              <a:pathLst>
                <a:path w="430530" h="897889">
                  <a:moveTo>
                    <a:pt x="0" y="122413"/>
                  </a:moveTo>
                  <a:lnTo>
                    <a:pt x="430136" y="122413"/>
                  </a:lnTo>
                  <a:lnTo>
                    <a:pt x="430136" y="0"/>
                  </a:lnTo>
                  <a:lnTo>
                    <a:pt x="0" y="0"/>
                  </a:lnTo>
                  <a:lnTo>
                    <a:pt x="0" y="122413"/>
                  </a:lnTo>
                  <a:close/>
                </a:path>
                <a:path w="430530" h="897889">
                  <a:moveTo>
                    <a:pt x="0" y="897664"/>
                  </a:moveTo>
                  <a:lnTo>
                    <a:pt x="430136" y="897664"/>
                  </a:lnTo>
                  <a:lnTo>
                    <a:pt x="430136" y="204015"/>
                  </a:lnTo>
                  <a:lnTo>
                    <a:pt x="0" y="204015"/>
                  </a:lnTo>
                  <a:lnTo>
                    <a:pt x="0" y="897664"/>
                  </a:lnTo>
                  <a:close/>
                </a:path>
              </a:pathLst>
            </a:custGeom>
            <a:ln w="3862">
              <a:solidFill>
                <a:srgbClr val="000000"/>
              </a:solidFill>
            </a:ln>
          </p:spPr>
          <p:txBody>
            <a:bodyPr wrap="square" lIns="0" tIns="0" rIns="0" bIns="0" rtlCol="0"/>
            <a:lstStyle/>
            <a:p>
              <a:endParaRPr/>
            </a:p>
          </p:txBody>
        </p:sp>
        <p:sp>
          <p:nvSpPr>
            <p:cNvPr id="86" name="object 86"/>
            <p:cNvSpPr/>
            <p:nvPr/>
          </p:nvSpPr>
          <p:spPr>
            <a:xfrm>
              <a:off x="1907376" y="1527020"/>
              <a:ext cx="430530" cy="204470"/>
            </a:xfrm>
            <a:custGeom>
              <a:avLst/>
              <a:gdLst/>
              <a:ahLst/>
              <a:cxnLst/>
              <a:rect l="l" t="t" r="r" b="b"/>
              <a:pathLst>
                <a:path w="430530" h="204469">
                  <a:moveTo>
                    <a:pt x="430136" y="0"/>
                  </a:moveTo>
                  <a:lnTo>
                    <a:pt x="0" y="0"/>
                  </a:lnTo>
                  <a:lnTo>
                    <a:pt x="0" y="204015"/>
                  </a:lnTo>
                  <a:lnTo>
                    <a:pt x="430136" y="204015"/>
                  </a:lnTo>
                  <a:lnTo>
                    <a:pt x="430136" y="0"/>
                  </a:lnTo>
                  <a:close/>
                </a:path>
              </a:pathLst>
            </a:custGeom>
            <a:solidFill>
              <a:srgbClr val="B1A783"/>
            </a:solidFill>
          </p:spPr>
          <p:txBody>
            <a:bodyPr wrap="square" lIns="0" tIns="0" rIns="0" bIns="0" rtlCol="0"/>
            <a:lstStyle/>
            <a:p>
              <a:endParaRPr/>
            </a:p>
          </p:txBody>
        </p:sp>
        <p:sp>
          <p:nvSpPr>
            <p:cNvPr id="87" name="object 87"/>
            <p:cNvSpPr/>
            <p:nvPr/>
          </p:nvSpPr>
          <p:spPr>
            <a:xfrm>
              <a:off x="1907376" y="1527020"/>
              <a:ext cx="430530" cy="204470"/>
            </a:xfrm>
            <a:custGeom>
              <a:avLst/>
              <a:gdLst/>
              <a:ahLst/>
              <a:cxnLst/>
              <a:rect l="l" t="t" r="r" b="b"/>
              <a:pathLst>
                <a:path w="430530" h="204469">
                  <a:moveTo>
                    <a:pt x="0" y="204015"/>
                  </a:moveTo>
                  <a:lnTo>
                    <a:pt x="430136" y="204015"/>
                  </a:lnTo>
                  <a:lnTo>
                    <a:pt x="430136" y="0"/>
                  </a:lnTo>
                  <a:lnTo>
                    <a:pt x="0" y="0"/>
                  </a:lnTo>
                  <a:lnTo>
                    <a:pt x="0" y="204015"/>
                  </a:lnTo>
                  <a:close/>
                </a:path>
              </a:pathLst>
            </a:custGeom>
            <a:ln w="3865">
              <a:solidFill>
                <a:srgbClr val="000000"/>
              </a:solidFill>
            </a:ln>
          </p:spPr>
          <p:txBody>
            <a:bodyPr wrap="square" lIns="0" tIns="0" rIns="0" bIns="0" rtlCol="0"/>
            <a:lstStyle/>
            <a:p>
              <a:endParaRPr/>
            </a:p>
          </p:txBody>
        </p:sp>
        <p:sp>
          <p:nvSpPr>
            <p:cNvPr id="88" name="object 88"/>
            <p:cNvSpPr/>
            <p:nvPr/>
          </p:nvSpPr>
          <p:spPr>
            <a:xfrm>
              <a:off x="1907376" y="1731036"/>
              <a:ext cx="430530" cy="122555"/>
            </a:xfrm>
            <a:custGeom>
              <a:avLst/>
              <a:gdLst/>
              <a:ahLst/>
              <a:cxnLst/>
              <a:rect l="l" t="t" r="r" b="b"/>
              <a:pathLst>
                <a:path w="430530" h="122555">
                  <a:moveTo>
                    <a:pt x="430136" y="0"/>
                  </a:moveTo>
                  <a:lnTo>
                    <a:pt x="0" y="0"/>
                  </a:lnTo>
                  <a:lnTo>
                    <a:pt x="0" y="122413"/>
                  </a:lnTo>
                  <a:lnTo>
                    <a:pt x="430136" y="122413"/>
                  </a:lnTo>
                  <a:lnTo>
                    <a:pt x="430136" y="0"/>
                  </a:lnTo>
                  <a:close/>
                </a:path>
              </a:pathLst>
            </a:custGeom>
            <a:solidFill>
              <a:srgbClr val="8DA0CB"/>
            </a:solidFill>
          </p:spPr>
          <p:txBody>
            <a:bodyPr wrap="square" lIns="0" tIns="0" rIns="0" bIns="0" rtlCol="0"/>
            <a:lstStyle/>
            <a:p>
              <a:endParaRPr/>
            </a:p>
          </p:txBody>
        </p:sp>
        <p:sp>
          <p:nvSpPr>
            <p:cNvPr id="89" name="object 89"/>
            <p:cNvSpPr/>
            <p:nvPr/>
          </p:nvSpPr>
          <p:spPr>
            <a:xfrm>
              <a:off x="1907376" y="1731036"/>
              <a:ext cx="430530" cy="122555"/>
            </a:xfrm>
            <a:custGeom>
              <a:avLst/>
              <a:gdLst/>
              <a:ahLst/>
              <a:cxnLst/>
              <a:rect l="l" t="t" r="r" b="b"/>
              <a:pathLst>
                <a:path w="430530" h="122555">
                  <a:moveTo>
                    <a:pt x="0" y="122413"/>
                  </a:moveTo>
                  <a:lnTo>
                    <a:pt x="430136" y="122413"/>
                  </a:lnTo>
                  <a:lnTo>
                    <a:pt x="430136" y="0"/>
                  </a:lnTo>
                  <a:lnTo>
                    <a:pt x="0" y="0"/>
                  </a:lnTo>
                  <a:lnTo>
                    <a:pt x="0" y="122413"/>
                  </a:lnTo>
                  <a:close/>
                </a:path>
              </a:pathLst>
            </a:custGeom>
            <a:ln w="3866">
              <a:solidFill>
                <a:srgbClr val="000000"/>
              </a:solidFill>
            </a:ln>
          </p:spPr>
          <p:txBody>
            <a:bodyPr wrap="square" lIns="0" tIns="0" rIns="0" bIns="0" rtlCol="0"/>
            <a:lstStyle/>
            <a:p>
              <a:endParaRPr/>
            </a:p>
          </p:txBody>
        </p:sp>
        <p:sp>
          <p:nvSpPr>
            <p:cNvPr id="90" name="object 90"/>
            <p:cNvSpPr/>
            <p:nvPr/>
          </p:nvSpPr>
          <p:spPr>
            <a:xfrm>
              <a:off x="3341158" y="2547098"/>
              <a:ext cx="430530" cy="285750"/>
            </a:xfrm>
            <a:custGeom>
              <a:avLst/>
              <a:gdLst/>
              <a:ahLst/>
              <a:cxnLst/>
              <a:rect l="l" t="t" r="r" b="b"/>
              <a:pathLst>
                <a:path w="430529" h="285750">
                  <a:moveTo>
                    <a:pt x="430136" y="0"/>
                  </a:moveTo>
                  <a:lnTo>
                    <a:pt x="0" y="0"/>
                  </a:lnTo>
                  <a:lnTo>
                    <a:pt x="0" y="285617"/>
                  </a:lnTo>
                  <a:lnTo>
                    <a:pt x="430136" y="285617"/>
                  </a:lnTo>
                  <a:lnTo>
                    <a:pt x="430136" y="0"/>
                  </a:lnTo>
                  <a:close/>
                </a:path>
              </a:pathLst>
            </a:custGeom>
            <a:solidFill>
              <a:srgbClr val="D2D841"/>
            </a:solidFill>
          </p:spPr>
          <p:txBody>
            <a:bodyPr wrap="square" lIns="0" tIns="0" rIns="0" bIns="0" rtlCol="0"/>
            <a:lstStyle/>
            <a:p>
              <a:endParaRPr/>
            </a:p>
          </p:txBody>
        </p:sp>
        <p:sp>
          <p:nvSpPr>
            <p:cNvPr id="91" name="object 91"/>
            <p:cNvSpPr/>
            <p:nvPr/>
          </p:nvSpPr>
          <p:spPr>
            <a:xfrm>
              <a:off x="3341158" y="2547098"/>
              <a:ext cx="430530" cy="694055"/>
            </a:xfrm>
            <a:custGeom>
              <a:avLst/>
              <a:gdLst/>
              <a:ahLst/>
              <a:cxnLst/>
              <a:rect l="l" t="t" r="r" b="b"/>
              <a:pathLst>
                <a:path w="430529" h="694055">
                  <a:moveTo>
                    <a:pt x="0" y="285617"/>
                  </a:moveTo>
                  <a:lnTo>
                    <a:pt x="430136" y="285617"/>
                  </a:lnTo>
                  <a:lnTo>
                    <a:pt x="430136" y="0"/>
                  </a:lnTo>
                  <a:lnTo>
                    <a:pt x="0" y="0"/>
                  </a:lnTo>
                  <a:lnTo>
                    <a:pt x="0" y="285617"/>
                  </a:lnTo>
                  <a:close/>
                </a:path>
                <a:path w="430529" h="694055">
                  <a:moveTo>
                    <a:pt x="0" y="693649"/>
                  </a:moveTo>
                  <a:lnTo>
                    <a:pt x="430136" y="693649"/>
                  </a:lnTo>
                  <a:lnTo>
                    <a:pt x="430136" y="285617"/>
                  </a:lnTo>
                  <a:lnTo>
                    <a:pt x="0" y="285617"/>
                  </a:lnTo>
                  <a:lnTo>
                    <a:pt x="0" y="693649"/>
                  </a:lnTo>
                  <a:close/>
                </a:path>
              </a:pathLst>
            </a:custGeom>
            <a:ln w="3862">
              <a:solidFill>
                <a:srgbClr val="000000"/>
              </a:solidFill>
            </a:ln>
          </p:spPr>
          <p:txBody>
            <a:bodyPr wrap="square" lIns="0" tIns="0" rIns="0" bIns="0" rtlCol="0"/>
            <a:lstStyle/>
            <a:p>
              <a:endParaRPr/>
            </a:p>
          </p:txBody>
        </p:sp>
        <p:sp>
          <p:nvSpPr>
            <p:cNvPr id="92" name="object 92"/>
            <p:cNvSpPr/>
            <p:nvPr/>
          </p:nvSpPr>
          <p:spPr>
            <a:xfrm>
              <a:off x="3341158" y="1731036"/>
              <a:ext cx="430530" cy="816610"/>
            </a:xfrm>
            <a:custGeom>
              <a:avLst/>
              <a:gdLst/>
              <a:ahLst/>
              <a:cxnLst/>
              <a:rect l="l" t="t" r="r" b="b"/>
              <a:pathLst>
                <a:path w="430529" h="816610">
                  <a:moveTo>
                    <a:pt x="430136" y="0"/>
                  </a:moveTo>
                  <a:lnTo>
                    <a:pt x="0" y="0"/>
                  </a:lnTo>
                  <a:lnTo>
                    <a:pt x="0" y="816062"/>
                  </a:lnTo>
                  <a:lnTo>
                    <a:pt x="430136" y="816062"/>
                  </a:lnTo>
                  <a:lnTo>
                    <a:pt x="430136" y="0"/>
                  </a:lnTo>
                  <a:close/>
                </a:path>
              </a:pathLst>
            </a:custGeom>
            <a:solidFill>
              <a:srgbClr val="8DA0CB"/>
            </a:solidFill>
          </p:spPr>
          <p:txBody>
            <a:bodyPr wrap="square" lIns="0" tIns="0" rIns="0" bIns="0" rtlCol="0"/>
            <a:lstStyle/>
            <a:p>
              <a:endParaRPr/>
            </a:p>
          </p:txBody>
        </p:sp>
        <p:sp>
          <p:nvSpPr>
            <p:cNvPr id="93" name="object 93"/>
            <p:cNvSpPr/>
            <p:nvPr/>
          </p:nvSpPr>
          <p:spPr>
            <a:xfrm>
              <a:off x="3341158" y="1731036"/>
              <a:ext cx="430530" cy="816610"/>
            </a:xfrm>
            <a:custGeom>
              <a:avLst/>
              <a:gdLst/>
              <a:ahLst/>
              <a:cxnLst/>
              <a:rect l="l" t="t" r="r" b="b"/>
              <a:pathLst>
                <a:path w="430529" h="816610">
                  <a:moveTo>
                    <a:pt x="0" y="816062"/>
                  </a:moveTo>
                  <a:lnTo>
                    <a:pt x="430136" y="816062"/>
                  </a:lnTo>
                  <a:lnTo>
                    <a:pt x="430136" y="0"/>
                  </a:lnTo>
                  <a:lnTo>
                    <a:pt x="0" y="0"/>
                  </a:lnTo>
                  <a:lnTo>
                    <a:pt x="0" y="816062"/>
                  </a:lnTo>
                  <a:close/>
                </a:path>
              </a:pathLst>
            </a:custGeom>
            <a:ln w="3860">
              <a:solidFill>
                <a:srgbClr val="000000"/>
              </a:solidFill>
            </a:ln>
          </p:spPr>
          <p:txBody>
            <a:bodyPr wrap="square" lIns="0" tIns="0" rIns="0" bIns="0" rtlCol="0"/>
            <a:lstStyle/>
            <a:p>
              <a:endParaRPr/>
            </a:p>
          </p:txBody>
        </p:sp>
        <p:sp>
          <p:nvSpPr>
            <p:cNvPr id="94" name="object 94"/>
            <p:cNvSpPr/>
            <p:nvPr/>
          </p:nvSpPr>
          <p:spPr>
            <a:xfrm>
              <a:off x="2385352" y="3159145"/>
              <a:ext cx="430530" cy="41275"/>
            </a:xfrm>
            <a:custGeom>
              <a:avLst/>
              <a:gdLst/>
              <a:ahLst/>
              <a:cxnLst/>
              <a:rect l="l" t="t" r="r" b="b"/>
              <a:pathLst>
                <a:path w="430530" h="41275">
                  <a:moveTo>
                    <a:pt x="430136" y="0"/>
                  </a:moveTo>
                  <a:lnTo>
                    <a:pt x="0" y="0"/>
                  </a:lnTo>
                  <a:lnTo>
                    <a:pt x="0" y="40811"/>
                  </a:lnTo>
                  <a:lnTo>
                    <a:pt x="430136" y="40811"/>
                  </a:lnTo>
                  <a:lnTo>
                    <a:pt x="430136" y="0"/>
                  </a:lnTo>
                  <a:close/>
                </a:path>
              </a:pathLst>
            </a:custGeom>
            <a:solidFill>
              <a:srgbClr val="E78AC3"/>
            </a:solidFill>
          </p:spPr>
          <p:txBody>
            <a:bodyPr wrap="square" lIns="0" tIns="0" rIns="0" bIns="0" rtlCol="0"/>
            <a:lstStyle/>
            <a:p>
              <a:endParaRPr/>
            </a:p>
          </p:txBody>
        </p:sp>
        <p:sp>
          <p:nvSpPr>
            <p:cNvPr id="95" name="object 95"/>
            <p:cNvSpPr/>
            <p:nvPr/>
          </p:nvSpPr>
          <p:spPr>
            <a:xfrm>
              <a:off x="2385352" y="3159145"/>
              <a:ext cx="430530" cy="41275"/>
            </a:xfrm>
            <a:custGeom>
              <a:avLst/>
              <a:gdLst/>
              <a:ahLst/>
              <a:cxnLst/>
              <a:rect l="l" t="t" r="r" b="b"/>
              <a:pathLst>
                <a:path w="430530" h="41275">
                  <a:moveTo>
                    <a:pt x="0" y="40811"/>
                  </a:moveTo>
                  <a:lnTo>
                    <a:pt x="430136" y="40811"/>
                  </a:lnTo>
                  <a:lnTo>
                    <a:pt x="430136" y="0"/>
                  </a:lnTo>
                  <a:lnTo>
                    <a:pt x="0" y="0"/>
                  </a:lnTo>
                  <a:lnTo>
                    <a:pt x="0" y="40811"/>
                  </a:lnTo>
                  <a:close/>
                </a:path>
              </a:pathLst>
            </a:custGeom>
            <a:ln w="3866">
              <a:solidFill>
                <a:srgbClr val="000000"/>
              </a:solidFill>
            </a:ln>
          </p:spPr>
          <p:txBody>
            <a:bodyPr wrap="square" lIns="0" tIns="0" rIns="0" bIns="0" rtlCol="0"/>
            <a:lstStyle/>
            <a:p>
              <a:endParaRPr/>
            </a:p>
          </p:txBody>
        </p:sp>
        <p:sp>
          <p:nvSpPr>
            <p:cNvPr id="96" name="object 96"/>
            <p:cNvSpPr/>
            <p:nvPr/>
          </p:nvSpPr>
          <p:spPr>
            <a:xfrm>
              <a:off x="2385352" y="2791905"/>
              <a:ext cx="430530" cy="41275"/>
            </a:xfrm>
            <a:custGeom>
              <a:avLst/>
              <a:gdLst/>
              <a:ahLst/>
              <a:cxnLst/>
              <a:rect l="l" t="t" r="r" b="b"/>
              <a:pathLst>
                <a:path w="430530" h="41275">
                  <a:moveTo>
                    <a:pt x="430136" y="0"/>
                  </a:moveTo>
                  <a:lnTo>
                    <a:pt x="0" y="0"/>
                  </a:lnTo>
                  <a:lnTo>
                    <a:pt x="0" y="40811"/>
                  </a:lnTo>
                  <a:lnTo>
                    <a:pt x="430136" y="40811"/>
                  </a:lnTo>
                  <a:lnTo>
                    <a:pt x="430136" y="0"/>
                  </a:lnTo>
                  <a:close/>
                </a:path>
              </a:pathLst>
            </a:custGeom>
            <a:solidFill>
              <a:srgbClr val="B1A783"/>
            </a:solidFill>
          </p:spPr>
          <p:txBody>
            <a:bodyPr wrap="square" lIns="0" tIns="0" rIns="0" bIns="0" rtlCol="0"/>
            <a:lstStyle/>
            <a:p>
              <a:endParaRPr/>
            </a:p>
          </p:txBody>
        </p:sp>
        <p:sp>
          <p:nvSpPr>
            <p:cNvPr id="97" name="object 97"/>
            <p:cNvSpPr/>
            <p:nvPr/>
          </p:nvSpPr>
          <p:spPr>
            <a:xfrm>
              <a:off x="2385352" y="2791905"/>
              <a:ext cx="430530" cy="41275"/>
            </a:xfrm>
            <a:custGeom>
              <a:avLst/>
              <a:gdLst/>
              <a:ahLst/>
              <a:cxnLst/>
              <a:rect l="l" t="t" r="r" b="b"/>
              <a:pathLst>
                <a:path w="430530" h="41275">
                  <a:moveTo>
                    <a:pt x="0" y="40811"/>
                  </a:moveTo>
                  <a:lnTo>
                    <a:pt x="430136" y="40811"/>
                  </a:lnTo>
                  <a:lnTo>
                    <a:pt x="430136" y="0"/>
                  </a:lnTo>
                  <a:lnTo>
                    <a:pt x="0" y="0"/>
                  </a:lnTo>
                  <a:lnTo>
                    <a:pt x="0" y="40811"/>
                  </a:lnTo>
                  <a:close/>
                </a:path>
              </a:pathLst>
            </a:custGeom>
            <a:ln w="3866">
              <a:solidFill>
                <a:srgbClr val="000000"/>
              </a:solidFill>
            </a:ln>
          </p:spPr>
          <p:txBody>
            <a:bodyPr wrap="square" lIns="0" tIns="0" rIns="0" bIns="0" rtlCol="0"/>
            <a:lstStyle/>
            <a:p>
              <a:endParaRPr/>
            </a:p>
          </p:txBody>
        </p:sp>
        <p:sp>
          <p:nvSpPr>
            <p:cNvPr id="98" name="object 98"/>
            <p:cNvSpPr/>
            <p:nvPr/>
          </p:nvSpPr>
          <p:spPr>
            <a:xfrm>
              <a:off x="2385352" y="1404627"/>
              <a:ext cx="430530" cy="1387475"/>
            </a:xfrm>
            <a:custGeom>
              <a:avLst/>
              <a:gdLst/>
              <a:ahLst/>
              <a:cxnLst/>
              <a:rect l="l" t="t" r="r" b="b"/>
              <a:pathLst>
                <a:path w="430530" h="1387475">
                  <a:moveTo>
                    <a:pt x="430136" y="0"/>
                  </a:moveTo>
                  <a:lnTo>
                    <a:pt x="0" y="0"/>
                  </a:lnTo>
                  <a:lnTo>
                    <a:pt x="0" y="1387298"/>
                  </a:lnTo>
                  <a:lnTo>
                    <a:pt x="430136" y="1387298"/>
                  </a:lnTo>
                  <a:lnTo>
                    <a:pt x="430136" y="0"/>
                  </a:lnTo>
                  <a:close/>
                </a:path>
              </a:pathLst>
            </a:custGeom>
            <a:solidFill>
              <a:srgbClr val="FC8D62"/>
            </a:solidFill>
          </p:spPr>
          <p:txBody>
            <a:bodyPr wrap="square" lIns="0" tIns="0" rIns="0" bIns="0" rtlCol="0"/>
            <a:lstStyle/>
            <a:p>
              <a:endParaRPr/>
            </a:p>
          </p:txBody>
        </p:sp>
        <p:sp>
          <p:nvSpPr>
            <p:cNvPr id="99" name="object 99"/>
            <p:cNvSpPr/>
            <p:nvPr/>
          </p:nvSpPr>
          <p:spPr>
            <a:xfrm>
              <a:off x="2385352" y="1404627"/>
              <a:ext cx="430530" cy="1387475"/>
            </a:xfrm>
            <a:custGeom>
              <a:avLst/>
              <a:gdLst/>
              <a:ahLst/>
              <a:cxnLst/>
              <a:rect l="l" t="t" r="r" b="b"/>
              <a:pathLst>
                <a:path w="430530" h="1387475">
                  <a:moveTo>
                    <a:pt x="0" y="1387298"/>
                  </a:moveTo>
                  <a:lnTo>
                    <a:pt x="430136" y="1387298"/>
                  </a:lnTo>
                  <a:lnTo>
                    <a:pt x="430136" y="0"/>
                  </a:lnTo>
                  <a:lnTo>
                    <a:pt x="0" y="0"/>
                  </a:lnTo>
                  <a:lnTo>
                    <a:pt x="0" y="1387298"/>
                  </a:lnTo>
                  <a:close/>
                </a:path>
              </a:pathLst>
            </a:custGeom>
            <a:ln w="3859">
              <a:solidFill>
                <a:srgbClr val="000000"/>
              </a:solidFill>
            </a:ln>
          </p:spPr>
          <p:txBody>
            <a:bodyPr wrap="square" lIns="0" tIns="0" rIns="0" bIns="0" rtlCol="0"/>
            <a:lstStyle/>
            <a:p>
              <a:endParaRPr/>
            </a:p>
          </p:txBody>
        </p:sp>
        <p:sp>
          <p:nvSpPr>
            <p:cNvPr id="100" name="object 100"/>
            <p:cNvSpPr/>
            <p:nvPr/>
          </p:nvSpPr>
          <p:spPr>
            <a:xfrm>
              <a:off x="2385352" y="3199936"/>
              <a:ext cx="430530" cy="41275"/>
            </a:xfrm>
            <a:custGeom>
              <a:avLst/>
              <a:gdLst/>
              <a:ahLst/>
              <a:cxnLst/>
              <a:rect l="l" t="t" r="r" b="b"/>
              <a:pathLst>
                <a:path w="430530" h="41275">
                  <a:moveTo>
                    <a:pt x="430136" y="0"/>
                  </a:moveTo>
                  <a:lnTo>
                    <a:pt x="0" y="0"/>
                  </a:lnTo>
                  <a:lnTo>
                    <a:pt x="0" y="40811"/>
                  </a:lnTo>
                  <a:lnTo>
                    <a:pt x="430136" y="40811"/>
                  </a:lnTo>
                  <a:lnTo>
                    <a:pt x="430136" y="0"/>
                  </a:lnTo>
                  <a:close/>
                </a:path>
              </a:pathLst>
            </a:custGeom>
            <a:solidFill>
              <a:srgbClr val="BA95C7"/>
            </a:solidFill>
          </p:spPr>
          <p:txBody>
            <a:bodyPr wrap="square" lIns="0" tIns="0" rIns="0" bIns="0" rtlCol="0"/>
            <a:lstStyle/>
            <a:p>
              <a:endParaRPr/>
            </a:p>
          </p:txBody>
        </p:sp>
        <p:sp>
          <p:nvSpPr>
            <p:cNvPr id="101" name="object 101"/>
            <p:cNvSpPr/>
            <p:nvPr/>
          </p:nvSpPr>
          <p:spPr>
            <a:xfrm>
              <a:off x="2385352" y="3199936"/>
              <a:ext cx="430530" cy="41275"/>
            </a:xfrm>
            <a:custGeom>
              <a:avLst/>
              <a:gdLst/>
              <a:ahLst/>
              <a:cxnLst/>
              <a:rect l="l" t="t" r="r" b="b"/>
              <a:pathLst>
                <a:path w="430530" h="41275">
                  <a:moveTo>
                    <a:pt x="0" y="40811"/>
                  </a:moveTo>
                  <a:lnTo>
                    <a:pt x="430136" y="40811"/>
                  </a:lnTo>
                  <a:lnTo>
                    <a:pt x="430136" y="0"/>
                  </a:lnTo>
                  <a:lnTo>
                    <a:pt x="0" y="0"/>
                  </a:lnTo>
                  <a:lnTo>
                    <a:pt x="0" y="40811"/>
                  </a:lnTo>
                  <a:close/>
                </a:path>
              </a:pathLst>
            </a:custGeom>
            <a:ln w="3866">
              <a:solidFill>
                <a:srgbClr val="000000"/>
              </a:solidFill>
            </a:ln>
          </p:spPr>
          <p:txBody>
            <a:bodyPr wrap="square" lIns="0" tIns="0" rIns="0" bIns="0" rtlCol="0"/>
            <a:lstStyle/>
            <a:p>
              <a:endParaRPr/>
            </a:p>
          </p:txBody>
        </p:sp>
        <p:sp>
          <p:nvSpPr>
            <p:cNvPr id="102" name="object 102"/>
            <p:cNvSpPr/>
            <p:nvPr/>
          </p:nvSpPr>
          <p:spPr>
            <a:xfrm>
              <a:off x="2385352" y="2832716"/>
              <a:ext cx="430530" cy="327025"/>
            </a:xfrm>
            <a:custGeom>
              <a:avLst/>
              <a:gdLst/>
              <a:ahLst/>
              <a:cxnLst/>
              <a:rect l="l" t="t" r="r" b="b"/>
              <a:pathLst>
                <a:path w="430530" h="327025">
                  <a:moveTo>
                    <a:pt x="430136" y="0"/>
                  </a:moveTo>
                  <a:lnTo>
                    <a:pt x="0" y="0"/>
                  </a:lnTo>
                  <a:lnTo>
                    <a:pt x="0" y="326429"/>
                  </a:lnTo>
                  <a:lnTo>
                    <a:pt x="430136" y="326429"/>
                  </a:lnTo>
                  <a:lnTo>
                    <a:pt x="430136" y="0"/>
                  </a:lnTo>
                  <a:close/>
                </a:path>
              </a:pathLst>
            </a:custGeom>
            <a:solidFill>
              <a:srgbClr val="A6D854"/>
            </a:solidFill>
          </p:spPr>
          <p:txBody>
            <a:bodyPr wrap="square" lIns="0" tIns="0" rIns="0" bIns="0" rtlCol="0"/>
            <a:lstStyle/>
            <a:p>
              <a:endParaRPr/>
            </a:p>
          </p:txBody>
        </p:sp>
        <p:sp>
          <p:nvSpPr>
            <p:cNvPr id="103" name="object 103"/>
            <p:cNvSpPr/>
            <p:nvPr/>
          </p:nvSpPr>
          <p:spPr>
            <a:xfrm>
              <a:off x="2385352" y="2832716"/>
              <a:ext cx="430530" cy="327025"/>
            </a:xfrm>
            <a:custGeom>
              <a:avLst/>
              <a:gdLst/>
              <a:ahLst/>
              <a:cxnLst/>
              <a:rect l="l" t="t" r="r" b="b"/>
              <a:pathLst>
                <a:path w="430530" h="327025">
                  <a:moveTo>
                    <a:pt x="0" y="326429"/>
                  </a:moveTo>
                  <a:lnTo>
                    <a:pt x="430136" y="326429"/>
                  </a:lnTo>
                  <a:lnTo>
                    <a:pt x="430136" y="0"/>
                  </a:lnTo>
                  <a:lnTo>
                    <a:pt x="0" y="0"/>
                  </a:lnTo>
                  <a:lnTo>
                    <a:pt x="0" y="326429"/>
                  </a:lnTo>
                  <a:close/>
                </a:path>
              </a:pathLst>
            </a:custGeom>
            <a:ln w="3863">
              <a:solidFill>
                <a:srgbClr val="000000"/>
              </a:solidFill>
            </a:ln>
          </p:spPr>
          <p:txBody>
            <a:bodyPr wrap="square" lIns="0" tIns="0" rIns="0" bIns="0" rtlCol="0"/>
            <a:lstStyle/>
            <a:p>
              <a:endParaRPr/>
            </a:p>
          </p:txBody>
        </p:sp>
      </p:grpSp>
      <p:sp>
        <p:nvSpPr>
          <p:cNvPr id="105" name="TextBox 104">
            <a:extLst>
              <a:ext uri="{FF2B5EF4-FFF2-40B4-BE49-F238E27FC236}">
                <a16:creationId xmlns:a16="http://schemas.microsoft.com/office/drawing/2014/main" id="{BBF6F442-0870-DEA0-1042-9A6FD4225154}"/>
              </a:ext>
            </a:extLst>
          </p:cNvPr>
          <p:cNvSpPr txBox="1"/>
          <p:nvPr/>
        </p:nvSpPr>
        <p:spPr>
          <a:xfrm>
            <a:off x="0" y="5562600"/>
            <a:ext cx="9906000" cy="1349087"/>
          </a:xfrm>
          <a:prstGeom prst="rect">
            <a:avLst/>
          </a:prstGeom>
          <a:noFill/>
        </p:spPr>
        <p:txBody>
          <a:bodyPr wrap="square">
            <a:spAutoFit/>
          </a:bodyPr>
          <a:lstStyle/>
          <a:p>
            <a:pPr marL="12700" marR="5080" algn="just">
              <a:lnSpc>
                <a:spcPts val="1420"/>
              </a:lnSpc>
              <a:spcBef>
                <a:spcPts val="894"/>
              </a:spcBef>
            </a:pPr>
            <a:r>
              <a:rPr lang="en-US" sz="1200" b="1" dirty="0">
                <a:latin typeface="Times New Roman" panose="02020603050405020304" pitchFamily="18" charset="0"/>
                <a:cs typeface="Times New Roman" panose="02020603050405020304" pitchFamily="18" charset="0"/>
              </a:rPr>
              <a:t>Fig. S7</a:t>
            </a:r>
            <a:r>
              <a:rPr lang="en-US" sz="1200" dirty="0">
                <a:latin typeface="Times New Roman" panose="02020603050405020304" pitchFamily="18" charset="0"/>
                <a:cs typeface="Times New Roman" panose="02020603050405020304" pitchFamily="18" charset="0"/>
              </a:rPr>
              <a:t> Stacked bar chart illustrating the composition of biological processes (BPs) within curated cold-related functional categories. The plot includes 230 proteins from the top 50 differentially accumulated proteins (DAPs) accumulated in winter rhizomes of </a:t>
            </a:r>
            <a:r>
              <a:rPr lang="en-US" sz="1200" i="1" dirty="0">
                <a:latin typeface="Times New Roman" panose="02020603050405020304" pitchFamily="18" charset="0"/>
                <a:cs typeface="Times New Roman" panose="02020603050405020304" pitchFamily="18" charset="0"/>
              </a:rPr>
              <a:t>Tripsacum dactyloides</a:t>
            </a:r>
            <a:r>
              <a:rPr lang="en-US" sz="1200" dirty="0">
                <a:latin typeface="Times New Roman" panose="02020603050405020304" pitchFamily="18" charset="0"/>
                <a:cs typeface="Times New Roman" panose="02020603050405020304" pitchFamily="18" charset="0"/>
              </a:rPr>
              <a:t> and </a:t>
            </a:r>
            <a:r>
              <a:rPr lang="en-US" sz="1200" i="1" dirty="0">
                <a:latin typeface="Times New Roman" panose="02020603050405020304" pitchFamily="18" charset="0"/>
                <a:cs typeface="Times New Roman" panose="02020603050405020304" pitchFamily="18" charset="0"/>
              </a:rPr>
              <a:t>T. floridanum</a:t>
            </a:r>
            <a:r>
              <a:rPr lang="en-US" sz="1200" dirty="0">
                <a:latin typeface="Times New Roman" panose="02020603050405020304" pitchFamily="18" charset="0"/>
                <a:cs typeface="Times New Roman" panose="02020603050405020304" pitchFamily="18" charset="0"/>
              </a:rPr>
              <a:t> hybrids, </a:t>
            </a:r>
            <a:r>
              <a:rPr lang="en-US" sz="1200" i="1" dirty="0">
                <a:latin typeface="Times New Roman" panose="02020603050405020304" pitchFamily="18" charset="0"/>
                <a:cs typeface="Times New Roman" panose="02020603050405020304" pitchFamily="18" charset="0"/>
              </a:rPr>
              <a:t>Andropogon gerardii</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Miscanthus</a:t>
            </a:r>
            <a:r>
              <a:rPr lang="en-US" sz="1200" dirty="0">
                <a:latin typeface="Times New Roman" panose="02020603050405020304" pitchFamily="18" charset="0"/>
                <a:cs typeface="Times New Roman" panose="02020603050405020304" pitchFamily="18" charset="0"/>
              </a:rPr>
              <a:t> × </a:t>
            </a:r>
            <a:r>
              <a:rPr lang="en-US" sz="1200" i="1" dirty="0">
                <a:latin typeface="Times New Roman" panose="02020603050405020304" pitchFamily="18" charset="0"/>
                <a:cs typeface="Times New Roman" panose="02020603050405020304" pitchFamily="18" charset="0"/>
              </a:rPr>
              <a:t>giganteus</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Panicum virgatum</a:t>
            </a:r>
            <a:r>
              <a:rPr lang="en-US" sz="1200" dirty="0">
                <a:latin typeface="Times New Roman" panose="02020603050405020304" pitchFamily="18" charset="0"/>
                <a:cs typeface="Times New Roman" panose="02020603050405020304" pitchFamily="18" charset="0"/>
              </a:rPr>
              <a:t>, and </a:t>
            </a:r>
            <a:r>
              <a:rPr lang="en-US" sz="1200" i="1" dirty="0">
                <a:latin typeface="Times New Roman" panose="02020603050405020304" pitchFamily="18" charset="0"/>
                <a:cs typeface="Times New Roman" panose="02020603050405020304" pitchFamily="18" charset="0"/>
              </a:rPr>
              <a:t>Sorghastrum nutans</a:t>
            </a:r>
            <a:r>
              <a:rPr lang="en-US" sz="1200" dirty="0">
                <a:latin typeface="Times New Roman" panose="02020603050405020304" pitchFamily="18" charset="0"/>
                <a:cs typeface="Times New Roman" panose="02020603050405020304" pitchFamily="18" charset="0"/>
              </a:rPr>
              <a:t>, after excluding those assigned to the cold response category “Other” (i.e., proteins with annotations deemed less relevant to cold tolerance interpretation). Cold-related categories are shown on the x-axis and sorted by total protein count. Each bar is color-coded by BP, highlighting the functional composition of each category. Less informative or poorly annotated BPs were grouped under “Other” in the legend. This visualization supports the manual consolidation of specific biological processes into broader cold-response categories used throughout the study.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219125" y="0"/>
            <a:ext cx="4686935" cy="4087495"/>
            <a:chOff x="5219125" y="0"/>
            <a:chExt cx="4686935" cy="4087495"/>
          </a:xfrm>
        </p:grpSpPr>
        <p:pic>
          <p:nvPicPr>
            <p:cNvPr id="3" name="object 3"/>
            <p:cNvPicPr/>
            <p:nvPr/>
          </p:nvPicPr>
          <p:blipFill>
            <a:blip r:embed="rId3" cstate="print"/>
            <a:stretch>
              <a:fillRect/>
            </a:stretch>
          </p:blipFill>
          <p:spPr>
            <a:xfrm>
              <a:off x="5219125" y="755122"/>
              <a:ext cx="2539401" cy="3332153"/>
            </a:xfrm>
            <a:prstGeom prst="rect">
              <a:avLst/>
            </a:prstGeom>
          </p:spPr>
        </p:pic>
        <p:pic>
          <p:nvPicPr>
            <p:cNvPr id="4" name="object 4"/>
            <p:cNvPicPr/>
            <p:nvPr/>
          </p:nvPicPr>
          <p:blipFill>
            <a:blip r:embed="rId4" cstate="print"/>
            <a:stretch>
              <a:fillRect/>
            </a:stretch>
          </p:blipFill>
          <p:spPr>
            <a:xfrm>
              <a:off x="7431358" y="0"/>
              <a:ext cx="2474641" cy="3263191"/>
            </a:xfrm>
            <a:prstGeom prst="rect">
              <a:avLst/>
            </a:prstGeom>
          </p:spPr>
        </p:pic>
        <p:sp>
          <p:nvSpPr>
            <p:cNvPr id="5" name="object 5"/>
            <p:cNvSpPr/>
            <p:nvPr/>
          </p:nvSpPr>
          <p:spPr>
            <a:xfrm>
              <a:off x="7632004" y="2252248"/>
              <a:ext cx="2073910" cy="282575"/>
            </a:xfrm>
            <a:custGeom>
              <a:avLst/>
              <a:gdLst/>
              <a:ahLst/>
              <a:cxnLst/>
              <a:rect l="l" t="t" r="r" b="b"/>
              <a:pathLst>
                <a:path w="2073909" h="282575">
                  <a:moveTo>
                    <a:pt x="2073348" y="0"/>
                  </a:moveTo>
                  <a:lnTo>
                    <a:pt x="0" y="0"/>
                  </a:lnTo>
                  <a:lnTo>
                    <a:pt x="0" y="282463"/>
                  </a:lnTo>
                  <a:lnTo>
                    <a:pt x="2073348" y="282463"/>
                  </a:lnTo>
                  <a:lnTo>
                    <a:pt x="2073348" y="0"/>
                  </a:lnTo>
                  <a:close/>
                </a:path>
              </a:pathLst>
            </a:custGeom>
            <a:solidFill>
              <a:srgbClr val="FFFFFF"/>
            </a:solidFill>
          </p:spPr>
          <p:txBody>
            <a:bodyPr wrap="square" lIns="0" tIns="0" rIns="0" bIns="0" rtlCol="0"/>
            <a:lstStyle/>
            <a:p>
              <a:endParaRPr/>
            </a:p>
          </p:txBody>
        </p:sp>
      </p:grpSp>
      <p:sp>
        <p:nvSpPr>
          <p:cNvPr id="6" name="object 6"/>
          <p:cNvSpPr txBox="1"/>
          <p:nvPr/>
        </p:nvSpPr>
        <p:spPr>
          <a:xfrm>
            <a:off x="5423751" y="325065"/>
            <a:ext cx="1304290" cy="222250"/>
          </a:xfrm>
          <a:prstGeom prst="rect">
            <a:avLst/>
          </a:prstGeom>
        </p:spPr>
        <p:txBody>
          <a:bodyPr vert="horz" wrap="square" lIns="0" tIns="17780" rIns="0" bIns="0" rtlCol="0">
            <a:spAutoFit/>
          </a:bodyPr>
          <a:lstStyle/>
          <a:p>
            <a:pPr marL="12700">
              <a:lnSpc>
                <a:spcPct val="100000"/>
              </a:lnSpc>
              <a:spcBef>
                <a:spcPts val="140"/>
              </a:spcBef>
            </a:pPr>
            <a:r>
              <a:rPr sz="1250" b="1" dirty="0">
                <a:latin typeface="Arial"/>
                <a:cs typeface="Arial"/>
              </a:rPr>
              <a:t>TdLEA3</a:t>
            </a:r>
            <a:r>
              <a:rPr sz="1250" b="1" spc="145" dirty="0">
                <a:latin typeface="Arial"/>
                <a:cs typeface="Arial"/>
              </a:rPr>
              <a:t> </a:t>
            </a:r>
            <a:r>
              <a:rPr sz="1250" b="1" spc="-10" dirty="0">
                <a:latin typeface="Arial"/>
                <a:cs typeface="Arial"/>
              </a:rPr>
              <a:t>4copies</a:t>
            </a:r>
            <a:endParaRPr sz="1250">
              <a:latin typeface="Arial"/>
              <a:cs typeface="Arial"/>
            </a:endParaRPr>
          </a:p>
        </p:txBody>
      </p:sp>
      <p:pic>
        <p:nvPicPr>
          <p:cNvPr id="7" name="object 7"/>
          <p:cNvPicPr/>
          <p:nvPr/>
        </p:nvPicPr>
        <p:blipFill>
          <a:blip r:embed="rId5" cstate="print"/>
          <a:stretch>
            <a:fillRect/>
          </a:stretch>
        </p:blipFill>
        <p:spPr>
          <a:xfrm>
            <a:off x="172639" y="349377"/>
            <a:ext cx="3949120" cy="3924282"/>
          </a:xfrm>
          <a:prstGeom prst="rect">
            <a:avLst/>
          </a:prstGeom>
        </p:spPr>
      </p:pic>
      <p:sp>
        <p:nvSpPr>
          <p:cNvPr id="8" name="object 8"/>
          <p:cNvSpPr txBox="1"/>
          <p:nvPr/>
        </p:nvSpPr>
        <p:spPr>
          <a:xfrm>
            <a:off x="353738" y="325065"/>
            <a:ext cx="1349375" cy="222250"/>
          </a:xfrm>
          <a:prstGeom prst="rect">
            <a:avLst/>
          </a:prstGeom>
        </p:spPr>
        <p:txBody>
          <a:bodyPr vert="horz" wrap="square" lIns="0" tIns="17780" rIns="0" bIns="0" rtlCol="0">
            <a:spAutoFit/>
          </a:bodyPr>
          <a:lstStyle/>
          <a:p>
            <a:pPr marL="12700">
              <a:lnSpc>
                <a:spcPct val="100000"/>
              </a:lnSpc>
              <a:spcBef>
                <a:spcPts val="140"/>
              </a:spcBef>
            </a:pPr>
            <a:r>
              <a:rPr sz="1250" b="1" dirty="0">
                <a:latin typeface="Arial"/>
                <a:cs typeface="Arial"/>
              </a:rPr>
              <a:t>ZmLEA3</a:t>
            </a:r>
            <a:r>
              <a:rPr sz="1250" b="1" spc="150" dirty="0">
                <a:latin typeface="Arial"/>
                <a:cs typeface="Arial"/>
              </a:rPr>
              <a:t> </a:t>
            </a:r>
            <a:r>
              <a:rPr sz="1250" b="1" spc="-10" dirty="0">
                <a:latin typeface="Arial"/>
                <a:cs typeface="Arial"/>
              </a:rPr>
              <a:t>4copies</a:t>
            </a:r>
            <a:endParaRPr sz="1250">
              <a:latin typeface="Arial"/>
              <a:cs typeface="Arial"/>
            </a:endParaRPr>
          </a:p>
        </p:txBody>
      </p:sp>
      <p:grpSp>
        <p:nvGrpSpPr>
          <p:cNvPr id="9" name="object 9"/>
          <p:cNvGrpSpPr/>
          <p:nvPr/>
        </p:nvGrpSpPr>
        <p:grpSpPr>
          <a:xfrm>
            <a:off x="2422622" y="96607"/>
            <a:ext cx="2459990" cy="3263265"/>
            <a:chOff x="2422622" y="96607"/>
            <a:chExt cx="2459990" cy="3263265"/>
          </a:xfrm>
        </p:grpSpPr>
        <p:pic>
          <p:nvPicPr>
            <p:cNvPr id="10" name="object 10"/>
            <p:cNvPicPr/>
            <p:nvPr/>
          </p:nvPicPr>
          <p:blipFill>
            <a:blip r:embed="rId6" cstate="print"/>
            <a:stretch>
              <a:fillRect/>
            </a:stretch>
          </p:blipFill>
          <p:spPr>
            <a:xfrm>
              <a:off x="2422622" y="96607"/>
              <a:ext cx="2459779" cy="3263191"/>
            </a:xfrm>
            <a:prstGeom prst="rect">
              <a:avLst/>
            </a:prstGeom>
          </p:spPr>
        </p:pic>
        <p:sp>
          <p:nvSpPr>
            <p:cNvPr id="11" name="object 11"/>
            <p:cNvSpPr/>
            <p:nvPr/>
          </p:nvSpPr>
          <p:spPr>
            <a:xfrm>
              <a:off x="2623269" y="2393444"/>
              <a:ext cx="2066289" cy="282575"/>
            </a:xfrm>
            <a:custGeom>
              <a:avLst/>
              <a:gdLst/>
              <a:ahLst/>
              <a:cxnLst/>
              <a:rect l="l" t="t" r="r" b="b"/>
              <a:pathLst>
                <a:path w="2066289" h="282575">
                  <a:moveTo>
                    <a:pt x="2065917" y="0"/>
                  </a:moveTo>
                  <a:lnTo>
                    <a:pt x="0" y="0"/>
                  </a:lnTo>
                  <a:lnTo>
                    <a:pt x="0" y="282463"/>
                  </a:lnTo>
                  <a:lnTo>
                    <a:pt x="2065917" y="282463"/>
                  </a:lnTo>
                  <a:lnTo>
                    <a:pt x="2065917" y="0"/>
                  </a:lnTo>
                  <a:close/>
                </a:path>
              </a:pathLst>
            </a:custGeom>
            <a:solidFill>
              <a:srgbClr val="FFFFFF"/>
            </a:solidFill>
          </p:spPr>
          <p:txBody>
            <a:bodyPr wrap="square" lIns="0" tIns="0" rIns="0" bIns="0" rtlCol="0"/>
            <a:lstStyle/>
            <a:p>
              <a:endParaRPr/>
            </a:p>
          </p:txBody>
        </p:sp>
      </p:grpSp>
      <p:pic>
        <p:nvPicPr>
          <p:cNvPr id="12" name="object 12"/>
          <p:cNvPicPr/>
          <p:nvPr/>
        </p:nvPicPr>
        <p:blipFill>
          <a:blip r:embed="rId7" cstate="print"/>
          <a:stretch>
            <a:fillRect/>
          </a:stretch>
        </p:blipFill>
        <p:spPr>
          <a:xfrm>
            <a:off x="1784877" y="4403023"/>
            <a:ext cx="6215317" cy="158302"/>
          </a:xfrm>
          <a:prstGeom prst="rect">
            <a:avLst/>
          </a:prstGeom>
        </p:spPr>
      </p:pic>
      <p:sp>
        <p:nvSpPr>
          <p:cNvPr id="13" name="object 13"/>
          <p:cNvSpPr txBox="1"/>
          <p:nvPr/>
        </p:nvSpPr>
        <p:spPr>
          <a:xfrm>
            <a:off x="36501" y="16973"/>
            <a:ext cx="160020" cy="248920"/>
          </a:xfrm>
          <a:prstGeom prst="rect">
            <a:avLst/>
          </a:prstGeom>
        </p:spPr>
        <p:txBody>
          <a:bodyPr vert="horz" wrap="square" lIns="0" tIns="14605" rIns="0" bIns="0" rtlCol="0">
            <a:spAutoFit/>
          </a:bodyPr>
          <a:lstStyle/>
          <a:p>
            <a:pPr marL="12700">
              <a:lnSpc>
                <a:spcPct val="100000"/>
              </a:lnSpc>
              <a:spcBef>
                <a:spcPts val="115"/>
              </a:spcBef>
            </a:pPr>
            <a:r>
              <a:rPr sz="1450" b="1" spc="-50" dirty="0">
                <a:latin typeface="Arial"/>
                <a:cs typeface="Arial"/>
              </a:rPr>
              <a:t>A</a:t>
            </a:r>
            <a:endParaRPr sz="1450">
              <a:latin typeface="Arial"/>
              <a:cs typeface="Arial"/>
            </a:endParaRPr>
          </a:p>
        </p:txBody>
      </p:sp>
      <p:sp>
        <p:nvSpPr>
          <p:cNvPr id="14" name="object 14"/>
          <p:cNvSpPr txBox="1"/>
          <p:nvPr/>
        </p:nvSpPr>
        <p:spPr>
          <a:xfrm>
            <a:off x="4956091" y="16973"/>
            <a:ext cx="160020" cy="248920"/>
          </a:xfrm>
          <a:prstGeom prst="rect">
            <a:avLst/>
          </a:prstGeom>
        </p:spPr>
        <p:txBody>
          <a:bodyPr vert="horz" wrap="square" lIns="0" tIns="14605" rIns="0" bIns="0" rtlCol="0">
            <a:spAutoFit/>
          </a:bodyPr>
          <a:lstStyle/>
          <a:p>
            <a:pPr marL="12700">
              <a:lnSpc>
                <a:spcPct val="100000"/>
              </a:lnSpc>
              <a:spcBef>
                <a:spcPts val="115"/>
              </a:spcBef>
            </a:pPr>
            <a:r>
              <a:rPr sz="1450" b="1" spc="-50" dirty="0">
                <a:latin typeface="Arial"/>
                <a:cs typeface="Arial"/>
              </a:rPr>
              <a:t>B</a:t>
            </a:r>
            <a:endParaRPr sz="1450">
              <a:latin typeface="Arial"/>
              <a:cs typeface="Arial"/>
            </a:endParaRPr>
          </a:p>
        </p:txBody>
      </p:sp>
      <p:sp>
        <p:nvSpPr>
          <p:cNvPr id="15" name="object 15"/>
          <p:cNvSpPr txBox="1"/>
          <p:nvPr/>
        </p:nvSpPr>
        <p:spPr>
          <a:xfrm>
            <a:off x="61613" y="5768926"/>
            <a:ext cx="9789160" cy="948465"/>
          </a:xfrm>
          <a:prstGeom prst="rect">
            <a:avLst/>
          </a:prstGeom>
        </p:spPr>
        <p:txBody>
          <a:bodyPr vert="horz" wrap="square" lIns="0" tIns="8890" rIns="0" bIns="0" rtlCol="0">
            <a:spAutoFit/>
          </a:bodyPr>
          <a:lstStyle/>
          <a:p>
            <a:pPr marL="12700" marR="5080" algn="just">
              <a:lnSpc>
                <a:spcPct val="103200"/>
              </a:lnSpc>
              <a:spcBef>
                <a:spcPts val="70"/>
              </a:spcBef>
            </a:pPr>
            <a:r>
              <a:rPr lang="en-US" sz="1200" b="1" dirty="0">
                <a:latin typeface="Times New Roman"/>
                <a:cs typeface="Times New Roman"/>
              </a:rPr>
              <a:t>Fig. S8.</a:t>
            </a:r>
            <a:r>
              <a:rPr sz="1200" b="1" spc="190" dirty="0">
                <a:latin typeface="Times New Roman"/>
                <a:cs typeface="Times New Roman"/>
              </a:rPr>
              <a:t> </a:t>
            </a:r>
            <a:r>
              <a:rPr sz="1200" b="1" dirty="0">
                <a:latin typeface="Times New Roman"/>
                <a:cs typeface="Times New Roman"/>
              </a:rPr>
              <a:t>AlphaFold</a:t>
            </a:r>
            <a:r>
              <a:rPr sz="1200" b="1" spc="190" dirty="0">
                <a:latin typeface="Times New Roman"/>
                <a:cs typeface="Times New Roman"/>
              </a:rPr>
              <a:t> </a:t>
            </a:r>
            <a:r>
              <a:rPr sz="1200" b="1" dirty="0">
                <a:latin typeface="Times New Roman"/>
                <a:cs typeface="Times New Roman"/>
              </a:rPr>
              <a:t>3</a:t>
            </a:r>
            <a:r>
              <a:rPr sz="1200" b="1" spc="190" dirty="0">
                <a:latin typeface="Times New Roman"/>
                <a:cs typeface="Times New Roman"/>
              </a:rPr>
              <a:t> </a:t>
            </a:r>
            <a:r>
              <a:rPr sz="1200" b="1" dirty="0">
                <a:latin typeface="Times New Roman"/>
                <a:cs typeface="Times New Roman"/>
              </a:rPr>
              <a:t>prediction</a:t>
            </a:r>
            <a:r>
              <a:rPr sz="1200" b="1" spc="190" dirty="0">
                <a:latin typeface="Times New Roman"/>
                <a:cs typeface="Times New Roman"/>
              </a:rPr>
              <a:t> </a:t>
            </a:r>
            <a:r>
              <a:rPr sz="1200" b="1" dirty="0">
                <a:latin typeface="Times New Roman"/>
                <a:cs typeface="Times New Roman"/>
              </a:rPr>
              <a:t>of</a:t>
            </a:r>
            <a:r>
              <a:rPr sz="1200" b="1" spc="225" dirty="0">
                <a:latin typeface="Times New Roman"/>
                <a:cs typeface="Times New Roman"/>
              </a:rPr>
              <a:t> </a:t>
            </a:r>
            <a:r>
              <a:rPr sz="1200" b="1" dirty="0">
                <a:latin typeface="Times New Roman"/>
                <a:cs typeface="Times New Roman"/>
              </a:rPr>
              <a:t>LEA3</a:t>
            </a:r>
            <a:r>
              <a:rPr sz="1200" b="1" spc="190" dirty="0">
                <a:latin typeface="Times New Roman"/>
                <a:cs typeface="Times New Roman"/>
              </a:rPr>
              <a:t> </a:t>
            </a:r>
            <a:r>
              <a:rPr sz="1200" b="1" dirty="0">
                <a:latin typeface="Times New Roman"/>
                <a:cs typeface="Times New Roman"/>
              </a:rPr>
              <a:t>homo-tetramer</a:t>
            </a:r>
            <a:r>
              <a:rPr sz="1200" b="1" spc="190" dirty="0">
                <a:latin typeface="Times New Roman"/>
                <a:cs typeface="Times New Roman"/>
              </a:rPr>
              <a:t> </a:t>
            </a:r>
            <a:r>
              <a:rPr sz="1200" b="1" dirty="0">
                <a:latin typeface="Times New Roman"/>
                <a:cs typeface="Times New Roman"/>
              </a:rPr>
              <a:t>assemblies</a:t>
            </a:r>
            <a:r>
              <a:rPr sz="1200" dirty="0">
                <a:latin typeface="Times New Roman"/>
                <a:cs typeface="Times New Roman"/>
              </a:rPr>
              <a:t>.</a:t>
            </a:r>
            <a:r>
              <a:rPr sz="1200" spc="190" dirty="0">
                <a:latin typeface="Times New Roman"/>
                <a:cs typeface="Times New Roman"/>
              </a:rPr>
              <a:t> </a:t>
            </a:r>
            <a:r>
              <a:rPr sz="1200" dirty="0">
                <a:latin typeface="Times New Roman"/>
                <a:cs typeface="Times New Roman"/>
              </a:rPr>
              <a:t>Predicted</a:t>
            </a:r>
            <a:r>
              <a:rPr sz="1200" spc="190" dirty="0">
                <a:latin typeface="Times New Roman"/>
                <a:cs typeface="Times New Roman"/>
              </a:rPr>
              <a:t> </a:t>
            </a:r>
            <a:r>
              <a:rPr sz="1200" dirty="0">
                <a:latin typeface="Times New Roman"/>
                <a:cs typeface="Times New Roman"/>
              </a:rPr>
              <a:t>quaternary</a:t>
            </a:r>
            <a:r>
              <a:rPr sz="1200" spc="185" dirty="0">
                <a:latin typeface="Times New Roman"/>
                <a:cs typeface="Times New Roman"/>
              </a:rPr>
              <a:t> </a:t>
            </a:r>
            <a:r>
              <a:rPr sz="1200" dirty="0">
                <a:latin typeface="Times New Roman"/>
                <a:cs typeface="Times New Roman"/>
              </a:rPr>
              <a:t>structures</a:t>
            </a:r>
            <a:r>
              <a:rPr sz="1200" spc="190" dirty="0">
                <a:latin typeface="Times New Roman"/>
                <a:cs typeface="Times New Roman"/>
              </a:rPr>
              <a:t> </a:t>
            </a:r>
            <a:r>
              <a:rPr sz="1200" dirty="0">
                <a:latin typeface="Times New Roman"/>
                <a:cs typeface="Times New Roman"/>
              </a:rPr>
              <a:t>of</a:t>
            </a:r>
            <a:r>
              <a:rPr sz="1200" spc="220" dirty="0">
                <a:latin typeface="Times New Roman"/>
                <a:cs typeface="Times New Roman"/>
              </a:rPr>
              <a:t> </a:t>
            </a:r>
            <a:r>
              <a:rPr sz="1200" dirty="0">
                <a:latin typeface="Times New Roman"/>
                <a:cs typeface="Times New Roman"/>
              </a:rPr>
              <a:t>LEA3</a:t>
            </a:r>
            <a:r>
              <a:rPr sz="1200" spc="190" dirty="0">
                <a:latin typeface="Times New Roman"/>
                <a:cs typeface="Times New Roman"/>
              </a:rPr>
              <a:t> </a:t>
            </a:r>
            <a:r>
              <a:rPr sz="1200" dirty="0">
                <a:latin typeface="Times New Roman"/>
                <a:cs typeface="Times New Roman"/>
              </a:rPr>
              <a:t>homotetramers</a:t>
            </a:r>
            <a:r>
              <a:rPr sz="1200" spc="185" dirty="0">
                <a:latin typeface="Times New Roman"/>
                <a:cs typeface="Times New Roman"/>
              </a:rPr>
              <a:t> </a:t>
            </a:r>
            <a:r>
              <a:rPr sz="1200" dirty="0">
                <a:latin typeface="Times New Roman"/>
                <a:cs typeface="Times New Roman"/>
              </a:rPr>
              <a:t>for</a:t>
            </a:r>
            <a:r>
              <a:rPr sz="1200" spc="190" dirty="0">
                <a:latin typeface="Times New Roman"/>
                <a:cs typeface="Times New Roman"/>
              </a:rPr>
              <a:t> </a:t>
            </a:r>
            <a:r>
              <a:rPr sz="1200" dirty="0">
                <a:latin typeface="Times New Roman"/>
                <a:cs typeface="Times New Roman"/>
              </a:rPr>
              <a:t>(A)</a:t>
            </a:r>
            <a:r>
              <a:rPr sz="1200" spc="190" dirty="0">
                <a:latin typeface="Times New Roman"/>
                <a:cs typeface="Times New Roman"/>
              </a:rPr>
              <a:t> </a:t>
            </a:r>
            <a:r>
              <a:rPr sz="1200" i="1" dirty="0">
                <a:latin typeface="Times New Roman"/>
                <a:cs typeface="Times New Roman"/>
              </a:rPr>
              <a:t>Zea</a:t>
            </a:r>
            <a:r>
              <a:rPr sz="1200" i="1" spc="185" dirty="0">
                <a:latin typeface="Times New Roman"/>
                <a:cs typeface="Times New Roman"/>
              </a:rPr>
              <a:t> </a:t>
            </a:r>
            <a:r>
              <a:rPr sz="1200" i="1" spc="-20" dirty="0">
                <a:latin typeface="Times New Roman"/>
                <a:cs typeface="Times New Roman"/>
              </a:rPr>
              <a:t>mays </a:t>
            </a:r>
            <a:r>
              <a:rPr sz="1200" dirty="0">
                <a:latin typeface="Times New Roman"/>
                <a:cs typeface="Times New Roman"/>
              </a:rPr>
              <a:t>and</a:t>
            </a:r>
            <a:r>
              <a:rPr sz="1200" spc="295" dirty="0">
                <a:latin typeface="Times New Roman"/>
                <a:cs typeface="Times New Roman"/>
              </a:rPr>
              <a:t> </a:t>
            </a:r>
            <a:r>
              <a:rPr sz="1200" dirty="0">
                <a:latin typeface="Times New Roman"/>
                <a:cs typeface="Times New Roman"/>
              </a:rPr>
              <a:t>(B)</a:t>
            </a:r>
            <a:r>
              <a:rPr sz="1200" spc="290" dirty="0">
                <a:latin typeface="Times New Roman"/>
                <a:cs typeface="Times New Roman"/>
              </a:rPr>
              <a:t> </a:t>
            </a:r>
            <a:r>
              <a:rPr sz="1200" i="1" dirty="0">
                <a:latin typeface="Times New Roman"/>
                <a:cs typeface="Times New Roman"/>
              </a:rPr>
              <a:t>Tripsacum</a:t>
            </a:r>
            <a:r>
              <a:rPr sz="1200" i="1" spc="305" dirty="0">
                <a:latin typeface="Times New Roman"/>
                <a:cs typeface="Times New Roman"/>
              </a:rPr>
              <a:t> </a:t>
            </a:r>
            <a:r>
              <a:rPr sz="1200" i="1" dirty="0">
                <a:latin typeface="Times New Roman"/>
                <a:cs typeface="Times New Roman"/>
              </a:rPr>
              <a:t>dactyloides</a:t>
            </a:r>
            <a:r>
              <a:rPr sz="1200" dirty="0">
                <a:latin typeface="Times New Roman"/>
                <a:cs typeface="Times New Roman"/>
              </a:rPr>
              <a:t>.</a:t>
            </a:r>
            <a:r>
              <a:rPr sz="1200" spc="260" dirty="0">
                <a:latin typeface="Times New Roman"/>
                <a:cs typeface="Times New Roman"/>
              </a:rPr>
              <a:t> </a:t>
            </a:r>
            <a:r>
              <a:rPr sz="1200" dirty="0">
                <a:latin typeface="Times New Roman"/>
                <a:cs typeface="Times New Roman"/>
              </a:rPr>
              <a:t>Both</a:t>
            </a:r>
            <a:r>
              <a:rPr sz="1200" spc="280" dirty="0">
                <a:latin typeface="Times New Roman"/>
                <a:cs typeface="Times New Roman"/>
              </a:rPr>
              <a:t> </a:t>
            </a:r>
            <a:r>
              <a:rPr sz="1200" dirty="0">
                <a:latin typeface="Times New Roman"/>
                <a:cs typeface="Times New Roman"/>
              </a:rPr>
              <a:t>orthologs</a:t>
            </a:r>
            <a:r>
              <a:rPr sz="1200" spc="270" dirty="0">
                <a:latin typeface="Times New Roman"/>
                <a:cs typeface="Times New Roman"/>
              </a:rPr>
              <a:t> </a:t>
            </a:r>
            <a:r>
              <a:rPr sz="1200" dirty="0">
                <a:latin typeface="Times New Roman"/>
                <a:cs typeface="Times New Roman"/>
              </a:rPr>
              <a:t>are</a:t>
            </a:r>
            <a:r>
              <a:rPr sz="1200" spc="280" dirty="0">
                <a:latin typeface="Times New Roman"/>
                <a:cs typeface="Times New Roman"/>
              </a:rPr>
              <a:t> </a:t>
            </a:r>
            <a:r>
              <a:rPr sz="1200" dirty="0">
                <a:latin typeface="Times New Roman"/>
                <a:cs typeface="Times New Roman"/>
              </a:rPr>
              <a:t>predicted</a:t>
            </a:r>
            <a:r>
              <a:rPr sz="1200" spc="254" dirty="0">
                <a:latin typeface="Times New Roman"/>
                <a:cs typeface="Times New Roman"/>
              </a:rPr>
              <a:t> </a:t>
            </a:r>
            <a:r>
              <a:rPr sz="1200" dirty="0">
                <a:latin typeface="Times New Roman"/>
                <a:cs typeface="Times New Roman"/>
              </a:rPr>
              <a:t>to</a:t>
            </a:r>
            <a:r>
              <a:rPr sz="1200" spc="295" dirty="0">
                <a:latin typeface="Times New Roman"/>
                <a:cs typeface="Times New Roman"/>
              </a:rPr>
              <a:t> </a:t>
            </a:r>
            <a:r>
              <a:rPr sz="1200" dirty="0">
                <a:latin typeface="Times New Roman"/>
                <a:cs typeface="Times New Roman"/>
              </a:rPr>
              <a:t>form</a:t>
            </a:r>
            <a:r>
              <a:rPr sz="1200" spc="250" dirty="0">
                <a:latin typeface="Times New Roman"/>
                <a:cs typeface="Times New Roman"/>
              </a:rPr>
              <a:t> </a:t>
            </a:r>
            <a:r>
              <a:rPr sz="1200" dirty="0">
                <a:latin typeface="Times New Roman"/>
                <a:cs typeface="Times New Roman"/>
              </a:rPr>
              <a:t>tetrameric</a:t>
            </a:r>
            <a:r>
              <a:rPr sz="1200" spc="285" dirty="0">
                <a:latin typeface="Times New Roman"/>
                <a:cs typeface="Times New Roman"/>
              </a:rPr>
              <a:t> </a:t>
            </a:r>
            <a:r>
              <a:rPr sz="1200" dirty="0">
                <a:latin typeface="Times New Roman"/>
                <a:cs typeface="Times New Roman"/>
              </a:rPr>
              <a:t>assemblies.</a:t>
            </a:r>
            <a:r>
              <a:rPr sz="1200" spc="265" dirty="0">
                <a:latin typeface="Times New Roman"/>
                <a:cs typeface="Times New Roman"/>
              </a:rPr>
              <a:t> </a:t>
            </a:r>
            <a:r>
              <a:rPr sz="1200" dirty="0">
                <a:latin typeface="Times New Roman"/>
                <a:cs typeface="Times New Roman"/>
              </a:rPr>
              <a:t>Colors</a:t>
            </a:r>
            <a:r>
              <a:rPr sz="1200" spc="295" dirty="0">
                <a:latin typeface="Times New Roman"/>
                <a:cs typeface="Times New Roman"/>
              </a:rPr>
              <a:t> </a:t>
            </a:r>
            <a:r>
              <a:rPr sz="1200" dirty="0">
                <a:latin typeface="Times New Roman"/>
                <a:cs typeface="Times New Roman"/>
              </a:rPr>
              <a:t>indicate</a:t>
            </a:r>
            <a:r>
              <a:rPr sz="1200" spc="275" dirty="0">
                <a:latin typeface="Times New Roman"/>
                <a:cs typeface="Times New Roman"/>
              </a:rPr>
              <a:t> </a:t>
            </a:r>
            <a:r>
              <a:rPr sz="1200" dirty="0">
                <a:latin typeface="Times New Roman"/>
                <a:cs typeface="Times New Roman"/>
              </a:rPr>
              <a:t>per-residue</a:t>
            </a:r>
            <a:r>
              <a:rPr sz="1200" spc="250" dirty="0">
                <a:latin typeface="Times New Roman"/>
                <a:cs typeface="Times New Roman"/>
              </a:rPr>
              <a:t> </a:t>
            </a:r>
            <a:r>
              <a:rPr sz="1200" dirty="0">
                <a:latin typeface="Times New Roman"/>
                <a:cs typeface="Times New Roman"/>
              </a:rPr>
              <a:t>confidence</a:t>
            </a:r>
            <a:r>
              <a:rPr sz="1200" spc="254" dirty="0">
                <a:latin typeface="Times New Roman"/>
                <a:cs typeface="Times New Roman"/>
              </a:rPr>
              <a:t> </a:t>
            </a:r>
            <a:r>
              <a:rPr sz="1200" dirty="0">
                <a:latin typeface="Times New Roman"/>
                <a:cs typeface="Times New Roman"/>
              </a:rPr>
              <a:t>(pLDDT),</a:t>
            </a:r>
            <a:r>
              <a:rPr sz="1200" spc="290" dirty="0">
                <a:latin typeface="Times New Roman"/>
                <a:cs typeface="Times New Roman"/>
              </a:rPr>
              <a:t> </a:t>
            </a:r>
            <a:r>
              <a:rPr sz="1200" dirty="0">
                <a:latin typeface="Times New Roman"/>
                <a:cs typeface="Times New Roman"/>
              </a:rPr>
              <a:t>with</a:t>
            </a:r>
            <a:r>
              <a:rPr sz="1200" spc="265" dirty="0">
                <a:latin typeface="Times New Roman"/>
                <a:cs typeface="Times New Roman"/>
              </a:rPr>
              <a:t> </a:t>
            </a:r>
            <a:r>
              <a:rPr sz="1200" dirty="0">
                <a:latin typeface="Times New Roman"/>
                <a:cs typeface="Times New Roman"/>
              </a:rPr>
              <a:t>dark</a:t>
            </a:r>
            <a:r>
              <a:rPr sz="1200" spc="260" dirty="0">
                <a:latin typeface="Times New Roman"/>
                <a:cs typeface="Times New Roman"/>
              </a:rPr>
              <a:t> </a:t>
            </a:r>
            <a:r>
              <a:rPr sz="1200" spc="-10" dirty="0">
                <a:latin typeface="Times New Roman"/>
                <a:cs typeface="Times New Roman"/>
              </a:rPr>
              <a:t>blue/blue </a:t>
            </a:r>
            <a:r>
              <a:rPr sz="1200" dirty="0">
                <a:latin typeface="Times New Roman"/>
                <a:cs typeface="Times New Roman"/>
              </a:rPr>
              <a:t>representing</a:t>
            </a:r>
            <a:r>
              <a:rPr sz="1200" spc="254" dirty="0">
                <a:latin typeface="Times New Roman"/>
                <a:cs typeface="Times New Roman"/>
              </a:rPr>
              <a:t> </a:t>
            </a:r>
            <a:r>
              <a:rPr sz="1200" dirty="0">
                <a:latin typeface="Times New Roman"/>
                <a:cs typeface="Times New Roman"/>
              </a:rPr>
              <a:t>high</a:t>
            </a:r>
            <a:r>
              <a:rPr sz="1200" spc="210" dirty="0">
                <a:latin typeface="Times New Roman"/>
                <a:cs typeface="Times New Roman"/>
              </a:rPr>
              <a:t> </a:t>
            </a:r>
            <a:r>
              <a:rPr sz="1200" dirty="0">
                <a:latin typeface="Times New Roman"/>
                <a:cs typeface="Times New Roman"/>
              </a:rPr>
              <a:t>to</a:t>
            </a:r>
            <a:r>
              <a:rPr sz="1200" spc="240" dirty="0">
                <a:latin typeface="Times New Roman"/>
                <a:cs typeface="Times New Roman"/>
              </a:rPr>
              <a:t> </a:t>
            </a:r>
            <a:r>
              <a:rPr sz="1200" dirty="0">
                <a:latin typeface="Times New Roman"/>
                <a:cs typeface="Times New Roman"/>
              </a:rPr>
              <a:t>very</a:t>
            </a:r>
            <a:r>
              <a:rPr sz="1200" spc="204" dirty="0">
                <a:latin typeface="Times New Roman"/>
                <a:cs typeface="Times New Roman"/>
              </a:rPr>
              <a:t> </a:t>
            </a:r>
            <a:r>
              <a:rPr sz="1200" dirty="0">
                <a:latin typeface="Times New Roman"/>
                <a:cs typeface="Times New Roman"/>
              </a:rPr>
              <a:t>high</a:t>
            </a:r>
            <a:r>
              <a:rPr sz="1200" spc="210" dirty="0">
                <a:latin typeface="Times New Roman"/>
                <a:cs typeface="Times New Roman"/>
              </a:rPr>
              <a:t> </a:t>
            </a:r>
            <a:r>
              <a:rPr sz="1200" dirty="0">
                <a:latin typeface="Times New Roman"/>
                <a:cs typeface="Times New Roman"/>
              </a:rPr>
              <a:t>confidence.</a:t>
            </a:r>
            <a:r>
              <a:rPr sz="1200" spc="204" dirty="0">
                <a:latin typeface="Times New Roman"/>
                <a:cs typeface="Times New Roman"/>
              </a:rPr>
              <a:t> </a:t>
            </a:r>
            <a:r>
              <a:rPr sz="1200" dirty="0">
                <a:latin typeface="Times New Roman"/>
                <a:cs typeface="Times New Roman"/>
              </a:rPr>
              <a:t>The</a:t>
            </a:r>
            <a:r>
              <a:rPr sz="1200" spc="190" dirty="0">
                <a:latin typeface="Times New Roman"/>
                <a:cs typeface="Times New Roman"/>
              </a:rPr>
              <a:t> </a:t>
            </a:r>
            <a:r>
              <a:rPr sz="1200" i="1" dirty="0">
                <a:latin typeface="Times New Roman"/>
                <a:cs typeface="Times New Roman"/>
              </a:rPr>
              <a:t>Z.</a:t>
            </a:r>
            <a:r>
              <a:rPr sz="1200" i="1" spc="204" dirty="0">
                <a:latin typeface="Times New Roman"/>
                <a:cs typeface="Times New Roman"/>
              </a:rPr>
              <a:t> </a:t>
            </a:r>
            <a:r>
              <a:rPr sz="1200" i="1" dirty="0">
                <a:latin typeface="Times New Roman"/>
                <a:cs typeface="Times New Roman"/>
              </a:rPr>
              <a:t>mays</a:t>
            </a:r>
            <a:r>
              <a:rPr sz="1200" i="1" spc="254" dirty="0">
                <a:latin typeface="Times New Roman"/>
                <a:cs typeface="Times New Roman"/>
              </a:rPr>
              <a:t> </a:t>
            </a:r>
            <a:r>
              <a:rPr sz="1200" dirty="0">
                <a:latin typeface="Times New Roman"/>
                <a:cs typeface="Times New Roman"/>
              </a:rPr>
              <a:t>complex</a:t>
            </a:r>
            <a:r>
              <a:rPr sz="1200" spc="229" dirty="0">
                <a:latin typeface="Times New Roman"/>
                <a:cs typeface="Times New Roman"/>
              </a:rPr>
              <a:t> </a:t>
            </a:r>
            <a:r>
              <a:rPr sz="1200" dirty="0">
                <a:latin typeface="Times New Roman"/>
                <a:cs typeface="Times New Roman"/>
              </a:rPr>
              <a:t>displays</a:t>
            </a:r>
            <a:r>
              <a:rPr sz="1200" spc="240" dirty="0">
                <a:latin typeface="Times New Roman"/>
                <a:cs typeface="Times New Roman"/>
              </a:rPr>
              <a:t> </a:t>
            </a:r>
            <a:r>
              <a:rPr sz="1200" dirty="0">
                <a:latin typeface="Times New Roman"/>
                <a:cs typeface="Times New Roman"/>
              </a:rPr>
              <a:t>a</a:t>
            </a:r>
            <a:r>
              <a:rPr sz="1200" spc="220" dirty="0">
                <a:latin typeface="Times New Roman"/>
                <a:cs typeface="Times New Roman"/>
              </a:rPr>
              <a:t> </a:t>
            </a:r>
            <a:r>
              <a:rPr sz="1200" dirty="0">
                <a:latin typeface="Times New Roman"/>
                <a:cs typeface="Times New Roman"/>
              </a:rPr>
              <a:t>distinct</a:t>
            </a:r>
            <a:r>
              <a:rPr sz="1200" spc="204" dirty="0">
                <a:latin typeface="Times New Roman"/>
                <a:cs typeface="Times New Roman"/>
              </a:rPr>
              <a:t> </a:t>
            </a:r>
            <a:r>
              <a:rPr sz="1200" dirty="0">
                <a:latin typeface="Times New Roman"/>
                <a:cs typeface="Times New Roman"/>
              </a:rPr>
              <a:t>oligomeric</a:t>
            </a:r>
            <a:r>
              <a:rPr sz="1200" spc="195" dirty="0">
                <a:latin typeface="Times New Roman"/>
                <a:cs typeface="Times New Roman"/>
              </a:rPr>
              <a:t> </a:t>
            </a:r>
            <a:r>
              <a:rPr sz="1200" dirty="0">
                <a:latin typeface="Times New Roman"/>
                <a:cs typeface="Times New Roman"/>
              </a:rPr>
              <a:t>packing</a:t>
            </a:r>
            <a:r>
              <a:rPr sz="1200" spc="220" dirty="0">
                <a:latin typeface="Times New Roman"/>
                <a:cs typeface="Times New Roman"/>
              </a:rPr>
              <a:t> </a:t>
            </a:r>
            <a:r>
              <a:rPr sz="1200" dirty="0">
                <a:latin typeface="Times New Roman"/>
                <a:cs typeface="Times New Roman"/>
              </a:rPr>
              <a:t>arrangement</a:t>
            </a:r>
            <a:r>
              <a:rPr sz="1200" spc="200" dirty="0">
                <a:latin typeface="Times New Roman"/>
                <a:cs typeface="Times New Roman"/>
              </a:rPr>
              <a:t> </a:t>
            </a:r>
            <a:r>
              <a:rPr sz="1200" dirty="0">
                <a:latin typeface="Times New Roman"/>
                <a:cs typeface="Times New Roman"/>
              </a:rPr>
              <a:t>relative</a:t>
            </a:r>
            <a:r>
              <a:rPr sz="1200" spc="200" dirty="0">
                <a:latin typeface="Times New Roman"/>
                <a:cs typeface="Times New Roman"/>
              </a:rPr>
              <a:t> </a:t>
            </a:r>
            <a:r>
              <a:rPr sz="1200" dirty="0">
                <a:latin typeface="Times New Roman"/>
                <a:cs typeface="Times New Roman"/>
              </a:rPr>
              <a:t>to</a:t>
            </a:r>
            <a:r>
              <a:rPr sz="1200" spc="240" dirty="0">
                <a:latin typeface="Times New Roman"/>
                <a:cs typeface="Times New Roman"/>
              </a:rPr>
              <a:t> </a:t>
            </a:r>
            <a:r>
              <a:rPr sz="1200" i="1" dirty="0">
                <a:latin typeface="Times New Roman"/>
                <a:cs typeface="Times New Roman"/>
              </a:rPr>
              <a:t>Tripsacum</a:t>
            </a:r>
            <a:r>
              <a:rPr sz="1200" dirty="0">
                <a:latin typeface="Times New Roman"/>
                <a:cs typeface="Times New Roman"/>
              </a:rPr>
              <a:t>.</a:t>
            </a:r>
            <a:r>
              <a:rPr sz="1200" spc="210" dirty="0">
                <a:latin typeface="Times New Roman"/>
                <a:cs typeface="Times New Roman"/>
              </a:rPr>
              <a:t> </a:t>
            </a:r>
            <a:r>
              <a:rPr sz="1200" dirty="0">
                <a:latin typeface="Times New Roman"/>
                <a:cs typeface="Times New Roman"/>
              </a:rPr>
              <a:t>Predicted</a:t>
            </a:r>
            <a:r>
              <a:rPr sz="1200" spc="185" dirty="0">
                <a:latin typeface="Times New Roman"/>
                <a:cs typeface="Times New Roman"/>
              </a:rPr>
              <a:t> </a:t>
            </a:r>
            <a:r>
              <a:rPr sz="1200" dirty="0">
                <a:latin typeface="Times New Roman"/>
                <a:cs typeface="Times New Roman"/>
              </a:rPr>
              <a:t>Aligned</a:t>
            </a:r>
            <a:r>
              <a:rPr sz="1200" spc="220" dirty="0">
                <a:latin typeface="Times New Roman"/>
                <a:cs typeface="Times New Roman"/>
              </a:rPr>
              <a:t> </a:t>
            </a:r>
            <a:r>
              <a:rPr sz="1200" spc="-10" dirty="0">
                <a:latin typeface="Times New Roman"/>
                <a:cs typeface="Times New Roman"/>
              </a:rPr>
              <a:t>Error </a:t>
            </a:r>
            <a:r>
              <a:rPr sz="1200" dirty="0">
                <a:latin typeface="Times New Roman"/>
                <a:cs typeface="Times New Roman"/>
              </a:rPr>
              <a:t>(PAE)</a:t>
            </a:r>
            <a:r>
              <a:rPr sz="1200" spc="235" dirty="0">
                <a:latin typeface="Times New Roman"/>
                <a:cs typeface="Times New Roman"/>
              </a:rPr>
              <a:t> </a:t>
            </a:r>
            <a:r>
              <a:rPr sz="1200" dirty="0">
                <a:latin typeface="Times New Roman"/>
                <a:cs typeface="Times New Roman"/>
              </a:rPr>
              <a:t>plots.</a:t>
            </a:r>
            <a:r>
              <a:rPr sz="1200" spc="215" dirty="0">
                <a:latin typeface="Times New Roman"/>
                <a:cs typeface="Times New Roman"/>
              </a:rPr>
              <a:t> </a:t>
            </a:r>
            <a:r>
              <a:rPr sz="1200" dirty="0">
                <a:latin typeface="Times New Roman"/>
                <a:cs typeface="Times New Roman"/>
              </a:rPr>
              <a:t>Low</a:t>
            </a:r>
            <a:r>
              <a:rPr sz="1200" spc="200" dirty="0">
                <a:latin typeface="Times New Roman"/>
                <a:cs typeface="Times New Roman"/>
              </a:rPr>
              <a:t> </a:t>
            </a:r>
            <a:r>
              <a:rPr sz="1200" dirty="0">
                <a:latin typeface="Times New Roman"/>
                <a:cs typeface="Times New Roman"/>
              </a:rPr>
              <a:t>error</a:t>
            </a:r>
            <a:r>
              <a:rPr sz="1200" spc="240" dirty="0">
                <a:latin typeface="Times New Roman"/>
                <a:cs typeface="Times New Roman"/>
              </a:rPr>
              <a:t> </a:t>
            </a:r>
            <a:r>
              <a:rPr sz="1200" dirty="0">
                <a:latin typeface="Times New Roman"/>
                <a:cs typeface="Times New Roman"/>
              </a:rPr>
              <a:t>values</a:t>
            </a:r>
            <a:r>
              <a:rPr sz="1200" spc="235" dirty="0">
                <a:latin typeface="Times New Roman"/>
                <a:cs typeface="Times New Roman"/>
              </a:rPr>
              <a:t> </a:t>
            </a:r>
            <a:r>
              <a:rPr sz="1200" dirty="0">
                <a:latin typeface="Times New Roman"/>
                <a:cs typeface="Times New Roman"/>
              </a:rPr>
              <a:t>(dark</a:t>
            </a:r>
            <a:r>
              <a:rPr sz="1200" spc="235" dirty="0">
                <a:latin typeface="Times New Roman"/>
                <a:cs typeface="Times New Roman"/>
              </a:rPr>
              <a:t> </a:t>
            </a:r>
            <a:r>
              <a:rPr sz="1200" dirty="0">
                <a:latin typeface="Times New Roman"/>
                <a:cs typeface="Times New Roman"/>
              </a:rPr>
              <a:t>green)</a:t>
            </a:r>
            <a:r>
              <a:rPr sz="1200" spc="225" dirty="0">
                <a:latin typeface="Times New Roman"/>
                <a:cs typeface="Times New Roman"/>
              </a:rPr>
              <a:t> </a:t>
            </a:r>
            <a:r>
              <a:rPr sz="1200" dirty="0">
                <a:latin typeface="Times New Roman"/>
                <a:cs typeface="Times New Roman"/>
              </a:rPr>
              <a:t>in</a:t>
            </a:r>
            <a:r>
              <a:rPr sz="1200" spc="245" dirty="0">
                <a:latin typeface="Times New Roman"/>
                <a:cs typeface="Times New Roman"/>
              </a:rPr>
              <a:t> </a:t>
            </a:r>
            <a:r>
              <a:rPr sz="1200" dirty="0">
                <a:latin typeface="Times New Roman"/>
                <a:cs typeface="Times New Roman"/>
              </a:rPr>
              <a:t>the</a:t>
            </a:r>
            <a:r>
              <a:rPr sz="1200" spc="235" dirty="0">
                <a:latin typeface="Times New Roman"/>
                <a:cs typeface="Times New Roman"/>
              </a:rPr>
              <a:t> </a:t>
            </a:r>
            <a:r>
              <a:rPr sz="1200" dirty="0">
                <a:latin typeface="Times New Roman"/>
                <a:cs typeface="Times New Roman"/>
              </a:rPr>
              <a:t>off-diagonal</a:t>
            </a:r>
            <a:r>
              <a:rPr sz="1200" spc="195" dirty="0">
                <a:latin typeface="Times New Roman"/>
                <a:cs typeface="Times New Roman"/>
              </a:rPr>
              <a:t> </a:t>
            </a:r>
            <a:r>
              <a:rPr sz="1200" dirty="0">
                <a:latin typeface="Times New Roman"/>
                <a:cs typeface="Times New Roman"/>
              </a:rPr>
              <a:t>regions</a:t>
            </a:r>
            <a:r>
              <a:rPr sz="1200" spc="200" dirty="0">
                <a:latin typeface="Times New Roman"/>
                <a:cs typeface="Times New Roman"/>
              </a:rPr>
              <a:t> </a:t>
            </a:r>
            <a:r>
              <a:rPr sz="1200" dirty="0">
                <a:latin typeface="Times New Roman"/>
                <a:cs typeface="Times New Roman"/>
              </a:rPr>
              <a:t>confirm</a:t>
            </a:r>
            <a:r>
              <a:rPr sz="1200" spc="250" dirty="0">
                <a:latin typeface="Times New Roman"/>
                <a:cs typeface="Times New Roman"/>
              </a:rPr>
              <a:t> </a:t>
            </a:r>
            <a:r>
              <a:rPr sz="1200" dirty="0">
                <a:latin typeface="Times New Roman"/>
                <a:cs typeface="Times New Roman"/>
              </a:rPr>
              <a:t>high</a:t>
            </a:r>
            <a:r>
              <a:rPr sz="1200" spc="215" dirty="0">
                <a:latin typeface="Times New Roman"/>
                <a:cs typeface="Times New Roman"/>
              </a:rPr>
              <a:t> </a:t>
            </a:r>
            <a:r>
              <a:rPr sz="1200" dirty="0">
                <a:latin typeface="Times New Roman"/>
                <a:cs typeface="Times New Roman"/>
              </a:rPr>
              <a:t>confidence</a:t>
            </a:r>
            <a:r>
              <a:rPr sz="1200" spc="215" dirty="0">
                <a:latin typeface="Times New Roman"/>
                <a:cs typeface="Times New Roman"/>
              </a:rPr>
              <a:t> </a:t>
            </a:r>
            <a:r>
              <a:rPr sz="1200" dirty="0">
                <a:latin typeface="Times New Roman"/>
                <a:cs typeface="Times New Roman"/>
              </a:rPr>
              <a:t>in</a:t>
            </a:r>
            <a:r>
              <a:rPr sz="1200" spc="250" dirty="0">
                <a:latin typeface="Times New Roman"/>
                <a:cs typeface="Times New Roman"/>
              </a:rPr>
              <a:t> </a:t>
            </a:r>
            <a:r>
              <a:rPr sz="1200" dirty="0">
                <a:latin typeface="Times New Roman"/>
                <a:cs typeface="Times New Roman"/>
              </a:rPr>
              <a:t>the</a:t>
            </a:r>
            <a:r>
              <a:rPr sz="1200" spc="229" dirty="0">
                <a:latin typeface="Times New Roman"/>
                <a:cs typeface="Times New Roman"/>
              </a:rPr>
              <a:t> </a:t>
            </a:r>
            <a:r>
              <a:rPr sz="1200" dirty="0">
                <a:latin typeface="Times New Roman"/>
                <a:cs typeface="Times New Roman"/>
              </a:rPr>
              <a:t>relative</a:t>
            </a:r>
            <a:r>
              <a:rPr sz="1200" spc="210" dirty="0">
                <a:latin typeface="Times New Roman"/>
                <a:cs typeface="Times New Roman"/>
              </a:rPr>
              <a:t> </a:t>
            </a:r>
            <a:r>
              <a:rPr sz="1200" dirty="0">
                <a:latin typeface="Times New Roman"/>
                <a:cs typeface="Times New Roman"/>
              </a:rPr>
              <a:t>positioning</a:t>
            </a:r>
            <a:r>
              <a:rPr sz="1200" spc="220" dirty="0">
                <a:latin typeface="Times New Roman"/>
                <a:cs typeface="Times New Roman"/>
              </a:rPr>
              <a:t> </a:t>
            </a:r>
            <a:r>
              <a:rPr sz="1200" dirty="0">
                <a:latin typeface="Times New Roman"/>
                <a:cs typeface="Times New Roman"/>
              </a:rPr>
              <a:t>of</a:t>
            </a:r>
            <a:r>
              <a:rPr sz="1200" spc="190" dirty="0">
                <a:latin typeface="Times New Roman"/>
                <a:cs typeface="Times New Roman"/>
              </a:rPr>
              <a:t> </a:t>
            </a:r>
            <a:r>
              <a:rPr sz="1200" dirty="0">
                <a:latin typeface="Times New Roman"/>
                <a:cs typeface="Times New Roman"/>
              </a:rPr>
              <a:t>the</a:t>
            </a:r>
            <a:r>
              <a:rPr sz="1200" spc="235" dirty="0">
                <a:latin typeface="Times New Roman"/>
                <a:cs typeface="Times New Roman"/>
              </a:rPr>
              <a:t> </a:t>
            </a:r>
            <a:r>
              <a:rPr sz="1200" dirty="0">
                <a:latin typeface="Times New Roman"/>
                <a:cs typeface="Times New Roman"/>
              </a:rPr>
              <a:t>subunits,</a:t>
            </a:r>
            <a:r>
              <a:rPr sz="1200" spc="220" dirty="0">
                <a:latin typeface="Times New Roman"/>
                <a:cs typeface="Times New Roman"/>
              </a:rPr>
              <a:t> </a:t>
            </a:r>
            <a:r>
              <a:rPr sz="1200" dirty="0">
                <a:latin typeface="Times New Roman"/>
                <a:cs typeface="Times New Roman"/>
              </a:rPr>
              <a:t>validating</a:t>
            </a:r>
            <a:r>
              <a:rPr sz="1200" spc="235" dirty="0">
                <a:latin typeface="Times New Roman"/>
                <a:cs typeface="Times New Roman"/>
              </a:rPr>
              <a:t> </a:t>
            </a:r>
            <a:r>
              <a:rPr sz="1200" dirty="0">
                <a:latin typeface="Times New Roman"/>
                <a:cs typeface="Times New Roman"/>
              </a:rPr>
              <a:t>the</a:t>
            </a:r>
            <a:r>
              <a:rPr sz="1200" spc="229" dirty="0">
                <a:latin typeface="Times New Roman"/>
                <a:cs typeface="Times New Roman"/>
              </a:rPr>
              <a:t> </a:t>
            </a:r>
            <a:r>
              <a:rPr sz="1200" spc="-10" dirty="0">
                <a:latin typeface="Times New Roman"/>
                <a:cs typeface="Times New Roman"/>
              </a:rPr>
              <a:t>predicted </a:t>
            </a:r>
            <a:r>
              <a:rPr sz="1200" dirty="0">
                <a:latin typeface="Times New Roman"/>
                <a:cs typeface="Times New Roman"/>
              </a:rPr>
              <a:t>tetrameric</a:t>
            </a:r>
            <a:r>
              <a:rPr sz="1200" spc="114" dirty="0">
                <a:latin typeface="Times New Roman"/>
                <a:cs typeface="Times New Roman"/>
              </a:rPr>
              <a:t> </a:t>
            </a:r>
            <a:r>
              <a:rPr sz="1200" dirty="0">
                <a:latin typeface="Times New Roman"/>
                <a:cs typeface="Times New Roman"/>
              </a:rPr>
              <a:t>interfaces</a:t>
            </a:r>
            <a:r>
              <a:rPr sz="1200" spc="114" dirty="0">
                <a:latin typeface="Times New Roman"/>
                <a:cs typeface="Times New Roman"/>
              </a:rPr>
              <a:t> </a:t>
            </a:r>
            <a:r>
              <a:rPr sz="1200" dirty="0">
                <a:latin typeface="Times New Roman"/>
                <a:cs typeface="Times New Roman"/>
              </a:rPr>
              <a:t>for</a:t>
            </a:r>
            <a:r>
              <a:rPr sz="1200" spc="100" dirty="0">
                <a:latin typeface="Times New Roman"/>
                <a:cs typeface="Times New Roman"/>
              </a:rPr>
              <a:t> </a:t>
            </a:r>
            <a:r>
              <a:rPr sz="1200" dirty="0">
                <a:latin typeface="Times New Roman"/>
                <a:cs typeface="Times New Roman"/>
              </a:rPr>
              <a:t>both</a:t>
            </a:r>
            <a:r>
              <a:rPr sz="1200" spc="85" dirty="0">
                <a:latin typeface="Times New Roman"/>
                <a:cs typeface="Times New Roman"/>
              </a:rPr>
              <a:t> </a:t>
            </a:r>
            <a:r>
              <a:rPr sz="1200" spc="-10" dirty="0">
                <a:latin typeface="Times New Roman"/>
                <a:cs typeface="Times New Roman"/>
              </a:rPr>
              <a:t>species.</a:t>
            </a:r>
            <a:endParaRPr sz="12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054590" y="2384067"/>
            <a:ext cx="796925" cy="222250"/>
          </a:xfrm>
          <a:prstGeom prst="rect">
            <a:avLst/>
          </a:prstGeom>
        </p:spPr>
        <p:txBody>
          <a:bodyPr vert="horz" wrap="square" lIns="0" tIns="17780" rIns="0" bIns="0" rtlCol="0">
            <a:spAutoFit/>
          </a:bodyPr>
          <a:lstStyle/>
          <a:p>
            <a:pPr marL="12700">
              <a:lnSpc>
                <a:spcPct val="100000"/>
              </a:lnSpc>
              <a:spcBef>
                <a:spcPts val="140"/>
              </a:spcBef>
            </a:pPr>
            <a:r>
              <a:rPr sz="1250" i="1" spc="-125" dirty="0">
                <a:latin typeface="Arial"/>
                <a:cs typeface="Arial"/>
              </a:rPr>
              <a:t>P.</a:t>
            </a:r>
            <a:r>
              <a:rPr sz="1250" i="1" spc="-75" dirty="0">
                <a:latin typeface="Arial"/>
                <a:cs typeface="Arial"/>
              </a:rPr>
              <a:t> </a:t>
            </a:r>
            <a:r>
              <a:rPr sz="1250" i="1" spc="-10" dirty="0">
                <a:latin typeface="Arial"/>
                <a:cs typeface="Arial"/>
              </a:rPr>
              <a:t>virgatum</a:t>
            </a:r>
            <a:endParaRPr sz="1250">
              <a:latin typeface="Arial"/>
              <a:cs typeface="Arial"/>
            </a:endParaRPr>
          </a:p>
        </p:txBody>
      </p:sp>
      <p:grpSp>
        <p:nvGrpSpPr>
          <p:cNvPr id="3" name="object 3"/>
          <p:cNvGrpSpPr/>
          <p:nvPr/>
        </p:nvGrpSpPr>
        <p:grpSpPr>
          <a:xfrm>
            <a:off x="6450418" y="2713168"/>
            <a:ext cx="1293495" cy="1724660"/>
            <a:chOff x="6450418" y="2713168"/>
            <a:chExt cx="1293495" cy="1724660"/>
          </a:xfrm>
        </p:grpSpPr>
        <p:pic>
          <p:nvPicPr>
            <p:cNvPr id="4" name="object 4"/>
            <p:cNvPicPr/>
            <p:nvPr/>
          </p:nvPicPr>
          <p:blipFill>
            <a:blip r:embed="rId2" cstate="print"/>
            <a:stretch>
              <a:fillRect/>
            </a:stretch>
          </p:blipFill>
          <p:spPr>
            <a:xfrm>
              <a:off x="6450418" y="2713168"/>
              <a:ext cx="1293056" cy="1724487"/>
            </a:xfrm>
            <a:prstGeom prst="rect">
              <a:avLst/>
            </a:prstGeom>
          </p:spPr>
        </p:pic>
        <p:sp>
          <p:nvSpPr>
            <p:cNvPr id="5" name="object 5"/>
            <p:cNvSpPr/>
            <p:nvPr/>
          </p:nvSpPr>
          <p:spPr>
            <a:xfrm>
              <a:off x="7594847" y="2832069"/>
              <a:ext cx="35560" cy="0"/>
            </a:xfrm>
            <a:custGeom>
              <a:avLst/>
              <a:gdLst/>
              <a:ahLst/>
              <a:cxnLst/>
              <a:rect l="l" t="t" r="r" b="b"/>
              <a:pathLst>
                <a:path w="35559">
                  <a:moveTo>
                    <a:pt x="0" y="0"/>
                  </a:moveTo>
                  <a:lnTo>
                    <a:pt x="35092" y="0"/>
                  </a:lnTo>
                </a:path>
              </a:pathLst>
            </a:custGeom>
            <a:ln w="30963">
              <a:solidFill>
                <a:srgbClr val="000000"/>
              </a:solidFill>
            </a:ln>
          </p:spPr>
          <p:txBody>
            <a:bodyPr wrap="square" lIns="0" tIns="0" rIns="0" bIns="0" rtlCol="0"/>
            <a:lstStyle/>
            <a:p>
              <a:endParaRPr/>
            </a:p>
          </p:txBody>
        </p:sp>
      </p:grpSp>
      <p:grpSp>
        <p:nvGrpSpPr>
          <p:cNvPr id="6" name="object 6"/>
          <p:cNvGrpSpPr/>
          <p:nvPr/>
        </p:nvGrpSpPr>
        <p:grpSpPr>
          <a:xfrm>
            <a:off x="5038460" y="2713168"/>
            <a:ext cx="1293495" cy="1724660"/>
            <a:chOff x="5038460" y="2713168"/>
            <a:chExt cx="1293495" cy="1724660"/>
          </a:xfrm>
        </p:grpSpPr>
        <p:pic>
          <p:nvPicPr>
            <p:cNvPr id="7" name="object 7"/>
            <p:cNvPicPr/>
            <p:nvPr/>
          </p:nvPicPr>
          <p:blipFill>
            <a:blip r:embed="rId3" cstate="print"/>
            <a:stretch>
              <a:fillRect/>
            </a:stretch>
          </p:blipFill>
          <p:spPr>
            <a:xfrm>
              <a:off x="5038460" y="2713168"/>
              <a:ext cx="1293056" cy="1724487"/>
            </a:xfrm>
            <a:prstGeom prst="rect">
              <a:avLst/>
            </a:prstGeom>
          </p:spPr>
        </p:pic>
        <p:pic>
          <p:nvPicPr>
            <p:cNvPr id="8" name="object 8"/>
            <p:cNvPicPr/>
            <p:nvPr/>
          </p:nvPicPr>
          <p:blipFill>
            <a:blip r:embed="rId4" cstate="print"/>
            <a:stretch>
              <a:fillRect/>
            </a:stretch>
          </p:blipFill>
          <p:spPr>
            <a:xfrm>
              <a:off x="5552978" y="4177455"/>
              <a:ext cx="81538" cy="85667"/>
            </a:xfrm>
            <a:prstGeom prst="rect">
              <a:avLst/>
            </a:prstGeom>
          </p:spPr>
        </p:pic>
        <p:sp>
          <p:nvSpPr>
            <p:cNvPr id="9" name="object 9"/>
            <p:cNvSpPr/>
            <p:nvPr/>
          </p:nvSpPr>
          <p:spPr>
            <a:xfrm>
              <a:off x="5135068" y="2839501"/>
              <a:ext cx="50165" cy="0"/>
            </a:xfrm>
            <a:custGeom>
              <a:avLst/>
              <a:gdLst/>
              <a:ahLst/>
              <a:cxnLst/>
              <a:rect l="l" t="t" r="r" b="b"/>
              <a:pathLst>
                <a:path w="50164">
                  <a:moveTo>
                    <a:pt x="0" y="0"/>
                  </a:moveTo>
                  <a:lnTo>
                    <a:pt x="49748" y="0"/>
                  </a:lnTo>
                </a:path>
              </a:pathLst>
            </a:custGeom>
            <a:ln w="30963">
              <a:solidFill>
                <a:srgbClr val="000000"/>
              </a:solidFill>
            </a:ln>
          </p:spPr>
          <p:txBody>
            <a:bodyPr wrap="square" lIns="0" tIns="0" rIns="0" bIns="0" rtlCol="0"/>
            <a:lstStyle/>
            <a:p>
              <a:endParaRPr/>
            </a:p>
          </p:txBody>
        </p:sp>
      </p:grpSp>
      <p:sp>
        <p:nvSpPr>
          <p:cNvPr id="10" name="object 10"/>
          <p:cNvSpPr txBox="1"/>
          <p:nvPr/>
        </p:nvSpPr>
        <p:spPr>
          <a:xfrm>
            <a:off x="5376066" y="4480453"/>
            <a:ext cx="1954530" cy="222250"/>
          </a:xfrm>
          <a:prstGeom prst="rect">
            <a:avLst/>
          </a:prstGeom>
        </p:spPr>
        <p:txBody>
          <a:bodyPr vert="horz" wrap="square" lIns="0" tIns="17780" rIns="0" bIns="0" rtlCol="0">
            <a:spAutoFit/>
          </a:bodyPr>
          <a:lstStyle/>
          <a:p>
            <a:pPr marL="12700">
              <a:lnSpc>
                <a:spcPct val="100000"/>
              </a:lnSpc>
              <a:spcBef>
                <a:spcPts val="140"/>
              </a:spcBef>
              <a:tabLst>
                <a:tab pos="1500505" algn="l"/>
              </a:tabLst>
            </a:pPr>
            <a:r>
              <a:rPr sz="1875" spc="-15" baseline="2222" dirty="0">
                <a:latin typeface="Arial"/>
                <a:cs typeface="Arial"/>
              </a:rPr>
              <a:t>summer</a:t>
            </a:r>
            <a:r>
              <a:rPr sz="1875" baseline="2222" dirty="0">
                <a:latin typeface="Arial"/>
                <a:cs typeface="Arial"/>
              </a:rPr>
              <a:t>	</a:t>
            </a:r>
            <a:r>
              <a:rPr sz="1250" spc="-10" dirty="0">
                <a:latin typeface="Arial"/>
                <a:cs typeface="Arial"/>
              </a:rPr>
              <a:t>winter</a:t>
            </a:r>
            <a:endParaRPr sz="1250">
              <a:latin typeface="Arial"/>
              <a:cs typeface="Arial"/>
            </a:endParaRPr>
          </a:p>
        </p:txBody>
      </p:sp>
      <p:sp>
        <p:nvSpPr>
          <p:cNvPr id="11" name="object 11"/>
          <p:cNvSpPr txBox="1"/>
          <p:nvPr/>
        </p:nvSpPr>
        <p:spPr>
          <a:xfrm>
            <a:off x="4434348" y="21618"/>
            <a:ext cx="971550" cy="222250"/>
          </a:xfrm>
          <a:prstGeom prst="rect">
            <a:avLst/>
          </a:prstGeom>
        </p:spPr>
        <p:txBody>
          <a:bodyPr vert="horz" wrap="square" lIns="0" tIns="17780" rIns="0" bIns="0" rtlCol="0">
            <a:spAutoFit/>
          </a:bodyPr>
          <a:lstStyle/>
          <a:p>
            <a:pPr marL="12700">
              <a:lnSpc>
                <a:spcPct val="100000"/>
              </a:lnSpc>
              <a:spcBef>
                <a:spcPts val="140"/>
              </a:spcBef>
            </a:pPr>
            <a:r>
              <a:rPr sz="1250" i="1" dirty="0">
                <a:latin typeface="Arial"/>
                <a:cs typeface="Arial"/>
              </a:rPr>
              <a:t>M.</a:t>
            </a:r>
            <a:r>
              <a:rPr sz="1250" i="1" spc="70" dirty="0">
                <a:latin typeface="Arial"/>
                <a:cs typeface="Arial"/>
              </a:rPr>
              <a:t> </a:t>
            </a:r>
            <a:r>
              <a:rPr sz="1250" i="1" spc="-10" dirty="0">
                <a:latin typeface="Arial"/>
                <a:cs typeface="Arial"/>
              </a:rPr>
              <a:t>giganteus</a:t>
            </a:r>
            <a:endParaRPr sz="1250">
              <a:latin typeface="Arial"/>
              <a:cs typeface="Arial"/>
            </a:endParaRPr>
          </a:p>
        </p:txBody>
      </p:sp>
      <p:grpSp>
        <p:nvGrpSpPr>
          <p:cNvPr id="12" name="object 12"/>
          <p:cNvGrpSpPr/>
          <p:nvPr/>
        </p:nvGrpSpPr>
        <p:grpSpPr>
          <a:xfrm>
            <a:off x="3507601" y="349377"/>
            <a:ext cx="1285875" cy="1717675"/>
            <a:chOff x="3507601" y="349377"/>
            <a:chExt cx="1285875" cy="1717675"/>
          </a:xfrm>
        </p:grpSpPr>
        <p:pic>
          <p:nvPicPr>
            <p:cNvPr id="13" name="object 13"/>
            <p:cNvPicPr/>
            <p:nvPr/>
          </p:nvPicPr>
          <p:blipFill>
            <a:blip r:embed="rId5" cstate="print"/>
            <a:stretch>
              <a:fillRect/>
            </a:stretch>
          </p:blipFill>
          <p:spPr>
            <a:xfrm>
              <a:off x="3507601" y="349377"/>
              <a:ext cx="1285624" cy="1717056"/>
            </a:xfrm>
            <a:prstGeom prst="rect">
              <a:avLst/>
            </a:prstGeom>
          </p:spPr>
        </p:pic>
        <p:sp>
          <p:nvSpPr>
            <p:cNvPr id="14" name="object 14"/>
            <p:cNvSpPr/>
            <p:nvPr/>
          </p:nvSpPr>
          <p:spPr>
            <a:xfrm>
              <a:off x="4689186" y="2006982"/>
              <a:ext cx="52705" cy="0"/>
            </a:xfrm>
            <a:custGeom>
              <a:avLst/>
              <a:gdLst/>
              <a:ahLst/>
              <a:cxnLst/>
              <a:rect l="l" t="t" r="r" b="b"/>
              <a:pathLst>
                <a:path w="52704">
                  <a:moveTo>
                    <a:pt x="0" y="0"/>
                  </a:moveTo>
                  <a:lnTo>
                    <a:pt x="52638" y="0"/>
                  </a:lnTo>
                </a:path>
              </a:pathLst>
            </a:custGeom>
            <a:ln w="30963">
              <a:solidFill>
                <a:srgbClr val="000000"/>
              </a:solidFill>
            </a:ln>
          </p:spPr>
          <p:txBody>
            <a:bodyPr wrap="square" lIns="0" tIns="0" rIns="0" bIns="0" rtlCol="0"/>
            <a:lstStyle/>
            <a:p>
              <a:endParaRPr/>
            </a:p>
          </p:txBody>
        </p:sp>
      </p:grpSp>
      <p:grpSp>
        <p:nvGrpSpPr>
          <p:cNvPr id="15" name="object 15"/>
          <p:cNvGrpSpPr/>
          <p:nvPr/>
        </p:nvGrpSpPr>
        <p:grpSpPr>
          <a:xfrm>
            <a:off x="4919559" y="349377"/>
            <a:ext cx="1285875" cy="1717675"/>
            <a:chOff x="4919559" y="349377"/>
            <a:chExt cx="1285875" cy="1717675"/>
          </a:xfrm>
        </p:grpSpPr>
        <p:pic>
          <p:nvPicPr>
            <p:cNvPr id="16" name="object 16"/>
            <p:cNvPicPr/>
            <p:nvPr/>
          </p:nvPicPr>
          <p:blipFill>
            <a:blip r:embed="rId6" cstate="print"/>
            <a:stretch>
              <a:fillRect/>
            </a:stretch>
          </p:blipFill>
          <p:spPr>
            <a:xfrm>
              <a:off x="4919559" y="349377"/>
              <a:ext cx="1285624" cy="1717056"/>
            </a:xfrm>
            <a:prstGeom prst="rect">
              <a:avLst/>
            </a:prstGeom>
          </p:spPr>
        </p:pic>
        <p:sp>
          <p:nvSpPr>
            <p:cNvPr id="17" name="object 17"/>
            <p:cNvSpPr/>
            <p:nvPr/>
          </p:nvSpPr>
          <p:spPr>
            <a:xfrm>
              <a:off x="6093713" y="2021845"/>
              <a:ext cx="35560" cy="0"/>
            </a:xfrm>
            <a:custGeom>
              <a:avLst/>
              <a:gdLst/>
              <a:ahLst/>
              <a:cxnLst/>
              <a:rect l="l" t="t" r="r" b="b"/>
              <a:pathLst>
                <a:path w="35560">
                  <a:moveTo>
                    <a:pt x="0" y="0"/>
                  </a:moveTo>
                  <a:lnTo>
                    <a:pt x="35092" y="0"/>
                  </a:lnTo>
                </a:path>
              </a:pathLst>
            </a:custGeom>
            <a:ln w="30963">
              <a:solidFill>
                <a:srgbClr val="000000"/>
              </a:solidFill>
            </a:ln>
          </p:spPr>
          <p:txBody>
            <a:bodyPr wrap="square" lIns="0" tIns="0" rIns="0" bIns="0" rtlCol="0"/>
            <a:lstStyle/>
            <a:p>
              <a:endParaRPr/>
            </a:p>
          </p:txBody>
        </p:sp>
      </p:grpSp>
      <p:sp>
        <p:nvSpPr>
          <p:cNvPr id="18" name="object 18"/>
          <p:cNvSpPr txBox="1"/>
          <p:nvPr/>
        </p:nvSpPr>
        <p:spPr>
          <a:xfrm>
            <a:off x="3851605" y="2111687"/>
            <a:ext cx="622300" cy="222250"/>
          </a:xfrm>
          <a:prstGeom prst="rect">
            <a:avLst/>
          </a:prstGeom>
        </p:spPr>
        <p:txBody>
          <a:bodyPr vert="horz" wrap="square" lIns="0" tIns="17780" rIns="0" bIns="0" rtlCol="0">
            <a:spAutoFit/>
          </a:bodyPr>
          <a:lstStyle/>
          <a:p>
            <a:pPr marL="12700">
              <a:lnSpc>
                <a:spcPct val="100000"/>
              </a:lnSpc>
              <a:spcBef>
                <a:spcPts val="140"/>
              </a:spcBef>
            </a:pPr>
            <a:r>
              <a:rPr sz="1250" spc="-10" dirty="0">
                <a:latin typeface="Arial"/>
                <a:cs typeface="Arial"/>
              </a:rPr>
              <a:t>summer</a:t>
            </a:r>
            <a:endParaRPr sz="1250">
              <a:latin typeface="Arial"/>
              <a:cs typeface="Arial"/>
            </a:endParaRPr>
          </a:p>
        </p:txBody>
      </p:sp>
      <p:sp>
        <p:nvSpPr>
          <p:cNvPr id="19" name="object 19"/>
          <p:cNvSpPr txBox="1"/>
          <p:nvPr/>
        </p:nvSpPr>
        <p:spPr>
          <a:xfrm>
            <a:off x="5342522" y="2115197"/>
            <a:ext cx="466090" cy="222250"/>
          </a:xfrm>
          <a:prstGeom prst="rect">
            <a:avLst/>
          </a:prstGeom>
        </p:spPr>
        <p:txBody>
          <a:bodyPr vert="horz" wrap="square" lIns="0" tIns="17780" rIns="0" bIns="0" rtlCol="0">
            <a:spAutoFit/>
          </a:bodyPr>
          <a:lstStyle/>
          <a:p>
            <a:pPr marL="12700">
              <a:lnSpc>
                <a:spcPct val="100000"/>
              </a:lnSpc>
              <a:spcBef>
                <a:spcPts val="140"/>
              </a:spcBef>
            </a:pPr>
            <a:r>
              <a:rPr sz="1250" spc="-10" dirty="0">
                <a:latin typeface="Arial"/>
                <a:cs typeface="Arial"/>
              </a:rPr>
              <a:t>winter</a:t>
            </a:r>
            <a:endParaRPr sz="1250">
              <a:latin typeface="Arial"/>
              <a:cs typeface="Arial"/>
            </a:endParaRPr>
          </a:p>
        </p:txBody>
      </p:sp>
      <p:sp>
        <p:nvSpPr>
          <p:cNvPr id="20" name="object 20"/>
          <p:cNvSpPr txBox="1"/>
          <p:nvPr/>
        </p:nvSpPr>
        <p:spPr>
          <a:xfrm>
            <a:off x="1403592" y="21618"/>
            <a:ext cx="853440" cy="222250"/>
          </a:xfrm>
          <a:prstGeom prst="rect">
            <a:avLst/>
          </a:prstGeom>
        </p:spPr>
        <p:txBody>
          <a:bodyPr vert="horz" wrap="square" lIns="0" tIns="17780" rIns="0" bIns="0" rtlCol="0">
            <a:spAutoFit/>
          </a:bodyPr>
          <a:lstStyle/>
          <a:p>
            <a:pPr marL="12700">
              <a:lnSpc>
                <a:spcPct val="100000"/>
              </a:lnSpc>
              <a:spcBef>
                <a:spcPts val="140"/>
              </a:spcBef>
            </a:pPr>
            <a:r>
              <a:rPr sz="1250" i="1" dirty="0">
                <a:latin typeface="Arial"/>
                <a:cs typeface="Arial"/>
              </a:rPr>
              <a:t>A.</a:t>
            </a:r>
            <a:r>
              <a:rPr sz="1250" i="1" spc="150" dirty="0">
                <a:latin typeface="Arial"/>
                <a:cs typeface="Arial"/>
              </a:rPr>
              <a:t>  </a:t>
            </a:r>
            <a:r>
              <a:rPr sz="1250" i="1" spc="-10" dirty="0">
                <a:latin typeface="Arial"/>
                <a:cs typeface="Arial"/>
              </a:rPr>
              <a:t>gerardii</a:t>
            </a:r>
            <a:endParaRPr sz="1250">
              <a:latin typeface="Arial"/>
              <a:cs typeface="Arial"/>
            </a:endParaRPr>
          </a:p>
        </p:txBody>
      </p:sp>
      <p:grpSp>
        <p:nvGrpSpPr>
          <p:cNvPr id="21" name="object 21"/>
          <p:cNvGrpSpPr/>
          <p:nvPr/>
        </p:nvGrpSpPr>
        <p:grpSpPr>
          <a:xfrm>
            <a:off x="416156" y="349377"/>
            <a:ext cx="1293495" cy="1717675"/>
            <a:chOff x="416156" y="349377"/>
            <a:chExt cx="1293495" cy="1717675"/>
          </a:xfrm>
        </p:grpSpPr>
        <p:pic>
          <p:nvPicPr>
            <p:cNvPr id="22" name="object 22"/>
            <p:cNvPicPr/>
            <p:nvPr/>
          </p:nvPicPr>
          <p:blipFill>
            <a:blip r:embed="rId7" cstate="print"/>
            <a:stretch>
              <a:fillRect/>
            </a:stretch>
          </p:blipFill>
          <p:spPr>
            <a:xfrm>
              <a:off x="416156" y="349377"/>
              <a:ext cx="1293056" cy="1717056"/>
            </a:xfrm>
            <a:prstGeom prst="rect">
              <a:avLst/>
            </a:prstGeom>
          </p:spPr>
        </p:pic>
        <p:sp>
          <p:nvSpPr>
            <p:cNvPr id="23" name="object 23"/>
            <p:cNvSpPr/>
            <p:nvPr/>
          </p:nvSpPr>
          <p:spPr>
            <a:xfrm>
              <a:off x="490469" y="2021845"/>
              <a:ext cx="102870" cy="0"/>
            </a:xfrm>
            <a:custGeom>
              <a:avLst/>
              <a:gdLst/>
              <a:ahLst/>
              <a:cxnLst/>
              <a:rect l="l" t="t" r="r" b="b"/>
              <a:pathLst>
                <a:path w="102870">
                  <a:moveTo>
                    <a:pt x="102377" y="0"/>
                  </a:moveTo>
                  <a:lnTo>
                    <a:pt x="0" y="0"/>
                  </a:lnTo>
                </a:path>
              </a:pathLst>
            </a:custGeom>
            <a:ln w="30963">
              <a:solidFill>
                <a:srgbClr val="000000"/>
              </a:solidFill>
            </a:ln>
          </p:spPr>
          <p:txBody>
            <a:bodyPr wrap="square" lIns="0" tIns="0" rIns="0" bIns="0" rtlCol="0"/>
            <a:lstStyle/>
            <a:p>
              <a:endParaRPr/>
            </a:p>
          </p:txBody>
        </p:sp>
      </p:grpSp>
      <p:grpSp>
        <p:nvGrpSpPr>
          <p:cNvPr id="24" name="object 24"/>
          <p:cNvGrpSpPr/>
          <p:nvPr/>
        </p:nvGrpSpPr>
        <p:grpSpPr>
          <a:xfrm>
            <a:off x="1828113" y="349377"/>
            <a:ext cx="1293495" cy="1717675"/>
            <a:chOff x="1828113" y="349377"/>
            <a:chExt cx="1293495" cy="1717675"/>
          </a:xfrm>
        </p:grpSpPr>
        <p:pic>
          <p:nvPicPr>
            <p:cNvPr id="25" name="object 25"/>
            <p:cNvPicPr/>
            <p:nvPr/>
          </p:nvPicPr>
          <p:blipFill>
            <a:blip r:embed="rId8" cstate="print"/>
            <a:stretch>
              <a:fillRect/>
            </a:stretch>
          </p:blipFill>
          <p:spPr>
            <a:xfrm>
              <a:off x="1828113" y="349377"/>
              <a:ext cx="1293056" cy="1717056"/>
            </a:xfrm>
            <a:prstGeom prst="rect">
              <a:avLst/>
            </a:prstGeom>
          </p:spPr>
        </p:pic>
        <p:sp>
          <p:nvSpPr>
            <p:cNvPr id="26" name="object 26"/>
            <p:cNvSpPr/>
            <p:nvPr/>
          </p:nvSpPr>
          <p:spPr>
            <a:xfrm>
              <a:off x="3024562" y="2021845"/>
              <a:ext cx="38100" cy="0"/>
            </a:xfrm>
            <a:custGeom>
              <a:avLst/>
              <a:gdLst/>
              <a:ahLst/>
              <a:cxnLst/>
              <a:rect l="l" t="t" r="r" b="b"/>
              <a:pathLst>
                <a:path w="38100">
                  <a:moveTo>
                    <a:pt x="0" y="0"/>
                  </a:moveTo>
                  <a:lnTo>
                    <a:pt x="37982" y="0"/>
                  </a:lnTo>
                </a:path>
              </a:pathLst>
            </a:custGeom>
            <a:ln w="30963">
              <a:solidFill>
                <a:srgbClr val="000000"/>
              </a:solidFill>
            </a:ln>
          </p:spPr>
          <p:txBody>
            <a:bodyPr wrap="square" lIns="0" tIns="0" rIns="0" bIns="0" rtlCol="0"/>
            <a:lstStyle/>
            <a:p>
              <a:endParaRPr/>
            </a:p>
          </p:txBody>
        </p:sp>
      </p:grpSp>
      <p:sp>
        <p:nvSpPr>
          <p:cNvPr id="27" name="object 27"/>
          <p:cNvSpPr txBox="1"/>
          <p:nvPr/>
        </p:nvSpPr>
        <p:spPr>
          <a:xfrm>
            <a:off x="788348" y="2114680"/>
            <a:ext cx="622300" cy="222250"/>
          </a:xfrm>
          <a:prstGeom prst="rect">
            <a:avLst/>
          </a:prstGeom>
        </p:spPr>
        <p:txBody>
          <a:bodyPr vert="horz" wrap="square" lIns="0" tIns="17780" rIns="0" bIns="0" rtlCol="0">
            <a:spAutoFit/>
          </a:bodyPr>
          <a:lstStyle/>
          <a:p>
            <a:pPr marL="12700">
              <a:lnSpc>
                <a:spcPct val="100000"/>
              </a:lnSpc>
              <a:spcBef>
                <a:spcPts val="140"/>
              </a:spcBef>
            </a:pPr>
            <a:r>
              <a:rPr sz="1250" spc="-10" dirty="0">
                <a:latin typeface="Arial"/>
                <a:cs typeface="Arial"/>
              </a:rPr>
              <a:t>summer</a:t>
            </a:r>
            <a:endParaRPr sz="1250">
              <a:latin typeface="Arial"/>
              <a:cs typeface="Arial"/>
            </a:endParaRPr>
          </a:p>
        </p:txBody>
      </p:sp>
      <p:sp>
        <p:nvSpPr>
          <p:cNvPr id="28" name="object 28"/>
          <p:cNvSpPr txBox="1"/>
          <p:nvPr/>
        </p:nvSpPr>
        <p:spPr>
          <a:xfrm>
            <a:off x="2279254" y="2116229"/>
            <a:ext cx="466725" cy="222250"/>
          </a:xfrm>
          <a:prstGeom prst="rect">
            <a:avLst/>
          </a:prstGeom>
        </p:spPr>
        <p:txBody>
          <a:bodyPr vert="horz" wrap="square" lIns="0" tIns="17780" rIns="0" bIns="0" rtlCol="0">
            <a:spAutoFit/>
          </a:bodyPr>
          <a:lstStyle/>
          <a:p>
            <a:pPr marL="12700">
              <a:lnSpc>
                <a:spcPct val="100000"/>
              </a:lnSpc>
              <a:spcBef>
                <a:spcPts val="140"/>
              </a:spcBef>
            </a:pPr>
            <a:r>
              <a:rPr sz="1250" spc="-10" dirty="0">
                <a:latin typeface="Arial"/>
                <a:cs typeface="Arial"/>
              </a:rPr>
              <a:t>winter</a:t>
            </a:r>
            <a:endParaRPr sz="1250">
              <a:latin typeface="Arial"/>
              <a:cs typeface="Arial"/>
            </a:endParaRPr>
          </a:p>
        </p:txBody>
      </p:sp>
      <p:grpSp>
        <p:nvGrpSpPr>
          <p:cNvPr id="29" name="object 29"/>
          <p:cNvGrpSpPr/>
          <p:nvPr/>
        </p:nvGrpSpPr>
        <p:grpSpPr>
          <a:xfrm>
            <a:off x="1976741" y="2728030"/>
            <a:ext cx="1293495" cy="1717675"/>
            <a:chOff x="1976741" y="2728030"/>
            <a:chExt cx="1293495" cy="1717675"/>
          </a:xfrm>
        </p:grpSpPr>
        <p:pic>
          <p:nvPicPr>
            <p:cNvPr id="30" name="object 30"/>
            <p:cNvPicPr/>
            <p:nvPr/>
          </p:nvPicPr>
          <p:blipFill>
            <a:blip r:embed="rId9" cstate="print"/>
            <a:stretch>
              <a:fillRect/>
            </a:stretch>
          </p:blipFill>
          <p:spPr>
            <a:xfrm>
              <a:off x="1976741" y="2728030"/>
              <a:ext cx="1293056" cy="1717056"/>
            </a:xfrm>
            <a:prstGeom prst="rect">
              <a:avLst/>
            </a:prstGeom>
          </p:spPr>
        </p:pic>
        <p:sp>
          <p:nvSpPr>
            <p:cNvPr id="31" name="object 31"/>
            <p:cNvSpPr/>
            <p:nvPr/>
          </p:nvSpPr>
          <p:spPr>
            <a:xfrm>
              <a:off x="2073348" y="4385636"/>
              <a:ext cx="50165" cy="0"/>
            </a:xfrm>
            <a:custGeom>
              <a:avLst/>
              <a:gdLst/>
              <a:ahLst/>
              <a:cxnLst/>
              <a:rect l="l" t="t" r="r" b="b"/>
              <a:pathLst>
                <a:path w="50164">
                  <a:moveTo>
                    <a:pt x="0" y="0"/>
                  </a:moveTo>
                  <a:lnTo>
                    <a:pt x="49748" y="0"/>
                  </a:lnTo>
                </a:path>
              </a:pathLst>
            </a:custGeom>
            <a:ln w="30963">
              <a:solidFill>
                <a:srgbClr val="000000"/>
              </a:solidFill>
            </a:ln>
          </p:spPr>
          <p:txBody>
            <a:bodyPr wrap="square" lIns="0" tIns="0" rIns="0" bIns="0" rtlCol="0"/>
            <a:lstStyle/>
            <a:p>
              <a:endParaRPr/>
            </a:p>
          </p:txBody>
        </p:sp>
      </p:grpSp>
      <p:grpSp>
        <p:nvGrpSpPr>
          <p:cNvPr id="32" name="object 32"/>
          <p:cNvGrpSpPr/>
          <p:nvPr/>
        </p:nvGrpSpPr>
        <p:grpSpPr>
          <a:xfrm>
            <a:off x="3366404" y="2728030"/>
            <a:ext cx="1293495" cy="1717675"/>
            <a:chOff x="3366404" y="2728030"/>
            <a:chExt cx="1293495" cy="1717675"/>
          </a:xfrm>
        </p:grpSpPr>
        <p:pic>
          <p:nvPicPr>
            <p:cNvPr id="33" name="object 33"/>
            <p:cNvPicPr/>
            <p:nvPr/>
          </p:nvPicPr>
          <p:blipFill>
            <a:blip r:embed="rId10" cstate="print"/>
            <a:stretch>
              <a:fillRect/>
            </a:stretch>
          </p:blipFill>
          <p:spPr>
            <a:xfrm>
              <a:off x="3366404" y="2728030"/>
              <a:ext cx="1293056" cy="1717056"/>
            </a:xfrm>
            <a:prstGeom prst="rect">
              <a:avLst/>
            </a:prstGeom>
          </p:spPr>
        </p:pic>
        <p:sp>
          <p:nvSpPr>
            <p:cNvPr id="34" name="object 34"/>
            <p:cNvSpPr/>
            <p:nvPr/>
          </p:nvSpPr>
          <p:spPr>
            <a:xfrm>
              <a:off x="4555422" y="4385636"/>
              <a:ext cx="50165" cy="0"/>
            </a:xfrm>
            <a:custGeom>
              <a:avLst/>
              <a:gdLst/>
              <a:ahLst/>
              <a:cxnLst/>
              <a:rect l="l" t="t" r="r" b="b"/>
              <a:pathLst>
                <a:path w="50164">
                  <a:moveTo>
                    <a:pt x="0" y="0"/>
                  </a:moveTo>
                  <a:lnTo>
                    <a:pt x="49748" y="0"/>
                  </a:lnTo>
                </a:path>
              </a:pathLst>
            </a:custGeom>
            <a:ln w="30963">
              <a:solidFill>
                <a:srgbClr val="000000"/>
              </a:solidFill>
            </a:ln>
          </p:spPr>
          <p:txBody>
            <a:bodyPr wrap="square" lIns="0" tIns="0" rIns="0" bIns="0" rtlCol="0"/>
            <a:lstStyle/>
            <a:p>
              <a:endParaRPr/>
            </a:p>
          </p:txBody>
        </p:sp>
      </p:grpSp>
      <p:sp>
        <p:nvSpPr>
          <p:cNvPr id="35" name="object 35"/>
          <p:cNvSpPr txBox="1"/>
          <p:nvPr/>
        </p:nvSpPr>
        <p:spPr>
          <a:xfrm>
            <a:off x="2871698" y="2373746"/>
            <a:ext cx="1003300" cy="222250"/>
          </a:xfrm>
          <a:prstGeom prst="rect">
            <a:avLst/>
          </a:prstGeom>
        </p:spPr>
        <p:txBody>
          <a:bodyPr vert="horz" wrap="square" lIns="0" tIns="17780" rIns="0" bIns="0" rtlCol="0">
            <a:spAutoFit/>
          </a:bodyPr>
          <a:lstStyle/>
          <a:p>
            <a:pPr marL="12700">
              <a:lnSpc>
                <a:spcPct val="100000"/>
              </a:lnSpc>
              <a:spcBef>
                <a:spcPts val="140"/>
              </a:spcBef>
            </a:pPr>
            <a:r>
              <a:rPr sz="1250" i="1" spc="-120" dirty="0">
                <a:latin typeface="Arial"/>
                <a:cs typeface="Arial"/>
              </a:rPr>
              <a:t>T.</a:t>
            </a:r>
            <a:r>
              <a:rPr sz="1250" i="1" spc="-60" dirty="0">
                <a:latin typeface="Arial"/>
                <a:cs typeface="Arial"/>
              </a:rPr>
              <a:t> </a:t>
            </a:r>
            <a:r>
              <a:rPr sz="1250" i="1" spc="-10" dirty="0">
                <a:latin typeface="Arial"/>
                <a:cs typeface="Arial"/>
              </a:rPr>
              <a:t>dactyloides</a:t>
            </a:r>
            <a:endParaRPr sz="1250" dirty="0">
              <a:latin typeface="Arial"/>
              <a:cs typeface="Arial"/>
            </a:endParaRPr>
          </a:p>
        </p:txBody>
      </p:sp>
      <p:sp>
        <p:nvSpPr>
          <p:cNvPr id="36" name="object 36"/>
          <p:cNvSpPr txBox="1"/>
          <p:nvPr/>
        </p:nvSpPr>
        <p:spPr>
          <a:xfrm>
            <a:off x="2318682" y="4495574"/>
            <a:ext cx="1955800" cy="222250"/>
          </a:xfrm>
          <a:prstGeom prst="rect">
            <a:avLst/>
          </a:prstGeom>
        </p:spPr>
        <p:txBody>
          <a:bodyPr vert="horz" wrap="square" lIns="0" tIns="17780" rIns="0" bIns="0" rtlCol="0">
            <a:spAutoFit/>
          </a:bodyPr>
          <a:lstStyle/>
          <a:p>
            <a:pPr marL="12700">
              <a:lnSpc>
                <a:spcPct val="100000"/>
              </a:lnSpc>
              <a:spcBef>
                <a:spcPts val="140"/>
              </a:spcBef>
              <a:tabLst>
                <a:tab pos="1500505" algn="l"/>
              </a:tabLst>
            </a:pPr>
            <a:r>
              <a:rPr sz="1875" spc="-15" baseline="2222" dirty="0">
                <a:latin typeface="Arial"/>
                <a:cs typeface="Arial"/>
              </a:rPr>
              <a:t>summer</a:t>
            </a:r>
            <a:r>
              <a:rPr sz="1875" baseline="2222" dirty="0">
                <a:latin typeface="Arial"/>
                <a:cs typeface="Arial"/>
              </a:rPr>
              <a:t>	</a:t>
            </a:r>
            <a:r>
              <a:rPr sz="1250" spc="-10" dirty="0">
                <a:latin typeface="Arial"/>
                <a:cs typeface="Arial"/>
              </a:rPr>
              <a:t>winter</a:t>
            </a:r>
            <a:endParaRPr sz="1250">
              <a:latin typeface="Arial"/>
              <a:cs typeface="Arial"/>
            </a:endParaRPr>
          </a:p>
        </p:txBody>
      </p:sp>
      <p:grpSp>
        <p:nvGrpSpPr>
          <p:cNvPr id="37" name="object 37"/>
          <p:cNvGrpSpPr/>
          <p:nvPr/>
        </p:nvGrpSpPr>
        <p:grpSpPr>
          <a:xfrm>
            <a:off x="6599046" y="349377"/>
            <a:ext cx="1285875" cy="1717675"/>
            <a:chOff x="6599046" y="349377"/>
            <a:chExt cx="1285875" cy="1717675"/>
          </a:xfrm>
        </p:grpSpPr>
        <p:pic>
          <p:nvPicPr>
            <p:cNvPr id="38" name="object 38"/>
            <p:cNvPicPr/>
            <p:nvPr/>
          </p:nvPicPr>
          <p:blipFill>
            <a:blip r:embed="rId11" cstate="print"/>
            <a:stretch>
              <a:fillRect/>
            </a:stretch>
          </p:blipFill>
          <p:spPr>
            <a:xfrm>
              <a:off x="6599046" y="349377"/>
              <a:ext cx="1285624" cy="1717056"/>
            </a:xfrm>
            <a:prstGeom prst="rect">
              <a:avLst/>
            </a:prstGeom>
          </p:spPr>
        </p:pic>
        <p:sp>
          <p:nvSpPr>
            <p:cNvPr id="39" name="object 39"/>
            <p:cNvSpPr/>
            <p:nvPr/>
          </p:nvSpPr>
          <p:spPr>
            <a:xfrm>
              <a:off x="6658496" y="2014413"/>
              <a:ext cx="52705" cy="0"/>
            </a:xfrm>
            <a:custGeom>
              <a:avLst/>
              <a:gdLst/>
              <a:ahLst/>
              <a:cxnLst/>
              <a:rect l="l" t="t" r="r" b="b"/>
              <a:pathLst>
                <a:path w="52704">
                  <a:moveTo>
                    <a:pt x="0" y="0"/>
                  </a:moveTo>
                  <a:lnTo>
                    <a:pt x="52638" y="0"/>
                  </a:lnTo>
                </a:path>
              </a:pathLst>
            </a:custGeom>
            <a:ln w="30963">
              <a:solidFill>
                <a:srgbClr val="000000"/>
              </a:solidFill>
            </a:ln>
          </p:spPr>
          <p:txBody>
            <a:bodyPr wrap="square" lIns="0" tIns="0" rIns="0" bIns="0" rtlCol="0"/>
            <a:lstStyle/>
            <a:p>
              <a:endParaRPr/>
            </a:p>
          </p:txBody>
        </p:sp>
      </p:grpSp>
      <p:sp>
        <p:nvSpPr>
          <p:cNvPr id="40" name="object 40"/>
          <p:cNvSpPr txBox="1"/>
          <p:nvPr/>
        </p:nvSpPr>
        <p:spPr>
          <a:xfrm>
            <a:off x="7651610" y="11090"/>
            <a:ext cx="725805" cy="222250"/>
          </a:xfrm>
          <a:prstGeom prst="rect">
            <a:avLst/>
          </a:prstGeom>
        </p:spPr>
        <p:txBody>
          <a:bodyPr vert="horz" wrap="square" lIns="0" tIns="17780" rIns="0" bIns="0" rtlCol="0">
            <a:spAutoFit/>
          </a:bodyPr>
          <a:lstStyle/>
          <a:p>
            <a:pPr marL="12700">
              <a:lnSpc>
                <a:spcPct val="100000"/>
              </a:lnSpc>
              <a:spcBef>
                <a:spcPts val="140"/>
              </a:spcBef>
            </a:pPr>
            <a:r>
              <a:rPr sz="1250" i="1" dirty="0">
                <a:latin typeface="Arial"/>
                <a:cs typeface="Arial"/>
              </a:rPr>
              <a:t>S.</a:t>
            </a:r>
            <a:r>
              <a:rPr sz="1250" i="1" spc="35" dirty="0">
                <a:latin typeface="Arial"/>
                <a:cs typeface="Arial"/>
              </a:rPr>
              <a:t> </a:t>
            </a:r>
            <a:r>
              <a:rPr sz="1250" i="1" spc="-10" dirty="0">
                <a:latin typeface="Arial"/>
                <a:cs typeface="Arial"/>
              </a:rPr>
              <a:t>nutans</a:t>
            </a:r>
            <a:endParaRPr sz="1250">
              <a:latin typeface="Arial"/>
              <a:cs typeface="Arial"/>
            </a:endParaRPr>
          </a:p>
        </p:txBody>
      </p:sp>
      <p:grpSp>
        <p:nvGrpSpPr>
          <p:cNvPr id="41" name="object 41"/>
          <p:cNvGrpSpPr/>
          <p:nvPr/>
        </p:nvGrpSpPr>
        <p:grpSpPr>
          <a:xfrm>
            <a:off x="8011004" y="349377"/>
            <a:ext cx="1285875" cy="1717675"/>
            <a:chOff x="8011004" y="349377"/>
            <a:chExt cx="1285875" cy="1717675"/>
          </a:xfrm>
        </p:grpSpPr>
        <p:pic>
          <p:nvPicPr>
            <p:cNvPr id="42" name="object 42"/>
            <p:cNvPicPr/>
            <p:nvPr/>
          </p:nvPicPr>
          <p:blipFill>
            <a:blip r:embed="rId12" cstate="print"/>
            <a:stretch>
              <a:fillRect/>
            </a:stretch>
          </p:blipFill>
          <p:spPr>
            <a:xfrm>
              <a:off x="8011004" y="349377"/>
              <a:ext cx="1285624" cy="1717056"/>
            </a:xfrm>
            <a:prstGeom prst="rect">
              <a:avLst/>
            </a:prstGeom>
          </p:spPr>
        </p:pic>
        <p:sp>
          <p:nvSpPr>
            <p:cNvPr id="43" name="object 43"/>
            <p:cNvSpPr/>
            <p:nvPr/>
          </p:nvSpPr>
          <p:spPr>
            <a:xfrm>
              <a:off x="8070454" y="2021845"/>
              <a:ext cx="35560" cy="0"/>
            </a:xfrm>
            <a:custGeom>
              <a:avLst/>
              <a:gdLst/>
              <a:ahLst/>
              <a:cxnLst/>
              <a:rect l="l" t="t" r="r" b="b"/>
              <a:pathLst>
                <a:path w="35559">
                  <a:moveTo>
                    <a:pt x="0" y="0"/>
                  </a:moveTo>
                  <a:lnTo>
                    <a:pt x="35092" y="0"/>
                  </a:lnTo>
                </a:path>
              </a:pathLst>
            </a:custGeom>
            <a:ln w="30963">
              <a:solidFill>
                <a:srgbClr val="000000"/>
              </a:solidFill>
            </a:ln>
          </p:spPr>
          <p:txBody>
            <a:bodyPr wrap="square" lIns="0" tIns="0" rIns="0" bIns="0" rtlCol="0"/>
            <a:lstStyle/>
            <a:p>
              <a:endParaRPr/>
            </a:p>
          </p:txBody>
        </p:sp>
      </p:grpSp>
      <p:sp>
        <p:nvSpPr>
          <p:cNvPr id="44" name="object 44"/>
          <p:cNvSpPr txBox="1"/>
          <p:nvPr/>
        </p:nvSpPr>
        <p:spPr>
          <a:xfrm>
            <a:off x="6953268" y="2117261"/>
            <a:ext cx="622300" cy="222250"/>
          </a:xfrm>
          <a:prstGeom prst="rect">
            <a:avLst/>
          </a:prstGeom>
        </p:spPr>
        <p:txBody>
          <a:bodyPr vert="horz" wrap="square" lIns="0" tIns="17780" rIns="0" bIns="0" rtlCol="0">
            <a:spAutoFit/>
          </a:bodyPr>
          <a:lstStyle/>
          <a:p>
            <a:pPr marL="12700">
              <a:lnSpc>
                <a:spcPct val="100000"/>
              </a:lnSpc>
              <a:spcBef>
                <a:spcPts val="140"/>
              </a:spcBef>
            </a:pPr>
            <a:r>
              <a:rPr sz="1250" spc="-10" dirty="0">
                <a:latin typeface="Arial"/>
                <a:cs typeface="Arial"/>
              </a:rPr>
              <a:t>summer</a:t>
            </a:r>
            <a:endParaRPr sz="1250">
              <a:latin typeface="Arial"/>
              <a:cs typeface="Arial"/>
            </a:endParaRPr>
          </a:p>
        </p:txBody>
      </p:sp>
      <p:sp>
        <p:nvSpPr>
          <p:cNvPr id="45" name="object 45"/>
          <p:cNvSpPr txBox="1"/>
          <p:nvPr/>
        </p:nvSpPr>
        <p:spPr>
          <a:xfrm>
            <a:off x="8444185" y="2110655"/>
            <a:ext cx="466725" cy="222250"/>
          </a:xfrm>
          <a:prstGeom prst="rect">
            <a:avLst/>
          </a:prstGeom>
        </p:spPr>
        <p:txBody>
          <a:bodyPr vert="horz" wrap="square" lIns="0" tIns="17780" rIns="0" bIns="0" rtlCol="0">
            <a:spAutoFit/>
          </a:bodyPr>
          <a:lstStyle/>
          <a:p>
            <a:pPr marL="12700">
              <a:lnSpc>
                <a:spcPct val="100000"/>
              </a:lnSpc>
              <a:spcBef>
                <a:spcPts val="140"/>
              </a:spcBef>
            </a:pPr>
            <a:r>
              <a:rPr sz="1250" spc="-10" dirty="0">
                <a:latin typeface="Arial"/>
                <a:cs typeface="Arial"/>
              </a:rPr>
              <a:t>winter</a:t>
            </a:r>
            <a:endParaRPr sz="1250">
              <a:latin typeface="Arial"/>
              <a:cs typeface="Arial"/>
            </a:endParaRPr>
          </a:p>
        </p:txBody>
      </p:sp>
      <p:sp>
        <p:nvSpPr>
          <p:cNvPr id="46" name="object 46"/>
          <p:cNvSpPr txBox="1"/>
          <p:nvPr/>
        </p:nvSpPr>
        <p:spPr>
          <a:xfrm>
            <a:off x="408585" y="1904"/>
            <a:ext cx="160020" cy="248920"/>
          </a:xfrm>
          <a:prstGeom prst="rect">
            <a:avLst/>
          </a:prstGeom>
        </p:spPr>
        <p:txBody>
          <a:bodyPr vert="horz" wrap="square" lIns="0" tIns="14605" rIns="0" bIns="0" rtlCol="0">
            <a:spAutoFit/>
          </a:bodyPr>
          <a:lstStyle/>
          <a:p>
            <a:pPr marL="12700">
              <a:lnSpc>
                <a:spcPct val="100000"/>
              </a:lnSpc>
              <a:spcBef>
                <a:spcPts val="115"/>
              </a:spcBef>
            </a:pPr>
            <a:r>
              <a:rPr sz="1450" b="1" spc="-50" dirty="0">
                <a:latin typeface="Arial"/>
                <a:cs typeface="Arial"/>
              </a:rPr>
              <a:t>A</a:t>
            </a:r>
            <a:endParaRPr sz="1450">
              <a:latin typeface="Arial"/>
              <a:cs typeface="Arial"/>
            </a:endParaRPr>
          </a:p>
        </p:txBody>
      </p:sp>
      <p:sp>
        <p:nvSpPr>
          <p:cNvPr id="47" name="object 47"/>
          <p:cNvSpPr txBox="1"/>
          <p:nvPr/>
        </p:nvSpPr>
        <p:spPr>
          <a:xfrm>
            <a:off x="3561060" y="1904"/>
            <a:ext cx="160020" cy="248920"/>
          </a:xfrm>
          <a:prstGeom prst="rect">
            <a:avLst/>
          </a:prstGeom>
        </p:spPr>
        <p:txBody>
          <a:bodyPr vert="horz" wrap="square" lIns="0" tIns="14605" rIns="0" bIns="0" rtlCol="0">
            <a:spAutoFit/>
          </a:bodyPr>
          <a:lstStyle/>
          <a:p>
            <a:pPr marL="12700">
              <a:lnSpc>
                <a:spcPct val="100000"/>
              </a:lnSpc>
              <a:spcBef>
                <a:spcPts val="115"/>
              </a:spcBef>
            </a:pPr>
            <a:r>
              <a:rPr sz="1450" b="1" spc="-50" dirty="0">
                <a:latin typeface="Arial"/>
                <a:cs typeface="Arial"/>
              </a:rPr>
              <a:t>B</a:t>
            </a:r>
            <a:endParaRPr sz="1450">
              <a:latin typeface="Arial"/>
              <a:cs typeface="Arial"/>
            </a:endParaRPr>
          </a:p>
        </p:txBody>
      </p:sp>
      <p:sp>
        <p:nvSpPr>
          <p:cNvPr id="48" name="object 48"/>
          <p:cNvSpPr txBox="1"/>
          <p:nvPr/>
        </p:nvSpPr>
        <p:spPr>
          <a:xfrm>
            <a:off x="6646519" y="1904"/>
            <a:ext cx="160020" cy="248920"/>
          </a:xfrm>
          <a:prstGeom prst="rect">
            <a:avLst/>
          </a:prstGeom>
        </p:spPr>
        <p:txBody>
          <a:bodyPr vert="horz" wrap="square" lIns="0" tIns="14605" rIns="0" bIns="0" rtlCol="0">
            <a:spAutoFit/>
          </a:bodyPr>
          <a:lstStyle/>
          <a:p>
            <a:pPr marL="12700">
              <a:lnSpc>
                <a:spcPct val="100000"/>
              </a:lnSpc>
              <a:spcBef>
                <a:spcPts val="115"/>
              </a:spcBef>
            </a:pPr>
            <a:r>
              <a:rPr sz="1450" b="1" spc="-50" dirty="0">
                <a:latin typeface="Arial"/>
                <a:cs typeface="Arial"/>
              </a:rPr>
              <a:t>C</a:t>
            </a:r>
            <a:endParaRPr sz="1450">
              <a:latin typeface="Arial"/>
              <a:cs typeface="Arial"/>
            </a:endParaRPr>
          </a:p>
        </p:txBody>
      </p:sp>
      <p:sp>
        <p:nvSpPr>
          <p:cNvPr id="49" name="object 49"/>
          <p:cNvSpPr txBox="1"/>
          <p:nvPr/>
        </p:nvSpPr>
        <p:spPr>
          <a:xfrm>
            <a:off x="5083663" y="2388609"/>
            <a:ext cx="158750" cy="448945"/>
          </a:xfrm>
          <a:prstGeom prst="rect">
            <a:avLst/>
          </a:prstGeom>
        </p:spPr>
        <p:txBody>
          <a:bodyPr vert="horz" wrap="square" lIns="0" tIns="14605" rIns="0" bIns="0" rtlCol="0">
            <a:spAutoFit/>
          </a:bodyPr>
          <a:lstStyle/>
          <a:p>
            <a:pPr marL="21590">
              <a:lnSpc>
                <a:spcPct val="100000"/>
              </a:lnSpc>
              <a:spcBef>
                <a:spcPts val="115"/>
              </a:spcBef>
            </a:pPr>
            <a:r>
              <a:rPr sz="1450" b="1" spc="-50" dirty="0">
                <a:latin typeface="Arial"/>
                <a:cs typeface="Arial"/>
              </a:rPr>
              <a:t>E</a:t>
            </a:r>
            <a:endParaRPr sz="1450">
              <a:latin typeface="Arial"/>
              <a:cs typeface="Arial"/>
            </a:endParaRPr>
          </a:p>
          <a:p>
            <a:pPr marL="12700">
              <a:lnSpc>
                <a:spcPct val="100000"/>
              </a:lnSpc>
              <a:spcBef>
                <a:spcPts val="1035"/>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50" name="object 50"/>
          <p:cNvSpPr txBox="1"/>
          <p:nvPr/>
        </p:nvSpPr>
        <p:spPr>
          <a:xfrm>
            <a:off x="2029375" y="2388609"/>
            <a:ext cx="160020" cy="248920"/>
          </a:xfrm>
          <a:prstGeom prst="rect">
            <a:avLst/>
          </a:prstGeom>
        </p:spPr>
        <p:txBody>
          <a:bodyPr vert="horz" wrap="square" lIns="0" tIns="14605" rIns="0" bIns="0" rtlCol="0">
            <a:spAutoFit/>
          </a:bodyPr>
          <a:lstStyle/>
          <a:p>
            <a:pPr marL="12700">
              <a:lnSpc>
                <a:spcPct val="100000"/>
              </a:lnSpc>
              <a:spcBef>
                <a:spcPts val="115"/>
              </a:spcBef>
            </a:pPr>
            <a:r>
              <a:rPr sz="1450" b="1" spc="-50" dirty="0">
                <a:latin typeface="Arial"/>
                <a:cs typeface="Arial"/>
              </a:rPr>
              <a:t>D</a:t>
            </a:r>
            <a:endParaRPr sz="1450">
              <a:latin typeface="Arial"/>
              <a:cs typeface="Arial"/>
            </a:endParaRPr>
          </a:p>
        </p:txBody>
      </p:sp>
      <p:sp>
        <p:nvSpPr>
          <p:cNvPr id="51" name="object 51"/>
          <p:cNvSpPr txBox="1"/>
          <p:nvPr/>
        </p:nvSpPr>
        <p:spPr>
          <a:xfrm>
            <a:off x="61613" y="5874864"/>
            <a:ext cx="9831070" cy="765915"/>
          </a:xfrm>
          <a:prstGeom prst="rect">
            <a:avLst/>
          </a:prstGeom>
        </p:spPr>
        <p:txBody>
          <a:bodyPr vert="horz" wrap="square" lIns="0" tIns="9525" rIns="0" bIns="0" rtlCol="0">
            <a:spAutoFit/>
          </a:bodyPr>
          <a:lstStyle/>
          <a:p>
            <a:pPr marL="12700" marR="5080" algn="just">
              <a:lnSpc>
                <a:spcPct val="104200"/>
              </a:lnSpc>
              <a:spcBef>
                <a:spcPts val="75"/>
              </a:spcBef>
            </a:pPr>
            <a:r>
              <a:rPr lang="en-US" sz="1200" b="1" dirty="0">
                <a:latin typeface="Times New Roman"/>
                <a:cs typeface="Times New Roman"/>
              </a:rPr>
              <a:t>Fig. </a:t>
            </a:r>
            <a:r>
              <a:rPr sz="1200" b="1" dirty="0">
                <a:latin typeface="Times New Roman"/>
                <a:cs typeface="Times New Roman"/>
              </a:rPr>
              <a:t>S</a:t>
            </a:r>
            <a:r>
              <a:rPr lang="en-US" sz="1200" b="1" dirty="0">
                <a:latin typeface="Times New Roman"/>
                <a:cs typeface="Times New Roman"/>
              </a:rPr>
              <a:t>9</a:t>
            </a:r>
            <a:r>
              <a:rPr sz="1200" b="1" dirty="0">
                <a:latin typeface="Times New Roman"/>
                <a:cs typeface="Times New Roman"/>
              </a:rPr>
              <a:t>.</a:t>
            </a:r>
            <a:r>
              <a:rPr sz="1200" b="1" spc="380" dirty="0">
                <a:latin typeface="Times New Roman"/>
                <a:cs typeface="Times New Roman"/>
              </a:rPr>
              <a:t> </a:t>
            </a:r>
            <a:r>
              <a:rPr sz="1200" b="1" dirty="0">
                <a:latin typeface="Times New Roman"/>
                <a:cs typeface="Times New Roman"/>
              </a:rPr>
              <a:t>Rhizome</a:t>
            </a:r>
            <a:r>
              <a:rPr sz="1200" b="1" spc="405" dirty="0">
                <a:latin typeface="Times New Roman"/>
                <a:cs typeface="Times New Roman"/>
              </a:rPr>
              <a:t> </a:t>
            </a:r>
            <a:r>
              <a:rPr sz="1200" b="1" dirty="0">
                <a:latin typeface="Times New Roman"/>
                <a:cs typeface="Times New Roman"/>
              </a:rPr>
              <a:t>morphology</a:t>
            </a:r>
            <a:r>
              <a:rPr sz="1200" b="1" spc="380" dirty="0">
                <a:latin typeface="Times New Roman"/>
                <a:cs typeface="Times New Roman"/>
              </a:rPr>
              <a:t> </a:t>
            </a:r>
            <a:r>
              <a:rPr sz="1200" b="1" dirty="0">
                <a:latin typeface="Times New Roman"/>
                <a:cs typeface="Times New Roman"/>
              </a:rPr>
              <a:t>at</a:t>
            </a:r>
            <a:r>
              <a:rPr sz="1200" b="1" spc="390" dirty="0">
                <a:latin typeface="Times New Roman"/>
                <a:cs typeface="Times New Roman"/>
              </a:rPr>
              <a:t> </a:t>
            </a:r>
            <a:r>
              <a:rPr sz="1200" b="1" dirty="0">
                <a:latin typeface="Times New Roman"/>
                <a:cs typeface="Times New Roman"/>
              </a:rPr>
              <a:t>sampling.</a:t>
            </a:r>
            <a:r>
              <a:rPr sz="1200" b="1" spc="375" dirty="0">
                <a:latin typeface="Times New Roman"/>
                <a:cs typeface="Times New Roman"/>
              </a:rPr>
              <a:t> </a:t>
            </a:r>
            <a:r>
              <a:rPr sz="1200" dirty="0">
                <a:latin typeface="Times New Roman"/>
                <a:cs typeface="Times New Roman"/>
              </a:rPr>
              <a:t>Paired</a:t>
            </a:r>
            <a:r>
              <a:rPr sz="1200" spc="380" dirty="0">
                <a:latin typeface="Times New Roman"/>
                <a:cs typeface="Times New Roman"/>
              </a:rPr>
              <a:t> </a:t>
            </a:r>
            <a:r>
              <a:rPr sz="1200" dirty="0">
                <a:latin typeface="Times New Roman"/>
                <a:cs typeface="Times New Roman"/>
              </a:rPr>
              <a:t>images</a:t>
            </a:r>
            <a:r>
              <a:rPr sz="1200" spc="350" dirty="0">
                <a:latin typeface="Times New Roman"/>
                <a:cs typeface="Times New Roman"/>
              </a:rPr>
              <a:t> </a:t>
            </a:r>
            <a:r>
              <a:rPr sz="1200" dirty="0">
                <a:latin typeface="Times New Roman"/>
                <a:cs typeface="Times New Roman"/>
              </a:rPr>
              <a:t>display</a:t>
            </a:r>
            <a:r>
              <a:rPr sz="1200" spc="409" dirty="0">
                <a:latin typeface="Times New Roman"/>
                <a:cs typeface="Times New Roman"/>
              </a:rPr>
              <a:t> </a:t>
            </a:r>
            <a:r>
              <a:rPr sz="1200" dirty="0">
                <a:latin typeface="Times New Roman"/>
                <a:cs typeface="Times New Roman"/>
              </a:rPr>
              <a:t>representative</a:t>
            </a:r>
            <a:r>
              <a:rPr sz="1200" spc="420" dirty="0">
                <a:latin typeface="Times New Roman"/>
                <a:cs typeface="Times New Roman"/>
              </a:rPr>
              <a:t> </a:t>
            </a:r>
            <a:r>
              <a:rPr sz="1200" dirty="0">
                <a:latin typeface="Times New Roman"/>
                <a:cs typeface="Times New Roman"/>
              </a:rPr>
              <a:t>rhizome</a:t>
            </a:r>
            <a:r>
              <a:rPr sz="1200" spc="405" dirty="0">
                <a:latin typeface="Times New Roman"/>
                <a:cs typeface="Times New Roman"/>
              </a:rPr>
              <a:t> </a:t>
            </a:r>
            <a:r>
              <a:rPr sz="1200" dirty="0">
                <a:latin typeface="Times New Roman"/>
                <a:cs typeface="Times New Roman"/>
              </a:rPr>
              <a:t>tissues</a:t>
            </a:r>
            <a:r>
              <a:rPr sz="1200" spc="390" dirty="0">
                <a:latin typeface="Times New Roman"/>
                <a:cs typeface="Times New Roman"/>
              </a:rPr>
              <a:t> </a:t>
            </a:r>
            <a:r>
              <a:rPr sz="1200" dirty="0">
                <a:latin typeface="Times New Roman"/>
                <a:cs typeface="Times New Roman"/>
              </a:rPr>
              <a:t>(white</a:t>
            </a:r>
            <a:r>
              <a:rPr sz="1200" spc="390" dirty="0">
                <a:latin typeface="Times New Roman"/>
                <a:cs typeface="Times New Roman"/>
              </a:rPr>
              <a:t> </a:t>
            </a:r>
            <a:r>
              <a:rPr sz="1200" dirty="0">
                <a:latin typeface="Times New Roman"/>
                <a:cs typeface="Times New Roman"/>
              </a:rPr>
              <a:t>arrows)</a:t>
            </a:r>
            <a:r>
              <a:rPr sz="1200" spc="365" dirty="0">
                <a:latin typeface="Times New Roman"/>
                <a:cs typeface="Times New Roman"/>
              </a:rPr>
              <a:t> </a:t>
            </a:r>
            <a:r>
              <a:rPr sz="1200" spc="-10" dirty="0">
                <a:latin typeface="Times New Roman"/>
                <a:cs typeface="Times New Roman"/>
              </a:rPr>
              <a:t>collected </a:t>
            </a:r>
            <a:r>
              <a:rPr sz="1200" dirty="0">
                <a:latin typeface="Times New Roman"/>
                <a:cs typeface="Times New Roman"/>
              </a:rPr>
              <a:t>during</a:t>
            </a:r>
            <a:r>
              <a:rPr sz="1200" spc="250" dirty="0">
                <a:latin typeface="Times New Roman"/>
                <a:cs typeface="Times New Roman"/>
              </a:rPr>
              <a:t> </a:t>
            </a:r>
            <a:r>
              <a:rPr sz="1200" dirty="0">
                <a:latin typeface="Times New Roman"/>
                <a:cs typeface="Times New Roman"/>
              </a:rPr>
              <a:t>summer</a:t>
            </a:r>
            <a:r>
              <a:rPr sz="1200" spc="280" dirty="0">
                <a:latin typeface="Times New Roman"/>
                <a:cs typeface="Times New Roman"/>
              </a:rPr>
              <a:t> </a:t>
            </a:r>
            <a:r>
              <a:rPr sz="1200" dirty="0">
                <a:latin typeface="Times New Roman"/>
                <a:cs typeface="Times New Roman"/>
              </a:rPr>
              <a:t>(August,</a:t>
            </a:r>
            <a:r>
              <a:rPr sz="1200" spc="229" dirty="0">
                <a:latin typeface="Times New Roman"/>
                <a:cs typeface="Times New Roman"/>
              </a:rPr>
              <a:t> </a:t>
            </a:r>
            <a:r>
              <a:rPr sz="1200" dirty="0">
                <a:latin typeface="Times New Roman"/>
                <a:cs typeface="Times New Roman"/>
              </a:rPr>
              <a:t>left)</a:t>
            </a:r>
            <a:r>
              <a:rPr sz="1200" spc="245" dirty="0">
                <a:latin typeface="Times New Roman"/>
                <a:cs typeface="Times New Roman"/>
              </a:rPr>
              <a:t> </a:t>
            </a:r>
            <a:r>
              <a:rPr sz="1200" dirty="0">
                <a:latin typeface="Times New Roman"/>
                <a:cs typeface="Times New Roman"/>
              </a:rPr>
              <a:t>and</a:t>
            </a:r>
            <a:r>
              <a:rPr sz="1200" spc="245" dirty="0">
                <a:latin typeface="Times New Roman"/>
                <a:cs typeface="Times New Roman"/>
              </a:rPr>
              <a:t> </a:t>
            </a:r>
            <a:r>
              <a:rPr sz="1200" dirty="0">
                <a:latin typeface="Times New Roman"/>
                <a:cs typeface="Times New Roman"/>
              </a:rPr>
              <a:t>winter</a:t>
            </a:r>
            <a:r>
              <a:rPr sz="1200" spc="290" dirty="0">
                <a:latin typeface="Times New Roman"/>
                <a:cs typeface="Times New Roman"/>
              </a:rPr>
              <a:t> </a:t>
            </a:r>
            <a:r>
              <a:rPr sz="1200" dirty="0">
                <a:latin typeface="Times New Roman"/>
                <a:cs typeface="Times New Roman"/>
              </a:rPr>
              <a:t>(January,</a:t>
            </a:r>
            <a:r>
              <a:rPr sz="1200" spc="270" dirty="0">
                <a:latin typeface="Times New Roman"/>
                <a:cs typeface="Times New Roman"/>
              </a:rPr>
              <a:t> </a:t>
            </a:r>
            <a:r>
              <a:rPr sz="1200" dirty="0">
                <a:latin typeface="Times New Roman"/>
                <a:cs typeface="Times New Roman"/>
              </a:rPr>
              <a:t>right)</a:t>
            </a:r>
            <a:r>
              <a:rPr sz="1200" spc="265" dirty="0">
                <a:latin typeface="Times New Roman"/>
                <a:cs typeface="Times New Roman"/>
              </a:rPr>
              <a:t> </a:t>
            </a:r>
            <a:r>
              <a:rPr sz="1200" dirty="0">
                <a:latin typeface="Times New Roman"/>
                <a:cs typeface="Times New Roman"/>
              </a:rPr>
              <a:t>for</a:t>
            </a:r>
            <a:r>
              <a:rPr sz="1200" spc="215" dirty="0">
                <a:latin typeface="Times New Roman"/>
                <a:cs typeface="Times New Roman"/>
              </a:rPr>
              <a:t> </a:t>
            </a:r>
            <a:r>
              <a:rPr sz="1200" b="1" dirty="0">
                <a:latin typeface="Times New Roman"/>
                <a:cs typeface="Times New Roman"/>
              </a:rPr>
              <a:t>(A)</a:t>
            </a:r>
            <a:r>
              <a:rPr sz="1200" b="1" spc="275" dirty="0">
                <a:latin typeface="Times New Roman"/>
                <a:cs typeface="Times New Roman"/>
              </a:rPr>
              <a:t> </a:t>
            </a:r>
            <a:r>
              <a:rPr sz="1200" i="1" dirty="0">
                <a:latin typeface="Times New Roman"/>
                <a:cs typeface="Times New Roman"/>
              </a:rPr>
              <a:t>Andropogon</a:t>
            </a:r>
            <a:r>
              <a:rPr sz="1200" i="1" spc="254" dirty="0">
                <a:latin typeface="Times New Roman"/>
                <a:cs typeface="Times New Roman"/>
              </a:rPr>
              <a:t> </a:t>
            </a:r>
            <a:r>
              <a:rPr sz="1200" i="1" dirty="0">
                <a:latin typeface="Times New Roman"/>
                <a:cs typeface="Times New Roman"/>
              </a:rPr>
              <a:t>gerardii</a:t>
            </a:r>
            <a:r>
              <a:rPr sz="1200" dirty="0">
                <a:latin typeface="Times New Roman"/>
                <a:cs typeface="Times New Roman"/>
              </a:rPr>
              <a:t>,</a:t>
            </a:r>
            <a:r>
              <a:rPr sz="1200" spc="240" dirty="0">
                <a:latin typeface="Times New Roman"/>
                <a:cs typeface="Times New Roman"/>
              </a:rPr>
              <a:t> </a:t>
            </a:r>
            <a:r>
              <a:rPr sz="1200" b="1" dirty="0">
                <a:latin typeface="Times New Roman"/>
                <a:cs typeface="Times New Roman"/>
              </a:rPr>
              <a:t>(B)</a:t>
            </a:r>
            <a:r>
              <a:rPr sz="1200" b="1" spc="265" dirty="0">
                <a:latin typeface="Times New Roman"/>
                <a:cs typeface="Times New Roman"/>
              </a:rPr>
              <a:t> </a:t>
            </a:r>
            <a:r>
              <a:rPr lang="en-US" sz="1200" i="1" dirty="0">
                <a:latin typeface="Times New Roman" panose="02020603050405020304" pitchFamily="18" charset="0"/>
                <a:cs typeface="Times New Roman" panose="02020603050405020304" pitchFamily="18" charset="0"/>
              </a:rPr>
              <a:t>Miscanthus</a:t>
            </a:r>
            <a:r>
              <a:rPr lang="en-US" sz="1200" dirty="0">
                <a:latin typeface="Times New Roman" panose="02020603050405020304" pitchFamily="18" charset="0"/>
                <a:cs typeface="Times New Roman" panose="02020603050405020304" pitchFamily="18" charset="0"/>
              </a:rPr>
              <a:t> × </a:t>
            </a:r>
            <a:r>
              <a:rPr lang="en-US" sz="1200" i="1" dirty="0">
                <a:latin typeface="Times New Roman" panose="02020603050405020304" pitchFamily="18" charset="0"/>
                <a:cs typeface="Times New Roman" panose="02020603050405020304" pitchFamily="18" charset="0"/>
              </a:rPr>
              <a:t>giganteus</a:t>
            </a:r>
            <a:r>
              <a:rPr sz="1200" dirty="0">
                <a:latin typeface="Times New Roman"/>
                <a:cs typeface="Times New Roman"/>
              </a:rPr>
              <a:t>,</a:t>
            </a:r>
            <a:r>
              <a:rPr sz="1200" spc="240" dirty="0">
                <a:latin typeface="Times New Roman"/>
                <a:cs typeface="Times New Roman"/>
              </a:rPr>
              <a:t> </a:t>
            </a:r>
            <a:r>
              <a:rPr sz="1200" b="1" dirty="0">
                <a:latin typeface="Times New Roman"/>
                <a:cs typeface="Times New Roman"/>
              </a:rPr>
              <a:t>(C)</a:t>
            </a:r>
            <a:r>
              <a:rPr sz="1200" b="1" spc="275" dirty="0">
                <a:latin typeface="Times New Roman"/>
                <a:cs typeface="Times New Roman"/>
              </a:rPr>
              <a:t> </a:t>
            </a:r>
            <a:r>
              <a:rPr sz="1200" i="1" dirty="0">
                <a:latin typeface="Times New Roman"/>
                <a:cs typeface="Times New Roman"/>
              </a:rPr>
              <a:t>Sorghastrum</a:t>
            </a:r>
            <a:r>
              <a:rPr sz="1200" i="1" spc="250" dirty="0">
                <a:latin typeface="Times New Roman"/>
                <a:cs typeface="Times New Roman"/>
              </a:rPr>
              <a:t> </a:t>
            </a:r>
            <a:r>
              <a:rPr sz="1200" i="1" dirty="0">
                <a:latin typeface="Times New Roman"/>
                <a:cs typeface="Times New Roman"/>
              </a:rPr>
              <a:t>nutans</a:t>
            </a:r>
            <a:r>
              <a:rPr sz="1200" dirty="0">
                <a:latin typeface="Times New Roman"/>
                <a:cs typeface="Times New Roman"/>
              </a:rPr>
              <a:t>,</a:t>
            </a:r>
            <a:r>
              <a:rPr sz="1200" spc="240" dirty="0">
                <a:latin typeface="Times New Roman"/>
                <a:cs typeface="Times New Roman"/>
              </a:rPr>
              <a:t> </a:t>
            </a:r>
            <a:r>
              <a:rPr sz="1200" b="1" spc="-25" dirty="0">
                <a:latin typeface="Times New Roman"/>
                <a:cs typeface="Times New Roman"/>
              </a:rPr>
              <a:t>(D) </a:t>
            </a:r>
            <a:r>
              <a:rPr lang="en-US" sz="1200" i="1" dirty="0">
                <a:latin typeface="Times New Roman" panose="02020603050405020304" pitchFamily="18" charset="0"/>
                <a:cs typeface="Times New Roman" panose="02020603050405020304" pitchFamily="18" charset="0"/>
              </a:rPr>
              <a:t>Tripsacum dactyloides</a:t>
            </a:r>
            <a:r>
              <a:rPr lang="en-US" sz="1200" dirty="0">
                <a:latin typeface="Times New Roman" panose="02020603050405020304" pitchFamily="18" charset="0"/>
                <a:cs typeface="Times New Roman" panose="02020603050405020304" pitchFamily="18" charset="0"/>
              </a:rPr>
              <a:t> and </a:t>
            </a:r>
            <a:r>
              <a:rPr lang="en-US" sz="1200" i="1" dirty="0">
                <a:latin typeface="Times New Roman" panose="02020603050405020304" pitchFamily="18" charset="0"/>
                <a:cs typeface="Times New Roman" panose="02020603050405020304" pitchFamily="18" charset="0"/>
              </a:rPr>
              <a:t>T. floridanum</a:t>
            </a:r>
            <a:r>
              <a:rPr lang="en-US" sz="1200" dirty="0">
                <a:latin typeface="Times New Roman" panose="02020603050405020304" pitchFamily="18" charset="0"/>
                <a:cs typeface="Times New Roman" panose="02020603050405020304" pitchFamily="18" charset="0"/>
              </a:rPr>
              <a:t> hybrids</a:t>
            </a:r>
            <a:r>
              <a:rPr sz="1200" dirty="0">
                <a:latin typeface="Times New Roman"/>
                <a:cs typeface="Times New Roman"/>
              </a:rPr>
              <a:t>,</a:t>
            </a:r>
            <a:r>
              <a:rPr sz="1200" spc="260" dirty="0">
                <a:latin typeface="Times New Roman"/>
                <a:cs typeface="Times New Roman"/>
              </a:rPr>
              <a:t> </a:t>
            </a:r>
            <a:r>
              <a:rPr lang="en-US" sz="1200" dirty="0">
                <a:latin typeface="Times New Roman"/>
                <a:cs typeface="Times New Roman"/>
              </a:rPr>
              <a:t>and </a:t>
            </a:r>
            <a:r>
              <a:rPr sz="1200" b="1" dirty="0">
                <a:latin typeface="Times New Roman"/>
                <a:cs typeface="Times New Roman"/>
              </a:rPr>
              <a:t>(E)</a:t>
            </a:r>
            <a:r>
              <a:rPr sz="1200" b="1" spc="285" dirty="0">
                <a:latin typeface="Times New Roman"/>
                <a:cs typeface="Times New Roman"/>
              </a:rPr>
              <a:t> </a:t>
            </a:r>
            <a:r>
              <a:rPr sz="1200" i="1" dirty="0">
                <a:latin typeface="Times New Roman"/>
                <a:cs typeface="Times New Roman"/>
              </a:rPr>
              <a:t>Panicum</a:t>
            </a:r>
            <a:r>
              <a:rPr sz="1200" i="1" spc="270" dirty="0">
                <a:latin typeface="Times New Roman"/>
                <a:cs typeface="Times New Roman"/>
              </a:rPr>
              <a:t> </a:t>
            </a:r>
            <a:r>
              <a:rPr sz="1200" i="1" dirty="0">
                <a:latin typeface="Times New Roman"/>
                <a:cs typeface="Times New Roman"/>
              </a:rPr>
              <a:t>virgatum</a:t>
            </a:r>
            <a:r>
              <a:rPr sz="1200" dirty="0">
                <a:latin typeface="Times New Roman"/>
                <a:cs typeface="Times New Roman"/>
              </a:rPr>
              <a:t>.</a:t>
            </a:r>
            <a:r>
              <a:rPr sz="1200" spc="260" dirty="0">
                <a:latin typeface="Times New Roman"/>
                <a:cs typeface="Times New Roman"/>
              </a:rPr>
              <a:t> </a:t>
            </a:r>
            <a:r>
              <a:rPr sz="1200" dirty="0">
                <a:latin typeface="Times New Roman"/>
                <a:cs typeface="Times New Roman"/>
              </a:rPr>
              <a:t>Summer</a:t>
            </a:r>
            <a:r>
              <a:rPr sz="1200" spc="265" dirty="0">
                <a:latin typeface="Times New Roman"/>
                <a:cs typeface="Times New Roman"/>
              </a:rPr>
              <a:t> </a:t>
            </a:r>
            <a:r>
              <a:rPr sz="1200" dirty="0">
                <a:latin typeface="Times New Roman"/>
                <a:cs typeface="Times New Roman"/>
              </a:rPr>
              <a:t>samples</a:t>
            </a:r>
            <a:r>
              <a:rPr sz="1200" spc="270" dirty="0">
                <a:latin typeface="Times New Roman"/>
                <a:cs typeface="Times New Roman"/>
              </a:rPr>
              <a:t> </a:t>
            </a:r>
            <a:r>
              <a:rPr sz="1200" dirty="0">
                <a:latin typeface="Times New Roman"/>
                <a:cs typeface="Times New Roman"/>
              </a:rPr>
              <a:t>exhibit</a:t>
            </a:r>
            <a:r>
              <a:rPr sz="1200" spc="250" dirty="0">
                <a:latin typeface="Times New Roman"/>
                <a:cs typeface="Times New Roman"/>
              </a:rPr>
              <a:t> </a:t>
            </a:r>
            <a:r>
              <a:rPr sz="1200" dirty="0">
                <a:latin typeface="Times New Roman"/>
                <a:cs typeface="Times New Roman"/>
              </a:rPr>
              <a:t>active</a:t>
            </a:r>
            <a:r>
              <a:rPr sz="1200" spc="285" dirty="0">
                <a:latin typeface="Times New Roman"/>
                <a:cs typeface="Times New Roman"/>
              </a:rPr>
              <a:t> </a:t>
            </a:r>
            <a:r>
              <a:rPr sz="1200" dirty="0">
                <a:latin typeface="Times New Roman"/>
                <a:cs typeface="Times New Roman"/>
              </a:rPr>
              <a:t>bud</a:t>
            </a:r>
            <a:r>
              <a:rPr sz="1200" spc="270" dirty="0">
                <a:latin typeface="Times New Roman"/>
                <a:cs typeface="Times New Roman"/>
              </a:rPr>
              <a:t> </a:t>
            </a:r>
            <a:r>
              <a:rPr sz="1200" dirty="0">
                <a:latin typeface="Times New Roman"/>
                <a:cs typeface="Times New Roman"/>
              </a:rPr>
              <a:t>growth</a:t>
            </a:r>
            <a:r>
              <a:rPr sz="1200" spc="254" dirty="0">
                <a:latin typeface="Times New Roman"/>
                <a:cs typeface="Times New Roman"/>
              </a:rPr>
              <a:t> </a:t>
            </a:r>
            <a:r>
              <a:rPr sz="1200" dirty="0">
                <a:latin typeface="Times New Roman"/>
                <a:cs typeface="Times New Roman"/>
              </a:rPr>
              <a:t>and</a:t>
            </a:r>
            <a:r>
              <a:rPr sz="1200" spc="260" dirty="0">
                <a:latin typeface="Times New Roman"/>
                <a:cs typeface="Times New Roman"/>
              </a:rPr>
              <a:t> </a:t>
            </a:r>
            <a:r>
              <a:rPr sz="1200" dirty="0">
                <a:latin typeface="Times New Roman"/>
                <a:cs typeface="Times New Roman"/>
              </a:rPr>
              <a:t>pale</a:t>
            </a:r>
            <a:r>
              <a:rPr sz="1200" spc="280" dirty="0">
                <a:latin typeface="Times New Roman"/>
                <a:cs typeface="Times New Roman"/>
              </a:rPr>
              <a:t> </a:t>
            </a:r>
            <a:r>
              <a:rPr sz="1200" dirty="0">
                <a:latin typeface="Times New Roman"/>
                <a:cs typeface="Times New Roman"/>
              </a:rPr>
              <a:t>storage</a:t>
            </a:r>
            <a:r>
              <a:rPr sz="1200" spc="235" dirty="0">
                <a:latin typeface="Times New Roman"/>
                <a:cs typeface="Times New Roman"/>
              </a:rPr>
              <a:t> </a:t>
            </a:r>
            <a:r>
              <a:rPr sz="1200" dirty="0">
                <a:latin typeface="Times New Roman"/>
                <a:cs typeface="Times New Roman"/>
              </a:rPr>
              <a:t>tissue.</a:t>
            </a:r>
            <a:r>
              <a:rPr sz="1200" spc="260" dirty="0">
                <a:latin typeface="Times New Roman"/>
                <a:cs typeface="Times New Roman"/>
              </a:rPr>
              <a:t> </a:t>
            </a:r>
            <a:r>
              <a:rPr sz="1200" dirty="0">
                <a:latin typeface="Times New Roman"/>
                <a:cs typeface="Times New Roman"/>
              </a:rPr>
              <a:t>Winter</a:t>
            </a:r>
            <a:r>
              <a:rPr sz="1200" spc="240" dirty="0">
                <a:latin typeface="Times New Roman"/>
                <a:cs typeface="Times New Roman"/>
              </a:rPr>
              <a:t> </a:t>
            </a:r>
            <a:r>
              <a:rPr sz="1200" dirty="0">
                <a:latin typeface="Times New Roman"/>
                <a:cs typeface="Times New Roman"/>
              </a:rPr>
              <a:t>samples</a:t>
            </a:r>
            <a:r>
              <a:rPr sz="1200" spc="285" dirty="0">
                <a:latin typeface="Times New Roman"/>
                <a:cs typeface="Times New Roman"/>
              </a:rPr>
              <a:t> </a:t>
            </a:r>
            <a:r>
              <a:rPr sz="1200" spc="-10" dirty="0">
                <a:latin typeface="Times New Roman"/>
                <a:cs typeface="Times New Roman"/>
              </a:rPr>
              <a:t>exhibit </a:t>
            </a:r>
            <a:r>
              <a:rPr sz="1200" dirty="0">
                <a:latin typeface="Times New Roman"/>
                <a:cs typeface="Times New Roman"/>
              </a:rPr>
              <a:t>dormancy</a:t>
            </a:r>
            <a:r>
              <a:rPr sz="1200" spc="135" dirty="0">
                <a:latin typeface="Times New Roman"/>
                <a:cs typeface="Times New Roman"/>
              </a:rPr>
              <a:t> </a:t>
            </a:r>
            <a:r>
              <a:rPr sz="1200" dirty="0">
                <a:latin typeface="Times New Roman"/>
                <a:cs typeface="Times New Roman"/>
              </a:rPr>
              <a:t>and</a:t>
            </a:r>
            <a:r>
              <a:rPr sz="1200" spc="140" dirty="0">
                <a:latin typeface="Times New Roman"/>
                <a:cs typeface="Times New Roman"/>
              </a:rPr>
              <a:t> </a:t>
            </a:r>
            <a:r>
              <a:rPr sz="1200" dirty="0">
                <a:latin typeface="Times New Roman"/>
                <a:cs typeface="Times New Roman"/>
              </a:rPr>
              <a:t>epidermal</a:t>
            </a:r>
            <a:r>
              <a:rPr sz="1200" spc="150" dirty="0">
                <a:latin typeface="Times New Roman"/>
                <a:cs typeface="Times New Roman"/>
              </a:rPr>
              <a:t> </a:t>
            </a:r>
            <a:r>
              <a:rPr sz="1200" dirty="0">
                <a:latin typeface="Times New Roman"/>
                <a:cs typeface="Times New Roman"/>
              </a:rPr>
              <a:t>hardening.</a:t>
            </a:r>
            <a:r>
              <a:rPr sz="1200" spc="135" dirty="0">
                <a:latin typeface="Times New Roman"/>
                <a:cs typeface="Times New Roman"/>
              </a:rPr>
              <a:t> </a:t>
            </a:r>
            <a:r>
              <a:rPr sz="1200" dirty="0">
                <a:latin typeface="Times New Roman"/>
                <a:cs typeface="Times New Roman"/>
              </a:rPr>
              <a:t>Proteomic</a:t>
            </a:r>
            <a:r>
              <a:rPr sz="1200" spc="114" dirty="0">
                <a:latin typeface="Times New Roman"/>
                <a:cs typeface="Times New Roman"/>
              </a:rPr>
              <a:t> </a:t>
            </a:r>
            <a:r>
              <a:rPr sz="1200" dirty="0">
                <a:latin typeface="Times New Roman"/>
                <a:cs typeface="Times New Roman"/>
              </a:rPr>
              <a:t>analysis</a:t>
            </a:r>
            <a:r>
              <a:rPr sz="1200" spc="160" dirty="0">
                <a:latin typeface="Times New Roman"/>
                <a:cs typeface="Times New Roman"/>
              </a:rPr>
              <a:t> </a:t>
            </a:r>
            <a:r>
              <a:rPr sz="1200" dirty="0">
                <a:latin typeface="Times New Roman"/>
                <a:cs typeface="Times New Roman"/>
              </a:rPr>
              <a:t>was</a:t>
            </a:r>
            <a:r>
              <a:rPr sz="1200" spc="140" dirty="0">
                <a:latin typeface="Times New Roman"/>
                <a:cs typeface="Times New Roman"/>
              </a:rPr>
              <a:t> </a:t>
            </a:r>
            <a:r>
              <a:rPr sz="1200" dirty="0">
                <a:latin typeface="Times New Roman"/>
                <a:cs typeface="Times New Roman"/>
              </a:rPr>
              <a:t>restricted</a:t>
            </a:r>
            <a:r>
              <a:rPr sz="1200" spc="160" dirty="0">
                <a:latin typeface="Times New Roman"/>
                <a:cs typeface="Times New Roman"/>
              </a:rPr>
              <a:t> </a:t>
            </a:r>
            <a:r>
              <a:rPr sz="1200" dirty="0">
                <a:latin typeface="Times New Roman"/>
                <a:cs typeface="Times New Roman"/>
              </a:rPr>
              <a:t>to</a:t>
            </a:r>
            <a:r>
              <a:rPr sz="1200" spc="145" dirty="0">
                <a:latin typeface="Times New Roman"/>
                <a:cs typeface="Times New Roman"/>
              </a:rPr>
              <a:t> </a:t>
            </a:r>
            <a:r>
              <a:rPr sz="1200" dirty="0">
                <a:latin typeface="Times New Roman"/>
                <a:cs typeface="Times New Roman"/>
              </a:rPr>
              <a:t>mid-section</a:t>
            </a:r>
            <a:r>
              <a:rPr sz="1200" spc="155" dirty="0">
                <a:latin typeface="Times New Roman"/>
                <a:cs typeface="Times New Roman"/>
              </a:rPr>
              <a:t> </a:t>
            </a:r>
            <a:r>
              <a:rPr sz="1200" dirty="0">
                <a:latin typeface="Times New Roman"/>
                <a:cs typeface="Times New Roman"/>
              </a:rPr>
              <a:t>of</a:t>
            </a:r>
            <a:r>
              <a:rPr sz="1200" spc="150" dirty="0">
                <a:latin typeface="Times New Roman"/>
                <a:cs typeface="Times New Roman"/>
              </a:rPr>
              <a:t> </a:t>
            </a:r>
            <a:r>
              <a:rPr sz="1200" dirty="0">
                <a:latin typeface="Times New Roman"/>
                <a:cs typeface="Times New Roman"/>
              </a:rPr>
              <a:t>these</a:t>
            </a:r>
            <a:r>
              <a:rPr sz="1200" spc="135" dirty="0">
                <a:latin typeface="Times New Roman"/>
                <a:cs typeface="Times New Roman"/>
              </a:rPr>
              <a:t> </a:t>
            </a:r>
            <a:r>
              <a:rPr sz="1200" dirty="0">
                <a:latin typeface="Times New Roman"/>
                <a:cs typeface="Times New Roman"/>
              </a:rPr>
              <a:t>storage</a:t>
            </a:r>
            <a:r>
              <a:rPr sz="1200" spc="110" dirty="0">
                <a:latin typeface="Times New Roman"/>
                <a:cs typeface="Times New Roman"/>
              </a:rPr>
              <a:t> </a:t>
            </a:r>
            <a:r>
              <a:rPr sz="1200" dirty="0">
                <a:latin typeface="Times New Roman"/>
                <a:cs typeface="Times New Roman"/>
              </a:rPr>
              <a:t>organs.</a:t>
            </a:r>
            <a:r>
              <a:rPr sz="1200" spc="135" dirty="0">
                <a:latin typeface="Times New Roman"/>
                <a:cs typeface="Times New Roman"/>
              </a:rPr>
              <a:t> </a:t>
            </a:r>
            <a:r>
              <a:rPr sz="1200" dirty="0">
                <a:latin typeface="Times New Roman"/>
                <a:cs typeface="Times New Roman"/>
              </a:rPr>
              <a:t>Scale</a:t>
            </a:r>
            <a:r>
              <a:rPr sz="1200" spc="180" dirty="0">
                <a:latin typeface="Times New Roman"/>
                <a:cs typeface="Times New Roman"/>
              </a:rPr>
              <a:t> </a:t>
            </a:r>
            <a:r>
              <a:rPr sz="1200" dirty="0">
                <a:latin typeface="Times New Roman"/>
                <a:cs typeface="Times New Roman"/>
              </a:rPr>
              <a:t>bars</a:t>
            </a:r>
            <a:r>
              <a:rPr sz="1200" spc="180" dirty="0">
                <a:latin typeface="Times New Roman"/>
                <a:cs typeface="Times New Roman"/>
              </a:rPr>
              <a:t> </a:t>
            </a:r>
            <a:r>
              <a:rPr sz="1200" dirty="0">
                <a:latin typeface="Times New Roman"/>
                <a:cs typeface="Times New Roman"/>
              </a:rPr>
              <a:t>represent</a:t>
            </a:r>
            <a:r>
              <a:rPr sz="1200" spc="110" dirty="0">
                <a:latin typeface="Times New Roman"/>
                <a:cs typeface="Times New Roman"/>
              </a:rPr>
              <a:t> </a:t>
            </a:r>
            <a:r>
              <a:rPr sz="1200" dirty="0">
                <a:latin typeface="Times New Roman"/>
                <a:cs typeface="Times New Roman"/>
              </a:rPr>
              <a:t>approx.</a:t>
            </a:r>
            <a:r>
              <a:rPr sz="1200" spc="140" dirty="0">
                <a:latin typeface="Times New Roman"/>
                <a:cs typeface="Times New Roman"/>
              </a:rPr>
              <a:t> </a:t>
            </a:r>
            <a:r>
              <a:rPr sz="1200" dirty="0">
                <a:latin typeface="Times New Roman"/>
                <a:cs typeface="Times New Roman"/>
              </a:rPr>
              <a:t>1</a:t>
            </a:r>
            <a:r>
              <a:rPr sz="1200" spc="140" dirty="0">
                <a:latin typeface="Times New Roman"/>
                <a:cs typeface="Times New Roman"/>
              </a:rPr>
              <a:t> </a:t>
            </a:r>
            <a:r>
              <a:rPr sz="1200" spc="-25" dirty="0">
                <a:latin typeface="Times New Roman"/>
                <a:cs typeface="Times New Roman"/>
              </a:rPr>
              <a:t>cm.</a:t>
            </a:r>
            <a:endParaRPr sz="1200" dirty="0">
              <a:latin typeface="Times New Roman"/>
              <a:cs typeface="Times New Roman"/>
            </a:endParaRPr>
          </a:p>
        </p:txBody>
      </p:sp>
      <p:sp>
        <p:nvSpPr>
          <p:cNvPr id="52" name="object 52"/>
          <p:cNvSpPr txBox="1"/>
          <p:nvPr/>
        </p:nvSpPr>
        <p:spPr>
          <a:xfrm>
            <a:off x="4653160" y="1906654"/>
            <a:ext cx="143510" cy="97155"/>
          </a:xfrm>
          <a:prstGeom prst="rect">
            <a:avLst/>
          </a:prstGeom>
        </p:spPr>
        <p:txBody>
          <a:bodyPr vert="horz" wrap="square" lIns="0" tIns="14604" rIns="0" bIns="0" rtlCol="0">
            <a:spAutoFit/>
          </a:bodyPr>
          <a:lstStyle/>
          <a:p>
            <a:pPr marL="12700">
              <a:lnSpc>
                <a:spcPct val="100000"/>
              </a:lnSpc>
              <a:spcBef>
                <a:spcPts val="114"/>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53" name="object 53"/>
          <p:cNvSpPr txBox="1"/>
          <p:nvPr/>
        </p:nvSpPr>
        <p:spPr>
          <a:xfrm>
            <a:off x="471102" y="1913311"/>
            <a:ext cx="143510" cy="97155"/>
          </a:xfrm>
          <a:prstGeom prst="rect">
            <a:avLst/>
          </a:prstGeom>
        </p:spPr>
        <p:txBody>
          <a:bodyPr vert="horz" wrap="square" lIns="0" tIns="15240" rIns="0" bIns="0" rtlCol="0">
            <a:spAutoFit/>
          </a:bodyPr>
          <a:lstStyle/>
          <a:p>
            <a:pPr marL="12700">
              <a:lnSpc>
                <a:spcPct val="100000"/>
              </a:lnSpc>
              <a:spcBef>
                <a:spcPts val="120"/>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54" name="object 54"/>
          <p:cNvSpPr txBox="1"/>
          <p:nvPr/>
        </p:nvSpPr>
        <p:spPr>
          <a:xfrm>
            <a:off x="2965726" y="1917388"/>
            <a:ext cx="143510" cy="97155"/>
          </a:xfrm>
          <a:prstGeom prst="rect">
            <a:avLst/>
          </a:prstGeom>
        </p:spPr>
        <p:txBody>
          <a:bodyPr vert="horz" wrap="square" lIns="0" tIns="14604" rIns="0" bIns="0" rtlCol="0">
            <a:spAutoFit/>
          </a:bodyPr>
          <a:lstStyle/>
          <a:p>
            <a:pPr marL="12700">
              <a:lnSpc>
                <a:spcPct val="100000"/>
              </a:lnSpc>
              <a:spcBef>
                <a:spcPts val="114"/>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55" name="object 55"/>
          <p:cNvSpPr txBox="1"/>
          <p:nvPr/>
        </p:nvSpPr>
        <p:spPr>
          <a:xfrm>
            <a:off x="6045611" y="1918472"/>
            <a:ext cx="143510" cy="97155"/>
          </a:xfrm>
          <a:prstGeom prst="rect">
            <a:avLst/>
          </a:prstGeom>
        </p:spPr>
        <p:txBody>
          <a:bodyPr vert="horz" wrap="square" lIns="0" tIns="15240" rIns="0" bIns="0" rtlCol="0">
            <a:spAutoFit/>
          </a:bodyPr>
          <a:lstStyle/>
          <a:p>
            <a:pPr marL="12700">
              <a:lnSpc>
                <a:spcPct val="100000"/>
              </a:lnSpc>
              <a:spcBef>
                <a:spcPts val="120"/>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56" name="object 56"/>
          <p:cNvSpPr txBox="1"/>
          <p:nvPr/>
        </p:nvSpPr>
        <p:spPr>
          <a:xfrm>
            <a:off x="6621953" y="1913311"/>
            <a:ext cx="143510" cy="97155"/>
          </a:xfrm>
          <a:prstGeom prst="rect">
            <a:avLst/>
          </a:prstGeom>
        </p:spPr>
        <p:txBody>
          <a:bodyPr vert="horz" wrap="square" lIns="0" tIns="15240" rIns="0" bIns="0" rtlCol="0">
            <a:spAutoFit/>
          </a:bodyPr>
          <a:lstStyle/>
          <a:p>
            <a:pPr marL="12700">
              <a:lnSpc>
                <a:spcPct val="100000"/>
              </a:lnSpc>
              <a:spcBef>
                <a:spcPts val="120"/>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57" name="object 57"/>
          <p:cNvSpPr txBox="1"/>
          <p:nvPr/>
        </p:nvSpPr>
        <p:spPr>
          <a:xfrm>
            <a:off x="8020081" y="1925336"/>
            <a:ext cx="143510" cy="97155"/>
          </a:xfrm>
          <a:prstGeom prst="rect">
            <a:avLst/>
          </a:prstGeom>
        </p:spPr>
        <p:txBody>
          <a:bodyPr vert="horz" wrap="square" lIns="0" tIns="14604" rIns="0" bIns="0" rtlCol="0">
            <a:spAutoFit/>
          </a:bodyPr>
          <a:lstStyle/>
          <a:p>
            <a:pPr marL="12700">
              <a:lnSpc>
                <a:spcPct val="100000"/>
              </a:lnSpc>
              <a:spcBef>
                <a:spcPts val="114"/>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58" name="object 58"/>
          <p:cNvSpPr txBox="1"/>
          <p:nvPr/>
        </p:nvSpPr>
        <p:spPr>
          <a:xfrm>
            <a:off x="7546023" y="2733289"/>
            <a:ext cx="143510" cy="97155"/>
          </a:xfrm>
          <a:prstGeom prst="rect">
            <a:avLst/>
          </a:prstGeom>
        </p:spPr>
        <p:txBody>
          <a:bodyPr vert="horz" wrap="square" lIns="0" tIns="14604" rIns="0" bIns="0" rtlCol="0">
            <a:spAutoFit/>
          </a:bodyPr>
          <a:lstStyle/>
          <a:p>
            <a:pPr marL="12700">
              <a:lnSpc>
                <a:spcPct val="100000"/>
              </a:lnSpc>
              <a:spcBef>
                <a:spcPts val="114"/>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59" name="object 59"/>
          <p:cNvSpPr txBox="1"/>
          <p:nvPr/>
        </p:nvSpPr>
        <p:spPr>
          <a:xfrm>
            <a:off x="2020395" y="4286753"/>
            <a:ext cx="143510" cy="97155"/>
          </a:xfrm>
          <a:prstGeom prst="rect">
            <a:avLst/>
          </a:prstGeom>
        </p:spPr>
        <p:txBody>
          <a:bodyPr vert="horz" wrap="square" lIns="0" tIns="14604" rIns="0" bIns="0" rtlCol="0">
            <a:spAutoFit/>
          </a:bodyPr>
          <a:lstStyle/>
          <a:p>
            <a:pPr marL="12700">
              <a:lnSpc>
                <a:spcPct val="100000"/>
              </a:lnSpc>
              <a:spcBef>
                <a:spcPts val="114"/>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60" name="object 60"/>
          <p:cNvSpPr txBox="1"/>
          <p:nvPr/>
        </p:nvSpPr>
        <p:spPr>
          <a:xfrm>
            <a:off x="4504326" y="4286753"/>
            <a:ext cx="143510" cy="97155"/>
          </a:xfrm>
          <a:prstGeom prst="rect">
            <a:avLst/>
          </a:prstGeom>
        </p:spPr>
        <p:txBody>
          <a:bodyPr vert="horz" wrap="square" lIns="0" tIns="14604" rIns="0" bIns="0" rtlCol="0">
            <a:spAutoFit/>
          </a:bodyPr>
          <a:lstStyle/>
          <a:p>
            <a:pPr marL="12700">
              <a:lnSpc>
                <a:spcPct val="100000"/>
              </a:lnSpc>
              <a:spcBef>
                <a:spcPts val="114"/>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61" name="object 61"/>
          <p:cNvSpPr/>
          <p:nvPr/>
        </p:nvSpPr>
        <p:spPr>
          <a:xfrm>
            <a:off x="1011304" y="1282218"/>
            <a:ext cx="62865" cy="106045"/>
          </a:xfrm>
          <a:custGeom>
            <a:avLst/>
            <a:gdLst/>
            <a:ahLst/>
            <a:cxnLst/>
            <a:rect l="l" t="t" r="r" b="b"/>
            <a:pathLst>
              <a:path w="62865" h="106044">
                <a:moveTo>
                  <a:pt x="26193" y="55340"/>
                </a:moveTo>
                <a:lnTo>
                  <a:pt x="5872" y="66469"/>
                </a:lnTo>
                <a:lnTo>
                  <a:pt x="62733" y="106000"/>
                </a:lnTo>
                <a:lnTo>
                  <a:pt x="61260" y="66469"/>
                </a:lnTo>
                <a:lnTo>
                  <a:pt x="61183" y="64405"/>
                </a:lnTo>
                <a:lnTo>
                  <a:pt x="31149" y="64405"/>
                </a:lnTo>
                <a:lnTo>
                  <a:pt x="26193" y="55340"/>
                </a:lnTo>
                <a:close/>
              </a:path>
              <a:path w="62865" h="106044">
                <a:moveTo>
                  <a:pt x="39800" y="47889"/>
                </a:moveTo>
                <a:lnTo>
                  <a:pt x="26193" y="55340"/>
                </a:lnTo>
                <a:lnTo>
                  <a:pt x="31149" y="64405"/>
                </a:lnTo>
                <a:lnTo>
                  <a:pt x="44773" y="56973"/>
                </a:lnTo>
                <a:lnTo>
                  <a:pt x="39800" y="47889"/>
                </a:lnTo>
                <a:close/>
              </a:path>
              <a:path w="62865" h="106044">
                <a:moveTo>
                  <a:pt x="60152" y="36743"/>
                </a:moveTo>
                <a:lnTo>
                  <a:pt x="39800" y="47889"/>
                </a:lnTo>
                <a:lnTo>
                  <a:pt x="44773" y="56973"/>
                </a:lnTo>
                <a:lnTo>
                  <a:pt x="31149" y="64405"/>
                </a:lnTo>
                <a:lnTo>
                  <a:pt x="61183" y="64405"/>
                </a:lnTo>
                <a:lnTo>
                  <a:pt x="60152" y="36743"/>
                </a:lnTo>
                <a:close/>
              </a:path>
              <a:path w="62865" h="106044">
                <a:moveTo>
                  <a:pt x="13582" y="0"/>
                </a:moveTo>
                <a:lnTo>
                  <a:pt x="0" y="7431"/>
                </a:lnTo>
                <a:lnTo>
                  <a:pt x="26193" y="55340"/>
                </a:lnTo>
                <a:lnTo>
                  <a:pt x="39800" y="47889"/>
                </a:lnTo>
                <a:lnTo>
                  <a:pt x="13582" y="0"/>
                </a:lnTo>
                <a:close/>
              </a:path>
            </a:pathLst>
          </a:custGeom>
          <a:solidFill>
            <a:srgbClr val="FFFFFF"/>
          </a:solidFill>
        </p:spPr>
        <p:txBody>
          <a:bodyPr wrap="square" lIns="0" tIns="0" rIns="0" bIns="0" rtlCol="0"/>
          <a:lstStyle/>
          <a:p>
            <a:endParaRPr/>
          </a:p>
        </p:txBody>
      </p:sp>
      <p:sp>
        <p:nvSpPr>
          <p:cNvPr id="62" name="object 62"/>
          <p:cNvSpPr/>
          <p:nvPr/>
        </p:nvSpPr>
        <p:spPr>
          <a:xfrm>
            <a:off x="3760679" y="1144738"/>
            <a:ext cx="58419" cy="108585"/>
          </a:xfrm>
          <a:custGeom>
            <a:avLst/>
            <a:gdLst/>
            <a:ahLst/>
            <a:cxnLst/>
            <a:rect l="l" t="t" r="r" b="b"/>
            <a:pathLst>
              <a:path w="58420" h="108584">
                <a:moveTo>
                  <a:pt x="23495" y="52472"/>
                </a:moveTo>
                <a:lnTo>
                  <a:pt x="0" y="101458"/>
                </a:lnTo>
                <a:lnTo>
                  <a:pt x="14037" y="108167"/>
                </a:lnTo>
                <a:lnTo>
                  <a:pt x="37448" y="59177"/>
                </a:lnTo>
                <a:lnTo>
                  <a:pt x="23495" y="52472"/>
                </a:lnTo>
                <a:close/>
              </a:path>
              <a:path w="58420" h="108584">
                <a:moveTo>
                  <a:pt x="57990" y="43143"/>
                </a:moveTo>
                <a:lnTo>
                  <a:pt x="27970" y="43143"/>
                </a:lnTo>
                <a:lnTo>
                  <a:pt x="41904" y="49852"/>
                </a:lnTo>
                <a:lnTo>
                  <a:pt x="37448" y="59177"/>
                </a:lnTo>
                <a:lnTo>
                  <a:pt x="58418" y="69256"/>
                </a:lnTo>
                <a:lnTo>
                  <a:pt x="58253" y="59177"/>
                </a:lnTo>
                <a:lnTo>
                  <a:pt x="58143" y="52472"/>
                </a:lnTo>
                <a:lnTo>
                  <a:pt x="58100" y="49852"/>
                </a:lnTo>
                <a:lnTo>
                  <a:pt x="57990" y="43143"/>
                </a:lnTo>
                <a:close/>
              </a:path>
              <a:path w="58420" h="108584">
                <a:moveTo>
                  <a:pt x="27970" y="43143"/>
                </a:moveTo>
                <a:lnTo>
                  <a:pt x="23495" y="52472"/>
                </a:lnTo>
                <a:lnTo>
                  <a:pt x="37448" y="59177"/>
                </a:lnTo>
                <a:lnTo>
                  <a:pt x="41904" y="49852"/>
                </a:lnTo>
                <a:lnTo>
                  <a:pt x="27970" y="43143"/>
                </a:lnTo>
                <a:close/>
              </a:path>
              <a:path w="58420" h="108584">
                <a:moveTo>
                  <a:pt x="57283" y="0"/>
                </a:moveTo>
                <a:lnTo>
                  <a:pt x="2580" y="42420"/>
                </a:lnTo>
                <a:lnTo>
                  <a:pt x="23495" y="52472"/>
                </a:lnTo>
                <a:lnTo>
                  <a:pt x="27970" y="43143"/>
                </a:lnTo>
                <a:lnTo>
                  <a:pt x="57990" y="43143"/>
                </a:lnTo>
                <a:lnTo>
                  <a:pt x="57283" y="0"/>
                </a:lnTo>
                <a:close/>
              </a:path>
            </a:pathLst>
          </a:custGeom>
          <a:solidFill>
            <a:srgbClr val="FFFFFF"/>
          </a:solidFill>
        </p:spPr>
        <p:txBody>
          <a:bodyPr wrap="square" lIns="0" tIns="0" rIns="0" bIns="0" rtlCol="0"/>
          <a:lstStyle/>
          <a:p>
            <a:endParaRPr/>
          </a:p>
        </p:txBody>
      </p:sp>
      <p:pic>
        <p:nvPicPr>
          <p:cNvPr id="63" name="object 63"/>
          <p:cNvPicPr/>
          <p:nvPr/>
        </p:nvPicPr>
        <p:blipFill>
          <a:blip r:embed="rId13" cstate="print"/>
          <a:stretch>
            <a:fillRect/>
          </a:stretch>
        </p:blipFill>
        <p:spPr>
          <a:xfrm>
            <a:off x="5789027" y="1724487"/>
            <a:ext cx="76790" cy="92066"/>
          </a:xfrm>
          <a:prstGeom prst="rect">
            <a:avLst/>
          </a:prstGeom>
        </p:spPr>
      </p:pic>
      <p:sp>
        <p:nvSpPr>
          <p:cNvPr id="64" name="object 64"/>
          <p:cNvSpPr/>
          <p:nvPr/>
        </p:nvSpPr>
        <p:spPr>
          <a:xfrm>
            <a:off x="7140295" y="891969"/>
            <a:ext cx="62230" cy="105410"/>
          </a:xfrm>
          <a:custGeom>
            <a:avLst/>
            <a:gdLst/>
            <a:ahLst/>
            <a:cxnLst/>
            <a:rect l="l" t="t" r="r" b="b"/>
            <a:pathLst>
              <a:path w="62229" h="105409">
                <a:moveTo>
                  <a:pt x="38704" y="51606"/>
                </a:moveTo>
                <a:lnTo>
                  <a:pt x="23222" y="51606"/>
                </a:lnTo>
                <a:lnTo>
                  <a:pt x="23222" y="104864"/>
                </a:lnTo>
                <a:lnTo>
                  <a:pt x="38704" y="104864"/>
                </a:lnTo>
                <a:lnTo>
                  <a:pt x="38704" y="51606"/>
                </a:lnTo>
                <a:close/>
              </a:path>
              <a:path w="62229" h="105409">
                <a:moveTo>
                  <a:pt x="30963" y="0"/>
                </a:moveTo>
                <a:lnTo>
                  <a:pt x="0" y="61927"/>
                </a:lnTo>
                <a:lnTo>
                  <a:pt x="23222" y="61927"/>
                </a:lnTo>
                <a:lnTo>
                  <a:pt x="23222" y="51606"/>
                </a:lnTo>
                <a:lnTo>
                  <a:pt x="56767" y="51606"/>
                </a:lnTo>
                <a:lnTo>
                  <a:pt x="30963" y="0"/>
                </a:lnTo>
                <a:close/>
              </a:path>
              <a:path w="62229" h="105409">
                <a:moveTo>
                  <a:pt x="56767" y="51606"/>
                </a:moveTo>
                <a:lnTo>
                  <a:pt x="38704" y="51606"/>
                </a:lnTo>
                <a:lnTo>
                  <a:pt x="38704" y="61927"/>
                </a:lnTo>
                <a:lnTo>
                  <a:pt x="61927" y="61927"/>
                </a:lnTo>
                <a:lnTo>
                  <a:pt x="56767" y="51606"/>
                </a:lnTo>
                <a:close/>
              </a:path>
            </a:pathLst>
          </a:custGeom>
          <a:solidFill>
            <a:srgbClr val="FFFFFF"/>
          </a:solidFill>
        </p:spPr>
        <p:txBody>
          <a:bodyPr wrap="square" lIns="0" tIns="0" rIns="0" bIns="0" rtlCol="0"/>
          <a:lstStyle/>
          <a:p>
            <a:endParaRPr/>
          </a:p>
        </p:txBody>
      </p:sp>
      <p:pic>
        <p:nvPicPr>
          <p:cNvPr id="65" name="object 65"/>
          <p:cNvPicPr/>
          <p:nvPr/>
        </p:nvPicPr>
        <p:blipFill>
          <a:blip r:embed="rId14" cstate="print"/>
          <a:stretch>
            <a:fillRect/>
          </a:stretch>
        </p:blipFill>
        <p:spPr>
          <a:xfrm>
            <a:off x="8932491" y="1285934"/>
            <a:ext cx="72042" cy="106516"/>
          </a:xfrm>
          <a:prstGeom prst="rect">
            <a:avLst/>
          </a:prstGeom>
        </p:spPr>
      </p:pic>
      <p:pic>
        <p:nvPicPr>
          <p:cNvPr id="66" name="object 66"/>
          <p:cNvPicPr/>
          <p:nvPr/>
        </p:nvPicPr>
        <p:blipFill>
          <a:blip r:embed="rId15" cstate="print"/>
          <a:stretch>
            <a:fillRect/>
          </a:stretch>
        </p:blipFill>
        <p:spPr>
          <a:xfrm>
            <a:off x="7277053" y="4006534"/>
            <a:ext cx="81538" cy="85563"/>
          </a:xfrm>
          <a:prstGeom prst="rect">
            <a:avLst/>
          </a:prstGeom>
        </p:spPr>
      </p:pic>
      <p:pic>
        <p:nvPicPr>
          <p:cNvPr id="67" name="object 67"/>
          <p:cNvPicPr/>
          <p:nvPr/>
        </p:nvPicPr>
        <p:blipFill>
          <a:blip r:embed="rId15" cstate="print"/>
          <a:stretch>
            <a:fillRect/>
          </a:stretch>
        </p:blipFill>
        <p:spPr>
          <a:xfrm>
            <a:off x="3628257" y="4043690"/>
            <a:ext cx="81538" cy="85563"/>
          </a:xfrm>
          <a:prstGeom prst="rect">
            <a:avLst/>
          </a:prstGeom>
        </p:spPr>
      </p:pic>
      <p:pic>
        <p:nvPicPr>
          <p:cNvPr id="68" name="object 68"/>
          <p:cNvPicPr/>
          <p:nvPr/>
        </p:nvPicPr>
        <p:blipFill>
          <a:blip r:embed="rId16" cstate="print"/>
          <a:stretch>
            <a:fillRect/>
          </a:stretch>
        </p:blipFill>
        <p:spPr>
          <a:xfrm>
            <a:off x="2994837" y="3724038"/>
            <a:ext cx="84325" cy="9392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1905</TotalTime>
  <Words>2084</Words>
  <Application>Microsoft Macintosh PowerPoint</Application>
  <PresentationFormat>A4 Paper (210x297 mm)</PresentationFormat>
  <Paragraphs>322</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Calibri</vt:lpstr>
      <vt:lpstr>Helvetica</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Elad Oren</cp:lastModifiedBy>
  <cp:revision>1</cp:revision>
  <dcterms:created xsi:type="dcterms:W3CDTF">2026-01-30T17:19:25Z</dcterms:created>
  <dcterms:modified xsi:type="dcterms:W3CDTF">2026-02-06T20:10:14Z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2025-04-27T00:00:00Z</vt:filetime>
  </property>
  <property fmtid="{D5CDD505-2E9C-101B-9397-08002B2CF9AE}" pid="3" name="LastSaved">
    <vt:filetime>2026-01-30T00:00:00Z</vt:filetime>
  </property>
  <property fmtid="{D5CDD505-2E9C-101B-9397-08002B2CF9AE}" pid="4" name="Producer">
    <vt:lpwstr>macOS Version 15.4.1 (Build 24E263) Quartz PDFContext</vt:lpwstr>
  </property>
</Properties>
</file>