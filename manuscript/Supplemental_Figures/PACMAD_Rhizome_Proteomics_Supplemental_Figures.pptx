
<file path=[Content_Types].xml><?xml version="1.0" encoding="utf-8"?>
<Types xmlns="http://schemas.openxmlformats.org/package/2006/content-types">
  <Default Extension="emf" ContentType="image/x-emf"/>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62" r:id="rId2"/>
    <p:sldId id="256" r:id="rId3"/>
    <p:sldId id="260" r:id="rId4"/>
    <p:sldId id="263" r:id="rId5"/>
    <p:sldId id="264" r:id="rId6"/>
    <p:sldId id="257" r:id="rId7"/>
    <p:sldId id="258" r:id="rId8"/>
    <p:sldId id="259" r:id="rId9"/>
    <p:sldId id="261" r:id="rId10"/>
  </p:sldIdLst>
  <p:sldSz cx="9906000" cy="6858000" type="A4"/>
  <p:notesSz cx="9906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3E0F3B-B79D-2444-8020-464DAEAA3BEE}" v="68" dt="2026-02-09T19:39:40.591"/>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1"/>
    <p:restoredTop sz="93638"/>
  </p:normalViewPr>
  <p:slideViewPr>
    <p:cSldViewPr>
      <p:cViewPr>
        <p:scale>
          <a:sx n="105" d="100"/>
          <a:sy n="105" d="100"/>
        </p:scale>
        <p:origin x="1784" y="360"/>
      </p:cViewPr>
      <p:guideLst>
        <p:guide orient="horz" pos="2880"/>
        <p:guide pos="2160"/>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ad Oren" userId="211a55de1c355a5b" providerId="LiveId" clId="{D82687A4-6243-5AE4-AB01-541924923F2E}"/>
    <pc:docChg chg="undo redo custSel addSld modSld sldOrd">
      <pc:chgData name="Elad Oren" userId="211a55de1c355a5b" providerId="LiveId" clId="{D82687A4-6243-5AE4-AB01-541924923F2E}" dt="2026-02-09T19:51:34.363" v="761" actId="20577"/>
      <pc:docMkLst>
        <pc:docMk/>
      </pc:docMkLst>
      <pc:sldChg chg="addSp delSp modSp mod">
        <pc:chgData name="Elad Oren" userId="211a55de1c355a5b" providerId="LiveId" clId="{D82687A4-6243-5AE4-AB01-541924923F2E}" dt="2026-02-09T19:15:16.586" v="631" actId="20577"/>
        <pc:sldMkLst>
          <pc:docMk/>
          <pc:sldMk cId="0" sldId="256"/>
        </pc:sldMkLst>
        <pc:spChg chg="mod">
          <ac:chgData name="Elad Oren" userId="211a55de1c355a5b" providerId="LiveId" clId="{D82687A4-6243-5AE4-AB01-541924923F2E}" dt="2026-02-09T18:13:45.446" v="576" actId="20577"/>
          <ac:spMkLst>
            <pc:docMk/>
            <pc:sldMk cId="0" sldId="256"/>
            <ac:spMk id="32" creationId="{00000000-0000-0000-0000-000000000000}"/>
          </ac:spMkLst>
        </pc:spChg>
        <pc:spChg chg="mod">
          <ac:chgData name="Elad Oren" userId="211a55de1c355a5b" providerId="LiveId" clId="{D82687A4-6243-5AE4-AB01-541924923F2E}" dt="2026-02-09T19:15:16.586" v="631" actId="20577"/>
          <ac:spMkLst>
            <pc:docMk/>
            <pc:sldMk cId="0" sldId="256"/>
            <ac:spMk id="121" creationId="{00000000-0000-0000-0000-000000000000}"/>
          </ac:spMkLst>
        </pc:spChg>
        <pc:grpChg chg="add del mod">
          <ac:chgData name="Elad Oren" userId="211a55de1c355a5b" providerId="LiveId" clId="{D82687A4-6243-5AE4-AB01-541924923F2E}" dt="2026-02-09T19:14:45.780" v="614" actId="478"/>
          <ac:grpSpMkLst>
            <pc:docMk/>
            <pc:sldMk cId="0" sldId="256"/>
            <ac:grpSpMk id="124" creationId="{4DBF8883-7977-5B32-C3AC-409D303C6120}"/>
          </ac:grpSpMkLst>
        </pc:grpChg>
        <pc:picChg chg="add del mod">
          <ac:chgData name="Elad Oren" userId="211a55de1c355a5b" providerId="LiveId" clId="{D82687A4-6243-5AE4-AB01-541924923F2E}" dt="2026-02-09T19:14:45.780" v="614" actId="478"/>
          <ac:picMkLst>
            <pc:docMk/>
            <pc:sldMk cId="0" sldId="256"/>
            <ac:picMk id="122" creationId="{18D8B80E-5C25-23E5-7599-72E348C3B357}"/>
          </ac:picMkLst>
        </pc:picChg>
        <pc:picChg chg="add mod">
          <ac:chgData name="Elad Oren" userId="211a55de1c355a5b" providerId="LiveId" clId="{D82687A4-6243-5AE4-AB01-541924923F2E}" dt="2026-02-09T19:15:05.581" v="627" actId="1035"/>
          <ac:picMkLst>
            <pc:docMk/>
            <pc:sldMk cId="0" sldId="256"/>
            <ac:picMk id="125" creationId="{D3314E79-BD53-6181-EBF9-EFFD1FD6D014}"/>
          </ac:picMkLst>
        </pc:picChg>
      </pc:sldChg>
      <pc:sldChg chg="addSp delSp modSp mod ord">
        <pc:chgData name="Elad Oren" userId="211a55de1c355a5b" providerId="LiveId" clId="{D82687A4-6243-5AE4-AB01-541924923F2E}" dt="2026-02-09T19:32:54.737" v="670" actId="20577"/>
        <pc:sldMkLst>
          <pc:docMk/>
          <pc:sldMk cId="0" sldId="257"/>
        </pc:sldMkLst>
        <pc:spChg chg="mod">
          <ac:chgData name="Elad Oren" userId="211a55de1c355a5b" providerId="LiveId" clId="{D82687A4-6243-5AE4-AB01-541924923F2E}" dt="2026-02-09T19:32:54.737" v="670" actId="20577"/>
          <ac:spMkLst>
            <pc:docMk/>
            <pc:sldMk cId="0" sldId="257"/>
            <ac:spMk id="2" creationId="{00000000-0000-0000-0000-000000000000}"/>
          </ac:spMkLst>
        </pc:spChg>
        <pc:spChg chg="del">
          <ac:chgData name="Elad Oren" userId="211a55de1c355a5b" providerId="LiveId" clId="{D82687A4-6243-5AE4-AB01-541924923F2E}" dt="2026-02-09T19:30:05.554" v="653" actId="478"/>
          <ac:spMkLst>
            <pc:docMk/>
            <pc:sldMk cId="0" sldId="257"/>
            <ac:spMk id="65" creationId="{00000000-0000-0000-0000-000000000000}"/>
          </ac:spMkLst>
        </pc:spChg>
        <pc:spChg chg="del">
          <ac:chgData name="Elad Oren" userId="211a55de1c355a5b" providerId="LiveId" clId="{D82687A4-6243-5AE4-AB01-541924923F2E}" dt="2026-02-09T19:30:05.554" v="653" actId="478"/>
          <ac:spMkLst>
            <pc:docMk/>
            <pc:sldMk cId="0" sldId="257"/>
            <ac:spMk id="69" creationId="{00000000-0000-0000-0000-000000000000}"/>
          </ac:spMkLst>
        </pc:spChg>
        <pc:spChg chg="del">
          <ac:chgData name="Elad Oren" userId="211a55de1c355a5b" providerId="LiveId" clId="{D82687A4-6243-5AE4-AB01-541924923F2E}" dt="2026-02-09T19:30:05.554" v="653" actId="478"/>
          <ac:spMkLst>
            <pc:docMk/>
            <pc:sldMk cId="0" sldId="257"/>
            <ac:spMk id="73" creationId="{00000000-0000-0000-0000-000000000000}"/>
          </ac:spMkLst>
        </pc:spChg>
        <pc:spChg chg="del">
          <ac:chgData name="Elad Oren" userId="211a55de1c355a5b" providerId="LiveId" clId="{D82687A4-6243-5AE4-AB01-541924923F2E}" dt="2026-02-09T19:30:05.554" v="653" actId="478"/>
          <ac:spMkLst>
            <pc:docMk/>
            <pc:sldMk cId="0" sldId="257"/>
            <ac:spMk id="92" creationId="{00000000-0000-0000-0000-000000000000}"/>
          </ac:spMkLst>
        </pc:spChg>
        <pc:spChg chg="del">
          <ac:chgData name="Elad Oren" userId="211a55de1c355a5b" providerId="LiveId" clId="{D82687A4-6243-5AE4-AB01-541924923F2E}" dt="2026-02-09T19:30:05.554" v="653" actId="478"/>
          <ac:spMkLst>
            <pc:docMk/>
            <pc:sldMk cId="0" sldId="257"/>
            <ac:spMk id="100" creationId="{00000000-0000-0000-0000-000000000000}"/>
          </ac:spMkLst>
        </pc:spChg>
        <pc:spChg chg="del">
          <ac:chgData name="Elad Oren" userId="211a55de1c355a5b" providerId="LiveId" clId="{D82687A4-6243-5AE4-AB01-541924923F2E}" dt="2026-02-09T19:30:05.554" v="653" actId="478"/>
          <ac:spMkLst>
            <pc:docMk/>
            <pc:sldMk cId="0" sldId="257"/>
            <ac:spMk id="104" creationId="{00000000-0000-0000-0000-000000000000}"/>
          </ac:spMkLst>
        </pc:spChg>
        <pc:spChg chg="del">
          <ac:chgData name="Elad Oren" userId="211a55de1c355a5b" providerId="LiveId" clId="{D82687A4-6243-5AE4-AB01-541924923F2E}" dt="2026-02-09T19:30:05.554" v="653" actId="478"/>
          <ac:spMkLst>
            <pc:docMk/>
            <pc:sldMk cId="0" sldId="257"/>
            <ac:spMk id="127" creationId="{00000000-0000-0000-0000-000000000000}"/>
          </ac:spMkLst>
        </pc:spChg>
        <pc:spChg chg="del mod">
          <ac:chgData name="Elad Oren" userId="211a55de1c355a5b" providerId="LiveId" clId="{D82687A4-6243-5AE4-AB01-541924923F2E}" dt="2026-02-09T19:30:05.554" v="653" actId="478"/>
          <ac:spMkLst>
            <pc:docMk/>
            <pc:sldMk cId="0" sldId="257"/>
            <ac:spMk id="289" creationId="{00000000-0000-0000-0000-000000000000}"/>
          </ac:spMkLst>
        </pc:spChg>
        <pc:spChg chg="del">
          <ac:chgData name="Elad Oren" userId="211a55de1c355a5b" providerId="LiveId" clId="{D82687A4-6243-5AE4-AB01-541924923F2E}" dt="2026-02-09T19:30:05.554" v="653" actId="478"/>
          <ac:spMkLst>
            <pc:docMk/>
            <pc:sldMk cId="0" sldId="257"/>
            <ac:spMk id="342" creationId="{00000000-0000-0000-0000-000000000000}"/>
          </ac:spMkLst>
        </pc:spChg>
        <pc:spChg chg="del mod">
          <ac:chgData name="Elad Oren" userId="211a55de1c355a5b" providerId="LiveId" clId="{D82687A4-6243-5AE4-AB01-541924923F2E}" dt="2026-02-09T19:30:05.554" v="653" actId="478"/>
          <ac:spMkLst>
            <pc:docMk/>
            <pc:sldMk cId="0" sldId="257"/>
            <ac:spMk id="343" creationId="{00000000-0000-0000-0000-000000000000}"/>
          </ac:spMkLst>
        </pc:spChg>
        <pc:picChg chg="add del mod">
          <ac:chgData name="Elad Oren" userId="211a55de1c355a5b" providerId="LiveId" clId="{D82687A4-6243-5AE4-AB01-541924923F2E}" dt="2026-02-09T19:32:16.097" v="660" actId="478"/>
          <ac:picMkLst>
            <pc:docMk/>
            <pc:sldMk cId="0" sldId="257"/>
            <ac:picMk id="345" creationId="{97CC91F4-822A-2471-BA78-11C1F098787A}"/>
          </ac:picMkLst>
        </pc:picChg>
        <pc:picChg chg="add mod">
          <ac:chgData name="Elad Oren" userId="211a55de1c355a5b" providerId="LiveId" clId="{D82687A4-6243-5AE4-AB01-541924923F2E}" dt="2026-02-09T19:32:46.191" v="666" actId="12788"/>
          <ac:picMkLst>
            <pc:docMk/>
            <pc:sldMk cId="0" sldId="257"/>
            <ac:picMk id="347" creationId="{D1D568F8-F1EE-9EC7-8DB6-572D33253C2E}"/>
          </ac:picMkLst>
        </pc:picChg>
      </pc:sldChg>
      <pc:sldChg chg="addSp delSp modSp mod">
        <pc:chgData name="Elad Oren" userId="211a55de1c355a5b" providerId="LiveId" clId="{D82687A4-6243-5AE4-AB01-541924923F2E}" dt="2026-02-09T19:35:07.187" v="690" actId="20577"/>
        <pc:sldMkLst>
          <pc:docMk/>
          <pc:sldMk cId="0" sldId="258"/>
        </pc:sldMkLst>
        <pc:spChg chg="mod">
          <ac:chgData name="Elad Oren" userId="211a55de1c355a5b" providerId="LiveId" clId="{D82687A4-6243-5AE4-AB01-541924923F2E}" dt="2026-02-09T19:35:07.187" v="690" actId="20577"/>
          <ac:spMkLst>
            <pc:docMk/>
            <pc:sldMk cId="0" sldId="258"/>
            <ac:spMk id="3" creationId="{00000000-0000-0000-0000-000000000000}"/>
          </ac:spMkLst>
        </pc:spChg>
        <pc:picChg chg="del">
          <ac:chgData name="Elad Oren" userId="211a55de1c355a5b" providerId="LiveId" clId="{D82687A4-6243-5AE4-AB01-541924923F2E}" dt="2026-02-09T19:33:43.396" v="673" actId="478"/>
          <ac:picMkLst>
            <pc:docMk/>
            <pc:sldMk cId="0" sldId="258"/>
            <ac:picMk id="2" creationId="{00000000-0000-0000-0000-000000000000}"/>
          </ac:picMkLst>
        </pc:picChg>
        <pc:picChg chg="add mod modCrop">
          <ac:chgData name="Elad Oren" userId="211a55de1c355a5b" providerId="LiveId" clId="{D82687A4-6243-5AE4-AB01-541924923F2E}" dt="2026-02-09T19:34:45.123" v="680" actId="12788"/>
          <ac:picMkLst>
            <pc:docMk/>
            <pc:sldMk cId="0" sldId="258"/>
            <ac:picMk id="5" creationId="{2A9BD92F-0464-589F-49FD-DBABB468BEEA}"/>
          </ac:picMkLst>
        </pc:picChg>
      </pc:sldChg>
      <pc:sldChg chg="addSp delSp modSp mod">
        <pc:chgData name="Elad Oren" userId="211a55de1c355a5b" providerId="LiveId" clId="{D82687A4-6243-5AE4-AB01-541924923F2E}" dt="2026-02-09T19:50:10.496" v="757" actId="20577"/>
        <pc:sldMkLst>
          <pc:docMk/>
          <pc:sldMk cId="0" sldId="259"/>
        </pc:sldMkLst>
        <pc:spChg chg="del">
          <ac:chgData name="Elad Oren" userId="211a55de1c355a5b" providerId="LiveId" clId="{D82687A4-6243-5AE4-AB01-541924923F2E}" dt="2026-02-09T19:37:06.363" v="693" actId="478"/>
          <ac:spMkLst>
            <pc:docMk/>
            <pc:sldMk cId="0" sldId="259"/>
            <ac:spMk id="56" creationId="{00000000-0000-0000-0000-000000000000}"/>
          </ac:spMkLst>
        </pc:spChg>
        <pc:spChg chg="del">
          <ac:chgData name="Elad Oren" userId="211a55de1c355a5b" providerId="LiveId" clId="{D82687A4-6243-5AE4-AB01-541924923F2E}" dt="2026-02-09T19:37:06.363" v="693" actId="478"/>
          <ac:spMkLst>
            <pc:docMk/>
            <pc:sldMk cId="0" sldId="259"/>
            <ac:spMk id="86" creationId="{00000000-0000-0000-0000-000000000000}"/>
          </ac:spMkLst>
        </pc:spChg>
        <pc:spChg chg="del">
          <ac:chgData name="Elad Oren" userId="211a55de1c355a5b" providerId="LiveId" clId="{D82687A4-6243-5AE4-AB01-541924923F2E}" dt="2026-02-09T19:37:06.363" v="693" actId="478"/>
          <ac:spMkLst>
            <pc:docMk/>
            <pc:sldMk cId="0" sldId="259"/>
            <ac:spMk id="151" creationId="{00000000-0000-0000-0000-000000000000}"/>
          </ac:spMkLst>
        </pc:spChg>
        <pc:spChg chg="del">
          <ac:chgData name="Elad Oren" userId="211a55de1c355a5b" providerId="LiveId" clId="{D82687A4-6243-5AE4-AB01-541924923F2E}" dt="2026-02-09T19:37:06.363" v="693" actId="478"/>
          <ac:spMkLst>
            <pc:docMk/>
            <pc:sldMk cId="0" sldId="259"/>
            <ac:spMk id="189" creationId="{00000000-0000-0000-0000-000000000000}"/>
          </ac:spMkLst>
        </pc:spChg>
        <pc:spChg chg="del">
          <ac:chgData name="Elad Oren" userId="211a55de1c355a5b" providerId="LiveId" clId="{D82687A4-6243-5AE4-AB01-541924923F2E}" dt="2026-02-09T19:37:06.363" v="693" actId="478"/>
          <ac:spMkLst>
            <pc:docMk/>
            <pc:sldMk cId="0" sldId="259"/>
            <ac:spMk id="286" creationId="{00000000-0000-0000-0000-000000000000}"/>
          </ac:spMkLst>
        </pc:spChg>
        <pc:spChg chg="del">
          <ac:chgData name="Elad Oren" userId="211a55de1c355a5b" providerId="LiveId" clId="{D82687A4-6243-5AE4-AB01-541924923F2E}" dt="2026-02-09T19:37:06.363" v="693" actId="478"/>
          <ac:spMkLst>
            <pc:docMk/>
            <pc:sldMk cId="0" sldId="259"/>
            <ac:spMk id="317" creationId="{00000000-0000-0000-0000-000000000000}"/>
          </ac:spMkLst>
        </pc:spChg>
        <pc:spChg chg="del">
          <ac:chgData name="Elad Oren" userId="211a55de1c355a5b" providerId="LiveId" clId="{D82687A4-6243-5AE4-AB01-541924923F2E}" dt="2026-02-09T19:37:06.363" v="693" actId="478"/>
          <ac:spMkLst>
            <pc:docMk/>
            <pc:sldMk cId="0" sldId="259"/>
            <ac:spMk id="366" creationId="{00000000-0000-0000-0000-000000000000}"/>
          </ac:spMkLst>
        </pc:spChg>
        <pc:spChg chg="mod">
          <ac:chgData name="Elad Oren" userId="211a55de1c355a5b" providerId="LiveId" clId="{D82687A4-6243-5AE4-AB01-541924923F2E}" dt="2026-02-09T18:25:28.624" v="580" actId="313"/>
          <ac:spMkLst>
            <pc:docMk/>
            <pc:sldMk cId="0" sldId="259"/>
            <ac:spMk id="375" creationId="{00000000-0000-0000-0000-000000000000}"/>
          </ac:spMkLst>
        </pc:spChg>
        <pc:spChg chg="del">
          <ac:chgData name="Elad Oren" userId="211a55de1c355a5b" providerId="LiveId" clId="{D82687A4-6243-5AE4-AB01-541924923F2E}" dt="2026-02-09T19:37:06.363" v="693" actId="478"/>
          <ac:spMkLst>
            <pc:docMk/>
            <pc:sldMk cId="0" sldId="259"/>
            <ac:spMk id="414" creationId="{00000000-0000-0000-0000-000000000000}"/>
          </ac:spMkLst>
        </pc:spChg>
        <pc:spChg chg="del">
          <ac:chgData name="Elad Oren" userId="211a55de1c355a5b" providerId="LiveId" clId="{D82687A4-6243-5AE4-AB01-541924923F2E}" dt="2026-02-09T19:37:06.363" v="693" actId="478"/>
          <ac:spMkLst>
            <pc:docMk/>
            <pc:sldMk cId="0" sldId="259"/>
            <ac:spMk id="419" creationId="{00000000-0000-0000-0000-000000000000}"/>
          </ac:spMkLst>
        </pc:spChg>
        <pc:spChg chg="del">
          <ac:chgData name="Elad Oren" userId="211a55de1c355a5b" providerId="LiveId" clId="{D82687A4-6243-5AE4-AB01-541924923F2E}" dt="2026-02-09T19:37:06.363" v="693" actId="478"/>
          <ac:spMkLst>
            <pc:docMk/>
            <pc:sldMk cId="0" sldId="259"/>
            <ac:spMk id="479" creationId="{00000000-0000-0000-0000-000000000000}"/>
          </ac:spMkLst>
        </pc:spChg>
        <pc:spChg chg="mod">
          <ac:chgData name="Elad Oren" userId="211a55de1c355a5b" providerId="LiveId" clId="{D82687A4-6243-5AE4-AB01-541924923F2E}" dt="2026-02-09T19:50:10.496" v="757" actId="20577"/>
          <ac:spMkLst>
            <pc:docMk/>
            <pc:sldMk cId="0" sldId="259"/>
            <ac:spMk id="496" creationId="{00000000-0000-0000-0000-000000000000}"/>
          </ac:spMkLst>
        </pc:spChg>
        <pc:picChg chg="add mod">
          <ac:chgData name="Elad Oren" userId="211a55de1c355a5b" providerId="LiveId" clId="{D82687A4-6243-5AE4-AB01-541924923F2E}" dt="2026-02-09T19:37:38.778" v="696" actId="12788"/>
          <ac:picMkLst>
            <pc:docMk/>
            <pc:sldMk cId="0" sldId="259"/>
            <ac:picMk id="498" creationId="{5C9F1337-1703-882B-85FF-938F8F158FC1}"/>
          </ac:picMkLst>
        </pc:picChg>
      </pc:sldChg>
      <pc:sldChg chg="addSp delSp modSp mod ord">
        <pc:chgData name="Elad Oren" userId="211a55de1c355a5b" providerId="LiveId" clId="{D82687A4-6243-5AE4-AB01-541924923F2E}" dt="2026-02-09T19:44:12.593" v="756" actId="113"/>
        <pc:sldMkLst>
          <pc:docMk/>
          <pc:sldMk cId="0" sldId="260"/>
        </pc:sldMkLst>
        <pc:spChg chg="add del mod">
          <ac:chgData name="Elad Oren" userId="211a55de1c355a5b" providerId="LiveId" clId="{D82687A4-6243-5AE4-AB01-541924923F2E}" dt="2026-02-06T20:00:04.830" v="554" actId="1036"/>
          <ac:spMkLst>
            <pc:docMk/>
            <pc:sldMk cId="0" sldId="260"/>
            <ac:spMk id="14" creationId="{00000000-0000-0000-0000-000000000000}"/>
          </ac:spMkLst>
        </pc:spChg>
        <pc:spChg chg="add mod">
          <ac:chgData name="Elad Oren" userId="211a55de1c355a5b" providerId="LiveId" clId="{D82687A4-6243-5AE4-AB01-541924923F2E}" dt="2026-02-09T19:44:12.593" v="756" actId="113"/>
          <ac:spMkLst>
            <pc:docMk/>
            <pc:sldMk cId="0" sldId="260"/>
            <ac:spMk id="105" creationId="{BBF6F442-0870-DEA0-1042-9A6FD4225154}"/>
          </ac:spMkLst>
        </pc:spChg>
      </pc:sldChg>
      <pc:sldChg chg="modSp mod">
        <pc:chgData name="Elad Oren" userId="211a55de1c355a5b" providerId="LiveId" clId="{D82687A4-6243-5AE4-AB01-541924923F2E}" dt="2026-02-09T19:41:32.556" v="755" actId="113"/>
        <pc:sldMkLst>
          <pc:docMk/>
          <pc:sldMk cId="0" sldId="261"/>
        </pc:sldMkLst>
        <pc:spChg chg="mod">
          <ac:chgData name="Elad Oren" userId="211a55de1c355a5b" providerId="LiveId" clId="{D82687A4-6243-5AE4-AB01-541924923F2E}" dt="2026-02-09T19:41:15.940" v="747" actId="20577"/>
          <ac:spMkLst>
            <pc:docMk/>
            <pc:sldMk cId="0" sldId="261"/>
            <ac:spMk id="13" creationId="{00000000-0000-0000-0000-000000000000}"/>
          </ac:spMkLst>
        </pc:spChg>
        <pc:spChg chg="mod">
          <ac:chgData name="Elad Oren" userId="211a55de1c355a5b" providerId="LiveId" clId="{D82687A4-6243-5AE4-AB01-541924923F2E}" dt="2026-02-09T19:41:18.491" v="749" actId="20577"/>
          <ac:spMkLst>
            <pc:docMk/>
            <pc:sldMk cId="0" sldId="261"/>
            <ac:spMk id="14" creationId="{00000000-0000-0000-0000-000000000000}"/>
          </ac:spMkLst>
        </pc:spChg>
        <pc:spChg chg="mod">
          <ac:chgData name="Elad Oren" userId="211a55de1c355a5b" providerId="LiveId" clId="{D82687A4-6243-5AE4-AB01-541924923F2E}" dt="2026-02-09T19:41:32.556" v="755" actId="113"/>
          <ac:spMkLst>
            <pc:docMk/>
            <pc:sldMk cId="0" sldId="261"/>
            <ac:spMk id="15" creationId="{00000000-0000-0000-0000-000000000000}"/>
          </ac:spMkLst>
        </pc:spChg>
      </pc:sldChg>
      <pc:sldChg chg="addSp delSp modSp mod ord">
        <pc:chgData name="Elad Oren" userId="211a55de1c355a5b" providerId="LiveId" clId="{D82687A4-6243-5AE4-AB01-541924923F2E}" dt="2026-02-09T19:12:15.816" v="610" actId="20577"/>
        <pc:sldMkLst>
          <pc:docMk/>
          <pc:sldMk cId="0" sldId="262"/>
        </pc:sldMkLst>
        <pc:spChg chg="mod">
          <ac:chgData name="Elad Oren" userId="211a55de1c355a5b" providerId="LiveId" clId="{D82687A4-6243-5AE4-AB01-541924923F2E}" dt="2026-02-09T18:25:33.487" v="583" actId="313"/>
          <ac:spMkLst>
            <pc:docMk/>
            <pc:sldMk cId="0" sldId="262"/>
            <ac:spMk id="20" creationId="{00000000-0000-0000-0000-000000000000}"/>
          </ac:spMkLst>
        </pc:spChg>
        <pc:spChg chg="mod">
          <ac:chgData name="Elad Oren" userId="211a55de1c355a5b" providerId="LiveId" clId="{D82687A4-6243-5AE4-AB01-541924923F2E}" dt="2026-02-09T19:01:26.938" v="589" actId="20577"/>
          <ac:spMkLst>
            <pc:docMk/>
            <pc:sldMk cId="0" sldId="262"/>
            <ac:spMk id="46" creationId="{00000000-0000-0000-0000-000000000000}"/>
          </ac:spMkLst>
        </pc:spChg>
        <pc:spChg chg="mod">
          <ac:chgData name="Elad Oren" userId="211a55de1c355a5b" providerId="LiveId" clId="{D82687A4-6243-5AE4-AB01-541924923F2E}" dt="2026-02-09T19:01:30.455" v="590" actId="20577"/>
          <ac:spMkLst>
            <pc:docMk/>
            <pc:sldMk cId="0" sldId="262"/>
            <ac:spMk id="47" creationId="{00000000-0000-0000-0000-000000000000}"/>
          </ac:spMkLst>
        </pc:spChg>
        <pc:spChg chg="mod">
          <ac:chgData name="Elad Oren" userId="211a55de1c355a5b" providerId="LiveId" clId="{D82687A4-6243-5AE4-AB01-541924923F2E}" dt="2026-02-09T19:01:32.817" v="591" actId="20577"/>
          <ac:spMkLst>
            <pc:docMk/>
            <pc:sldMk cId="0" sldId="262"/>
            <ac:spMk id="48" creationId="{00000000-0000-0000-0000-000000000000}"/>
          </ac:spMkLst>
        </pc:spChg>
        <pc:spChg chg="del mod">
          <ac:chgData name="Elad Oren" userId="211a55de1c355a5b" providerId="LiveId" clId="{D82687A4-6243-5AE4-AB01-541924923F2E}" dt="2026-02-09T19:01:57.635" v="595" actId="478"/>
          <ac:spMkLst>
            <pc:docMk/>
            <pc:sldMk cId="0" sldId="262"/>
            <ac:spMk id="49" creationId="{00000000-0000-0000-0000-000000000000}"/>
          </ac:spMkLst>
        </pc:spChg>
        <pc:spChg chg="mod">
          <ac:chgData name="Elad Oren" userId="211a55de1c355a5b" providerId="LiveId" clId="{D82687A4-6243-5AE4-AB01-541924923F2E}" dt="2026-02-09T19:01:35.842" v="592" actId="20577"/>
          <ac:spMkLst>
            <pc:docMk/>
            <pc:sldMk cId="0" sldId="262"/>
            <ac:spMk id="50" creationId="{00000000-0000-0000-0000-000000000000}"/>
          </ac:spMkLst>
        </pc:spChg>
        <pc:spChg chg="mod">
          <ac:chgData name="Elad Oren" userId="211a55de1c355a5b" providerId="LiveId" clId="{D82687A4-6243-5AE4-AB01-541924923F2E}" dt="2026-02-09T19:12:15.816" v="610" actId="20577"/>
          <ac:spMkLst>
            <pc:docMk/>
            <pc:sldMk cId="0" sldId="262"/>
            <ac:spMk id="51" creationId="{00000000-0000-0000-0000-000000000000}"/>
          </ac:spMkLst>
        </pc:spChg>
        <pc:spChg chg="add mod">
          <ac:chgData name="Elad Oren" userId="211a55de1c355a5b" providerId="LiveId" clId="{D82687A4-6243-5AE4-AB01-541924923F2E}" dt="2026-02-09T19:02:33.515" v="598" actId="20577"/>
          <ac:spMkLst>
            <pc:docMk/>
            <pc:sldMk cId="0" sldId="262"/>
            <ac:spMk id="69" creationId="{8A5C3169-23BF-FBFD-BAA6-92A51D6AE6A6}"/>
          </ac:spMkLst>
        </pc:spChg>
      </pc:sldChg>
      <pc:sldChg chg="addSp delSp modSp new mod">
        <pc:chgData name="Elad Oren" userId="211a55de1c355a5b" providerId="LiveId" clId="{D82687A4-6243-5AE4-AB01-541924923F2E}" dt="2026-02-09T19:22:39.967" v="645" actId="12788"/>
        <pc:sldMkLst>
          <pc:docMk/>
          <pc:sldMk cId="2979531068" sldId="263"/>
        </pc:sldMkLst>
        <pc:spChg chg="add mod">
          <ac:chgData name="Elad Oren" userId="211a55de1c355a5b" providerId="LiveId" clId="{D82687A4-6243-5AE4-AB01-541924923F2E}" dt="2026-02-09T19:21:43.533" v="638" actId="20577"/>
          <ac:spMkLst>
            <pc:docMk/>
            <pc:sldMk cId="2979531068" sldId="263"/>
            <ac:spMk id="4" creationId="{175B270B-4AE4-CE14-64F7-24761B2ED590}"/>
          </ac:spMkLst>
        </pc:spChg>
        <pc:picChg chg="add mod">
          <ac:chgData name="Elad Oren" userId="211a55de1c355a5b" providerId="LiveId" clId="{D82687A4-6243-5AE4-AB01-541924923F2E}" dt="2026-02-09T19:22:39.967" v="645" actId="12788"/>
          <ac:picMkLst>
            <pc:docMk/>
            <pc:sldMk cId="2979531068" sldId="263"/>
            <ac:picMk id="3" creationId="{7158312F-E4A5-0075-CC6A-4671B9AD2D43}"/>
          </ac:picMkLst>
        </pc:picChg>
        <pc:picChg chg="add del mod">
          <ac:chgData name="Elad Oren" userId="211a55de1c355a5b" providerId="LiveId" clId="{D82687A4-6243-5AE4-AB01-541924923F2E}" dt="2026-02-09T19:21:46.222" v="639" actId="478"/>
          <ac:picMkLst>
            <pc:docMk/>
            <pc:sldMk cId="2979531068" sldId="263"/>
            <ac:picMk id="8" creationId="{9498E95A-7A3A-C1AD-8631-2AAC3A449BAF}"/>
          </ac:picMkLst>
        </pc:picChg>
      </pc:sldChg>
      <pc:sldChg chg="addSp delSp modSp new mod ord">
        <pc:chgData name="Elad Oren" userId="211a55de1c355a5b" providerId="LiveId" clId="{D82687A4-6243-5AE4-AB01-541924923F2E}" dt="2026-02-09T19:51:34.363" v="761" actId="20577"/>
        <pc:sldMkLst>
          <pc:docMk/>
          <pc:sldMk cId="1471013447" sldId="264"/>
        </pc:sldMkLst>
        <pc:spChg chg="add mod">
          <ac:chgData name="Elad Oren" userId="211a55de1c355a5b" providerId="LiveId" clId="{D82687A4-6243-5AE4-AB01-541924923F2E}" dt="2026-02-09T19:51:34.363" v="761" actId="20577"/>
          <ac:spMkLst>
            <pc:docMk/>
            <pc:sldMk cId="1471013447" sldId="264"/>
            <ac:spMk id="4" creationId="{2E327A7B-68BA-B258-FEBE-0C356B3FA440}"/>
          </ac:spMkLst>
        </pc:spChg>
        <pc:picChg chg="add del mod">
          <ac:chgData name="Elad Oren" userId="211a55de1c355a5b" providerId="LiveId" clId="{D82687A4-6243-5AE4-AB01-541924923F2E}" dt="2026-02-09T19:28:28.082" v="649" actId="478"/>
          <ac:picMkLst>
            <pc:docMk/>
            <pc:sldMk cId="1471013447" sldId="264"/>
            <ac:picMk id="3" creationId="{587BE168-4352-2FD0-FFC6-E4DB0F923971}"/>
          </ac:picMkLst>
        </pc:picChg>
        <pc:picChg chg="add mod">
          <ac:chgData name="Elad Oren" userId="211a55de1c355a5b" providerId="LiveId" clId="{D82687A4-6243-5AE4-AB01-541924923F2E}" dt="2026-02-09T19:29:02.830" v="652" actId="14100"/>
          <ac:picMkLst>
            <pc:docMk/>
            <pc:sldMk cId="1471013447" sldId="264"/>
            <ac:picMk id="5" creationId="{F98ADDC5-867A-D8CB-5649-8368A9F1B75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92600" cy="3444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5611813" y="0"/>
            <a:ext cx="4292600" cy="344488"/>
          </a:xfrm>
          <a:prstGeom prst="rect">
            <a:avLst/>
          </a:prstGeom>
        </p:spPr>
        <p:txBody>
          <a:bodyPr vert="horz" lIns="91440" tIns="45720" rIns="91440" bIns="45720" rtlCol="0"/>
          <a:lstStyle>
            <a:lvl1pPr algn="r">
              <a:defRPr sz="1200"/>
            </a:lvl1pPr>
          </a:lstStyle>
          <a:p>
            <a:fld id="{C7B3804D-9B91-E44B-91EB-7247B239EA50}" type="datetimeFigureOut">
              <a:rPr lang="en-IL" smtClean="0"/>
              <a:t>09/02/2026</a:t>
            </a:fld>
            <a:endParaRPr lang="en-IL"/>
          </a:p>
        </p:txBody>
      </p:sp>
      <p:sp>
        <p:nvSpPr>
          <p:cNvPr id="4" name="Slide Image Placeholder 3"/>
          <p:cNvSpPr>
            <a:spLocks noGrp="1" noRot="1" noChangeAspect="1"/>
          </p:cNvSpPr>
          <p:nvPr>
            <p:ph type="sldImg" idx="2"/>
          </p:nvPr>
        </p:nvSpPr>
        <p:spPr>
          <a:xfrm>
            <a:off x="3281363" y="857250"/>
            <a:ext cx="3343275" cy="2314575"/>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990600" y="3300413"/>
            <a:ext cx="79248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6513513"/>
            <a:ext cx="4292600" cy="3444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5611813" y="6513513"/>
            <a:ext cx="4292600" cy="344487"/>
          </a:xfrm>
          <a:prstGeom prst="rect">
            <a:avLst/>
          </a:prstGeom>
        </p:spPr>
        <p:txBody>
          <a:bodyPr vert="horz" lIns="91440" tIns="45720" rIns="91440" bIns="45720" rtlCol="0" anchor="b"/>
          <a:lstStyle>
            <a:lvl1pPr algn="r">
              <a:defRPr sz="1200"/>
            </a:lvl1pPr>
          </a:lstStyle>
          <a:p>
            <a:fld id="{B2030424-2981-A942-8E8A-F43C86421C52}" type="slidenum">
              <a:rPr lang="en-IL" smtClean="0"/>
              <a:t>‹#›</a:t>
            </a:fld>
            <a:endParaRPr lang="en-IL"/>
          </a:p>
        </p:txBody>
      </p:sp>
    </p:spTree>
    <p:extLst>
      <p:ext uri="{BB962C8B-B14F-4D97-AF65-F5344CB8AC3E}">
        <p14:creationId xmlns:p14="http://schemas.microsoft.com/office/powerpoint/2010/main" val="33235154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L"/>
          </a:p>
        </p:txBody>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B2030424-2981-A942-8E8A-F43C86421C52}" type="slidenum">
              <a:rPr lang="en-IL" smtClean="0"/>
              <a:t>9</a:t>
            </a:fld>
            <a:endParaRPr lang="en-IL"/>
          </a:p>
        </p:txBody>
      </p:sp>
    </p:spTree>
    <p:extLst>
      <p:ext uri="{BB962C8B-B14F-4D97-AF65-F5344CB8AC3E}">
        <p14:creationId xmlns:p14="http://schemas.microsoft.com/office/powerpoint/2010/main" val="801226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42950" y="2125980"/>
            <a:ext cx="84201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485900" y="3840480"/>
            <a:ext cx="69342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2/9/26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2/9/26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sz="half" idx="2"/>
          </p:nvPr>
        </p:nvSpPr>
        <p:spPr>
          <a:xfrm>
            <a:off x="495300" y="1577340"/>
            <a:ext cx="430911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101590" y="1577340"/>
            <a:ext cx="430911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2/9/26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2/9/26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2/9/26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95300" y="274320"/>
            <a:ext cx="8915400" cy="10972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body" idx="1"/>
          </p:nvPr>
        </p:nvSpPr>
        <p:spPr>
          <a:xfrm>
            <a:off x="495300" y="1577340"/>
            <a:ext cx="89154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368040" y="6377940"/>
            <a:ext cx="316992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95300" y="6377940"/>
            <a:ext cx="227838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2/9/26</a:t>
            </a:fld>
            <a:endParaRPr lang="en-US"/>
          </a:p>
        </p:txBody>
      </p:sp>
      <p:sp>
        <p:nvSpPr>
          <p:cNvPr id="6" name="Holder 6"/>
          <p:cNvSpPr>
            <a:spLocks noGrp="1"/>
          </p:cNvSpPr>
          <p:nvPr>
            <p:ph type="sldNum" sz="quarter" idx="7"/>
          </p:nvPr>
        </p:nvSpPr>
        <p:spPr>
          <a:xfrm>
            <a:off x="7132320" y="6377940"/>
            <a:ext cx="227838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g"/><Relationship Id="rId13" Type="http://schemas.openxmlformats.org/officeDocument/2006/relationships/image" Target="../media/image12.png"/><Relationship Id="rId3" Type="http://schemas.openxmlformats.org/officeDocument/2006/relationships/image" Target="../media/image2.jpg"/><Relationship Id="rId7" Type="http://schemas.openxmlformats.org/officeDocument/2006/relationships/image" Target="../media/image6.jpg"/><Relationship Id="rId12" Type="http://schemas.openxmlformats.org/officeDocument/2006/relationships/image" Target="../media/image11.jpg"/><Relationship Id="rId2" Type="http://schemas.openxmlformats.org/officeDocument/2006/relationships/image" Target="../media/image1.jpg"/><Relationship Id="rId16" Type="http://schemas.openxmlformats.org/officeDocument/2006/relationships/image" Target="../media/image15.png"/><Relationship Id="rId1" Type="http://schemas.openxmlformats.org/officeDocument/2006/relationships/slideLayout" Target="../slideLayouts/slideLayout5.xml"/><Relationship Id="rId6" Type="http://schemas.openxmlformats.org/officeDocument/2006/relationships/image" Target="../media/image5.jpg"/><Relationship Id="rId11" Type="http://schemas.openxmlformats.org/officeDocument/2006/relationships/image" Target="../media/image10.jpg"/><Relationship Id="rId5" Type="http://schemas.openxmlformats.org/officeDocument/2006/relationships/image" Target="../media/image4.jpg"/><Relationship Id="rId15" Type="http://schemas.openxmlformats.org/officeDocument/2006/relationships/image" Target="../media/image14.png"/><Relationship Id="rId10" Type="http://schemas.openxmlformats.org/officeDocument/2006/relationships/image" Target="../media/image9.jpg"/><Relationship Id="rId4" Type="http://schemas.openxmlformats.org/officeDocument/2006/relationships/image" Target="../media/image3.png"/><Relationship Id="rId9" Type="http://schemas.openxmlformats.org/officeDocument/2006/relationships/image" Target="../media/image8.jpg"/><Relationship Id="rId14" Type="http://schemas.openxmlformats.org/officeDocument/2006/relationships/image" Target="../media/image13.png"/></Relationships>
</file>

<file path=ppt/slides/_rels/slide2.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22.jpg"/><Relationship Id="rId7"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25.jpg"/><Relationship Id="rId5" Type="http://schemas.openxmlformats.org/officeDocument/2006/relationships/image" Target="../media/image24.jpg"/><Relationship Id="rId4" Type="http://schemas.openxmlformats.org/officeDocument/2006/relationships/image" Target="../media/image23.jp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6054590" y="2384067"/>
            <a:ext cx="796925" cy="222250"/>
          </a:xfrm>
          <a:prstGeom prst="rect">
            <a:avLst/>
          </a:prstGeom>
        </p:spPr>
        <p:txBody>
          <a:bodyPr vert="horz" wrap="square" lIns="0" tIns="17780" rIns="0" bIns="0" rtlCol="0">
            <a:spAutoFit/>
          </a:bodyPr>
          <a:lstStyle/>
          <a:p>
            <a:pPr marL="12700">
              <a:lnSpc>
                <a:spcPct val="100000"/>
              </a:lnSpc>
              <a:spcBef>
                <a:spcPts val="140"/>
              </a:spcBef>
            </a:pPr>
            <a:r>
              <a:rPr sz="1250" i="1" spc="-125" dirty="0">
                <a:latin typeface="Arial"/>
                <a:cs typeface="Arial"/>
              </a:rPr>
              <a:t>P.</a:t>
            </a:r>
            <a:r>
              <a:rPr sz="1250" i="1" spc="-75" dirty="0">
                <a:latin typeface="Arial"/>
                <a:cs typeface="Arial"/>
              </a:rPr>
              <a:t> </a:t>
            </a:r>
            <a:r>
              <a:rPr sz="1250" i="1" spc="-10" dirty="0">
                <a:latin typeface="Arial"/>
                <a:cs typeface="Arial"/>
              </a:rPr>
              <a:t>virgatum</a:t>
            </a:r>
            <a:endParaRPr sz="1250">
              <a:latin typeface="Arial"/>
              <a:cs typeface="Arial"/>
            </a:endParaRPr>
          </a:p>
        </p:txBody>
      </p:sp>
      <p:grpSp>
        <p:nvGrpSpPr>
          <p:cNvPr id="3" name="object 3"/>
          <p:cNvGrpSpPr/>
          <p:nvPr/>
        </p:nvGrpSpPr>
        <p:grpSpPr>
          <a:xfrm>
            <a:off x="6450418" y="2713168"/>
            <a:ext cx="1293495" cy="1724660"/>
            <a:chOff x="6450418" y="2713168"/>
            <a:chExt cx="1293495" cy="1724660"/>
          </a:xfrm>
        </p:grpSpPr>
        <p:pic>
          <p:nvPicPr>
            <p:cNvPr id="4" name="object 4"/>
            <p:cNvPicPr/>
            <p:nvPr/>
          </p:nvPicPr>
          <p:blipFill>
            <a:blip r:embed="rId2" cstate="print"/>
            <a:stretch>
              <a:fillRect/>
            </a:stretch>
          </p:blipFill>
          <p:spPr>
            <a:xfrm>
              <a:off x="6450418" y="2713168"/>
              <a:ext cx="1293056" cy="1724487"/>
            </a:xfrm>
            <a:prstGeom prst="rect">
              <a:avLst/>
            </a:prstGeom>
          </p:spPr>
        </p:pic>
        <p:sp>
          <p:nvSpPr>
            <p:cNvPr id="5" name="object 5"/>
            <p:cNvSpPr/>
            <p:nvPr/>
          </p:nvSpPr>
          <p:spPr>
            <a:xfrm>
              <a:off x="7594847" y="2832069"/>
              <a:ext cx="35560" cy="0"/>
            </a:xfrm>
            <a:custGeom>
              <a:avLst/>
              <a:gdLst/>
              <a:ahLst/>
              <a:cxnLst/>
              <a:rect l="l" t="t" r="r" b="b"/>
              <a:pathLst>
                <a:path w="35559">
                  <a:moveTo>
                    <a:pt x="0" y="0"/>
                  </a:moveTo>
                  <a:lnTo>
                    <a:pt x="35092" y="0"/>
                  </a:lnTo>
                </a:path>
              </a:pathLst>
            </a:custGeom>
            <a:ln w="30963">
              <a:solidFill>
                <a:srgbClr val="000000"/>
              </a:solidFill>
            </a:ln>
          </p:spPr>
          <p:txBody>
            <a:bodyPr wrap="square" lIns="0" tIns="0" rIns="0" bIns="0" rtlCol="0"/>
            <a:lstStyle/>
            <a:p>
              <a:endParaRPr/>
            </a:p>
          </p:txBody>
        </p:sp>
      </p:grpSp>
      <p:grpSp>
        <p:nvGrpSpPr>
          <p:cNvPr id="6" name="object 6"/>
          <p:cNvGrpSpPr/>
          <p:nvPr/>
        </p:nvGrpSpPr>
        <p:grpSpPr>
          <a:xfrm>
            <a:off x="5038460" y="2713168"/>
            <a:ext cx="1293495" cy="1724660"/>
            <a:chOff x="5038460" y="2713168"/>
            <a:chExt cx="1293495" cy="1724660"/>
          </a:xfrm>
        </p:grpSpPr>
        <p:pic>
          <p:nvPicPr>
            <p:cNvPr id="7" name="object 7"/>
            <p:cNvPicPr/>
            <p:nvPr/>
          </p:nvPicPr>
          <p:blipFill>
            <a:blip r:embed="rId3" cstate="print"/>
            <a:stretch>
              <a:fillRect/>
            </a:stretch>
          </p:blipFill>
          <p:spPr>
            <a:xfrm>
              <a:off x="5038460" y="2713168"/>
              <a:ext cx="1293056" cy="1724487"/>
            </a:xfrm>
            <a:prstGeom prst="rect">
              <a:avLst/>
            </a:prstGeom>
          </p:spPr>
        </p:pic>
        <p:pic>
          <p:nvPicPr>
            <p:cNvPr id="8" name="object 8"/>
            <p:cNvPicPr/>
            <p:nvPr/>
          </p:nvPicPr>
          <p:blipFill>
            <a:blip r:embed="rId4" cstate="print"/>
            <a:stretch>
              <a:fillRect/>
            </a:stretch>
          </p:blipFill>
          <p:spPr>
            <a:xfrm>
              <a:off x="5552978" y="4177455"/>
              <a:ext cx="81538" cy="85667"/>
            </a:xfrm>
            <a:prstGeom prst="rect">
              <a:avLst/>
            </a:prstGeom>
          </p:spPr>
        </p:pic>
        <p:sp>
          <p:nvSpPr>
            <p:cNvPr id="9" name="object 9"/>
            <p:cNvSpPr/>
            <p:nvPr/>
          </p:nvSpPr>
          <p:spPr>
            <a:xfrm>
              <a:off x="5135068" y="2839501"/>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sp>
        <p:nvSpPr>
          <p:cNvPr id="10" name="object 10"/>
          <p:cNvSpPr txBox="1"/>
          <p:nvPr/>
        </p:nvSpPr>
        <p:spPr>
          <a:xfrm>
            <a:off x="5376066" y="4480453"/>
            <a:ext cx="1954530" cy="222250"/>
          </a:xfrm>
          <a:prstGeom prst="rect">
            <a:avLst/>
          </a:prstGeom>
        </p:spPr>
        <p:txBody>
          <a:bodyPr vert="horz" wrap="square" lIns="0" tIns="17780" rIns="0" bIns="0" rtlCol="0">
            <a:spAutoFit/>
          </a:bodyPr>
          <a:lstStyle/>
          <a:p>
            <a:pPr marL="12700">
              <a:lnSpc>
                <a:spcPct val="100000"/>
              </a:lnSpc>
              <a:spcBef>
                <a:spcPts val="140"/>
              </a:spcBef>
              <a:tabLst>
                <a:tab pos="1500505" algn="l"/>
              </a:tabLst>
            </a:pPr>
            <a:r>
              <a:rPr sz="1875" spc="-15" baseline="2222" dirty="0">
                <a:latin typeface="Arial"/>
                <a:cs typeface="Arial"/>
              </a:rPr>
              <a:t>summer</a:t>
            </a:r>
            <a:r>
              <a:rPr sz="1875" baseline="2222" dirty="0">
                <a:latin typeface="Arial"/>
                <a:cs typeface="Arial"/>
              </a:rPr>
              <a:t>	</a:t>
            </a:r>
            <a:r>
              <a:rPr sz="1250" spc="-10" dirty="0">
                <a:latin typeface="Arial"/>
                <a:cs typeface="Arial"/>
              </a:rPr>
              <a:t>winter</a:t>
            </a:r>
            <a:endParaRPr sz="1250">
              <a:latin typeface="Arial"/>
              <a:cs typeface="Arial"/>
            </a:endParaRPr>
          </a:p>
        </p:txBody>
      </p:sp>
      <p:sp>
        <p:nvSpPr>
          <p:cNvPr id="11" name="object 11"/>
          <p:cNvSpPr txBox="1"/>
          <p:nvPr/>
        </p:nvSpPr>
        <p:spPr>
          <a:xfrm>
            <a:off x="4434348" y="21618"/>
            <a:ext cx="971550"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M.</a:t>
            </a:r>
            <a:r>
              <a:rPr sz="1250" i="1" spc="70" dirty="0">
                <a:latin typeface="Arial"/>
                <a:cs typeface="Arial"/>
              </a:rPr>
              <a:t> </a:t>
            </a:r>
            <a:r>
              <a:rPr sz="1250" i="1" spc="-10" dirty="0">
                <a:latin typeface="Arial"/>
                <a:cs typeface="Arial"/>
              </a:rPr>
              <a:t>giganteus</a:t>
            </a:r>
            <a:endParaRPr sz="1250">
              <a:latin typeface="Arial"/>
              <a:cs typeface="Arial"/>
            </a:endParaRPr>
          </a:p>
        </p:txBody>
      </p:sp>
      <p:grpSp>
        <p:nvGrpSpPr>
          <p:cNvPr id="12" name="object 12"/>
          <p:cNvGrpSpPr/>
          <p:nvPr/>
        </p:nvGrpSpPr>
        <p:grpSpPr>
          <a:xfrm>
            <a:off x="3507601" y="349377"/>
            <a:ext cx="1285875" cy="1717675"/>
            <a:chOff x="3507601" y="349377"/>
            <a:chExt cx="1285875" cy="1717675"/>
          </a:xfrm>
        </p:grpSpPr>
        <p:pic>
          <p:nvPicPr>
            <p:cNvPr id="13" name="object 13"/>
            <p:cNvPicPr/>
            <p:nvPr/>
          </p:nvPicPr>
          <p:blipFill>
            <a:blip r:embed="rId5" cstate="print"/>
            <a:stretch>
              <a:fillRect/>
            </a:stretch>
          </p:blipFill>
          <p:spPr>
            <a:xfrm>
              <a:off x="3507601" y="349377"/>
              <a:ext cx="1285624" cy="1717056"/>
            </a:xfrm>
            <a:prstGeom prst="rect">
              <a:avLst/>
            </a:prstGeom>
          </p:spPr>
        </p:pic>
        <p:sp>
          <p:nvSpPr>
            <p:cNvPr id="14" name="object 14"/>
            <p:cNvSpPr/>
            <p:nvPr/>
          </p:nvSpPr>
          <p:spPr>
            <a:xfrm>
              <a:off x="4689186" y="2006982"/>
              <a:ext cx="52705" cy="0"/>
            </a:xfrm>
            <a:custGeom>
              <a:avLst/>
              <a:gdLst/>
              <a:ahLst/>
              <a:cxnLst/>
              <a:rect l="l" t="t" r="r" b="b"/>
              <a:pathLst>
                <a:path w="52704">
                  <a:moveTo>
                    <a:pt x="0" y="0"/>
                  </a:moveTo>
                  <a:lnTo>
                    <a:pt x="52638" y="0"/>
                  </a:lnTo>
                </a:path>
              </a:pathLst>
            </a:custGeom>
            <a:ln w="30963">
              <a:solidFill>
                <a:srgbClr val="000000"/>
              </a:solidFill>
            </a:ln>
          </p:spPr>
          <p:txBody>
            <a:bodyPr wrap="square" lIns="0" tIns="0" rIns="0" bIns="0" rtlCol="0"/>
            <a:lstStyle/>
            <a:p>
              <a:endParaRPr/>
            </a:p>
          </p:txBody>
        </p:sp>
      </p:grpSp>
      <p:grpSp>
        <p:nvGrpSpPr>
          <p:cNvPr id="15" name="object 15"/>
          <p:cNvGrpSpPr/>
          <p:nvPr/>
        </p:nvGrpSpPr>
        <p:grpSpPr>
          <a:xfrm>
            <a:off x="4919559" y="349377"/>
            <a:ext cx="1285875" cy="1717675"/>
            <a:chOff x="4919559" y="349377"/>
            <a:chExt cx="1285875" cy="1717675"/>
          </a:xfrm>
        </p:grpSpPr>
        <p:pic>
          <p:nvPicPr>
            <p:cNvPr id="16" name="object 16"/>
            <p:cNvPicPr/>
            <p:nvPr/>
          </p:nvPicPr>
          <p:blipFill>
            <a:blip r:embed="rId6" cstate="print"/>
            <a:stretch>
              <a:fillRect/>
            </a:stretch>
          </p:blipFill>
          <p:spPr>
            <a:xfrm>
              <a:off x="4919559" y="349377"/>
              <a:ext cx="1285624" cy="1717056"/>
            </a:xfrm>
            <a:prstGeom prst="rect">
              <a:avLst/>
            </a:prstGeom>
          </p:spPr>
        </p:pic>
        <p:sp>
          <p:nvSpPr>
            <p:cNvPr id="17" name="object 17"/>
            <p:cNvSpPr/>
            <p:nvPr/>
          </p:nvSpPr>
          <p:spPr>
            <a:xfrm>
              <a:off x="6093713" y="2021845"/>
              <a:ext cx="35560" cy="0"/>
            </a:xfrm>
            <a:custGeom>
              <a:avLst/>
              <a:gdLst/>
              <a:ahLst/>
              <a:cxnLst/>
              <a:rect l="l" t="t" r="r" b="b"/>
              <a:pathLst>
                <a:path w="35560">
                  <a:moveTo>
                    <a:pt x="0" y="0"/>
                  </a:moveTo>
                  <a:lnTo>
                    <a:pt x="35092" y="0"/>
                  </a:lnTo>
                </a:path>
              </a:pathLst>
            </a:custGeom>
            <a:ln w="30963">
              <a:solidFill>
                <a:srgbClr val="000000"/>
              </a:solidFill>
            </a:ln>
          </p:spPr>
          <p:txBody>
            <a:bodyPr wrap="square" lIns="0" tIns="0" rIns="0" bIns="0" rtlCol="0"/>
            <a:lstStyle/>
            <a:p>
              <a:endParaRPr/>
            </a:p>
          </p:txBody>
        </p:sp>
      </p:grpSp>
      <p:sp>
        <p:nvSpPr>
          <p:cNvPr id="18" name="object 18"/>
          <p:cNvSpPr txBox="1"/>
          <p:nvPr/>
        </p:nvSpPr>
        <p:spPr>
          <a:xfrm>
            <a:off x="3851605" y="2111687"/>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19" name="object 19"/>
          <p:cNvSpPr txBox="1"/>
          <p:nvPr/>
        </p:nvSpPr>
        <p:spPr>
          <a:xfrm>
            <a:off x="5342522" y="2115197"/>
            <a:ext cx="46609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sp>
        <p:nvSpPr>
          <p:cNvPr id="20" name="object 20"/>
          <p:cNvSpPr txBox="1"/>
          <p:nvPr/>
        </p:nvSpPr>
        <p:spPr>
          <a:xfrm>
            <a:off x="1403592" y="21618"/>
            <a:ext cx="853440" cy="210314"/>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A.</a:t>
            </a:r>
            <a:r>
              <a:rPr sz="1250" i="1" spc="150" dirty="0">
                <a:latin typeface="Arial"/>
                <a:cs typeface="Arial"/>
              </a:rPr>
              <a:t>  </a:t>
            </a:r>
            <a:r>
              <a:rPr lang="en-US" sz="1250" i="1" spc="-10" dirty="0">
                <a:latin typeface="Arial"/>
                <a:cs typeface="Arial"/>
              </a:rPr>
              <a:t>gerardi</a:t>
            </a:r>
            <a:endParaRPr sz="1250" dirty="0">
              <a:latin typeface="Arial"/>
              <a:cs typeface="Arial"/>
            </a:endParaRPr>
          </a:p>
        </p:txBody>
      </p:sp>
      <p:grpSp>
        <p:nvGrpSpPr>
          <p:cNvPr id="21" name="object 21"/>
          <p:cNvGrpSpPr/>
          <p:nvPr/>
        </p:nvGrpSpPr>
        <p:grpSpPr>
          <a:xfrm>
            <a:off x="416156" y="349377"/>
            <a:ext cx="1293495" cy="1717675"/>
            <a:chOff x="416156" y="349377"/>
            <a:chExt cx="1293495" cy="1717675"/>
          </a:xfrm>
        </p:grpSpPr>
        <p:pic>
          <p:nvPicPr>
            <p:cNvPr id="22" name="object 22"/>
            <p:cNvPicPr/>
            <p:nvPr/>
          </p:nvPicPr>
          <p:blipFill>
            <a:blip r:embed="rId7" cstate="print"/>
            <a:stretch>
              <a:fillRect/>
            </a:stretch>
          </p:blipFill>
          <p:spPr>
            <a:xfrm>
              <a:off x="416156" y="349377"/>
              <a:ext cx="1293056" cy="1717056"/>
            </a:xfrm>
            <a:prstGeom prst="rect">
              <a:avLst/>
            </a:prstGeom>
          </p:spPr>
        </p:pic>
        <p:sp>
          <p:nvSpPr>
            <p:cNvPr id="23" name="object 23"/>
            <p:cNvSpPr/>
            <p:nvPr/>
          </p:nvSpPr>
          <p:spPr>
            <a:xfrm>
              <a:off x="490469" y="2021845"/>
              <a:ext cx="102870" cy="0"/>
            </a:xfrm>
            <a:custGeom>
              <a:avLst/>
              <a:gdLst/>
              <a:ahLst/>
              <a:cxnLst/>
              <a:rect l="l" t="t" r="r" b="b"/>
              <a:pathLst>
                <a:path w="102870">
                  <a:moveTo>
                    <a:pt x="102377" y="0"/>
                  </a:moveTo>
                  <a:lnTo>
                    <a:pt x="0" y="0"/>
                  </a:lnTo>
                </a:path>
              </a:pathLst>
            </a:custGeom>
            <a:ln w="30963">
              <a:solidFill>
                <a:srgbClr val="000000"/>
              </a:solidFill>
            </a:ln>
          </p:spPr>
          <p:txBody>
            <a:bodyPr wrap="square" lIns="0" tIns="0" rIns="0" bIns="0" rtlCol="0"/>
            <a:lstStyle/>
            <a:p>
              <a:endParaRPr/>
            </a:p>
          </p:txBody>
        </p:sp>
      </p:grpSp>
      <p:grpSp>
        <p:nvGrpSpPr>
          <p:cNvPr id="24" name="object 24"/>
          <p:cNvGrpSpPr/>
          <p:nvPr/>
        </p:nvGrpSpPr>
        <p:grpSpPr>
          <a:xfrm>
            <a:off x="1828113" y="349377"/>
            <a:ext cx="1293495" cy="1717675"/>
            <a:chOff x="1828113" y="349377"/>
            <a:chExt cx="1293495" cy="1717675"/>
          </a:xfrm>
        </p:grpSpPr>
        <p:pic>
          <p:nvPicPr>
            <p:cNvPr id="25" name="object 25"/>
            <p:cNvPicPr/>
            <p:nvPr/>
          </p:nvPicPr>
          <p:blipFill>
            <a:blip r:embed="rId8" cstate="print"/>
            <a:stretch>
              <a:fillRect/>
            </a:stretch>
          </p:blipFill>
          <p:spPr>
            <a:xfrm>
              <a:off x="1828113" y="349377"/>
              <a:ext cx="1293056" cy="1717056"/>
            </a:xfrm>
            <a:prstGeom prst="rect">
              <a:avLst/>
            </a:prstGeom>
          </p:spPr>
        </p:pic>
        <p:sp>
          <p:nvSpPr>
            <p:cNvPr id="26" name="object 26"/>
            <p:cNvSpPr/>
            <p:nvPr/>
          </p:nvSpPr>
          <p:spPr>
            <a:xfrm>
              <a:off x="3024562" y="2021845"/>
              <a:ext cx="38100" cy="0"/>
            </a:xfrm>
            <a:custGeom>
              <a:avLst/>
              <a:gdLst/>
              <a:ahLst/>
              <a:cxnLst/>
              <a:rect l="l" t="t" r="r" b="b"/>
              <a:pathLst>
                <a:path w="38100">
                  <a:moveTo>
                    <a:pt x="0" y="0"/>
                  </a:moveTo>
                  <a:lnTo>
                    <a:pt x="37982" y="0"/>
                  </a:lnTo>
                </a:path>
              </a:pathLst>
            </a:custGeom>
            <a:ln w="30963">
              <a:solidFill>
                <a:srgbClr val="000000"/>
              </a:solidFill>
            </a:ln>
          </p:spPr>
          <p:txBody>
            <a:bodyPr wrap="square" lIns="0" tIns="0" rIns="0" bIns="0" rtlCol="0"/>
            <a:lstStyle/>
            <a:p>
              <a:endParaRPr/>
            </a:p>
          </p:txBody>
        </p:sp>
      </p:grpSp>
      <p:sp>
        <p:nvSpPr>
          <p:cNvPr id="27" name="object 27"/>
          <p:cNvSpPr txBox="1"/>
          <p:nvPr/>
        </p:nvSpPr>
        <p:spPr>
          <a:xfrm>
            <a:off x="788348" y="2114680"/>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28" name="object 28"/>
          <p:cNvSpPr txBox="1"/>
          <p:nvPr/>
        </p:nvSpPr>
        <p:spPr>
          <a:xfrm>
            <a:off x="2279254" y="2116229"/>
            <a:ext cx="466725"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grpSp>
        <p:nvGrpSpPr>
          <p:cNvPr id="29" name="object 29"/>
          <p:cNvGrpSpPr/>
          <p:nvPr/>
        </p:nvGrpSpPr>
        <p:grpSpPr>
          <a:xfrm>
            <a:off x="1976741" y="2728030"/>
            <a:ext cx="1293495" cy="1717675"/>
            <a:chOff x="1976741" y="2728030"/>
            <a:chExt cx="1293495" cy="1717675"/>
          </a:xfrm>
        </p:grpSpPr>
        <p:pic>
          <p:nvPicPr>
            <p:cNvPr id="30" name="object 30"/>
            <p:cNvPicPr/>
            <p:nvPr/>
          </p:nvPicPr>
          <p:blipFill>
            <a:blip r:embed="rId9" cstate="print"/>
            <a:stretch>
              <a:fillRect/>
            </a:stretch>
          </p:blipFill>
          <p:spPr>
            <a:xfrm>
              <a:off x="1976741" y="2728030"/>
              <a:ext cx="1293056" cy="1717056"/>
            </a:xfrm>
            <a:prstGeom prst="rect">
              <a:avLst/>
            </a:prstGeom>
          </p:spPr>
        </p:pic>
        <p:sp>
          <p:nvSpPr>
            <p:cNvPr id="31" name="object 31"/>
            <p:cNvSpPr/>
            <p:nvPr/>
          </p:nvSpPr>
          <p:spPr>
            <a:xfrm>
              <a:off x="2073348" y="4385636"/>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grpSp>
        <p:nvGrpSpPr>
          <p:cNvPr id="32" name="object 32"/>
          <p:cNvGrpSpPr/>
          <p:nvPr/>
        </p:nvGrpSpPr>
        <p:grpSpPr>
          <a:xfrm>
            <a:off x="3366404" y="2728030"/>
            <a:ext cx="1293495" cy="1717675"/>
            <a:chOff x="3366404" y="2728030"/>
            <a:chExt cx="1293495" cy="1717675"/>
          </a:xfrm>
        </p:grpSpPr>
        <p:pic>
          <p:nvPicPr>
            <p:cNvPr id="33" name="object 33"/>
            <p:cNvPicPr/>
            <p:nvPr/>
          </p:nvPicPr>
          <p:blipFill>
            <a:blip r:embed="rId10" cstate="print"/>
            <a:stretch>
              <a:fillRect/>
            </a:stretch>
          </p:blipFill>
          <p:spPr>
            <a:xfrm>
              <a:off x="3366404" y="2728030"/>
              <a:ext cx="1293056" cy="1717056"/>
            </a:xfrm>
            <a:prstGeom prst="rect">
              <a:avLst/>
            </a:prstGeom>
          </p:spPr>
        </p:pic>
        <p:sp>
          <p:nvSpPr>
            <p:cNvPr id="34" name="object 34"/>
            <p:cNvSpPr/>
            <p:nvPr/>
          </p:nvSpPr>
          <p:spPr>
            <a:xfrm>
              <a:off x="4555422" y="4385636"/>
              <a:ext cx="50165" cy="0"/>
            </a:xfrm>
            <a:custGeom>
              <a:avLst/>
              <a:gdLst/>
              <a:ahLst/>
              <a:cxnLst/>
              <a:rect l="l" t="t" r="r" b="b"/>
              <a:pathLst>
                <a:path w="50164">
                  <a:moveTo>
                    <a:pt x="0" y="0"/>
                  </a:moveTo>
                  <a:lnTo>
                    <a:pt x="49748" y="0"/>
                  </a:lnTo>
                </a:path>
              </a:pathLst>
            </a:custGeom>
            <a:ln w="30963">
              <a:solidFill>
                <a:srgbClr val="000000"/>
              </a:solidFill>
            </a:ln>
          </p:spPr>
          <p:txBody>
            <a:bodyPr wrap="square" lIns="0" tIns="0" rIns="0" bIns="0" rtlCol="0"/>
            <a:lstStyle/>
            <a:p>
              <a:endParaRPr/>
            </a:p>
          </p:txBody>
        </p:sp>
      </p:grpSp>
      <p:sp>
        <p:nvSpPr>
          <p:cNvPr id="35" name="object 35"/>
          <p:cNvSpPr txBox="1"/>
          <p:nvPr/>
        </p:nvSpPr>
        <p:spPr>
          <a:xfrm>
            <a:off x="2871698" y="2373746"/>
            <a:ext cx="1003300" cy="222250"/>
          </a:xfrm>
          <a:prstGeom prst="rect">
            <a:avLst/>
          </a:prstGeom>
        </p:spPr>
        <p:txBody>
          <a:bodyPr vert="horz" wrap="square" lIns="0" tIns="17780" rIns="0" bIns="0" rtlCol="0">
            <a:spAutoFit/>
          </a:bodyPr>
          <a:lstStyle/>
          <a:p>
            <a:pPr marL="12700">
              <a:lnSpc>
                <a:spcPct val="100000"/>
              </a:lnSpc>
              <a:spcBef>
                <a:spcPts val="140"/>
              </a:spcBef>
            </a:pPr>
            <a:r>
              <a:rPr sz="1250" i="1" spc="-120" dirty="0">
                <a:latin typeface="Arial"/>
                <a:cs typeface="Arial"/>
              </a:rPr>
              <a:t>T.</a:t>
            </a:r>
            <a:r>
              <a:rPr sz="1250" i="1" spc="-60" dirty="0">
                <a:latin typeface="Arial"/>
                <a:cs typeface="Arial"/>
              </a:rPr>
              <a:t> </a:t>
            </a:r>
            <a:r>
              <a:rPr sz="1250" i="1" spc="-10" dirty="0">
                <a:latin typeface="Arial"/>
                <a:cs typeface="Arial"/>
              </a:rPr>
              <a:t>dactyloides</a:t>
            </a:r>
            <a:endParaRPr sz="1250" dirty="0">
              <a:latin typeface="Arial"/>
              <a:cs typeface="Arial"/>
            </a:endParaRPr>
          </a:p>
        </p:txBody>
      </p:sp>
      <p:sp>
        <p:nvSpPr>
          <p:cNvPr id="36" name="object 36"/>
          <p:cNvSpPr txBox="1"/>
          <p:nvPr/>
        </p:nvSpPr>
        <p:spPr>
          <a:xfrm>
            <a:off x="2318682" y="4495574"/>
            <a:ext cx="1955800" cy="222250"/>
          </a:xfrm>
          <a:prstGeom prst="rect">
            <a:avLst/>
          </a:prstGeom>
        </p:spPr>
        <p:txBody>
          <a:bodyPr vert="horz" wrap="square" lIns="0" tIns="17780" rIns="0" bIns="0" rtlCol="0">
            <a:spAutoFit/>
          </a:bodyPr>
          <a:lstStyle/>
          <a:p>
            <a:pPr marL="12700">
              <a:lnSpc>
                <a:spcPct val="100000"/>
              </a:lnSpc>
              <a:spcBef>
                <a:spcPts val="140"/>
              </a:spcBef>
              <a:tabLst>
                <a:tab pos="1500505" algn="l"/>
              </a:tabLst>
            </a:pPr>
            <a:r>
              <a:rPr sz="1875" spc="-15" baseline="2222" dirty="0">
                <a:latin typeface="Arial"/>
                <a:cs typeface="Arial"/>
              </a:rPr>
              <a:t>summer</a:t>
            </a:r>
            <a:r>
              <a:rPr sz="1875" baseline="2222" dirty="0">
                <a:latin typeface="Arial"/>
                <a:cs typeface="Arial"/>
              </a:rPr>
              <a:t>	</a:t>
            </a:r>
            <a:r>
              <a:rPr sz="1250" spc="-10" dirty="0">
                <a:latin typeface="Arial"/>
                <a:cs typeface="Arial"/>
              </a:rPr>
              <a:t>winter</a:t>
            </a:r>
            <a:endParaRPr sz="1250">
              <a:latin typeface="Arial"/>
              <a:cs typeface="Arial"/>
            </a:endParaRPr>
          </a:p>
        </p:txBody>
      </p:sp>
      <p:grpSp>
        <p:nvGrpSpPr>
          <p:cNvPr id="37" name="object 37"/>
          <p:cNvGrpSpPr/>
          <p:nvPr/>
        </p:nvGrpSpPr>
        <p:grpSpPr>
          <a:xfrm>
            <a:off x="6599046" y="349377"/>
            <a:ext cx="1285875" cy="1717675"/>
            <a:chOff x="6599046" y="349377"/>
            <a:chExt cx="1285875" cy="1717675"/>
          </a:xfrm>
        </p:grpSpPr>
        <p:pic>
          <p:nvPicPr>
            <p:cNvPr id="38" name="object 38"/>
            <p:cNvPicPr/>
            <p:nvPr/>
          </p:nvPicPr>
          <p:blipFill>
            <a:blip r:embed="rId11" cstate="print"/>
            <a:stretch>
              <a:fillRect/>
            </a:stretch>
          </p:blipFill>
          <p:spPr>
            <a:xfrm>
              <a:off x="6599046" y="349377"/>
              <a:ext cx="1285624" cy="1717056"/>
            </a:xfrm>
            <a:prstGeom prst="rect">
              <a:avLst/>
            </a:prstGeom>
          </p:spPr>
        </p:pic>
        <p:sp>
          <p:nvSpPr>
            <p:cNvPr id="39" name="object 39"/>
            <p:cNvSpPr/>
            <p:nvPr/>
          </p:nvSpPr>
          <p:spPr>
            <a:xfrm>
              <a:off x="6658496" y="2014413"/>
              <a:ext cx="52705" cy="0"/>
            </a:xfrm>
            <a:custGeom>
              <a:avLst/>
              <a:gdLst/>
              <a:ahLst/>
              <a:cxnLst/>
              <a:rect l="l" t="t" r="r" b="b"/>
              <a:pathLst>
                <a:path w="52704">
                  <a:moveTo>
                    <a:pt x="0" y="0"/>
                  </a:moveTo>
                  <a:lnTo>
                    <a:pt x="52638" y="0"/>
                  </a:lnTo>
                </a:path>
              </a:pathLst>
            </a:custGeom>
            <a:ln w="30963">
              <a:solidFill>
                <a:srgbClr val="000000"/>
              </a:solidFill>
            </a:ln>
          </p:spPr>
          <p:txBody>
            <a:bodyPr wrap="square" lIns="0" tIns="0" rIns="0" bIns="0" rtlCol="0"/>
            <a:lstStyle/>
            <a:p>
              <a:endParaRPr/>
            </a:p>
          </p:txBody>
        </p:sp>
      </p:grpSp>
      <p:sp>
        <p:nvSpPr>
          <p:cNvPr id="40" name="object 40"/>
          <p:cNvSpPr txBox="1"/>
          <p:nvPr/>
        </p:nvSpPr>
        <p:spPr>
          <a:xfrm>
            <a:off x="7651610" y="11090"/>
            <a:ext cx="725805" cy="222250"/>
          </a:xfrm>
          <a:prstGeom prst="rect">
            <a:avLst/>
          </a:prstGeom>
        </p:spPr>
        <p:txBody>
          <a:bodyPr vert="horz" wrap="square" lIns="0" tIns="17780" rIns="0" bIns="0" rtlCol="0">
            <a:spAutoFit/>
          </a:bodyPr>
          <a:lstStyle/>
          <a:p>
            <a:pPr marL="12700">
              <a:lnSpc>
                <a:spcPct val="100000"/>
              </a:lnSpc>
              <a:spcBef>
                <a:spcPts val="140"/>
              </a:spcBef>
            </a:pPr>
            <a:r>
              <a:rPr sz="1250" i="1" dirty="0">
                <a:latin typeface="Arial"/>
                <a:cs typeface="Arial"/>
              </a:rPr>
              <a:t>S.</a:t>
            </a:r>
            <a:r>
              <a:rPr sz="1250" i="1" spc="35" dirty="0">
                <a:latin typeface="Arial"/>
                <a:cs typeface="Arial"/>
              </a:rPr>
              <a:t> </a:t>
            </a:r>
            <a:r>
              <a:rPr sz="1250" i="1" spc="-10" dirty="0">
                <a:latin typeface="Arial"/>
                <a:cs typeface="Arial"/>
              </a:rPr>
              <a:t>nutans</a:t>
            </a:r>
            <a:endParaRPr sz="1250">
              <a:latin typeface="Arial"/>
              <a:cs typeface="Arial"/>
            </a:endParaRPr>
          </a:p>
        </p:txBody>
      </p:sp>
      <p:grpSp>
        <p:nvGrpSpPr>
          <p:cNvPr id="41" name="object 41"/>
          <p:cNvGrpSpPr/>
          <p:nvPr/>
        </p:nvGrpSpPr>
        <p:grpSpPr>
          <a:xfrm>
            <a:off x="8011004" y="349377"/>
            <a:ext cx="1285875" cy="1717675"/>
            <a:chOff x="8011004" y="349377"/>
            <a:chExt cx="1285875" cy="1717675"/>
          </a:xfrm>
        </p:grpSpPr>
        <p:pic>
          <p:nvPicPr>
            <p:cNvPr id="42" name="object 42"/>
            <p:cNvPicPr/>
            <p:nvPr/>
          </p:nvPicPr>
          <p:blipFill>
            <a:blip r:embed="rId12" cstate="print"/>
            <a:stretch>
              <a:fillRect/>
            </a:stretch>
          </p:blipFill>
          <p:spPr>
            <a:xfrm>
              <a:off x="8011004" y="349377"/>
              <a:ext cx="1285624" cy="1717056"/>
            </a:xfrm>
            <a:prstGeom prst="rect">
              <a:avLst/>
            </a:prstGeom>
          </p:spPr>
        </p:pic>
        <p:sp>
          <p:nvSpPr>
            <p:cNvPr id="43" name="object 43"/>
            <p:cNvSpPr/>
            <p:nvPr/>
          </p:nvSpPr>
          <p:spPr>
            <a:xfrm>
              <a:off x="8070454" y="2021845"/>
              <a:ext cx="35560" cy="0"/>
            </a:xfrm>
            <a:custGeom>
              <a:avLst/>
              <a:gdLst/>
              <a:ahLst/>
              <a:cxnLst/>
              <a:rect l="l" t="t" r="r" b="b"/>
              <a:pathLst>
                <a:path w="35559">
                  <a:moveTo>
                    <a:pt x="0" y="0"/>
                  </a:moveTo>
                  <a:lnTo>
                    <a:pt x="35092" y="0"/>
                  </a:lnTo>
                </a:path>
              </a:pathLst>
            </a:custGeom>
            <a:ln w="30963">
              <a:solidFill>
                <a:srgbClr val="000000"/>
              </a:solidFill>
            </a:ln>
          </p:spPr>
          <p:txBody>
            <a:bodyPr wrap="square" lIns="0" tIns="0" rIns="0" bIns="0" rtlCol="0"/>
            <a:lstStyle/>
            <a:p>
              <a:endParaRPr/>
            </a:p>
          </p:txBody>
        </p:sp>
      </p:grpSp>
      <p:sp>
        <p:nvSpPr>
          <p:cNvPr id="44" name="object 44"/>
          <p:cNvSpPr txBox="1"/>
          <p:nvPr/>
        </p:nvSpPr>
        <p:spPr>
          <a:xfrm>
            <a:off x="6953268" y="2117261"/>
            <a:ext cx="622300"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summer</a:t>
            </a:r>
            <a:endParaRPr sz="1250">
              <a:latin typeface="Arial"/>
              <a:cs typeface="Arial"/>
            </a:endParaRPr>
          </a:p>
        </p:txBody>
      </p:sp>
      <p:sp>
        <p:nvSpPr>
          <p:cNvPr id="45" name="object 45"/>
          <p:cNvSpPr txBox="1"/>
          <p:nvPr/>
        </p:nvSpPr>
        <p:spPr>
          <a:xfrm>
            <a:off x="8444185" y="2110655"/>
            <a:ext cx="466725" cy="222250"/>
          </a:xfrm>
          <a:prstGeom prst="rect">
            <a:avLst/>
          </a:prstGeom>
        </p:spPr>
        <p:txBody>
          <a:bodyPr vert="horz" wrap="square" lIns="0" tIns="17780" rIns="0" bIns="0" rtlCol="0">
            <a:spAutoFit/>
          </a:bodyPr>
          <a:lstStyle/>
          <a:p>
            <a:pPr marL="12700">
              <a:lnSpc>
                <a:spcPct val="100000"/>
              </a:lnSpc>
              <a:spcBef>
                <a:spcPts val="140"/>
              </a:spcBef>
            </a:pPr>
            <a:r>
              <a:rPr sz="1250" spc="-10" dirty="0">
                <a:latin typeface="Arial"/>
                <a:cs typeface="Arial"/>
              </a:rPr>
              <a:t>winter</a:t>
            </a:r>
            <a:endParaRPr sz="1250">
              <a:latin typeface="Arial"/>
              <a:cs typeface="Arial"/>
            </a:endParaRPr>
          </a:p>
        </p:txBody>
      </p:sp>
      <p:sp>
        <p:nvSpPr>
          <p:cNvPr id="46" name="object 46"/>
          <p:cNvSpPr txBox="1"/>
          <p:nvPr/>
        </p:nvSpPr>
        <p:spPr>
          <a:xfrm>
            <a:off x="408585"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a</a:t>
            </a:r>
            <a:endParaRPr sz="1450" dirty="0">
              <a:latin typeface="Arial"/>
              <a:cs typeface="Arial"/>
            </a:endParaRPr>
          </a:p>
        </p:txBody>
      </p:sp>
      <p:sp>
        <p:nvSpPr>
          <p:cNvPr id="47" name="object 47"/>
          <p:cNvSpPr txBox="1"/>
          <p:nvPr/>
        </p:nvSpPr>
        <p:spPr>
          <a:xfrm>
            <a:off x="3561060"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b</a:t>
            </a:r>
            <a:endParaRPr sz="1450" dirty="0">
              <a:latin typeface="Arial"/>
              <a:cs typeface="Arial"/>
            </a:endParaRPr>
          </a:p>
        </p:txBody>
      </p:sp>
      <p:sp>
        <p:nvSpPr>
          <p:cNvPr id="48" name="object 48"/>
          <p:cNvSpPr txBox="1"/>
          <p:nvPr/>
        </p:nvSpPr>
        <p:spPr>
          <a:xfrm>
            <a:off x="6646519" y="1904"/>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c</a:t>
            </a:r>
            <a:endParaRPr sz="1450" dirty="0">
              <a:latin typeface="Arial"/>
              <a:cs typeface="Arial"/>
            </a:endParaRPr>
          </a:p>
        </p:txBody>
      </p:sp>
      <p:sp>
        <p:nvSpPr>
          <p:cNvPr id="50" name="object 50"/>
          <p:cNvSpPr txBox="1"/>
          <p:nvPr/>
        </p:nvSpPr>
        <p:spPr>
          <a:xfrm>
            <a:off x="2029375" y="2388609"/>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d</a:t>
            </a:r>
            <a:endParaRPr sz="1450" dirty="0">
              <a:latin typeface="Arial"/>
              <a:cs typeface="Arial"/>
            </a:endParaRPr>
          </a:p>
        </p:txBody>
      </p:sp>
      <p:sp>
        <p:nvSpPr>
          <p:cNvPr id="51" name="object 51"/>
          <p:cNvSpPr txBox="1"/>
          <p:nvPr/>
        </p:nvSpPr>
        <p:spPr>
          <a:xfrm>
            <a:off x="61613" y="5874864"/>
            <a:ext cx="9831070" cy="765915"/>
          </a:xfrm>
          <a:prstGeom prst="rect">
            <a:avLst/>
          </a:prstGeom>
        </p:spPr>
        <p:txBody>
          <a:bodyPr vert="horz" wrap="square" lIns="0" tIns="9525" rIns="0" bIns="0" rtlCol="0">
            <a:spAutoFit/>
          </a:bodyPr>
          <a:lstStyle/>
          <a:p>
            <a:pPr marL="12700" marR="5080" algn="just">
              <a:lnSpc>
                <a:spcPct val="104200"/>
              </a:lnSpc>
              <a:spcBef>
                <a:spcPts val="75"/>
              </a:spcBef>
            </a:pPr>
            <a:r>
              <a:rPr lang="en-US" sz="1200" b="1" dirty="0">
                <a:latin typeface="Times New Roman"/>
                <a:cs typeface="Times New Roman"/>
              </a:rPr>
              <a:t>Fig. </a:t>
            </a:r>
            <a:r>
              <a:rPr sz="1200" b="1" dirty="0">
                <a:latin typeface="Times New Roman"/>
                <a:cs typeface="Times New Roman"/>
              </a:rPr>
              <a:t>S</a:t>
            </a:r>
            <a:r>
              <a:rPr lang="en-US" sz="1200" b="1" dirty="0">
                <a:latin typeface="Times New Roman"/>
                <a:cs typeface="Times New Roman"/>
              </a:rPr>
              <a:t>1</a:t>
            </a:r>
            <a:r>
              <a:rPr sz="1200" b="1" dirty="0">
                <a:latin typeface="Times New Roman"/>
                <a:cs typeface="Times New Roman"/>
              </a:rPr>
              <a:t>.</a:t>
            </a:r>
            <a:r>
              <a:rPr sz="1200" b="1" spc="380" dirty="0">
                <a:latin typeface="Times New Roman"/>
                <a:cs typeface="Times New Roman"/>
              </a:rPr>
              <a:t> </a:t>
            </a:r>
            <a:r>
              <a:rPr sz="1200" b="1" dirty="0">
                <a:latin typeface="Times New Roman"/>
                <a:cs typeface="Times New Roman"/>
              </a:rPr>
              <a:t>Rhizome</a:t>
            </a:r>
            <a:r>
              <a:rPr sz="1200" b="1" spc="405" dirty="0">
                <a:latin typeface="Times New Roman"/>
                <a:cs typeface="Times New Roman"/>
              </a:rPr>
              <a:t> </a:t>
            </a:r>
            <a:r>
              <a:rPr sz="1200" b="1" dirty="0">
                <a:latin typeface="Times New Roman"/>
                <a:cs typeface="Times New Roman"/>
              </a:rPr>
              <a:t>morphology</a:t>
            </a:r>
            <a:r>
              <a:rPr sz="1200" b="1" spc="380" dirty="0">
                <a:latin typeface="Times New Roman"/>
                <a:cs typeface="Times New Roman"/>
              </a:rPr>
              <a:t> </a:t>
            </a:r>
            <a:r>
              <a:rPr sz="1200" b="1" dirty="0">
                <a:latin typeface="Times New Roman"/>
                <a:cs typeface="Times New Roman"/>
              </a:rPr>
              <a:t>at</a:t>
            </a:r>
            <a:r>
              <a:rPr sz="1200" b="1" spc="390" dirty="0">
                <a:latin typeface="Times New Roman"/>
                <a:cs typeface="Times New Roman"/>
              </a:rPr>
              <a:t> </a:t>
            </a:r>
            <a:r>
              <a:rPr sz="1200" b="1" dirty="0">
                <a:latin typeface="Times New Roman"/>
                <a:cs typeface="Times New Roman"/>
              </a:rPr>
              <a:t>sampling.</a:t>
            </a:r>
            <a:r>
              <a:rPr sz="1200" b="1" spc="375" dirty="0">
                <a:latin typeface="Times New Roman"/>
                <a:cs typeface="Times New Roman"/>
              </a:rPr>
              <a:t> </a:t>
            </a:r>
            <a:r>
              <a:rPr sz="1200" dirty="0">
                <a:latin typeface="Times New Roman"/>
                <a:cs typeface="Times New Roman"/>
              </a:rPr>
              <a:t>Paired</a:t>
            </a:r>
            <a:r>
              <a:rPr sz="1200" spc="380" dirty="0">
                <a:latin typeface="Times New Roman"/>
                <a:cs typeface="Times New Roman"/>
              </a:rPr>
              <a:t> </a:t>
            </a:r>
            <a:r>
              <a:rPr sz="1200" dirty="0">
                <a:latin typeface="Times New Roman"/>
                <a:cs typeface="Times New Roman"/>
              </a:rPr>
              <a:t>images</a:t>
            </a:r>
            <a:r>
              <a:rPr sz="1200" spc="350" dirty="0">
                <a:latin typeface="Times New Roman"/>
                <a:cs typeface="Times New Roman"/>
              </a:rPr>
              <a:t> </a:t>
            </a:r>
            <a:r>
              <a:rPr sz="1200" dirty="0">
                <a:latin typeface="Times New Roman"/>
                <a:cs typeface="Times New Roman"/>
              </a:rPr>
              <a:t>display</a:t>
            </a:r>
            <a:r>
              <a:rPr sz="1200" spc="409" dirty="0">
                <a:latin typeface="Times New Roman"/>
                <a:cs typeface="Times New Roman"/>
              </a:rPr>
              <a:t> </a:t>
            </a:r>
            <a:r>
              <a:rPr sz="1200" dirty="0">
                <a:latin typeface="Times New Roman"/>
                <a:cs typeface="Times New Roman"/>
              </a:rPr>
              <a:t>representative</a:t>
            </a:r>
            <a:r>
              <a:rPr sz="1200" spc="420" dirty="0">
                <a:latin typeface="Times New Roman"/>
                <a:cs typeface="Times New Roman"/>
              </a:rPr>
              <a:t> </a:t>
            </a:r>
            <a:r>
              <a:rPr sz="1200" dirty="0">
                <a:latin typeface="Times New Roman"/>
                <a:cs typeface="Times New Roman"/>
              </a:rPr>
              <a:t>rhizome</a:t>
            </a:r>
            <a:r>
              <a:rPr sz="1200" spc="405" dirty="0">
                <a:latin typeface="Times New Roman"/>
                <a:cs typeface="Times New Roman"/>
              </a:rPr>
              <a:t> </a:t>
            </a:r>
            <a:r>
              <a:rPr sz="1200" dirty="0">
                <a:latin typeface="Times New Roman"/>
                <a:cs typeface="Times New Roman"/>
              </a:rPr>
              <a:t>tissues</a:t>
            </a:r>
            <a:r>
              <a:rPr sz="1200" spc="390" dirty="0">
                <a:latin typeface="Times New Roman"/>
                <a:cs typeface="Times New Roman"/>
              </a:rPr>
              <a:t> </a:t>
            </a:r>
            <a:r>
              <a:rPr sz="1200" dirty="0">
                <a:latin typeface="Times New Roman"/>
                <a:cs typeface="Times New Roman"/>
              </a:rPr>
              <a:t>(white</a:t>
            </a:r>
            <a:r>
              <a:rPr sz="1200" spc="390" dirty="0">
                <a:latin typeface="Times New Roman"/>
                <a:cs typeface="Times New Roman"/>
              </a:rPr>
              <a:t> </a:t>
            </a:r>
            <a:r>
              <a:rPr sz="1200" dirty="0">
                <a:latin typeface="Times New Roman"/>
                <a:cs typeface="Times New Roman"/>
              </a:rPr>
              <a:t>arrows)</a:t>
            </a:r>
            <a:r>
              <a:rPr sz="1200" spc="365" dirty="0">
                <a:latin typeface="Times New Roman"/>
                <a:cs typeface="Times New Roman"/>
              </a:rPr>
              <a:t> </a:t>
            </a:r>
            <a:r>
              <a:rPr sz="1200" spc="-10" dirty="0">
                <a:latin typeface="Times New Roman"/>
                <a:cs typeface="Times New Roman"/>
              </a:rPr>
              <a:t>collected </a:t>
            </a:r>
            <a:r>
              <a:rPr sz="1200" dirty="0">
                <a:latin typeface="Times New Roman"/>
                <a:cs typeface="Times New Roman"/>
              </a:rPr>
              <a:t>during</a:t>
            </a:r>
            <a:r>
              <a:rPr sz="1200" spc="250" dirty="0">
                <a:latin typeface="Times New Roman"/>
                <a:cs typeface="Times New Roman"/>
              </a:rPr>
              <a:t> </a:t>
            </a:r>
            <a:r>
              <a:rPr sz="1200" dirty="0">
                <a:latin typeface="Times New Roman"/>
                <a:cs typeface="Times New Roman"/>
              </a:rPr>
              <a:t>summer</a:t>
            </a:r>
            <a:r>
              <a:rPr sz="1200" spc="280" dirty="0">
                <a:latin typeface="Times New Roman"/>
                <a:cs typeface="Times New Roman"/>
              </a:rPr>
              <a:t> </a:t>
            </a:r>
            <a:r>
              <a:rPr sz="1200" dirty="0">
                <a:latin typeface="Times New Roman"/>
                <a:cs typeface="Times New Roman"/>
              </a:rPr>
              <a:t>(August,</a:t>
            </a:r>
            <a:r>
              <a:rPr sz="1200" spc="229" dirty="0">
                <a:latin typeface="Times New Roman"/>
                <a:cs typeface="Times New Roman"/>
              </a:rPr>
              <a:t> </a:t>
            </a:r>
            <a:r>
              <a:rPr sz="1200" dirty="0">
                <a:latin typeface="Times New Roman"/>
                <a:cs typeface="Times New Roman"/>
              </a:rPr>
              <a:t>left)</a:t>
            </a:r>
            <a:r>
              <a:rPr sz="1200" spc="245" dirty="0">
                <a:latin typeface="Times New Roman"/>
                <a:cs typeface="Times New Roman"/>
              </a:rPr>
              <a:t> </a:t>
            </a:r>
            <a:r>
              <a:rPr sz="1200" dirty="0">
                <a:latin typeface="Times New Roman"/>
                <a:cs typeface="Times New Roman"/>
              </a:rPr>
              <a:t>and</a:t>
            </a:r>
            <a:r>
              <a:rPr sz="1200" spc="245" dirty="0">
                <a:latin typeface="Times New Roman"/>
                <a:cs typeface="Times New Roman"/>
              </a:rPr>
              <a:t> </a:t>
            </a:r>
            <a:r>
              <a:rPr sz="1200" dirty="0">
                <a:latin typeface="Times New Roman"/>
                <a:cs typeface="Times New Roman"/>
              </a:rPr>
              <a:t>winter</a:t>
            </a:r>
            <a:r>
              <a:rPr sz="1200" spc="290" dirty="0">
                <a:latin typeface="Times New Roman"/>
                <a:cs typeface="Times New Roman"/>
              </a:rPr>
              <a:t> </a:t>
            </a:r>
            <a:r>
              <a:rPr sz="1200" dirty="0">
                <a:latin typeface="Times New Roman"/>
                <a:cs typeface="Times New Roman"/>
              </a:rPr>
              <a:t>(January,</a:t>
            </a:r>
            <a:r>
              <a:rPr sz="1200" spc="270" dirty="0">
                <a:latin typeface="Times New Roman"/>
                <a:cs typeface="Times New Roman"/>
              </a:rPr>
              <a:t> </a:t>
            </a:r>
            <a:r>
              <a:rPr sz="1200" dirty="0">
                <a:latin typeface="Times New Roman"/>
                <a:cs typeface="Times New Roman"/>
              </a:rPr>
              <a:t>right)</a:t>
            </a:r>
            <a:r>
              <a:rPr sz="1200" spc="265" dirty="0">
                <a:latin typeface="Times New Roman"/>
                <a:cs typeface="Times New Roman"/>
              </a:rPr>
              <a:t> </a:t>
            </a:r>
            <a:r>
              <a:rPr sz="1200" dirty="0">
                <a:latin typeface="Times New Roman"/>
                <a:cs typeface="Times New Roman"/>
              </a:rPr>
              <a:t>for</a:t>
            </a:r>
            <a:r>
              <a:rPr sz="1200" spc="215"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b="1" spc="275" dirty="0">
                <a:latin typeface="Times New Roman"/>
                <a:cs typeface="Times New Roman"/>
              </a:rPr>
              <a:t> </a:t>
            </a:r>
            <a:r>
              <a:rPr sz="1200" i="1" dirty="0">
                <a:latin typeface="Times New Roman"/>
                <a:cs typeface="Times New Roman"/>
              </a:rPr>
              <a:t>Andropogon</a:t>
            </a:r>
            <a:r>
              <a:rPr sz="1200" i="1" spc="254" dirty="0">
                <a:latin typeface="Times New Roman"/>
                <a:cs typeface="Times New Roman"/>
              </a:rPr>
              <a:t> </a:t>
            </a:r>
            <a:r>
              <a:rPr lang="en-US" sz="1200" i="1" dirty="0">
                <a:latin typeface="Times New Roman"/>
                <a:cs typeface="Times New Roman"/>
              </a:rPr>
              <a:t>gerardi</a:t>
            </a:r>
            <a:r>
              <a:rPr sz="1200" dirty="0">
                <a:latin typeface="Times New Roman"/>
                <a:cs typeface="Times New Roman"/>
              </a:rPr>
              <a:t>,</a:t>
            </a:r>
            <a:r>
              <a:rPr sz="1200" spc="240" dirty="0">
                <a:latin typeface="Times New Roman"/>
                <a:cs typeface="Times New Roman"/>
              </a:rPr>
              <a:t> </a:t>
            </a:r>
            <a:r>
              <a:rPr sz="1200" b="1" dirty="0">
                <a:latin typeface="Times New Roman"/>
                <a:cs typeface="Times New Roman"/>
              </a:rPr>
              <a:t>(</a:t>
            </a:r>
            <a:r>
              <a:rPr lang="en-US" sz="1200" b="1" dirty="0">
                <a:latin typeface="Times New Roman"/>
                <a:cs typeface="Times New Roman"/>
              </a:rPr>
              <a:t>b</a:t>
            </a:r>
            <a:r>
              <a:rPr sz="1200" b="1" dirty="0">
                <a:latin typeface="Times New Roman"/>
                <a:cs typeface="Times New Roman"/>
              </a:rPr>
              <a:t>)</a:t>
            </a:r>
            <a:r>
              <a:rPr sz="1200" b="1" spc="265" dirty="0">
                <a:latin typeface="Times New Roman"/>
                <a:cs typeface="Times New Roman"/>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sz="1200" dirty="0">
                <a:latin typeface="Times New Roman"/>
                <a:cs typeface="Times New Roman"/>
              </a:rPr>
              <a:t>,</a:t>
            </a:r>
            <a:r>
              <a:rPr sz="1200" spc="240" dirty="0">
                <a:latin typeface="Times New Roman"/>
                <a:cs typeface="Times New Roman"/>
              </a:rPr>
              <a:t> </a:t>
            </a:r>
            <a:r>
              <a:rPr sz="1200" b="1" dirty="0">
                <a:latin typeface="Times New Roman"/>
                <a:cs typeface="Times New Roman"/>
              </a:rPr>
              <a:t>(</a:t>
            </a:r>
            <a:r>
              <a:rPr lang="en-US" sz="1200" b="1" dirty="0">
                <a:latin typeface="Times New Roman"/>
                <a:cs typeface="Times New Roman"/>
              </a:rPr>
              <a:t>c</a:t>
            </a:r>
            <a:r>
              <a:rPr sz="1200" b="1" dirty="0">
                <a:latin typeface="Times New Roman"/>
                <a:cs typeface="Times New Roman"/>
              </a:rPr>
              <a:t>)</a:t>
            </a:r>
            <a:r>
              <a:rPr sz="1200" b="1" spc="275" dirty="0">
                <a:latin typeface="Times New Roman"/>
                <a:cs typeface="Times New Roman"/>
              </a:rPr>
              <a:t> </a:t>
            </a:r>
            <a:r>
              <a:rPr sz="1200" i="1" dirty="0">
                <a:latin typeface="Times New Roman"/>
                <a:cs typeface="Times New Roman"/>
              </a:rPr>
              <a:t>Sorghastrum</a:t>
            </a:r>
            <a:r>
              <a:rPr sz="1200" i="1" spc="250" dirty="0">
                <a:latin typeface="Times New Roman"/>
                <a:cs typeface="Times New Roman"/>
              </a:rPr>
              <a:t> </a:t>
            </a:r>
            <a:r>
              <a:rPr sz="1200" i="1" dirty="0">
                <a:latin typeface="Times New Roman"/>
                <a:cs typeface="Times New Roman"/>
              </a:rPr>
              <a:t>nutans</a:t>
            </a:r>
            <a:r>
              <a:rPr sz="1200" dirty="0">
                <a:latin typeface="Times New Roman"/>
                <a:cs typeface="Times New Roman"/>
              </a:rPr>
              <a:t>,</a:t>
            </a:r>
            <a:r>
              <a:rPr sz="1200" spc="240" dirty="0">
                <a:latin typeface="Times New Roman"/>
                <a:cs typeface="Times New Roman"/>
              </a:rPr>
              <a:t> </a:t>
            </a:r>
            <a:r>
              <a:rPr sz="1200" b="1" spc="-25" dirty="0">
                <a:latin typeface="Times New Roman"/>
                <a:cs typeface="Times New Roman"/>
              </a:rPr>
              <a:t>(</a:t>
            </a:r>
            <a:r>
              <a:rPr lang="en-US" sz="1200" b="1" spc="-25" dirty="0">
                <a:latin typeface="Times New Roman"/>
                <a:cs typeface="Times New Roman"/>
              </a:rPr>
              <a:t>d</a:t>
            </a:r>
            <a:r>
              <a:rPr sz="1200" b="1" spc="-25" dirty="0">
                <a:latin typeface="Times New Roman"/>
                <a:cs typeface="Times New Roman"/>
              </a:rPr>
              <a:t>)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T. floridanum</a:t>
            </a:r>
            <a:r>
              <a:rPr lang="en-US" sz="1200" dirty="0">
                <a:latin typeface="Times New Roman" panose="02020603050405020304" pitchFamily="18" charset="0"/>
                <a:cs typeface="Times New Roman" panose="02020603050405020304" pitchFamily="18" charset="0"/>
              </a:rPr>
              <a:t> hybrids</a:t>
            </a:r>
            <a:r>
              <a:rPr sz="1200" dirty="0">
                <a:latin typeface="Times New Roman"/>
                <a:cs typeface="Times New Roman"/>
              </a:rPr>
              <a:t>,</a:t>
            </a:r>
            <a:r>
              <a:rPr sz="1200" spc="260" dirty="0">
                <a:latin typeface="Times New Roman"/>
                <a:cs typeface="Times New Roman"/>
              </a:rPr>
              <a:t> </a:t>
            </a:r>
            <a:r>
              <a:rPr lang="en-US" sz="1200" dirty="0">
                <a:latin typeface="Times New Roman"/>
                <a:cs typeface="Times New Roman"/>
              </a:rPr>
              <a:t>and </a:t>
            </a:r>
            <a:r>
              <a:rPr sz="1200" b="1" dirty="0">
                <a:latin typeface="Times New Roman"/>
                <a:cs typeface="Times New Roman"/>
              </a:rPr>
              <a:t>(</a:t>
            </a:r>
            <a:r>
              <a:rPr lang="en-US" sz="1200" b="1" dirty="0">
                <a:latin typeface="Times New Roman"/>
                <a:cs typeface="Times New Roman"/>
              </a:rPr>
              <a:t>e</a:t>
            </a:r>
            <a:r>
              <a:rPr sz="1200" b="1" dirty="0">
                <a:latin typeface="Times New Roman"/>
                <a:cs typeface="Times New Roman"/>
              </a:rPr>
              <a:t>)</a:t>
            </a:r>
            <a:r>
              <a:rPr sz="1200" b="1" spc="285" dirty="0">
                <a:latin typeface="Times New Roman"/>
                <a:cs typeface="Times New Roman"/>
              </a:rPr>
              <a:t> </a:t>
            </a:r>
            <a:r>
              <a:rPr sz="1200" i="1" dirty="0">
                <a:latin typeface="Times New Roman"/>
                <a:cs typeface="Times New Roman"/>
              </a:rPr>
              <a:t>Panicum</a:t>
            </a:r>
            <a:r>
              <a:rPr sz="1200" i="1" spc="270" dirty="0">
                <a:latin typeface="Times New Roman"/>
                <a:cs typeface="Times New Roman"/>
              </a:rPr>
              <a:t> </a:t>
            </a:r>
            <a:r>
              <a:rPr sz="1200" i="1" dirty="0">
                <a:latin typeface="Times New Roman"/>
                <a:cs typeface="Times New Roman"/>
              </a:rPr>
              <a:t>virgatum</a:t>
            </a:r>
            <a:r>
              <a:rPr sz="1200" dirty="0">
                <a:latin typeface="Times New Roman"/>
                <a:cs typeface="Times New Roman"/>
              </a:rPr>
              <a:t>.</a:t>
            </a:r>
            <a:r>
              <a:rPr sz="1200" spc="260" dirty="0">
                <a:latin typeface="Times New Roman"/>
                <a:cs typeface="Times New Roman"/>
              </a:rPr>
              <a:t> </a:t>
            </a:r>
            <a:r>
              <a:rPr sz="1200" dirty="0">
                <a:latin typeface="Times New Roman"/>
                <a:cs typeface="Times New Roman"/>
              </a:rPr>
              <a:t>Summer</a:t>
            </a:r>
            <a:r>
              <a:rPr sz="1200" spc="265" dirty="0">
                <a:latin typeface="Times New Roman"/>
                <a:cs typeface="Times New Roman"/>
              </a:rPr>
              <a:t> </a:t>
            </a:r>
            <a:r>
              <a:rPr sz="1200" dirty="0">
                <a:latin typeface="Times New Roman"/>
                <a:cs typeface="Times New Roman"/>
              </a:rPr>
              <a:t>samples</a:t>
            </a:r>
            <a:r>
              <a:rPr sz="1200" spc="270" dirty="0">
                <a:latin typeface="Times New Roman"/>
                <a:cs typeface="Times New Roman"/>
              </a:rPr>
              <a:t> </a:t>
            </a:r>
            <a:r>
              <a:rPr sz="1200" dirty="0">
                <a:latin typeface="Times New Roman"/>
                <a:cs typeface="Times New Roman"/>
              </a:rPr>
              <a:t>exhibit</a:t>
            </a:r>
            <a:r>
              <a:rPr sz="1200" spc="250" dirty="0">
                <a:latin typeface="Times New Roman"/>
                <a:cs typeface="Times New Roman"/>
              </a:rPr>
              <a:t> </a:t>
            </a:r>
            <a:r>
              <a:rPr sz="1200" dirty="0">
                <a:latin typeface="Times New Roman"/>
                <a:cs typeface="Times New Roman"/>
              </a:rPr>
              <a:t>active</a:t>
            </a:r>
            <a:r>
              <a:rPr sz="1200" spc="285" dirty="0">
                <a:latin typeface="Times New Roman"/>
                <a:cs typeface="Times New Roman"/>
              </a:rPr>
              <a:t> </a:t>
            </a:r>
            <a:r>
              <a:rPr sz="1200" dirty="0">
                <a:latin typeface="Times New Roman"/>
                <a:cs typeface="Times New Roman"/>
              </a:rPr>
              <a:t>bud</a:t>
            </a:r>
            <a:r>
              <a:rPr sz="1200" spc="270" dirty="0">
                <a:latin typeface="Times New Roman"/>
                <a:cs typeface="Times New Roman"/>
              </a:rPr>
              <a:t> </a:t>
            </a:r>
            <a:r>
              <a:rPr sz="1200" dirty="0">
                <a:latin typeface="Times New Roman"/>
                <a:cs typeface="Times New Roman"/>
              </a:rPr>
              <a:t>growth</a:t>
            </a:r>
            <a:r>
              <a:rPr sz="1200" spc="254" dirty="0">
                <a:latin typeface="Times New Roman"/>
                <a:cs typeface="Times New Roman"/>
              </a:rPr>
              <a:t> </a:t>
            </a:r>
            <a:r>
              <a:rPr sz="1200" dirty="0">
                <a:latin typeface="Times New Roman"/>
                <a:cs typeface="Times New Roman"/>
              </a:rPr>
              <a:t>and</a:t>
            </a:r>
            <a:r>
              <a:rPr sz="1200" spc="260" dirty="0">
                <a:latin typeface="Times New Roman"/>
                <a:cs typeface="Times New Roman"/>
              </a:rPr>
              <a:t> </a:t>
            </a:r>
            <a:r>
              <a:rPr sz="1200" dirty="0">
                <a:latin typeface="Times New Roman"/>
                <a:cs typeface="Times New Roman"/>
              </a:rPr>
              <a:t>pale</a:t>
            </a:r>
            <a:r>
              <a:rPr sz="1200" spc="280" dirty="0">
                <a:latin typeface="Times New Roman"/>
                <a:cs typeface="Times New Roman"/>
              </a:rPr>
              <a:t> </a:t>
            </a:r>
            <a:r>
              <a:rPr sz="1200" dirty="0">
                <a:latin typeface="Times New Roman"/>
                <a:cs typeface="Times New Roman"/>
              </a:rPr>
              <a:t>storage</a:t>
            </a:r>
            <a:r>
              <a:rPr sz="1200" spc="235" dirty="0">
                <a:latin typeface="Times New Roman"/>
                <a:cs typeface="Times New Roman"/>
              </a:rPr>
              <a:t> </a:t>
            </a:r>
            <a:r>
              <a:rPr sz="1200" dirty="0">
                <a:latin typeface="Times New Roman"/>
                <a:cs typeface="Times New Roman"/>
              </a:rPr>
              <a:t>tissue.</a:t>
            </a:r>
            <a:r>
              <a:rPr sz="1200" spc="260" dirty="0">
                <a:latin typeface="Times New Roman"/>
                <a:cs typeface="Times New Roman"/>
              </a:rPr>
              <a:t> </a:t>
            </a:r>
            <a:r>
              <a:rPr sz="1200" dirty="0">
                <a:latin typeface="Times New Roman"/>
                <a:cs typeface="Times New Roman"/>
              </a:rPr>
              <a:t>Winter</a:t>
            </a:r>
            <a:r>
              <a:rPr sz="1200" spc="240" dirty="0">
                <a:latin typeface="Times New Roman"/>
                <a:cs typeface="Times New Roman"/>
              </a:rPr>
              <a:t> </a:t>
            </a:r>
            <a:r>
              <a:rPr sz="1200" dirty="0">
                <a:latin typeface="Times New Roman"/>
                <a:cs typeface="Times New Roman"/>
              </a:rPr>
              <a:t>samples</a:t>
            </a:r>
            <a:r>
              <a:rPr sz="1200" spc="285" dirty="0">
                <a:latin typeface="Times New Roman"/>
                <a:cs typeface="Times New Roman"/>
              </a:rPr>
              <a:t> </a:t>
            </a:r>
            <a:r>
              <a:rPr sz="1200" spc="-10" dirty="0">
                <a:latin typeface="Times New Roman"/>
                <a:cs typeface="Times New Roman"/>
              </a:rPr>
              <a:t>exhibit </a:t>
            </a:r>
            <a:r>
              <a:rPr sz="1200" dirty="0">
                <a:latin typeface="Times New Roman"/>
                <a:cs typeface="Times New Roman"/>
              </a:rPr>
              <a:t>dormancy</a:t>
            </a:r>
            <a:r>
              <a:rPr sz="1200" spc="135" dirty="0">
                <a:latin typeface="Times New Roman"/>
                <a:cs typeface="Times New Roman"/>
              </a:rPr>
              <a:t> </a:t>
            </a:r>
            <a:r>
              <a:rPr sz="1200" dirty="0">
                <a:latin typeface="Times New Roman"/>
                <a:cs typeface="Times New Roman"/>
              </a:rPr>
              <a:t>and</a:t>
            </a:r>
            <a:r>
              <a:rPr sz="1200" spc="140" dirty="0">
                <a:latin typeface="Times New Roman"/>
                <a:cs typeface="Times New Roman"/>
              </a:rPr>
              <a:t> </a:t>
            </a:r>
            <a:r>
              <a:rPr sz="1200" dirty="0">
                <a:latin typeface="Times New Roman"/>
                <a:cs typeface="Times New Roman"/>
              </a:rPr>
              <a:t>epidermal</a:t>
            </a:r>
            <a:r>
              <a:rPr sz="1200" spc="150" dirty="0">
                <a:latin typeface="Times New Roman"/>
                <a:cs typeface="Times New Roman"/>
              </a:rPr>
              <a:t> </a:t>
            </a:r>
            <a:r>
              <a:rPr sz="1200" dirty="0">
                <a:latin typeface="Times New Roman"/>
                <a:cs typeface="Times New Roman"/>
              </a:rPr>
              <a:t>hardening.</a:t>
            </a:r>
            <a:r>
              <a:rPr sz="1200" spc="135" dirty="0">
                <a:latin typeface="Times New Roman"/>
                <a:cs typeface="Times New Roman"/>
              </a:rPr>
              <a:t> </a:t>
            </a:r>
            <a:r>
              <a:rPr sz="1200" dirty="0">
                <a:latin typeface="Times New Roman"/>
                <a:cs typeface="Times New Roman"/>
              </a:rPr>
              <a:t>Proteomic</a:t>
            </a:r>
            <a:r>
              <a:rPr sz="1200" spc="114" dirty="0">
                <a:latin typeface="Times New Roman"/>
                <a:cs typeface="Times New Roman"/>
              </a:rPr>
              <a:t> </a:t>
            </a:r>
            <a:r>
              <a:rPr sz="1200" dirty="0">
                <a:latin typeface="Times New Roman"/>
                <a:cs typeface="Times New Roman"/>
              </a:rPr>
              <a:t>analysis</a:t>
            </a:r>
            <a:r>
              <a:rPr sz="1200" spc="160" dirty="0">
                <a:latin typeface="Times New Roman"/>
                <a:cs typeface="Times New Roman"/>
              </a:rPr>
              <a:t> </a:t>
            </a:r>
            <a:r>
              <a:rPr sz="1200" dirty="0">
                <a:latin typeface="Times New Roman"/>
                <a:cs typeface="Times New Roman"/>
              </a:rPr>
              <a:t>was</a:t>
            </a:r>
            <a:r>
              <a:rPr sz="1200" spc="140" dirty="0">
                <a:latin typeface="Times New Roman"/>
                <a:cs typeface="Times New Roman"/>
              </a:rPr>
              <a:t> </a:t>
            </a:r>
            <a:r>
              <a:rPr sz="1200" dirty="0">
                <a:latin typeface="Times New Roman"/>
                <a:cs typeface="Times New Roman"/>
              </a:rPr>
              <a:t>restricted</a:t>
            </a:r>
            <a:r>
              <a:rPr sz="1200" spc="160" dirty="0">
                <a:latin typeface="Times New Roman"/>
                <a:cs typeface="Times New Roman"/>
              </a:rPr>
              <a:t> </a:t>
            </a:r>
            <a:r>
              <a:rPr sz="1200" dirty="0">
                <a:latin typeface="Times New Roman"/>
                <a:cs typeface="Times New Roman"/>
              </a:rPr>
              <a:t>to</a:t>
            </a:r>
            <a:r>
              <a:rPr sz="1200" spc="145" dirty="0">
                <a:latin typeface="Times New Roman"/>
                <a:cs typeface="Times New Roman"/>
              </a:rPr>
              <a:t> </a:t>
            </a:r>
            <a:r>
              <a:rPr sz="1200" dirty="0">
                <a:latin typeface="Times New Roman"/>
                <a:cs typeface="Times New Roman"/>
              </a:rPr>
              <a:t>mid-section</a:t>
            </a:r>
            <a:r>
              <a:rPr sz="1200" spc="155" dirty="0">
                <a:latin typeface="Times New Roman"/>
                <a:cs typeface="Times New Roman"/>
              </a:rPr>
              <a:t> </a:t>
            </a:r>
            <a:r>
              <a:rPr sz="1200" dirty="0">
                <a:latin typeface="Times New Roman"/>
                <a:cs typeface="Times New Roman"/>
              </a:rPr>
              <a:t>of</a:t>
            </a:r>
            <a:r>
              <a:rPr sz="1200" spc="150" dirty="0">
                <a:latin typeface="Times New Roman"/>
                <a:cs typeface="Times New Roman"/>
              </a:rPr>
              <a:t> </a:t>
            </a:r>
            <a:r>
              <a:rPr sz="1200" dirty="0">
                <a:latin typeface="Times New Roman"/>
                <a:cs typeface="Times New Roman"/>
              </a:rPr>
              <a:t>these</a:t>
            </a:r>
            <a:r>
              <a:rPr sz="1200" spc="135" dirty="0">
                <a:latin typeface="Times New Roman"/>
                <a:cs typeface="Times New Roman"/>
              </a:rPr>
              <a:t> </a:t>
            </a:r>
            <a:r>
              <a:rPr sz="1200" dirty="0">
                <a:latin typeface="Times New Roman"/>
                <a:cs typeface="Times New Roman"/>
              </a:rPr>
              <a:t>storage</a:t>
            </a:r>
            <a:r>
              <a:rPr sz="1200" spc="110" dirty="0">
                <a:latin typeface="Times New Roman"/>
                <a:cs typeface="Times New Roman"/>
              </a:rPr>
              <a:t> </a:t>
            </a:r>
            <a:r>
              <a:rPr sz="1200" dirty="0">
                <a:latin typeface="Times New Roman"/>
                <a:cs typeface="Times New Roman"/>
              </a:rPr>
              <a:t>organs.</a:t>
            </a:r>
            <a:r>
              <a:rPr sz="1200" spc="135" dirty="0">
                <a:latin typeface="Times New Roman"/>
                <a:cs typeface="Times New Roman"/>
              </a:rPr>
              <a:t> </a:t>
            </a:r>
            <a:r>
              <a:rPr sz="1200" dirty="0">
                <a:latin typeface="Times New Roman"/>
                <a:cs typeface="Times New Roman"/>
              </a:rPr>
              <a:t>Scale</a:t>
            </a:r>
            <a:r>
              <a:rPr sz="1200" spc="180" dirty="0">
                <a:latin typeface="Times New Roman"/>
                <a:cs typeface="Times New Roman"/>
              </a:rPr>
              <a:t> </a:t>
            </a:r>
            <a:r>
              <a:rPr sz="1200" dirty="0">
                <a:latin typeface="Times New Roman"/>
                <a:cs typeface="Times New Roman"/>
              </a:rPr>
              <a:t>bars</a:t>
            </a:r>
            <a:r>
              <a:rPr sz="1200" spc="180" dirty="0">
                <a:latin typeface="Times New Roman"/>
                <a:cs typeface="Times New Roman"/>
              </a:rPr>
              <a:t> </a:t>
            </a:r>
            <a:r>
              <a:rPr sz="1200" dirty="0">
                <a:latin typeface="Times New Roman"/>
                <a:cs typeface="Times New Roman"/>
              </a:rPr>
              <a:t>represent</a:t>
            </a:r>
            <a:r>
              <a:rPr sz="1200" spc="110" dirty="0">
                <a:latin typeface="Times New Roman"/>
                <a:cs typeface="Times New Roman"/>
              </a:rPr>
              <a:t> </a:t>
            </a:r>
            <a:r>
              <a:rPr sz="1200" dirty="0">
                <a:latin typeface="Times New Roman"/>
                <a:cs typeface="Times New Roman"/>
              </a:rPr>
              <a:t>approx.</a:t>
            </a:r>
            <a:r>
              <a:rPr sz="1200" spc="140" dirty="0">
                <a:latin typeface="Times New Roman"/>
                <a:cs typeface="Times New Roman"/>
              </a:rPr>
              <a:t> </a:t>
            </a:r>
            <a:r>
              <a:rPr sz="1200" dirty="0">
                <a:latin typeface="Times New Roman"/>
                <a:cs typeface="Times New Roman"/>
              </a:rPr>
              <a:t>1</a:t>
            </a:r>
            <a:r>
              <a:rPr sz="1200" spc="140" dirty="0">
                <a:latin typeface="Times New Roman"/>
                <a:cs typeface="Times New Roman"/>
              </a:rPr>
              <a:t> </a:t>
            </a:r>
            <a:r>
              <a:rPr sz="1200" spc="-25" dirty="0">
                <a:latin typeface="Times New Roman"/>
                <a:cs typeface="Times New Roman"/>
              </a:rPr>
              <a:t>cm.</a:t>
            </a:r>
            <a:endParaRPr sz="1200" dirty="0">
              <a:latin typeface="Times New Roman"/>
              <a:cs typeface="Times New Roman"/>
            </a:endParaRPr>
          </a:p>
        </p:txBody>
      </p:sp>
      <p:sp>
        <p:nvSpPr>
          <p:cNvPr id="52" name="object 52"/>
          <p:cNvSpPr txBox="1"/>
          <p:nvPr/>
        </p:nvSpPr>
        <p:spPr>
          <a:xfrm>
            <a:off x="4653160" y="1906654"/>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3" name="object 53"/>
          <p:cNvSpPr txBox="1"/>
          <p:nvPr/>
        </p:nvSpPr>
        <p:spPr>
          <a:xfrm>
            <a:off x="471102" y="1913311"/>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4" name="object 54"/>
          <p:cNvSpPr txBox="1"/>
          <p:nvPr/>
        </p:nvSpPr>
        <p:spPr>
          <a:xfrm>
            <a:off x="2965726" y="1917388"/>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5" name="object 55"/>
          <p:cNvSpPr txBox="1"/>
          <p:nvPr/>
        </p:nvSpPr>
        <p:spPr>
          <a:xfrm>
            <a:off x="6045611" y="1918472"/>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6" name="object 56"/>
          <p:cNvSpPr txBox="1"/>
          <p:nvPr/>
        </p:nvSpPr>
        <p:spPr>
          <a:xfrm>
            <a:off x="6621953" y="1913311"/>
            <a:ext cx="143510" cy="97155"/>
          </a:xfrm>
          <a:prstGeom prst="rect">
            <a:avLst/>
          </a:prstGeom>
        </p:spPr>
        <p:txBody>
          <a:bodyPr vert="horz" wrap="square" lIns="0" tIns="15240" rIns="0" bIns="0" rtlCol="0">
            <a:spAutoFit/>
          </a:bodyPr>
          <a:lstStyle/>
          <a:p>
            <a:pPr marL="12700">
              <a:lnSpc>
                <a:spcPct val="100000"/>
              </a:lnSpc>
              <a:spcBef>
                <a:spcPts val="120"/>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7" name="object 57"/>
          <p:cNvSpPr txBox="1"/>
          <p:nvPr/>
        </p:nvSpPr>
        <p:spPr>
          <a:xfrm>
            <a:off x="8020081" y="1925336"/>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8" name="object 58"/>
          <p:cNvSpPr txBox="1"/>
          <p:nvPr/>
        </p:nvSpPr>
        <p:spPr>
          <a:xfrm>
            <a:off x="7546023" y="2733289"/>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59" name="object 59"/>
          <p:cNvSpPr txBox="1"/>
          <p:nvPr/>
        </p:nvSpPr>
        <p:spPr>
          <a:xfrm>
            <a:off x="2020395" y="4286753"/>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60" name="object 60"/>
          <p:cNvSpPr txBox="1"/>
          <p:nvPr/>
        </p:nvSpPr>
        <p:spPr>
          <a:xfrm>
            <a:off x="4504326" y="4286753"/>
            <a:ext cx="143510" cy="97155"/>
          </a:xfrm>
          <a:prstGeom prst="rect">
            <a:avLst/>
          </a:prstGeom>
        </p:spPr>
        <p:txBody>
          <a:bodyPr vert="horz" wrap="square" lIns="0" tIns="14604" rIns="0" bIns="0" rtlCol="0">
            <a:spAutoFit/>
          </a:bodyPr>
          <a:lstStyle/>
          <a:p>
            <a:pPr marL="12700">
              <a:lnSpc>
                <a:spcPct val="100000"/>
              </a:lnSpc>
              <a:spcBef>
                <a:spcPts val="114"/>
              </a:spcBef>
            </a:pPr>
            <a:r>
              <a:rPr sz="450" dirty="0">
                <a:latin typeface="Arial"/>
                <a:cs typeface="Arial"/>
              </a:rPr>
              <a:t>1</a:t>
            </a:r>
            <a:r>
              <a:rPr sz="450" spc="-85" dirty="0">
                <a:latin typeface="Arial"/>
                <a:cs typeface="Arial"/>
              </a:rPr>
              <a:t> </a:t>
            </a:r>
            <a:r>
              <a:rPr sz="450" spc="-25" dirty="0">
                <a:latin typeface="Arial"/>
                <a:cs typeface="Arial"/>
              </a:rPr>
              <a:t>cm</a:t>
            </a:r>
            <a:endParaRPr sz="450">
              <a:latin typeface="Arial"/>
              <a:cs typeface="Arial"/>
            </a:endParaRPr>
          </a:p>
        </p:txBody>
      </p:sp>
      <p:sp>
        <p:nvSpPr>
          <p:cNvPr id="61" name="object 61"/>
          <p:cNvSpPr/>
          <p:nvPr/>
        </p:nvSpPr>
        <p:spPr>
          <a:xfrm>
            <a:off x="1011304" y="1282218"/>
            <a:ext cx="62865" cy="106045"/>
          </a:xfrm>
          <a:custGeom>
            <a:avLst/>
            <a:gdLst/>
            <a:ahLst/>
            <a:cxnLst/>
            <a:rect l="l" t="t" r="r" b="b"/>
            <a:pathLst>
              <a:path w="62865" h="106044">
                <a:moveTo>
                  <a:pt x="26193" y="55340"/>
                </a:moveTo>
                <a:lnTo>
                  <a:pt x="5872" y="66469"/>
                </a:lnTo>
                <a:lnTo>
                  <a:pt x="62733" y="106000"/>
                </a:lnTo>
                <a:lnTo>
                  <a:pt x="61260" y="66469"/>
                </a:lnTo>
                <a:lnTo>
                  <a:pt x="61183" y="64405"/>
                </a:lnTo>
                <a:lnTo>
                  <a:pt x="31149" y="64405"/>
                </a:lnTo>
                <a:lnTo>
                  <a:pt x="26193" y="55340"/>
                </a:lnTo>
                <a:close/>
              </a:path>
              <a:path w="62865" h="106044">
                <a:moveTo>
                  <a:pt x="39800" y="47889"/>
                </a:moveTo>
                <a:lnTo>
                  <a:pt x="26193" y="55340"/>
                </a:lnTo>
                <a:lnTo>
                  <a:pt x="31149" y="64405"/>
                </a:lnTo>
                <a:lnTo>
                  <a:pt x="44773" y="56973"/>
                </a:lnTo>
                <a:lnTo>
                  <a:pt x="39800" y="47889"/>
                </a:lnTo>
                <a:close/>
              </a:path>
              <a:path w="62865" h="106044">
                <a:moveTo>
                  <a:pt x="60152" y="36743"/>
                </a:moveTo>
                <a:lnTo>
                  <a:pt x="39800" y="47889"/>
                </a:lnTo>
                <a:lnTo>
                  <a:pt x="44773" y="56973"/>
                </a:lnTo>
                <a:lnTo>
                  <a:pt x="31149" y="64405"/>
                </a:lnTo>
                <a:lnTo>
                  <a:pt x="61183" y="64405"/>
                </a:lnTo>
                <a:lnTo>
                  <a:pt x="60152" y="36743"/>
                </a:lnTo>
                <a:close/>
              </a:path>
              <a:path w="62865" h="106044">
                <a:moveTo>
                  <a:pt x="13582" y="0"/>
                </a:moveTo>
                <a:lnTo>
                  <a:pt x="0" y="7431"/>
                </a:lnTo>
                <a:lnTo>
                  <a:pt x="26193" y="55340"/>
                </a:lnTo>
                <a:lnTo>
                  <a:pt x="39800" y="47889"/>
                </a:lnTo>
                <a:lnTo>
                  <a:pt x="13582" y="0"/>
                </a:lnTo>
                <a:close/>
              </a:path>
            </a:pathLst>
          </a:custGeom>
          <a:solidFill>
            <a:srgbClr val="FFFFFF"/>
          </a:solidFill>
        </p:spPr>
        <p:txBody>
          <a:bodyPr wrap="square" lIns="0" tIns="0" rIns="0" bIns="0" rtlCol="0"/>
          <a:lstStyle/>
          <a:p>
            <a:endParaRPr/>
          </a:p>
        </p:txBody>
      </p:sp>
      <p:sp>
        <p:nvSpPr>
          <p:cNvPr id="62" name="object 62"/>
          <p:cNvSpPr/>
          <p:nvPr/>
        </p:nvSpPr>
        <p:spPr>
          <a:xfrm>
            <a:off x="3760679" y="1144738"/>
            <a:ext cx="58419" cy="108585"/>
          </a:xfrm>
          <a:custGeom>
            <a:avLst/>
            <a:gdLst/>
            <a:ahLst/>
            <a:cxnLst/>
            <a:rect l="l" t="t" r="r" b="b"/>
            <a:pathLst>
              <a:path w="58420" h="108584">
                <a:moveTo>
                  <a:pt x="23495" y="52472"/>
                </a:moveTo>
                <a:lnTo>
                  <a:pt x="0" y="101458"/>
                </a:lnTo>
                <a:lnTo>
                  <a:pt x="14037" y="108167"/>
                </a:lnTo>
                <a:lnTo>
                  <a:pt x="37448" y="59177"/>
                </a:lnTo>
                <a:lnTo>
                  <a:pt x="23495" y="52472"/>
                </a:lnTo>
                <a:close/>
              </a:path>
              <a:path w="58420" h="108584">
                <a:moveTo>
                  <a:pt x="57990" y="43143"/>
                </a:moveTo>
                <a:lnTo>
                  <a:pt x="27970" y="43143"/>
                </a:lnTo>
                <a:lnTo>
                  <a:pt x="41904" y="49852"/>
                </a:lnTo>
                <a:lnTo>
                  <a:pt x="37448" y="59177"/>
                </a:lnTo>
                <a:lnTo>
                  <a:pt x="58418" y="69256"/>
                </a:lnTo>
                <a:lnTo>
                  <a:pt x="58253" y="59177"/>
                </a:lnTo>
                <a:lnTo>
                  <a:pt x="58143" y="52472"/>
                </a:lnTo>
                <a:lnTo>
                  <a:pt x="58100" y="49852"/>
                </a:lnTo>
                <a:lnTo>
                  <a:pt x="57990" y="43143"/>
                </a:lnTo>
                <a:close/>
              </a:path>
              <a:path w="58420" h="108584">
                <a:moveTo>
                  <a:pt x="27970" y="43143"/>
                </a:moveTo>
                <a:lnTo>
                  <a:pt x="23495" y="52472"/>
                </a:lnTo>
                <a:lnTo>
                  <a:pt x="37448" y="59177"/>
                </a:lnTo>
                <a:lnTo>
                  <a:pt x="41904" y="49852"/>
                </a:lnTo>
                <a:lnTo>
                  <a:pt x="27970" y="43143"/>
                </a:lnTo>
                <a:close/>
              </a:path>
              <a:path w="58420" h="108584">
                <a:moveTo>
                  <a:pt x="57283" y="0"/>
                </a:moveTo>
                <a:lnTo>
                  <a:pt x="2580" y="42420"/>
                </a:lnTo>
                <a:lnTo>
                  <a:pt x="23495" y="52472"/>
                </a:lnTo>
                <a:lnTo>
                  <a:pt x="27970" y="43143"/>
                </a:lnTo>
                <a:lnTo>
                  <a:pt x="57990" y="43143"/>
                </a:lnTo>
                <a:lnTo>
                  <a:pt x="57283" y="0"/>
                </a:lnTo>
                <a:close/>
              </a:path>
            </a:pathLst>
          </a:custGeom>
          <a:solidFill>
            <a:srgbClr val="FFFFFF"/>
          </a:solidFill>
        </p:spPr>
        <p:txBody>
          <a:bodyPr wrap="square" lIns="0" tIns="0" rIns="0" bIns="0" rtlCol="0"/>
          <a:lstStyle/>
          <a:p>
            <a:endParaRPr/>
          </a:p>
        </p:txBody>
      </p:sp>
      <p:pic>
        <p:nvPicPr>
          <p:cNvPr id="63" name="object 63"/>
          <p:cNvPicPr/>
          <p:nvPr/>
        </p:nvPicPr>
        <p:blipFill>
          <a:blip r:embed="rId13" cstate="print"/>
          <a:stretch>
            <a:fillRect/>
          </a:stretch>
        </p:blipFill>
        <p:spPr>
          <a:xfrm>
            <a:off x="5789027" y="1724487"/>
            <a:ext cx="76790" cy="92066"/>
          </a:xfrm>
          <a:prstGeom prst="rect">
            <a:avLst/>
          </a:prstGeom>
        </p:spPr>
      </p:pic>
      <p:sp>
        <p:nvSpPr>
          <p:cNvPr id="64" name="object 64"/>
          <p:cNvSpPr/>
          <p:nvPr/>
        </p:nvSpPr>
        <p:spPr>
          <a:xfrm>
            <a:off x="7140295" y="891969"/>
            <a:ext cx="62230" cy="105410"/>
          </a:xfrm>
          <a:custGeom>
            <a:avLst/>
            <a:gdLst/>
            <a:ahLst/>
            <a:cxnLst/>
            <a:rect l="l" t="t" r="r" b="b"/>
            <a:pathLst>
              <a:path w="62229" h="105409">
                <a:moveTo>
                  <a:pt x="38704" y="51606"/>
                </a:moveTo>
                <a:lnTo>
                  <a:pt x="23222" y="51606"/>
                </a:lnTo>
                <a:lnTo>
                  <a:pt x="23222" y="104864"/>
                </a:lnTo>
                <a:lnTo>
                  <a:pt x="38704" y="104864"/>
                </a:lnTo>
                <a:lnTo>
                  <a:pt x="38704" y="51606"/>
                </a:lnTo>
                <a:close/>
              </a:path>
              <a:path w="62229" h="105409">
                <a:moveTo>
                  <a:pt x="30963" y="0"/>
                </a:moveTo>
                <a:lnTo>
                  <a:pt x="0" y="61927"/>
                </a:lnTo>
                <a:lnTo>
                  <a:pt x="23222" y="61927"/>
                </a:lnTo>
                <a:lnTo>
                  <a:pt x="23222" y="51606"/>
                </a:lnTo>
                <a:lnTo>
                  <a:pt x="56767" y="51606"/>
                </a:lnTo>
                <a:lnTo>
                  <a:pt x="30963" y="0"/>
                </a:lnTo>
                <a:close/>
              </a:path>
              <a:path w="62229" h="105409">
                <a:moveTo>
                  <a:pt x="56767" y="51606"/>
                </a:moveTo>
                <a:lnTo>
                  <a:pt x="38704" y="51606"/>
                </a:lnTo>
                <a:lnTo>
                  <a:pt x="38704" y="61927"/>
                </a:lnTo>
                <a:lnTo>
                  <a:pt x="61927" y="61927"/>
                </a:lnTo>
                <a:lnTo>
                  <a:pt x="56767" y="51606"/>
                </a:lnTo>
                <a:close/>
              </a:path>
            </a:pathLst>
          </a:custGeom>
          <a:solidFill>
            <a:srgbClr val="FFFFFF"/>
          </a:solidFill>
        </p:spPr>
        <p:txBody>
          <a:bodyPr wrap="square" lIns="0" tIns="0" rIns="0" bIns="0" rtlCol="0"/>
          <a:lstStyle/>
          <a:p>
            <a:endParaRPr/>
          </a:p>
        </p:txBody>
      </p:sp>
      <p:pic>
        <p:nvPicPr>
          <p:cNvPr id="65" name="object 65"/>
          <p:cNvPicPr/>
          <p:nvPr/>
        </p:nvPicPr>
        <p:blipFill>
          <a:blip r:embed="rId14" cstate="print"/>
          <a:stretch>
            <a:fillRect/>
          </a:stretch>
        </p:blipFill>
        <p:spPr>
          <a:xfrm>
            <a:off x="8932491" y="1285934"/>
            <a:ext cx="72042" cy="106516"/>
          </a:xfrm>
          <a:prstGeom prst="rect">
            <a:avLst/>
          </a:prstGeom>
        </p:spPr>
      </p:pic>
      <p:pic>
        <p:nvPicPr>
          <p:cNvPr id="66" name="object 66"/>
          <p:cNvPicPr/>
          <p:nvPr/>
        </p:nvPicPr>
        <p:blipFill>
          <a:blip r:embed="rId15" cstate="print"/>
          <a:stretch>
            <a:fillRect/>
          </a:stretch>
        </p:blipFill>
        <p:spPr>
          <a:xfrm>
            <a:off x="7277053" y="4006534"/>
            <a:ext cx="81538" cy="85563"/>
          </a:xfrm>
          <a:prstGeom prst="rect">
            <a:avLst/>
          </a:prstGeom>
        </p:spPr>
      </p:pic>
      <p:pic>
        <p:nvPicPr>
          <p:cNvPr id="67" name="object 67"/>
          <p:cNvPicPr/>
          <p:nvPr/>
        </p:nvPicPr>
        <p:blipFill>
          <a:blip r:embed="rId15" cstate="print"/>
          <a:stretch>
            <a:fillRect/>
          </a:stretch>
        </p:blipFill>
        <p:spPr>
          <a:xfrm>
            <a:off x="3628257" y="4043690"/>
            <a:ext cx="81538" cy="85563"/>
          </a:xfrm>
          <a:prstGeom prst="rect">
            <a:avLst/>
          </a:prstGeom>
        </p:spPr>
      </p:pic>
      <p:pic>
        <p:nvPicPr>
          <p:cNvPr id="68" name="object 68"/>
          <p:cNvPicPr/>
          <p:nvPr/>
        </p:nvPicPr>
        <p:blipFill>
          <a:blip r:embed="rId16" cstate="print"/>
          <a:stretch>
            <a:fillRect/>
          </a:stretch>
        </p:blipFill>
        <p:spPr>
          <a:xfrm>
            <a:off x="2994837" y="3724038"/>
            <a:ext cx="84325" cy="93924"/>
          </a:xfrm>
          <a:prstGeom prst="rect">
            <a:avLst/>
          </a:prstGeom>
        </p:spPr>
      </p:pic>
      <p:sp>
        <p:nvSpPr>
          <p:cNvPr id="69" name="object 50">
            <a:extLst>
              <a:ext uri="{FF2B5EF4-FFF2-40B4-BE49-F238E27FC236}">
                <a16:creationId xmlns:a16="http://schemas.microsoft.com/office/drawing/2014/main" id="{8A5C3169-23BF-FBFD-BAA6-92A51D6AE6A6}"/>
              </a:ext>
            </a:extLst>
          </p:cNvPr>
          <p:cNvSpPr txBox="1"/>
          <p:nvPr/>
        </p:nvSpPr>
        <p:spPr>
          <a:xfrm>
            <a:off x="5038460" y="23956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e</a:t>
            </a:r>
            <a:endParaRPr sz="1450" dirty="0">
              <a:latin typeface="Arial"/>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1" name="object 121"/>
          <p:cNvSpPr txBox="1"/>
          <p:nvPr/>
        </p:nvSpPr>
        <p:spPr>
          <a:xfrm>
            <a:off x="54609" y="5803961"/>
            <a:ext cx="9774359" cy="1090042"/>
          </a:xfrm>
          <a:prstGeom prst="rect">
            <a:avLst/>
          </a:prstGeom>
        </p:spPr>
        <p:txBody>
          <a:bodyPr vert="horz" wrap="square" lIns="0" tIns="12700" rIns="0" bIns="0" rtlCol="0">
            <a:spAutoFit/>
          </a:bodyPr>
          <a:lstStyle/>
          <a:p>
            <a:pPr marR="5080" algn="just">
              <a:lnSpc>
                <a:spcPts val="1435"/>
              </a:lnSpc>
              <a:spcBef>
                <a:spcPts val="100"/>
              </a:spcBef>
            </a:pPr>
            <a:r>
              <a:rPr lang="en-US" sz="1200" b="1" dirty="0">
                <a:latin typeface="Times New Roman"/>
                <a:cs typeface="Times New Roman"/>
              </a:rPr>
              <a:t>Fig. S2.</a:t>
            </a:r>
            <a:r>
              <a:rPr lang="en-US" sz="1200" b="1" spc="459" dirty="0">
                <a:latin typeface="Times New Roman"/>
                <a:cs typeface="Times New Roman"/>
              </a:rPr>
              <a:t> </a:t>
            </a:r>
            <a:r>
              <a:rPr lang="en-US" sz="1200" b="1" dirty="0">
                <a:latin typeface="Times New Roman"/>
                <a:cs typeface="Times New Roman"/>
              </a:rPr>
              <a:t>Principal</a:t>
            </a:r>
            <a:r>
              <a:rPr lang="en-US" sz="1200" b="1" spc="455" dirty="0">
                <a:latin typeface="Times New Roman"/>
                <a:cs typeface="Times New Roman"/>
              </a:rPr>
              <a:t> </a:t>
            </a:r>
            <a:r>
              <a:rPr lang="en-US" sz="1200" b="1" dirty="0">
                <a:latin typeface="Times New Roman"/>
                <a:cs typeface="Times New Roman"/>
              </a:rPr>
              <a:t>component</a:t>
            </a:r>
            <a:r>
              <a:rPr lang="en-US" sz="1200" b="1" spc="455" dirty="0">
                <a:latin typeface="Times New Roman"/>
                <a:cs typeface="Times New Roman"/>
              </a:rPr>
              <a:t> </a:t>
            </a:r>
            <a:r>
              <a:rPr lang="en-US" sz="1200" b="1" dirty="0">
                <a:latin typeface="Times New Roman"/>
                <a:cs typeface="Times New Roman"/>
              </a:rPr>
              <a:t>analysis</a:t>
            </a:r>
            <a:r>
              <a:rPr lang="en-US" sz="1200" b="1" spc="459" dirty="0">
                <a:latin typeface="Times New Roman"/>
                <a:cs typeface="Times New Roman"/>
              </a:rPr>
              <a:t> </a:t>
            </a:r>
            <a:r>
              <a:rPr lang="en-US" sz="1200" b="1" dirty="0">
                <a:latin typeface="Times New Roman"/>
                <a:cs typeface="Times New Roman"/>
              </a:rPr>
              <a:t>(PCA)</a:t>
            </a:r>
            <a:r>
              <a:rPr lang="en-US" sz="1200" b="1" spc="455" dirty="0">
                <a:latin typeface="Times New Roman"/>
                <a:cs typeface="Times New Roman"/>
              </a:rPr>
              <a:t> </a:t>
            </a:r>
            <a:r>
              <a:rPr lang="en-US" sz="1200" b="1" spc="-25" dirty="0">
                <a:latin typeface="Times New Roman"/>
                <a:cs typeface="Times New Roman"/>
              </a:rPr>
              <a:t>of</a:t>
            </a:r>
            <a:r>
              <a:rPr lang="en-US" sz="1200" dirty="0">
                <a:latin typeface="Times New Roman"/>
                <a:cs typeface="Times New Roman"/>
              </a:rPr>
              <a:t> </a:t>
            </a:r>
            <a:r>
              <a:rPr sz="1200" b="1" spc="-10" dirty="0">
                <a:latin typeface="Times New Roman"/>
                <a:cs typeface="Times New Roman"/>
              </a:rPr>
              <a:t>log-</a:t>
            </a:r>
            <a:r>
              <a:rPr sz="1200" b="1" dirty="0">
                <a:latin typeface="Times New Roman"/>
                <a:cs typeface="Times New Roman"/>
              </a:rPr>
              <a:t>transformed</a:t>
            </a:r>
            <a:r>
              <a:rPr sz="1200" b="1" spc="440" dirty="0">
                <a:latin typeface="Times New Roman"/>
                <a:cs typeface="Times New Roman"/>
              </a:rPr>
              <a:t> </a:t>
            </a:r>
            <a:r>
              <a:rPr sz="1200" b="1" dirty="0">
                <a:latin typeface="Times New Roman"/>
                <a:cs typeface="Times New Roman"/>
              </a:rPr>
              <a:t>protein</a:t>
            </a:r>
            <a:r>
              <a:rPr sz="1200" b="1" spc="445" dirty="0">
                <a:latin typeface="Times New Roman"/>
                <a:cs typeface="Times New Roman"/>
              </a:rPr>
              <a:t> </a:t>
            </a:r>
            <a:r>
              <a:rPr sz="1200" b="1" dirty="0">
                <a:latin typeface="Times New Roman"/>
                <a:cs typeface="Times New Roman"/>
              </a:rPr>
              <a:t>abundance</a:t>
            </a:r>
            <a:r>
              <a:rPr sz="1200" b="1" spc="440" dirty="0">
                <a:latin typeface="Times New Roman"/>
                <a:cs typeface="Times New Roman"/>
              </a:rPr>
              <a:t> </a:t>
            </a:r>
            <a:r>
              <a:rPr sz="1200" b="1" dirty="0">
                <a:latin typeface="Times New Roman"/>
                <a:cs typeface="Times New Roman"/>
              </a:rPr>
              <a:t>data.</a:t>
            </a:r>
            <a:r>
              <a:rPr sz="1200" b="1" spc="445"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b="1" spc="440" dirty="0">
                <a:latin typeface="Times New Roman"/>
                <a:cs typeface="Times New Roman"/>
              </a:rPr>
              <a:t> </a:t>
            </a:r>
            <a:r>
              <a:rPr sz="1200" dirty="0">
                <a:latin typeface="Times New Roman"/>
                <a:cs typeface="Times New Roman"/>
              </a:rPr>
              <a:t>PCA</a:t>
            </a:r>
            <a:r>
              <a:rPr sz="1200" spc="440" dirty="0">
                <a:latin typeface="Times New Roman"/>
                <a:cs typeface="Times New Roman"/>
              </a:rPr>
              <a:t> </a:t>
            </a:r>
            <a:r>
              <a:rPr sz="1200" spc="-25" dirty="0">
                <a:latin typeface="Times New Roman"/>
                <a:cs typeface="Times New Roman"/>
              </a:rPr>
              <a:t>of</a:t>
            </a:r>
            <a:r>
              <a:rPr lang="en-US" sz="1200" spc="-25" dirty="0">
                <a:latin typeface="Times New Roman"/>
                <a:cs typeface="Times New Roman"/>
              </a:rPr>
              <a:t> </a:t>
            </a:r>
            <a:r>
              <a:rPr sz="1200" dirty="0">
                <a:latin typeface="Times New Roman"/>
                <a:cs typeface="Times New Roman"/>
              </a:rPr>
              <a:t>745</a:t>
            </a:r>
            <a:r>
              <a:rPr sz="1200" spc="100" dirty="0">
                <a:latin typeface="Times New Roman"/>
                <a:cs typeface="Times New Roman"/>
              </a:rPr>
              <a:t> </a:t>
            </a:r>
            <a:r>
              <a:rPr sz="1200" dirty="0">
                <a:latin typeface="Times New Roman"/>
                <a:cs typeface="Times New Roman"/>
              </a:rPr>
              <a:t>orthogroups</a:t>
            </a:r>
            <a:r>
              <a:rPr sz="1200" spc="140" dirty="0">
                <a:latin typeface="Times New Roman"/>
                <a:cs typeface="Times New Roman"/>
              </a:rPr>
              <a:t>  </a:t>
            </a:r>
            <a:r>
              <a:rPr sz="1200" dirty="0">
                <a:latin typeface="Times New Roman"/>
                <a:cs typeface="Times New Roman"/>
              </a:rPr>
              <a:t>from</a:t>
            </a:r>
            <a:r>
              <a:rPr sz="1200" spc="145" dirty="0">
                <a:latin typeface="Times New Roman"/>
                <a:cs typeface="Times New Roman"/>
              </a:rPr>
              <a:t>  </a:t>
            </a:r>
            <a:r>
              <a:rPr sz="1200" dirty="0">
                <a:latin typeface="Times New Roman"/>
                <a:cs typeface="Times New Roman"/>
              </a:rPr>
              <a:t>five</a:t>
            </a:r>
            <a:r>
              <a:rPr sz="1200" spc="135" dirty="0">
                <a:latin typeface="Times New Roman"/>
                <a:cs typeface="Times New Roman"/>
              </a:rPr>
              <a:t>  </a:t>
            </a:r>
            <a:r>
              <a:rPr sz="1200" dirty="0">
                <a:latin typeface="Times New Roman"/>
                <a:cs typeface="Times New Roman"/>
              </a:rPr>
              <a:t>species</a:t>
            </a:r>
            <a:r>
              <a:rPr sz="1200" spc="145" dirty="0">
                <a:latin typeface="Times New Roman"/>
                <a:cs typeface="Times New Roman"/>
              </a:rPr>
              <a:t>  </a:t>
            </a:r>
            <a:r>
              <a:rPr lang="en-US" sz="1200" i="1" dirty="0">
                <a:latin typeface="Times New Roman"/>
                <a:cs typeface="Times New Roman"/>
              </a:rPr>
              <a:t>Tripsacum dactyloides and T. floridanum hybrids </a:t>
            </a:r>
            <a:r>
              <a:rPr sz="1200" spc="-10" dirty="0">
                <a:latin typeface="Times New Roman"/>
                <a:cs typeface="Times New Roman"/>
              </a:rPr>
              <a:t>(Td-</a:t>
            </a:r>
            <a:r>
              <a:rPr sz="1200" dirty="0">
                <a:latin typeface="Times New Roman"/>
                <a:cs typeface="Times New Roman"/>
              </a:rPr>
              <a:t>2019,</a:t>
            </a:r>
            <a:r>
              <a:rPr sz="1200" spc="145" dirty="0">
                <a:latin typeface="Times New Roman"/>
                <a:cs typeface="Times New Roman"/>
              </a:rPr>
              <a:t> </a:t>
            </a:r>
            <a:r>
              <a:rPr sz="1200" spc="-10" dirty="0">
                <a:latin typeface="Times New Roman"/>
                <a:cs typeface="Times New Roman"/>
              </a:rPr>
              <a:t>Td-</a:t>
            </a:r>
            <a:r>
              <a:rPr sz="1200" dirty="0">
                <a:latin typeface="Times New Roman"/>
                <a:cs typeface="Times New Roman"/>
              </a:rPr>
              <a:t>2022),</a:t>
            </a:r>
            <a:r>
              <a:rPr sz="1200" spc="145" dirty="0">
                <a:latin typeface="Times New Roman"/>
                <a:cs typeface="Times New Roman"/>
              </a:rPr>
              <a:t> </a:t>
            </a:r>
            <a:r>
              <a:rPr sz="1200" i="1" dirty="0">
                <a:latin typeface="Times New Roman"/>
                <a:cs typeface="Times New Roman"/>
              </a:rPr>
              <a:t>A</a:t>
            </a:r>
            <a:r>
              <a:rPr lang="en-US" sz="1200" i="1" dirty="0">
                <a:latin typeface="Times New Roman"/>
                <a:cs typeface="Times New Roman"/>
              </a:rPr>
              <a:t>ndropogon</a:t>
            </a:r>
            <a:r>
              <a:rPr sz="1200" i="1" spc="-25" dirty="0">
                <a:latin typeface="Times New Roman"/>
                <a:cs typeface="Times New Roman"/>
              </a:rPr>
              <a:t> </a:t>
            </a:r>
            <a:r>
              <a:rPr sz="1200" i="1" dirty="0">
                <a:latin typeface="Times New Roman"/>
                <a:cs typeface="Times New Roman"/>
              </a:rPr>
              <a:t>gerardi</a:t>
            </a:r>
            <a:r>
              <a:rPr lang="en-US" sz="1200" i="1" dirty="0">
                <a:latin typeface="Times New Roman"/>
                <a:cs typeface="Times New Roman"/>
              </a:rPr>
              <a:t> </a:t>
            </a:r>
            <a:r>
              <a:rPr sz="1200" dirty="0">
                <a:latin typeface="Times New Roman"/>
                <a:cs typeface="Times New Roman"/>
              </a:rPr>
              <a:t>(Ag),</a:t>
            </a:r>
            <a:r>
              <a:rPr sz="1200" spc="140" dirty="0">
                <a:latin typeface="Times New Roman"/>
                <a:cs typeface="Times New Roman"/>
              </a:rPr>
              <a:t> </a:t>
            </a:r>
            <a:r>
              <a:rPr lang="en-US" sz="1200" i="1" dirty="0">
                <a:latin typeface="Times New Roman"/>
                <a:cs typeface="Times New Roman"/>
              </a:rPr>
              <a:t>Miscanthus </a:t>
            </a:r>
            <a:r>
              <a:rPr lang="en-US" sz="1200" spc="140" dirty="0">
                <a:latin typeface="Times New Roman"/>
                <a:cs typeface="Times New Roman"/>
              </a:rPr>
              <a:t>× </a:t>
            </a:r>
            <a:r>
              <a:rPr lang="en-US" sz="1200" i="1" dirty="0">
                <a:latin typeface="Times New Roman"/>
                <a:cs typeface="Times New Roman"/>
              </a:rPr>
              <a:t>giganteus </a:t>
            </a:r>
            <a:r>
              <a:rPr sz="1200" dirty="0">
                <a:latin typeface="Times New Roman"/>
                <a:cs typeface="Times New Roman"/>
              </a:rPr>
              <a:t>(Mg),</a:t>
            </a:r>
            <a:r>
              <a:rPr sz="1200" spc="145" dirty="0">
                <a:latin typeface="Times New Roman"/>
                <a:cs typeface="Times New Roman"/>
              </a:rPr>
              <a:t>  </a:t>
            </a:r>
            <a:r>
              <a:rPr sz="1200" i="1" dirty="0">
                <a:latin typeface="Times New Roman"/>
                <a:cs typeface="Times New Roman"/>
              </a:rPr>
              <a:t>P</a:t>
            </a:r>
            <a:r>
              <a:rPr lang="en-US" sz="1200" i="1" dirty="0">
                <a:latin typeface="Times New Roman"/>
                <a:cs typeface="Times New Roman"/>
              </a:rPr>
              <a:t>anicum</a:t>
            </a:r>
            <a:r>
              <a:rPr sz="1200" i="1" spc="285" dirty="0">
                <a:latin typeface="Times New Roman"/>
                <a:cs typeface="Times New Roman"/>
              </a:rPr>
              <a:t> </a:t>
            </a:r>
            <a:r>
              <a:rPr sz="1200" i="1" dirty="0">
                <a:latin typeface="Times New Roman"/>
                <a:cs typeface="Times New Roman"/>
              </a:rPr>
              <a:t>virgatum</a:t>
            </a:r>
            <a:r>
              <a:rPr sz="1200" i="1" spc="450" dirty="0">
                <a:latin typeface="Times New Roman"/>
                <a:cs typeface="Times New Roman"/>
              </a:rPr>
              <a:t> </a:t>
            </a:r>
            <a:r>
              <a:rPr sz="1200" spc="-10" dirty="0">
                <a:latin typeface="Times New Roman"/>
                <a:cs typeface="Times New Roman"/>
              </a:rPr>
              <a:t>(</a:t>
            </a:r>
            <a:r>
              <a:rPr sz="1200" spc="-10" dirty="0" err="1">
                <a:latin typeface="Times New Roman"/>
                <a:cs typeface="Times New Roman"/>
              </a:rPr>
              <a:t>Pv</a:t>
            </a:r>
            <a:r>
              <a:rPr sz="1200" spc="-10" dirty="0">
                <a:latin typeface="Times New Roman"/>
                <a:cs typeface="Times New Roman"/>
              </a:rPr>
              <a:t>),</a:t>
            </a:r>
            <a:r>
              <a:rPr lang="en-US" sz="1200" spc="-10" dirty="0">
                <a:latin typeface="Times New Roman"/>
                <a:cs typeface="Times New Roman"/>
              </a:rPr>
              <a:t> </a:t>
            </a:r>
            <a:r>
              <a:rPr lang="en-US" sz="1200" dirty="0">
                <a:latin typeface="Times New Roman"/>
                <a:cs typeface="Times New Roman"/>
              </a:rPr>
              <a:t>and</a:t>
            </a:r>
            <a:r>
              <a:rPr lang="en-US" sz="1200" spc="455" dirty="0">
                <a:latin typeface="Times New Roman"/>
                <a:cs typeface="Times New Roman"/>
              </a:rPr>
              <a:t> </a:t>
            </a:r>
            <a:r>
              <a:rPr lang="en-US" sz="1200" i="1" dirty="0">
                <a:latin typeface="Times New Roman"/>
                <a:cs typeface="Times New Roman"/>
              </a:rPr>
              <a:t>Sorghastrum</a:t>
            </a:r>
            <a:r>
              <a:rPr lang="en-US" sz="1200" i="1" spc="270" dirty="0">
                <a:latin typeface="Times New Roman"/>
                <a:cs typeface="Times New Roman"/>
              </a:rPr>
              <a:t> </a:t>
            </a:r>
            <a:r>
              <a:rPr lang="en-US" sz="1200" i="1" dirty="0">
                <a:latin typeface="Times New Roman"/>
                <a:cs typeface="Times New Roman"/>
              </a:rPr>
              <a:t>nutans</a:t>
            </a:r>
            <a:r>
              <a:rPr lang="en-US" sz="1200" i="1" spc="475" dirty="0">
                <a:latin typeface="Times New Roman"/>
                <a:cs typeface="Times New Roman"/>
              </a:rPr>
              <a:t> </a:t>
            </a:r>
            <a:r>
              <a:rPr lang="en-US" sz="1200" dirty="0">
                <a:latin typeface="Times New Roman"/>
                <a:cs typeface="Times New Roman"/>
              </a:rPr>
              <a:t>(Sn).</a:t>
            </a:r>
            <a:r>
              <a:rPr lang="en-US" sz="1200" spc="480" dirty="0">
                <a:latin typeface="Times New Roman"/>
                <a:cs typeface="Times New Roman"/>
              </a:rPr>
              <a:t> </a:t>
            </a:r>
            <a:r>
              <a:rPr lang="en-US" sz="1200" b="1" dirty="0">
                <a:latin typeface="Times New Roman"/>
                <a:cs typeface="Times New Roman"/>
              </a:rPr>
              <a:t>(b)</a:t>
            </a:r>
            <a:r>
              <a:rPr lang="en-US" sz="1200" b="1" spc="475" dirty="0">
                <a:latin typeface="Times New Roman"/>
                <a:cs typeface="Times New Roman"/>
              </a:rPr>
              <a:t> </a:t>
            </a:r>
            <a:r>
              <a:rPr lang="en-US" sz="1200" dirty="0">
                <a:latin typeface="Times New Roman"/>
                <a:cs typeface="Times New Roman"/>
              </a:rPr>
              <a:t>PCA</a:t>
            </a:r>
            <a:r>
              <a:rPr lang="en-US" sz="1200" spc="470" dirty="0">
                <a:latin typeface="Times New Roman"/>
                <a:cs typeface="Times New Roman"/>
              </a:rPr>
              <a:t> </a:t>
            </a:r>
            <a:r>
              <a:rPr lang="en-US" sz="1200" dirty="0">
                <a:latin typeface="Times New Roman"/>
                <a:cs typeface="Times New Roman"/>
              </a:rPr>
              <a:t>of</a:t>
            </a:r>
            <a:r>
              <a:rPr lang="en-US" sz="1200" spc="470" dirty="0">
                <a:latin typeface="Times New Roman"/>
                <a:cs typeface="Times New Roman"/>
              </a:rPr>
              <a:t> </a:t>
            </a:r>
            <a:r>
              <a:rPr lang="en-US" sz="1200" dirty="0">
                <a:latin typeface="Times New Roman"/>
                <a:cs typeface="Times New Roman"/>
              </a:rPr>
              <a:t>1,889</a:t>
            </a:r>
            <a:r>
              <a:rPr lang="en-US" sz="1200" spc="470" dirty="0">
                <a:latin typeface="Times New Roman"/>
                <a:cs typeface="Times New Roman"/>
              </a:rPr>
              <a:t> </a:t>
            </a:r>
            <a:r>
              <a:rPr lang="en-US" sz="1200" dirty="0">
                <a:latin typeface="Times New Roman"/>
                <a:cs typeface="Times New Roman"/>
              </a:rPr>
              <a:t>proteins</a:t>
            </a:r>
            <a:r>
              <a:rPr lang="en-US" sz="1200" spc="475" dirty="0">
                <a:latin typeface="Times New Roman"/>
                <a:cs typeface="Times New Roman"/>
              </a:rPr>
              <a:t> </a:t>
            </a:r>
            <a:r>
              <a:rPr lang="en-US" sz="1200" dirty="0">
                <a:latin typeface="Times New Roman"/>
                <a:cs typeface="Times New Roman"/>
              </a:rPr>
              <a:t>from</a:t>
            </a:r>
            <a:r>
              <a:rPr lang="en-US" sz="1200" spc="475" dirty="0">
                <a:latin typeface="Times New Roman"/>
                <a:cs typeface="Times New Roman"/>
              </a:rPr>
              <a:t> </a:t>
            </a:r>
            <a:r>
              <a:rPr lang="en-US" sz="1200" i="1" dirty="0">
                <a:latin typeface="Times New Roman"/>
                <a:cs typeface="Times New Roman"/>
              </a:rPr>
              <a:t>Tripsacum</a:t>
            </a:r>
            <a:r>
              <a:rPr lang="en-US" sz="1200" i="1" spc="475" dirty="0">
                <a:latin typeface="Times New Roman"/>
                <a:cs typeface="Times New Roman"/>
              </a:rPr>
              <a:t> </a:t>
            </a:r>
            <a:r>
              <a:rPr lang="en-US" sz="1200" dirty="0">
                <a:latin typeface="Times New Roman"/>
                <a:cs typeface="Times New Roman"/>
              </a:rPr>
              <a:t>hybrids.</a:t>
            </a:r>
            <a:r>
              <a:rPr lang="en-US" sz="1200" spc="470" dirty="0">
                <a:latin typeface="Times New Roman"/>
                <a:cs typeface="Times New Roman"/>
              </a:rPr>
              <a:t> </a:t>
            </a:r>
            <a:r>
              <a:rPr lang="en-US" sz="1200" dirty="0">
                <a:latin typeface="Times New Roman"/>
                <a:cs typeface="Times New Roman"/>
              </a:rPr>
              <a:t>Points</a:t>
            </a:r>
            <a:r>
              <a:rPr lang="en-US" sz="1200" spc="475" dirty="0">
                <a:latin typeface="Times New Roman"/>
                <a:cs typeface="Times New Roman"/>
              </a:rPr>
              <a:t> </a:t>
            </a:r>
            <a:r>
              <a:rPr lang="en-US" sz="1200" dirty="0">
                <a:latin typeface="Times New Roman"/>
                <a:cs typeface="Times New Roman"/>
              </a:rPr>
              <a:t>are</a:t>
            </a:r>
            <a:r>
              <a:rPr lang="en-US" sz="1200" spc="475" dirty="0">
                <a:latin typeface="Times New Roman"/>
                <a:cs typeface="Times New Roman"/>
              </a:rPr>
              <a:t> </a:t>
            </a:r>
            <a:r>
              <a:rPr lang="en-US" sz="1200" dirty="0">
                <a:latin typeface="Times New Roman"/>
                <a:cs typeface="Times New Roman"/>
              </a:rPr>
              <a:t>colored</a:t>
            </a:r>
            <a:r>
              <a:rPr lang="en-US" sz="1200" spc="480" dirty="0">
                <a:latin typeface="Times New Roman"/>
                <a:cs typeface="Times New Roman"/>
              </a:rPr>
              <a:t> </a:t>
            </a:r>
            <a:r>
              <a:rPr lang="en-US" sz="1200" dirty="0">
                <a:latin typeface="Times New Roman"/>
                <a:cs typeface="Times New Roman"/>
              </a:rPr>
              <a:t>by</a:t>
            </a:r>
            <a:r>
              <a:rPr lang="en-US" sz="1200" spc="470" dirty="0">
                <a:latin typeface="Times New Roman"/>
                <a:cs typeface="Times New Roman"/>
              </a:rPr>
              <a:t> </a:t>
            </a:r>
            <a:r>
              <a:rPr lang="en-US" sz="1200" dirty="0">
                <a:latin typeface="Times New Roman"/>
                <a:cs typeface="Times New Roman"/>
              </a:rPr>
              <a:t>hybrid</a:t>
            </a:r>
            <a:r>
              <a:rPr lang="en-US" sz="1200" spc="475" dirty="0">
                <a:latin typeface="Times New Roman"/>
                <a:cs typeface="Times New Roman"/>
              </a:rPr>
              <a:t> </a:t>
            </a:r>
            <a:r>
              <a:rPr lang="en-US" sz="1200" spc="-10" dirty="0">
                <a:latin typeface="Times New Roman"/>
                <a:cs typeface="Times New Roman"/>
              </a:rPr>
              <a:t>type–</a:t>
            </a:r>
            <a:r>
              <a:rPr lang="en-US" sz="1200" dirty="0">
                <a:latin typeface="Times New Roman"/>
                <a:cs typeface="Times New Roman"/>
              </a:rPr>
              <a:t>intraspecific</a:t>
            </a:r>
            <a:r>
              <a:rPr lang="en-US" sz="1200" spc="305" dirty="0">
                <a:latin typeface="Times New Roman"/>
                <a:cs typeface="Times New Roman"/>
              </a:rPr>
              <a:t> </a:t>
            </a:r>
            <a:r>
              <a:rPr lang="en-US" sz="1200" i="1" spc="-25" dirty="0">
                <a:latin typeface="Times New Roman"/>
                <a:cs typeface="Times New Roman"/>
              </a:rPr>
              <a:t>T. </a:t>
            </a:r>
            <a:r>
              <a:rPr lang="en-US" sz="1200" i="1" dirty="0">
                <a:latin typeface="Times New Roman"/>
                <a:cs typeface="Times New Roman"/>
              </a:rPr>
              <a:t>dactyloides</a:t>
            </a:r>
            <a:r>
              <a:rPr lang="en-US" sz="1200" i="1" spc="165" dirty="0">
                <a:latin typeface="Times New Roman"/>
                <a:cs typeface="Times New Roman"/>
              </a:rPr>
              <a:t> </a:t>
            </a:r>
            <a:r>
              <a:rPr lang="en-US" sz="1200" dirty="0">
                <a:latin typeface="Times New Roman"/>
                <a:cs typeface="Times New Roman"/>
              </a:rPr>
              <a:t>hybrids</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and</a:t>
            </a:r>
            <a:r>
              <a:rPr lang="en-US" sz="1200" spc="160" dirty="0">
                <a:latin typeface="Times New Roman"/>
                <a:cs typeface="Times New Roman"/>
              </a:rPr>
              <a:t> </a:t>
            </a:r>
            <a:r>
              <a:rPr lang="en-US" sz="1200" dirty="0">
                <a:latin typeface="Times New Roman"/>
                <a:cs typeface="Times New Roman"/>
              </a:rPr>
              <a:t>interspecific</a:t>
            </a:r>
            <a:r>
              <a:rPr lang="en-US" sz="1200" spc="160" dirty="0">
                <a:latin typeface="Times New Roman"/>
                <a:cs typeface="Times New Roman"/>
              </a:rPr>
              <a:t> </a:t>
            </a:r>
            <a:r>
              <a:rPr lang="en-US" sz="1200" i="1" dirty="0">
                <a:latin typeface="Times New Roman"/>
                <a:cs typeface="Times New Roman"/>
              </a:rPr>
              <a:t>T.</a:t>
            </a:r>
            <a:r>
              <a:rPr lang="en-US" sz="1200" i="1" spc="165" dirty="0">
                <a:latin typeface="Times New Roman"/>
                <a:cs typeface="Times New Roman"/>
              </a:rPr>
              <a:t> </a:t>
            </a:r>
            <a:r>
              <a:rPr lang="en-US" sz="1200" i="1" dirty="0">
                <a:latin typeface="Times New Roman"/>
                <a:cs typeface="Times New Roman"/>
              </a:rPr>
              <a:t>dactyloides</a:t>
            </a:r>
            <a:r>
              <a:rPr lang="en-US" sz="1200" i="1" spc="165" dirty="0">
                <a:latin typeface="Times New Roman"/>
                <a:cs typeface="Times New Roman"/>
              </a:rPr>
              <a:t> </a:t>
            </a:r>
            <a:r>
              <a:rPr lang="en-US" sz="1200" dirty="0">
                <a:latin typeface="Times New Roman"/>
                <a:cs typeface="Times New Roman"/>
              </a:rPr>
              <a:t>×</a:t>
            </a:r>
            <a:r>
              <a:rPr lang="en-US" sz="1200" spc="160" dirty="0">
                <a:latin typeface="Times New Roman"/>
                <a:cs typeface="Times New Roman"/>
              </a:rPr>
              <a:t> </a:t>
            </a:r>
            <a:r>
              <a:rPr lang="en-US" sz="1200" i="1" dirty="0">
                <a:latin typeface="Times New Roman"/>
                <a:cs typeface="Times New Roman"/>
              </a:rPr>
              <a:t>T.</a:t>
            </a:r>
            <a:r>
              <a:rPr lang="en-US" sz="1200" i="1" spc="165" dirty="0">
                <a:latin typeface="Times New Roman"/>
                <a:cs typeface="Times New Roman"/>
              </a:rPr>
              <a:t> </a:t>
            </a:r>
            <a:r>
              <a:rPr lang="en-US" sz="1200" i="1" dirty="0">
                <a:latin typeface="Times New Roman"/>
                <a:cs typeface="Times New Roman"/>
              </a:rPr>
              <a:t>floridanum</a:t>
            </a:r>
            <a:r>
              <a:rPr lang="en-US" sz="1200" i="1" spc="160" dirty="0">
                <a:latin typeface="Times New Roman"/>
                <a:cs typeface="Times New Roman"/>
              </a:rPr>
              <a:t> </a:t>
            </a:r>
            <a:r>
              <a:rPr lang="en-US" sz="1200" dirty="0">
                <a:latin typeface="Times New Roman"/>
                <a:cs typeface="Times New Roman"/>
              </a:rPr>
              <a:t>hybrids</a:t>
            </a:r>
            <a:r>
              <a:rPr lang="en-US" sz="1200" spc="165" dirty="0">
                <a:latin typeface="Times New Roman"/>
                <a:cs typeface="Times New Roman"/>
              </a:rPr>
              <a:t> </a:t>
            </a:r>
            <a:r>
              <a:rPr lang="en-US" sz="1200" dirty="0">
                <a:latin typeface="Times New Roman"/>
                <a:cs typeface="Times New Roman"/>
              </a:rPr>
              <a:t>(Td</a:t>
            </a:r>
            <a:r>
              <a:rPr lang="en-US" sz="1200" spc="160" dirty="0">
                <a:latin typeface="Times New Roman"/>
                <a:cs typeface="Times New Roman"/>
              </a:rPr>
              <a:t> </a:t>
            </a:r>
            <a:r>
              <a:rPr lang="en-US" sz="1200" dirty="0">
                <a:latin typeface="Times New Roman"/>
                <a:cs typeface="Times New Roman"/>
              </a:rPr>
              <a:t>×</a:t>
            </a:r>
            <a:r>
              <a:rPr lang="en-US" sz="1200" spc="165" dirty="0">
                <a:latin typeface="Times New Roman"/>
                <a:cs typeface="Times New Roman"/>
              </a:rPr>
              <a:t> </a:t>
            </a:r>
            <a:r>
              <a:rPr lang="en-US" sz="1200" dirty="0" err="1">
                <a:latin typeface="Times New Roman"/>
                <a:cs typeface="Times New Roman"/>
              </a:rPr>
              <a:t>Tf</a:t>
            </a:r>
            <a:r>
              <a:rPr lang="en-US" sz="1200" dirty="0">
                <a:latin typeface="Times New Roman"/>
                <a:cs typeface="Times New Roman"/>
              </a:rPr>
              <a:t>).</a:t>
            </a:r>
            <a:r>
              <a:rPr lang="en-US" sz="1200" spc="160" dirty="0">
                <a:latin typeface="Times New Roman"/>
                <a:cs typeface="Times New Roman"/>
              </a:rPr>
              <a:t> </a:t>
            </a:r>
            <a:r>
              <a:rPr lang="en-US" sz="1200" dirty="0">
                <a:latin typeface="Times New Roman"/>
                <a:cs typeface="Times New Roman"/>
              </a:rPr>
              <a:t>Shapes</a:t>
            </a:r>
            <a:r>
              <a:rPr lang="en-US" sz="1200" spc="160" dirty="0">
                <a:latin typeface="Times New Roman"/>
                <a:cs typeface="Times New Roman"/>
              </a:rPr>
              <a:t> </a:t>
            </a:r>
            <a:r>
              <a:rPr lang="en-US" sz="1200" dirty="0">
                <a:latin typeface="Times New Roman"/>
                <a:cs typeface="Times New Roman"/>
              </a:rPr>
              <a:t>represent</a:t>
            </a:r>
            <a:r>
              <a:rPr lang="en-US" sz="1200" spc="165" dirty="0">
                <a:latin typeface="Times New Roman"/>
                <a:cs typeface="Times New Roman"/>
              </a:rPr>
              <a:t> </a:t>
            </a:r>
            <a:r>
              <a:rPr lang="en-US" sz="1200" dirty="0">
                <a:latin typeface="Times New Roman"/>
                <a:cs typeface="Times New Roman"/>
              </a:rPr>
              <a:t>season</a:t>
            </a:r>
            <a:r>
              <a:rPr lang="en-US" sz="1200" spc="160" dirty="0">
                <a:latin typeface="Times New Roman"/>
                <a:cs typeface="Times New Roman"/>
              </a:rPr>
              <a:t> </a:t>
            </a:r>
            <a:r>
              <a:rPr lang="en-US" sz="1200" dirty="0">
                <a:latin typeface="Times New Roman"/>
                <a:cs typeface="Times New Roman"/>
              </a:rPr>
              <a:t>(circle</a:t>
            </a:r>
            <a:r>
              <a:rPr lang="en-US" sz="1200" spc="160" dirty="0">
                <a:latin typeface="Times New Roman"/>
                <a:cs typeface="Times New Roman"/>
              </a:rPr>
              <a:t> </a:t>
            </a:r>
            <a:r>
              <a:rPr lang="en-US" sz="1200" spc="-50" dirty="0">
                <a:latin typeface="Times New Roman"/>
                <a:cs typeface="Times New Roman"/>
              </a:rPr>
              <a:t>= </a:t>
            </a:r>
            <a:r>
              <a:rPr lang="en-US" sz="1200" dirty="0">
                <a:latin typeface="Times New Roman"/>
                <a:cs typeface="Times New Roman"/>
              </a:rPr>
              <a:t>summer,</a:t>
            </a:r>
            <a:r>
              <a:rPr lang="en-US" sz="1200" spc="-25" dirty="0">
                <a:latin typeface="Times New Roman"/>
                <a:cs typeface="Times New Roman"/>
              </a:rPr>
              <a:t> </a:t>
            </a:r>
            <a:r>
              <a:rPr lang="en-US" sz="1200" dirty="0">
                <a:latin typeface="Times New Roman"/>
                <a:cs typeface="Times New Roman"/>
              </a:rPr>
              <a:t>triangle</a:t>
            </a:r>
            <a:r>
              <a:rPr lang="en-US" sz="1200" spc="-25" dirty="0">
                <a:latin typeface="Times New Roman"/>
                <a:cs typeface="Times New Roman"/>
              </a:rPr>
              <a:t> </a:t>
            </a:r>
            <a:r>
              <a:rPr lang="en-US" sz="1200" dirty="0">
                <a:latin typeface="Times New Roman"/>
                <a:cs typeface="Times New Roman"/>
              </a:rPr>
              <a:t>=</a:t>
            </a:r>
            <a:r>
              <a:rPr lang="en-US" sz="1200" spc="-25" dirty="0">
                <a:latin typeface="Times New Roman"/>
                <a:cs typeface="Times New Roman"/>
              </a:rPr>
              <a:t> </a:t>
            </a:r>
            <a:r>
              <a:rPr lang="en-US" sz="1200" dirty="0">
                <a:latin typeface="Times New Roman"/>
                <a:cs typeface="Times New Roman"/>
              </a:rPr>
              <a:t>winter).</a:t>
            </a:r>
            <a:r>
              <a:rPr lang="en-US" sz="1200" spc="-25" dirty="0">
                <a:latin typeface="Times New Roman"/>
                <a:cs typeface="Times New Roman"/>
              </a:rPr>
              <a:t> </a:t>
            </a:r>
            <a:r>
              <a:rPr lang="en-US" sz="1200" dirty="0">
                <a:latin typeface="Times New Roman"/>
                <a:cs typeface="Times New Roman"/>
              </a:rPr>
              <a:t>The</a:t>
            </a:r>
            <a:r>
              <a:rPr lang="en-US" sz="1200" spc="-25" dirty="0">
                <a:latin typeface="Times New Roman"/>
                <a:cs typeface="Times New Roman"/>
              </a:rPr>
              <a:t> </a:t>
            </a:r>
            <a:r>
              <a:rPr lang="en-US" sz="1200" dirty="0">
                <a:latin typeface="Times New Roman"/>
                <a:cs typeface="Times New Roman"/>
              </a:rPr>
              <a:t>percentage</a:t>
            </a:r>
            <a:r>
              <a:rPr lang="en-US" sz="1200" spc="-25" dirty="0">
                <a:latin typeface="Times New Roman"/>
                <a:cs typeface="Times New Roman"/>
              </a:rPr>
              <a:t> </a:t>
            </a:r>
            <a:r>
              <a:rPr lang="en-US" sz="1200" dirty="0">
                <a:latin typeface="Times New Roman"/>
                <a:cs typeface="Times New Roman"/>
              </a:rPr>
              <a:t>of</a:t>
            </a:r>
            <a:r>
              <a:rPr lang="en-US" sz="1200" spc="-25" dirty="0">
                <a:latin typeface="Times New Roman"/>
                <a:cs typeface="Times New Roman"/>
              </a:rPr>
              <a:t> </a:t>
            </a:r>
            <a:r>
              <a:rPr lang="en-US" sz="1200" dirty="0">
                <a:latin typeface="Times New Roman"/>
                <a:cs typeface="Times New Roman"/>
              </a:rPr>
              <a:t>total</a:t>
            </a:r>
            <a:r>
              <a:rPr lang="en-US" sz="1200" spc="-25" dirty="0">
                <a:latin typeface="Times New Roman"/>
                <a:cs typeface="Times New Roman"/>
              </a:rPr>
              <a:t> </a:t>
            </a:r>
            <a:r>
              <a:rPr lang="en-US" sz="1200" dirty="0">
                <a:latin typeface="Times New Roman"/>
                <a:cs typeface="Times New Roman"/>
              </a:rPr>
              <a:t>variance</a:t>
            </a:r>
            <a:r>
              <a:rPr lang="en-US" sz="1200" spc="-25" dirty="0">
                <a:latin typeface="Times New Roman"/>
                <a:cs typeface="Times New Roman"/>
              </a:rPr>
              <a:t> </a:t>
            </a:r>
            <a:r>
              <a:rPr lang="en-US" sz="1200" dirty="0">
                <a:latin typeface="Times New Roman"/>
                <a:cs typeface="Times New Roman"/>
              </a:rPr>
              <a:t>explained</a:t>
            </a:r>
            <a:r>
              <a:rPr lang="en-US" sz="1200" spc="-25" dirty="0">
                <a:latin typeface="Times New Roman"/>
                <a:cs typeface="Times New Roman"/>
              </a:rPr>
              <a:t> </a:t>
            </a:r>
            <a:r>
              <a:rPr lang="en-US" sz="1200" dirty="0">
                <a:latin typeface="Times New Roman"/>
                <a:cs typeface="Times New Roman"/>
              </a:rPr>
              <a:t>by</a:t>
            </a:r>
            <a:r>
              <a:rPr lang="en-US" sz="1200" spc="-25" dirty="0">
                <a:latin typeface="Times New Roman"/>
                <a:cs typeface="Times New Roman"/>
              </a:rPr>
              <a:t> </a:t>
            </a:r>
            <a:r>
              <a:rPr lang="en-US" sz="1200" dirty="0">
                <a:latin typeface="Times New Roman"/>
                <a:cs typeface="Times New Roman"/>
              </a:rPr>
              <a:t>each</a:t>
            </a:r>
            <a:r>
              <a:rPr lang="en-US" sz="1200" spc="-25" dirty="0">
                <a:latin typeface="Times New Roman"/>
                <a:cs typeface="Times New Roman"/>
              </a:rPr>
              <a:t> </a:t>
            </a:r>
            <a:r>
              <a:rPr lang="en-US" sz="1200" dirty="0">
                <a:latin typeface="Times New Roman"/>
                <a:cs typeface="Times New Roman"/>
              </a:rPr>
              <a:t>principal</a:t>
            </a:r>
            <a:r>
              <a:rPr lang="en-US" sz="1200" spc="-25" dirty="0">
                <a:latin typeface="Times New Roman"/>
                <a:cs typeface="Times New Roman"/>
              </a:rPr>
              <a:t> </a:t>
            </a:r>
            <a:r>
              <a:rPr lang="en-US" sz="1200" dirty="0">
                <a:latin typeface="Times New Roman"/>
                <a:cs typeface="Times New Roman"/>
              </a:rPr>
              <a:t>component</a:t>
            </a:r>
            <a:r>
              <a:rPr lang="en-US" sz="1200" spc="-25" dirty="0">
                <a:latin typeface="Times New Roman"/>
                <a:cs typeface="Times New Roman"/>
              </a:rPr>
              <a:t> </a:t>
            </a:r>
            <a:r>
              <a:rPr lang="en-US" sz="1200" dirty="0">
                <a:latin typeface="Times New Roman"/>
                <a:cs typeface="Times New Roman"/>
              </a:rPr>
              <a:t>is</a:t>
            </a:r>
            <a:r>
              <a:rPr lang="en-US" sz="1200" spc="-20" dirty="0">
                <a:latin typeface="Times New Roman"/>
                <a:cs typeface="Times New Roman"/>
              </a:rPr>
              <a:t> </a:t>
            </a:r>
            <a:r>
              <a:rPr lang="en-US" sz="1200" dirty="0">
                <a:latin typeface="Times New Roman"/>
                <a:cs typeface="Times New Roman"/>
              </a:rPr>
              <a:t>shown</a:t>
            </a:r>
            <a:r>
              <a:rPr lang="en-US" sz="1200" spc="-25" dirty="0">
                <a:latin typeface="Times New Roman"/>
                <a:cs typeface="Times New Roman"/>
              </a:rPr>
              <a:t> </a:t>
            </a:r>
            <a:r>
              <a:rPr lang="en-US" sz="1200" dirty="0">
                <a:latin typeface="Times New Roman"/>
                <a:cs typeface="Times New Roman"/>
              </a:rPr>
              <a:t>on</a:t>
            </a:r>
            <a:r>
              <a:rPr lang="en-US" sz="1200" spc="-25" dirty="0">
                <a:latin typeface="Times New Roman"/>
                <a:cs typeface="Times New Roman"/>
              </a:rPr>
              <a:t> </a:t>
            </a:r>
            <a:r>
              <a:rPr lang="en-US" sz="1200" dirty="0">
                <a:latin typeface="Times New Roman"/>
                <a:cs typeface="Times New Roman"/>
              </a:rPr>
              <a:t>the</a:t>
            </a:r>
            <a:r>
              <a:rPr lang="en-US" sz="1200" spc="-25" dirty="0">
                <a:latin typeface="Times New Roman"/>
                <a:cs typeface="Times New Roman"/>
              </a:rPr>
              <a:t> </a:t>
            </a:r>
            <a:r>
              <a:rPr lang="en-US" sz="1200" spc="-10" dirty="0">
                <a:latin typeface="Times New Roman"/>
                <a:cs typeface="Times New Roman"/>
              </a:rPr>
              <a:t>axes.</a:t>
            </a:r>
            <a:endParaRPr lang="en-US" sz="1200" dirty="0">
              <a:latin typeface="Times New Roman"/>
              <a:cs typeface="Times New Roman"/>
            </a:endParaRPr>
          </a:p>
          <a:p>
            <a:pPr marR="5080" algn="just">
              <a:lnSpc>
                <a:spcPts val="1435"/>
              </a:lnSpc>
            </a:pPr>
            <a:endParaRPr sz="1200" dirty="0">
              <a:latin typeface="Times New Roman"/>
              <a:cs typeface="Times New Roman"/>
            </a:endParaRPr>
          </a:p>
        </p:txBody>
      </p:sp>
      <p:pic>
        <p:nvPicPr>
          <p:cNvPr id="125" name="Picture 124">
            <a:extLst>
              <a:ext uri="{FF2B5EF4-FFF2-40B4-BE49-F238E27FC236}">
                <a16:creationId xmlns:a16="http://schemas.microsoft.com/office/drawing/2014/main" id="{D3314E79-BD53-6181-EBF9-EFFD1FD6D014}"/>
              </a:ext>
            </a:extLst>
          </p:cNvPr>
          <p:cNvPicPr>
            <a:picLocks noChangeAspect="1"/>
          </p:cNvPicPr>
          <p:nvPr/>
        </p:nvPicPr>
        <p:blipFill>
          <a:blip r:embed="rId2"/>
          <a:stretch>
            <a:fillRect/>
          </a:stretch>
        </p:blipFill>
        <p:spPr>
          <a:xfrm>
            <a:off x="16387" y="990600"/>
            <a:ext cx="9873225" cy="381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728203" y="3157369"/>
            <a:ext cx="83820" cy="151765"/>
          </a:xfrm>
          <a:prstGeom prst="rect">
            <a:avLst/>
          </a:prstGeom>
        </p:spPr>
        <p:txBody>
          <a:bodyPr vert="horz" wrap="square" lIns="0" tIns="15875" rIns="0" bIns="0" rtlCol="0">
            <a:spAutoFit/>
          </a:bodyPr>
          <a:lstStyle/>
          <a:p>
            <a:pPr marL="12700">
              <a:lnSpc>
                <a:spcPct val="100000"/>
              </a:lnSpc>
              <a:spcBef>
                <a:spcPts val="125"/>
              </a:spcBef>
            </a:pPr>
            <a:r>
              <a:rPr sz="800" spc="-50" dirty="0">
                <a:solidFill>
                  <a:srgbClr val="4D4D4D"/>
                </a:solidFill>
                <a:latin typeface="Arial"/>
                <a:cs typeface="Arial"/>
              </a:rPr>
              <a:t>0</a:t>
            </a:r>
            <a:endParaRPr sz="800">
              <a:latin typeface="Arial"/>
              <a:cs typeface="Arial"/>
            </a:endParaRPr>
          </a:p>
        </p:txBody>
      </p:sp>
      <p:sp>
        <p:nvSpPr>
          <p:cNvPr id="3" name="object 3"/>
          <p:cNvSpPr txBox="1"/>
          <p:nvPr/>
        </p:nvSpPr>
        <p:spPr>
          <a:xfrm>
            <a:off x="1677972" y="2343556"/>
            <a:ext cx="142240" cy="151765"/>
          </a:xfrm>
          <a:prstGeom prst="rect">
            <a:avLst/>
          </a:prstGeom>
        </p:spPr>
        <p:txBody>
          <a:bodyPr vert="horz" wrap="square" lIns="0" tIns="15875" rIns="0" bIns="0" rtlCol="0">
            <a:spAutoFit/>
          </a:bodyPr>
          <a:lstStyle/>
          <a:p>
            <a:pPr marL="12700">
              <a:lnSpc>
                <a:spcPct val="100000"/>
              </a:lnSpc>
              <a:spcBef>
                <a:spcPts val="125"/>
              </a:spcBef>
            </a:pPr>
            <a:r>
              <a:rPr sz="800" spc="-25" dirty="0">
                <a:solidFill>
                  <a:srgbClr val="4D4D4D"/>
                </a:solidFill>
                <a:latin typeface="Arial"/>
                <a:cs typeface="Arial"/>
              </a:rPr>
              <a:t>20</a:t>
            </a:r>
            <a:endParaRPr sz="800">
              <a:latin typeface="Arial"/>
              <a:cs typeface="Arial"/>
            </a:endParaRPr>
          </a:p>
        </p:txBody>
      </p:sp>
      <p:sp>
        <p:nvSpPr>
          <p:cNvPr id="4" name="object 4"/>
          <p:cNvSpPr txBox="1"/>
          <p:nvPr/>
        </p:nvSpPr>
        <p:spPr>
          <a:xfrm>
            <a:off x="1677972" y="1529742"/>
            <a:ext cx="142240" cy="151765"/>
          </a:xfrm>
          <a:prstGeom prst="rect">
            <a:avLst/>
          </a:prstGeom>
        </p:spPr>
        <p:txBody>
          <a:bodyPr vert="horz" wrap="square" lIns="0" tIns="15875" rIns="0" bIns="0" rtlCol="0">
            <a:spAutoFit/>
          </a:bodyPr>
          <a:lstStyle/>
          <a:p>
            <a:pPr marL="12700">
              <a:lnSpc>
                <a:spcPct val="100000"/>
              </a:lnSpc>
              <a:spcBef>
                <a:spcPts val="125"/>
              </a:spcBef>
            </a:pPr>
            <a:r>
              <a:rPr sz="800" spc="-25" dirty="0">
                <a:solidFill>
                  <a:srgbClr val="4D4D4D"/>
                </a:solidFill>
                <a:latin typeface="Arial"/>
                <a:cs typeface="Arial"/>
              </a:rPr>
              <a:t>40</a:t>
            </a:r>
            <a:endParaRPr sz="800">
              <a:latin typeface="Arial"/>
              <a:cs typeface="Arial"/>
            </a:endParaRPr>
          </a:p>
        </p:txBody>
      </p:sp>
      <p:sp>
        <p:nvSpPr>
          <p:cNvPr id="5" name="object 5"/>
          <p:cNvSpPr txBox="1"/>
          <p:nvPr/>
        </p:nvSpPr>
        <p:spPr>
          <a:xfrm>
            <a:off x="1677972" y="715929"/>
            <a:ext cx="142240" cy="151765"/>
          </a:xfrm>
          <a:prstGeom prst="rect">
            <a:avLst/>
          </a:prstGeom>
        </p:spPr>
        <p:txBody>
          <a:bodyPr vert="horz" wrap="square" lIns="0" tIns="15875" rIns="0" bIns="0" rtlCol="0">
            <a:spAutoFit/>
          </a:bodyPr>
          <a:lstStyle/>
          <a:p>
            <a:pPr marL="12700">
              <a:lnSpc>
                <a:spcPct val="100000"/>
              </a:lnSpc>
              <a:spcBef>
                <a:spcPts val="125"/>
              </a:spcBef>
            </a:pPr>
            <a:r>
              <a:rPr sz="800" spc="-25" dirty="0">
                <a:solidFill>
                  <a:srgbClr val="4D4D4D"/>
                </a:solidFill>
                <a:latin typeface="Arial"/>
                <a:cs typeface="Arial"/>
              </a:rPr>
              <a:t>60</a:t>
            </a:r>
            <a:endParaRPr sz="800">
              <a:latin typeface="Arial"/>
              <a:cs typeface="Arial"/>
            </a:endParaRPr>
          </a:p>
        </p:txBody>
      </p:sp>
      <p:sp>
        <p:nvSpPr>
          <p:cNvPr id="6" name="object 6"/>
          <p:cNvSpPr txBox="1"/>
          <p:nvPr/>
        </p:nvSpPr>
        <p:spPr>
          <a:xfrm rot="18000000">
            <a:off x="922002" y="3966673"/>
            <a:ext cx="1616576" cy="127000"/>
          </a:xfrm>
          <a:prstGeom prst="rect">
            <a:avLst/>
          </a:prstGeom>
        </p:spPr>
        <p:txBody>
          <a:bodyPr vert="horz" wrap="square" lIns="0" tIns="0" rIns="0" bIns="0" rtlCol="0">
            <a:spAutoFit/>
          </a:bodyPr>
          <a:lstStyle/>
          <a:p>
            <a:pPr>
              <a:lnSpc>
                <a:spcPts val="990"/>
              </a:lnSpc>
            </a:pPr>
            <a:r>
              <a:rPr sz="1000" dirty="0">
                <a:latin typeface="Arial"/>
                <a:cs typeface="Arial"/>
              </a:rPr>
              <a:t>Metabolism</a:t>
            </a:r>
            <a:r>
              <a:rPr sz="1000" spc="-35" dirty="0">
                <a:latin typeface="Arial"/>
                <a:cs typeface="Arial"/>
              </a:rPr>
              <a:t> </a:t>
            </a:r>
            <a:r>
              <a:rPr sz="1000" dirty="0">
                <a:latin typeface="Arial"/>
                <a:cs typeface="Arial"/>
              </a:rPr>
              <a:t>/</a:t>
            </a:r>
            <a:r>
              <a:rPr sz="1000" spc="-30" dirty="0">
                <a:latin typeface="Arial"/>
                <a:cs typeface="Arial"/>
              </a:rPr>
              <a:t> </a:t>
            </a:r>
            <a:r>
              <a:rPr sz="1000" spc="-10" dirty="0">
                <a:latin typeface="Arial"/>
                <a:cs typeface="Arial"/>
              </a:rPr>
              <a:t>osmoregulation</a:t>
            </a:r>
            <a:endParaRPr sz="1000">
              <a:latin typeface="Arial"/>
              <a:cs typeface="Arial"/>
            </a:endParaRPr>
          </a:p>
        </p:txBody>
      </p:sp>
      <p:sp>
        <p:nvSpPr>
          <p:cNvPr id="7" name="object 7"/>
          <p:cNvSpPr txBox="1"/>
          <p:nvPr/>
        </p:nvSpPr>
        <p:spPr>
          <a:xfrm rot="18000000">
            <a:off x="1601070" y="3844938"/>
            <a:ext cx="1336945" cy="127000"/>
          </a:xfrm>
          <a:prstGeom prst="rect">
            <a:avLst/>
          </a:prstGeom>
        </p:spPr>
        <p:txBody>
          <a:bodyPr vert="horz" wrap="square" lIns="0" tIns="0" rIns="0" bIns="0" rtlCol="0">
            <a:spAutoFit/>
          </a:bodyPr>
          <a:lstStyle/>
          <a:p>
            <a:pPr>
              <a:lnSpc>
                <a:spcPts val="990"/>
              </a:lnSpc>
            </a:pPr>
            <a:r>
              <a:rPr sz="1000" dirty="0">
                <a:latin typeface="Arial"/>
                <a:cs typeface="Arial"/>
              </a:rPr>
              <a:t>Protein</a:t>
            </a:r>
            <a:r>
              <a:rPr sz="1000" spc="-50" dirty="0">
                <a:latin typeface="Arial"/>
                <a:cs typeface="Arial"/>
              </a:rPr>
              <a:t> </a:t>
            </a:r>
            <a:r>
              <a:rPr sz="1000" dirty="0">
                <a:latin typeface="Arial"/>
                <a:cs typeface="Arial"/>
              </a:rPr>
              <a:t>folding</a:t>
            </a:r>
            <a:r>
              <a:rPr sz="1000" spc="-45" dirty="0">
                <a:latin typeface="Arial"/>
                <a:cs typeface="Arial"/>
              </a:rPr>
              <a:t> </a:t>
            </a:r>
            <a:r>
              <a:rPr sz="1000" dirty="0">
                <a:latin typeface="Arial"/>
                <a:cs typeface="Arial"/>
              </a:rPr>
              <a:t>/</a:t>
            </a:r>
            <a:r>
              <a:rPr sz="1000" spc="-45" dirty="0">
                <a:latin typeface="Arial"/>
                <a:cs typeface="Arial"/>
              </a:rPr>
              <a:t> </a:t>
            </a:r>
            <a:r>
              <a:rPr sz="1000" spc="-10" dirty="0">
                <a:latin typeface="Arial"/>
                <a:cs typeface="Arial"/>
              </a:rPr>
              <a:t>stability</a:t>
            </a:r>
            <a:endParaRPr sz="1000">
              <a:latin typeface="Arial"/>
              <a:cs typeface="Arial"/>
            </a:endParaRPr>
          </a:p>
        </p:txBody>
      </p:sp>
      <p:sp>
        <p:nvSpPr>
          <p:cNvPr id="8" name="object 8"/>
          <p:cNvSpPr txBox="1"/>
          <p:nvPr/>
        </p:nvSpPr>
        <p:spPr>
          <a:xfrm rot="18000000">
            <a:off x="1746316" y="4051511"/>
            <a:ext cx="1811622" cy="127000"/>
          </a:xfrm>
          <a:prstGeom prst="rect">
            <a:avLst/>
          </a:prstGeom>
        </p:spPr>
        <p:txBody>
          <a:bodyPr vert="horz" wrap="square" lIns="0" tIns="0" rIns="0" bIns="0" rtlCol="0">
            <a:spAutoFit/>
          </a:bodyPr>
          <a:lstStyle/>
          <a:p>
            <a:pPr>
              <a:lnSpc>
                <a:spcPts val="990"/>
              </a:lnSpc>
            </a:pPr>
            <a:r>
              <a:rPr sz="1000" spc="-10" dirty="0">
                <a:latin typeface="Arial"/>
                <a:cs typeface="Arial"/>
              </a:rPr>
              <a:t>Detoxification </a:t>
            </a:r>
            <a:r>
              <a:rPr sz="1000" dirty="0">
                <a:latin typeface="Arial"/>
                <a:cs typeface="Arial"/>
              </a:rPr>
              <a:t>/</a:t>
            </a:r>
            <a:r>
              <a:rPr sz="1000" spc="-5" dirty="0">
                <a:latin typeface="Arial"/>
                <a:cs typeface="Arial"/>
              </a:rPr>
              <a:t> </a:t>
            </a:r>
            <a:r>
              <a:rPr sz="1000" dirty="0">
                <a:latin typeface="Arial"/>
                <a:cs typeface="Arial"/>
              </a:rPr>
              <a:t>ROS</a:t>
            </a:r>
            <a:r>
              <a:rPr sz="1000" spc="-10" dirty="0">
                <a:latin typeface="Arial"/>
                <a:cs typeface="Arial"/>
              </a:rPr>
              <a:t> scavenging</a:t>
            </a:r>
            <a:endParaRPr sz="1000">
              <a:latin typeface="Arial"/>
              <a:cs typeface="Arial"/>
            </a:endParaRPr>
          </a:p>
        </p:txBody>
      </p:sp>
      <p:sp>
        <p:nvSpPr>
          <p:cNvPr id="9" name="object 9"/>
          <p:cNvSpPr txBox="1"/>
          <p:nvPr/>
        </p:nvSpPr>
        <p:spPr>
          <a:xfrm rot="18000000">
            <a:off x="1884418" y="4248843"/>
            <a:ext cx="2266031" cy="127000"/>
          </a:xfrm>
          <a:prstGeom prst="rect">
            <a:avLst/>
          </a:prstGeom>
        </p:spPr>
        <p:txBody>
          <a:bodyPr vert="horz" wrap="square" lIns="0" tIns="0" rIns="0" bIns="0" rtlCol="0">
            <a:spAutoFit/>
          </a:bodyPr>
          <a:lstStyle/>
          <a:p>
            <a:pPr>
              <a:lnSpc>
                <a:spcPts val="990"/>
              </a:lnSpc>
            </a:pPr>
            <a:r>
              <a:rPr sz="1000" dirty="0">
                <a:latin typeface="Arial"/>
                <a:cs typeface="Arial"/>
              </a:rPr>
              <a:t>Protein</a:t>
            </a:r>
            <a:r>
              <a:rPr sz="1000" spc="-35" dirty="0">
                <a:latin typeface="Arial"/>
                <a:cs typeface="Arial"/>
              </a:rPr>
              <a:t> </a:t>
            </a:r>
            <a:r>
              <a:rPr sz="1000" dirty="0">
                <a:latin typeface="Arial"/>
                <a:cs typeface="Arial"/>
              </a:rPr>
              <a:t>aggregation</a:t>
            </a:r>
            <a:r>
              <a:rPr sz="1000" spc="-35" dirty="0">
                <a:latin typeface="Arial"/>
                <a:cs typeface="Arial"/>
              </a:rPr>
              <a:t> </a:t>
            </a:r>
            <a:r>
              <a:rPr sz="1000" dirty="0">
                <a:latin typeface="Arial"/>
                <a:cs typeface="Arial"/>
              </a:rPr>
              <a:t>/</a:t>
            </a:r>
            <a:r>
              <a:rPr sz="1000" spc="-35" dirty="0">
                <a:latin typeface="Arial"/>
                <a:cs typeface="Arial"/>
              </a:rPr>
              <a:t> </a:t>
            </a:r>
            <a:r>
              <a:rPr sz="1000" spc="-10" dirty="0">
                <a:latin typeface="Arial"/>
                <a:cs typeface="Arial"/>
              </a:rPr>
              <a:t>membrane</a:t>
            </a:r>
            <a:r>
              <a:rPr sz="1000" spc="-30" dirty="0">
                <a:latin typeface="Arial"/>
                <a:cs typeface="Arial"/>
              </a:rPr>
              <a:t> </a:t>
            </a:r>
            <a:r>
              <a:rPr sz="1000" spc="-10" dirty="0">
                <a:latin typeface="Arial"/>
                <a:cs typeface="Arial"/>
              </a:rPr>
              <a:t>stability</a:t>
            </a:r>
            <a:endParaRPr sz="1000">
              <a:latin typeface="Arial"/>
              <a:cs typeface="Arial"/>
            </a:endParaRPr>
          </a:p>
        </p:txBody>
      </p:sp>
      <p:sp>
        <p:nvSpPr>
          <p:cNvPr id="10" name="object 10"/>
          <p:cNvSpPr txBox="1"/>
          <p:nvPr/>
        </p:nvSpPr>
        <p:spPr>
          <a:xfrm rot="18000000">
            <a:off x="3025133" y="3851245"/>
            <a:ext cx="1350853" cy="127000"/>
          </a:xfrm>
          <a:prstGeom prst="rect">
            <a:avLst/>
          </a:prstGeom>
        </p:spPr>
        <p:txBody>
          <a:bodyPr vert="horz" wrap="square" lIns="0" tIns="0" rIns="0" bIns="0" rtlCol="0">
            <a:spAutoFit/>
          </a:bodyPr>
          <a:lstStyle/>
          <a:p>
            <a:pPr>
              <a:lnSpc>
                <a:spcPts val="990"/>
              </a:lnSpc>
            </a:pPr>
            <a:r>
              <a:rPr sz="1000" dirty="0">
                <a:latin typeface="Arial"/>
                <a:cs typeface="Arial"/>
              </a:rPr>
              <a:t>Cold</a:t>
            </a:r>
            <a:r>
              <a:rPr sz="1000" spc="-50" dirty="0">
                <a:latin typeface="Arial"/>
                <a:cs typeface="Arial"/>
              </a:rPr>
              <a:t> </a:t>
            </a:r>
            <a:r>
              <a:rPr sz="1000" dirty="0">
                <a:latin typeface="Arial"/>
                <a:cs typeface="Arial"/>
              </a:rPr>
              <a:t>signal</a:t>
            </a:r>
            <a:r>
              <a:rPr sz="1000" spc="-50" dirty="0">
                <a:latin typeface="Arial"/>
                <a:cs typeface="Arial"/>
              </a:rPr>
              <a:t> </a:t>
            </a:r>
            <a:r>
              <a:rPr sz="1000" spc="-10" dirty="0">
                <a:latin typeface="Arial"/>
                <a:cs typeface="Arial"/>
              </a:rPr>
              <a:t>transduction</a:t>
            </a:r>
            <a:endParaRPr sz="1000">
              <a:latin typeface="Arial"/>
              <a:cs typeface="Arial"/>
            </a:endParaRPr>
          </a:p>
        </p:txBody>
      </p:sp>
      <p:sp>
        <p:nvSpPr>
          <p:cNvPr id="11" name="object 11"/>
          <p:cNvSpPr txBox="1"/>
          <p:nvPr/>
        </p:nvSpPr>
        <p:spPr>
          <a:xfrm rot="18000000">
            <a:off x="4777983" y="3678166"/>
            <a:ext cx="954551" cy="127000"/>
          </a:xfrm>
          <a:prstGeom prst="rect">
            <a:avLst/>
          </a:prstGeom>
        </p:spPr>
        <p:txBody>
          <a:bodyPr vert="horz" wrap="square" lIns="0" tIns="0" rIns="0" bIns="0" rtlCol="0">
            <a:spAutoFit/>
          </a:bodyPr>
          <a:lstStyle/>
          <a:p>
            <a:pPr>
              <a:lnSpc>
                <a:spcPts val="990"/>
              </a:lnSpc>
            </a:pPr>
            <a:r>
              <a:rPr sz="1000" dirty="0">
                <a:latin typeface="Arial"/>
                <a:cs typeface="Arial"/>
              </a:rPr>
              <a:t>Lipid</a:t>
            </a:r>
            <a:r>
              <a:rPr sz="1000" spc="-50" dirty="0">
                <a:latin typeface="Arial"/>
                <a:cs typeface="Arial"/>
              </a:rPr>
              <a:t> </a:t>
            </a:r>
            <a:r>
              <a:rPr sz="1000" spc="-10" dirty="0">
                <a:latin typeface="Arial"/>
                <a:cs typeface="Arial"/>
              </a:rPr>
              <a:t>metabolism</a:t>
            </a:r>
            <a:endParaRPr sz="1000">
              <a:latin typeface="Arial"/>
              <a:cs typeface="Arial"/>
            </a:endParaRPr>
          </a:p>
        </p:txBody>
      </p:sp>
      <p:sp>
        <p:nvSpPr>
          <p:cNvPr id="12" name="object 12"/>
          <p:cNvSpPr txBox="1"/>
          <p:nvPr/>
        </p:nvSpPr>
        <p:spPr>
          <a:xfrm rot="18000000">
            <a:off x="4139694" y="3781475"/>
            <a:ext cx="1190997" cy="127000"/>
          </a:xfrm>
          <a:prstGeom prst="rect">
            <a:avLst/>
          </a:prstGeom>
        </p:spPr>
        <p:txBody>
          <a:bodyPr vert="horz" wrap="square" lIns="0" tIns="0" rIns="0" bIns="0" rtlCol="0">
            <a:spAutoFit/>
          </a:bodyPr>
          <a:lstStyle/>
          <a:p>
            <a:pPr>
              <a:lnSpc>
                <a:spcPts val="990"/>
              </a:lnSpc>
            </a:pPr>
            <a:r>
              <a:rPr sz="1000" spc="-10" dirty="0">
                <a:latin typeface="Arial"/>
                <a:cs typeface="Arial"/>
              </a:rPr>
              <a:t>Cytoskeleton</a:t>
            </a:r>
            <a:r>
              <a:rPr sz="1000" dirty="0">
                <a:latin typeface="Arial"/>
                <a:cs typeface="Arial"/>
              </a:rPr>
              <a:t> </a:t>
            </a:r>
            <a:r>
              <a:rPr sz="1000" spc="-10" dirty="0">
                <a:latin typeface="Arial"/>
                <a:cs typeface="Arial"/>
              </a:rPr>
              <a:t>stability</a:t>
            </a:r>
            <a:endParaRPr sz="1000">
              <a:latin typeface="Arial"/>
              <a:cs typeface="Arial"/>
            </a:endParaRPr>
          </a:p>
        </p:txBody>
      </p:sp>
      <p:sp>
        <p:nvSpPr>
          <p:cNvPr id="13" name="object 13"/>
          <p:cNvSpPr txBox="1"/>
          <p:nvPr/>
        </p:nvSpPr>
        <p:spPr>
          <a:xfrm rot="18000000">
            <a:off x="4075602" y="3514299"/>
            <a:ext cx="581584" cy="127000"/>
          </a:xfrm>
          <a:prstGeom prst="rect">
            <a:avLst/>
          </a:prstGeom>
        </p:spPr>
        <p:txBody>
          <a:bodyPr vert="horz" wrap="square" lIns="0" tIns="0" rIns="0" bIns="0" rtlCol="0">
            <a:spAutoFit/>
          </a:bodyPr>
          <a:lstStyle/>
          <a:p>
            <a:pPr>
              <a:lnSpc>
                <a:spcPts val="990"/>
              </a:lnSpc>
            </a:pPr>
            <a:r>
              <a:rPr sz="1000" spc="-10" dirty="0">
                <a:latin typeface="Arial"/>
                <a:cs typeface="Arial"/>
              </a:rPr>
              <a:t>Antifreeze</a:t>
            </a:r>
            <a:endParaRPr sz="1000">
              <a:latin typeface="Arial"/>
              <a:cs typeface="Arial"/>
            </a:endParaRPr>
          </a:p>
        </p:txBody>
      </p:sp>
      <p:sp>
        <p:nvSpPr>
          <p:cNvPr id="14" name="object 14"/>
          <p:cNvSpPr txBox="1"/>
          <p:nvPr/>
        </p:nvSpPr>
        <p:spPr>
          <a:xfrm>
            <a:off x="2684172" y="5268930"/>
            <a:ext cx="1601772" cy="293670"/>
          </a:xfrm>
          <a:prstGeom prst="rect">
            <a:avLst/>
          </a:prstGeom>
        </p:spPr>
        <p:txBody>
          <a:bodyPr vert="horz" wrap="square" lIns="0" tIns="115570" rIns="0" bIns="0" rtlCol="0">
            <a:spAutoFit/>
          </a:bodyPr>
          <a:lstStyle/>
          <a:p>
            <a:pPr>
              <a:lnSpc>
                <a:spcPct val="100000"/>
              </a:lnSpc>
            </a:pPr>
            <a:r>
              <a:rPr lang="en-US" sz="1150" b="1" dirty="0">
                <a:latin typeface="Arial"/>
                <a:cs typeface="Arial"/>
              </a:rPr>
              <a:t>Cold−related </a:t>
            </a:r>
            <a:r>
              <a:rPr lang="en-US" sz="1150" b="1" spc="-10" dirty="0">
                <a:latin typeface="Arial"/>
                <a:cs typeface="Arial"/>
              </a:rPr>
              <a:t>category</a:t>
            </a:r>
            <a:endParaRPr lang="en-US" sz="1150" dirty="0">
              <a:latin typeface="Arial"/>
              <a:cs typeface="Arial"/>
            </a:endParaRPr>
          </a:p>
        </p:txBody>
      </p:sp>
      <p:sp>
        <p:nvSpPr>
          <p:cNvPr id="15" name="object 15"/>
          <p:cNvSpPr txBox="1"/>
          <p:nvPr/>
        </p:nvSpPr>
        <p:spPr>
          <a:xfrm>
            <a:off x="1265687" y="1127698"/>
            <a:ext cx="189865" cy="974090"/>
          </a:xfrm>
          <a:prstGeom prst="rect">
            <a:avLst/>
          </a:prstGeom>
        </p:spPr>
        <p:txBody>
          <a:bodyPr vert="vert270" wrap="square" lIns="0" tIns="0" rIns="0" bIns="0" rtlCol="0">
            <a:spAutoFit/>
          </a:bodyPr>
          <a:lstStyle/>
          <a:p>
            <a:pPr marL="12700">
              <a:lnSpc>
                <a:spcPts val="1375"/>
              </a:lnSpc>
            </a:pPr>
            <a:r>
              <a:rPr sz="1150" b="1" dirty="0">
                <a:latin typeface="Arial"/>
                <a:cs typeface="Arial"/>
              </a:rPr>
              <a:t>Protein </a:t>
            </a:r>
            <a:r>
              <a:rPr sz="1150" b="1" spc="-10" dirty="0">
                <a:latin typeface="Arial"/>
                <a:cs typeface="Arial"/>
              </a:rPr>
              <a:t>count</a:t>
            </a:r>
            <a:endParaRPr sz="1150">
              <a:latin typeface="Arial"/>
              <a:cs typeface="Arial"/>
            </a:endParaRPr>
          </a:p>
        </p:txBody>
      </p:sp>
      <p:grpSp>
        <p:nvGrpSpPr>
          <p:cNvPr id="16" name="object 16"/>
          <p:cNvGrpSpPr/>
          <p:nvPr/>
        </p:nvGrpSpPr>
        <p:grpSpPr>
          <a:xfrm>
            <a:off x="5926809" y="284844"/>
            <a:ext cx="155575" cy="155575"/>
            <a:chOff x="5926809" y="284844"/>
            <a:chExt cx="155575" cy="155575"/>
          </a:xfrm>
        </p:grpSpPr>
        <p:sp>
          <p:nvSpPr>
            <p:cNvPr id="17" name="object 17"/>
            <p:cNvSpPr/>
            <p:nvPr/>
          </p:nvSpPr>
          <p:spPr>
            <a:xfrm>
              <a:off x="5928751" y="286786"/>
              <a:ext cx="151130" cy="151765"/>
            </a:xfrm>
            <a:custGeom>
              <a:avLst/>
              <a:gdLst/>
              <a:ahLst/>
              <a:cxnLst/>
              <a:rect l="l" t="t" r="r" b="b"/>
              <a:pathLst>
                <a:path w="151129" h="151765">
                  <a:moveTo>
                    <a:pt x="151089" y="0"/>
                  </a:moveTo>
                  <a:lnTo>
                    <a:pt x="0" y="0"/>
                  </a:lnTo>
                  <a:lnTo>
                    <a:pt x="0" y="151393"/>
                  </a:lnTo>
                  <a:lnTo>
                    <a:pt x="151089" y="151393"/>
                  </a:lnTo>
                  <a:lnTo>
                    <a:pt x="151089" y="0"/>
                  </a:lnTo>
                  <a:close/>
                </a:path>
              </a:pathLst>
            </a:custGeom>
            <a:solidFill>
              <a:srgbClr val="FC8D62"/>
            </a:solidFill>
          </p:spPr>
          <p:txBody>
            <a:bodyPr wrap="square" lIns="0" tIns="0" rIns="0" bIns="0" rtlCol="0"/>
            <a:lstStyle/>
            <a:p>
              <a:endParaRPr/>
            </a:p>
          </p:txBody>
        </p:sp>
        <p:sp>
          <p:nvSpPr>
            <p:cNvPr id="18" name="object 18"/>
            <p:cNvSpPr/>
            <p:nvPr/>
          </p:nvSpPr>
          <p:spPr>
            <a:xfrm>
              <a:off x="5928751" y="286786"/>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19" name="object 19"/>
          <p:cNvGrpSpPr/>
          <p:nvPr/>
        </p:nvGrpSpPr>
        <p:grpSpPr>
          <a:xfrm>
            <a:off x="5926809" y="495795"/>
            <a:ext cx="155575" cy="155575"/>
            <a:chOff x="5926809" y="495795"/>
            <a:chExt cx="155575" cy="155575"/>
          </a:xfrm>
        </p:grpSpPr>
        <p:sp>
          <p:nvSpPr>
            <p:cNvPr id="20" name="object 20"/>
            <p:cNvSpPr/>
            <p:nvPr/>
          </p:nvSpPr>
          <p:spPr>
            <a:xfrm>
              <a:off x="5928751" y="497737"/>
              <a:ext cx="151130" cy="151765"/>
            </a:xfrm>
            <a:custGeom>
              <a:avLst/>
              <a:gdLst/>
              <a:ahLst/>
              <a:cxnLst/>
              <a:rect l="l" t="t" r="r" b="b"/>
              <a:pathLst>
                <a:path w="151129" h="151765">
                  <a:moveTo>
                    <a:pt x="151089" y="0"/>
                  </a:moveTo>
                  <a:lnTo>
                    <a:pt x="0" y="0"/>
                  </a:lnTo>
                  <a:lnTo>
                    <a:pt x="0" y="151393"/>
                  </a:lnTo>
                  <a:lnTo>
                    <a:pt x="151089" y="151393"/>
                  </a:lnTo>
                  <a:lnTo>
                    <a:pt x="151089" y="0"/>
                  </a:lnTo>
                  <a:close/>
                </a:path>
              </a:pathLst>
            </a:custGeom>
            <a:solidFill>
              <a:srgbClr val="66C2A5"/>
            </a:solidFill>
          </p:spPr>
          <p:txBody>
            <a:bodyPr wrap="square" lIns="0" tIns="0" rIns="0" bIns="0" rtlCol="0"/>
            <a:lstStyle/>
            <a:p>
              <a:endParaRPr/>
            </a:p>
          </p:txBody>
        </p:sp>
        <p:sp>
          <p:nvSpPr>
            <p:cNvPr id="21" name="object 21"/>
            <p:cNvSpPr/>
            <p:nvPr/>
          </p:nvSpPr>
          <p:spPr>
            <a:xfrm>
              <a:off x="5928751" y="497737"/>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22" name="object 22"/>
          <p:cNvGrpSpPr/>
          <p:nvPr/>
        </p:nvGrpSpPr>
        <p:grpSpPr>
          <a:xfrm>
            <a:off x="5926809" y="706767"/>
            <a:ext cx="155575" cy="155575"/>
            <a:chOff x="5926809" y="706767"/>
            <a:chExt cx="155575" cy="155575"/>
          </a:xfrm>
        </p:grpSpPr>
        <p:sp>
          <p:nvSpPr>
            <p:cNvPr id="23" name="object 23"/>
            <p:cNvSpPr/>
            <p:nvPr/>
          </p:nvSpPr>
          <p:spPr>
            <a:xfrm>
              <a:off x="5928751" y="708709"/>
              <a:ext cx="151130" cy="151765"/>
            </a:xfrm>
            <a:custGeom>
              <a:avLst/>
              <a:gdLst/>
              <a:ahLst/>
              <a:cxnLst/>
              <a:rect l="l" t="t" r="r" b="b"/>
              <a:pathLst>
                <a:path w="151129" h="151765">
                  <a:moveTo>
                    <a:pt x="151089" y="0"/>
                  </a:moveTo>
                  <a:lnTo>
                    <a:pt x="0" y="0"/>
                  </a:lnTo>
                  <a:lnTo>
                    <a:pt x="0" y="151393"/>
                  </a:lnTo>
                  <a:lnTo>
                    <a:pt x="151089" y="151393"/>
                  </a:lnTo>
                  <a:lnTo>
                    <a:pt x="151089" y="0"/>
                  </a:lnTo>
                  <a:close/>
                </a:path>
              </a:pathLst>
            </a:custGeom>
            <a:solidFill>
              <a:srgbClr val="B1A783"/>
            </a:solidFill>
          </p:spPr>
          <p:txBody>
            <a:bodyPr wrap="square" lIns="0" tIns="0" rIns="0" bIns="0" rtlCol="0"/>
            <a:lstStyle/>
            <a:p>
              <a:endParaRPr/>
            </a:p>
          </p:txBody>
        </p:sp>
        <p:sp>
          <p:nvSpPr>
            <p:cNvPr id="24" name="object 24"/>
            <p:cNvSpPr/>
            <p:nvPr/>
          </p:nvSpPr>
          <p:spPr>
            <a:xfrm>
              <a:off x="5928751" y="708709"/>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25" name="object 25"/>
          <p:cNvGrpSpPr/>
          <p:nvPr/>
        </p:nvGrpSpPr>
        <p:grpSpPr>
          <a:xfrm>
            <a:off x="5926809" y="1128689"/>
            <a:ext cx="155575" cy="155575"/>
            <a:chOff x="5926809" y="1128689"/>
            <a:chExt cx="155575" cy="155575"/>
          </a:xfrm>
        </p:grpSpPr>
        <p:sp>
          <p:nvSpPr>
            <p:cNvPr id="26" name="object 26"/>
            <p:cNvSpPr/>
            <p:nvPr/>
          </p:nvSpPr>
          <p:spPr>
            <a:xfrm>
              <a:off x="5928753" y="1130630"/>
              <a:ext cx="151130" cy="151765"/>
            </a:xfrm>
            <a:custGeom>
              <a:avLst/>
              <a:gdLst/>
              <a:ahLst/>
              <a:cxnLst/>
              <a:rect l="l" t="t" r="r" b="b"/>
              <a:pathLst>
                <a:path w="151129" h="151765">
                  <a:moveTo>
                    <a:pt x="151091" y="0"/>
                  </a:moveTo>
                  <a:lnTo>
                    <a:pt x="0" y="0"/>
                  </a:lnTo>
                  <a:lnTo>
                    <a:pt x="0" y="151396"/>
                  </a:lnTo>
                  <a:lnTo>
                    <a:pt x="151091" y="151396"/>
                  </a:lnTo>
                  <a:lnTo>
                    <a:pt x="151091" y="0"/>
                  </a:lnTo>
                  <a:close/>
                </a:path>
              </a:pathLst>
            </a:custGeom>
            <a:solidFill>
              <a:srgbClr val="8DA0CB"/>
            </a:solidFill>
          </p:spPr>
          <p:txBody>
            <a:bodyPr wrap="square" lIns="0" tIns="0" rIns="0" bIns="0" rtlCol="0"/>
            <a:lstStyle/>
            <a:p>
              <a:endParaRPr/>
            </a:p>
          </p:txBody>
        </p:sp>
        <p:sp>
          <p:nvSpPr>
            <p:cNvPr id="27" name="object 27"/>
            <p:cNvSpPr/>
            <p:nvPr/>
          </p:nvSpPr>
          <p:spPr>
            <a:xfrm>
              <a:off x="5928751" y="1130631"/>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28" name="object 28"/>
          <p:cNvGrpSpPr/>
          <p:nvPr/>
        </p:nvGrpSpPr>
        <p:grpSpPr>
          <a:xfrm>
            <a:off x="5926809" y="917717"/>
            <a:ext cx="155575" cy="155575"/>
            <a:chOff x="5926809" y="917717"/>
            <a:chExt cx="155575" cy="155575"/>
          </a:xfrm>
        </p:grpSpPr>
        <p:sp>
          <p:nvSpPr>
            <p:cNvPr id="29" name="object 29"/>
            <p:cNvSpPr/>
            <p:nvPr/>
          </p:nvSpPr>
          <p:spPr>
            <a:xfrm>
              <a:off x="5928751" y="919659"/>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sp>
          <p:nvSpPr>
            <p:cNvPr id="30" name="object 30"/>
            <p:cNvSpPr/>
            <p:nvPr/>
          </p:nvSpPr>
          <p:spPr>
            <a:xfrm>
              <a:off x="5928753" y="919657"/>
              <a:ext cx="151130" cy="151765"/>
            </a:xfrm>
            <a:custGeom>
              <a:avLst/>
              <a:gdLst/>
              <a:ahLst/>
              <a:cxnLst/>
              <a:rect l="l" t="t" r="r" b="b"/>
              <a:pathLst>
                <a:path w="151129" h="151765">
                  <a:moveTo>
                    <a:pt x="151091" y="0"/>
                  </a:moveTo>
                  <a:lnTo>
                    <a:pt x="0" y="0"/>
                  </a:lnTo>
                  <a:lnTo>
                    <a:pt x="0" y="151396"/>
                  </a:lnTo>
                  <a:lnTo>
                    <a:pt x="151091" y="151396"/>
                  </a:lnTo>
                  <a:lnTo>
                    <a:pt x="151091" y="0"/>
                  </a:lnTo>
                  <a:close/>
                </a:path>
              </a:pathLst>
            </a:custGeom>
            <a:solidFill>
              <a:srgbClr val="C6B18B"/>
            </a:solidFill>
          </p:spPr>
          <p:txBody>
            <a:bodyPr wrap="square" lIns="0" tIns="0" rIns="0" bIns="0" rtlCol="0"/>
            <a:lstStyle/>
            <a:p>
              <a:endParaRPr/>
            </a:p>
          </p:txBody>
        </p:sp>
      </p:grpSp>
      <p:grpSp>
        <p:nvGrpSpPr>
          <p:cNvPr id="31" name="object 31"/>
          <p:cNvGrpSpPr/>
          <p:nvPr/>
        </p:nvGrpSpPr>
        <p:grpSpPr>
          <a:xfrm>
            <a:off x="5926809" y="1339640"/>
            <a:ext cx="155575" cy="155575"/>
            <a:chOff x="5926809" y="1339640"/>
            <a:chExt cx="155575" cy="155575"/>
          </a:xfrm>
        </p:grpSpPr>
        <p:sp>
          <p:nvSpPr>
            <p:cNvPr id="32" name="object 32"/>
            <p:cNvSpPr/>
            <p:nvPr/>
          </p:nvSpPr>
          <p:spPr>
            <a:xfrm>
              <a:off x="5928751" y="1341582"/>
              <a:ext cx="151130" cy="151765"/>
            </a:xfrm>
            <a:custGeom>
              <a:avLst/>
              <a:gdLst/>
              <a:ahLst/>
              <a:cxnLst/>
              <a:rect l="l" t="t" r="r" b="b"/>
              <a:pathLst>
                <a:path w="151129" h="151765">
                  <a:moveTo>
                    <a:pt x="151089" y="0"/>
                  </a:moveTo>
                  <a:lnTo>
                    <a:pt x="0" y="0"/>
                  </a:lnTo>
                  <a:lnTo>
                    <a:pt x="0" y="151393"/>
                  </a:lnTo>
                  <a:lnTo>
                    <a:pt x="151089" y="151393"/>
                  </a:lnTo>
                  <a:lnTo>
                    <a:pt x="151089" y="0"/>
                  </a:lnTo>
                  <a:close/>
                </a:path>
              </a:pathLst>
            </a:custGeom>
            <a:solidFill>
              <a:srgbClr val="D2D841"/>
            </a:solidFill>
          </p:spPr>
          <p:txBody>
            <a:bodyPr wrap="square" lIns="0" tIns="0" rIns="0" bIns="0" rtlCol="0"/>
            <a:lstStyle/>
            <a:p>
              <a:endParaRPr/>
            </a:p>
          </p:txBody>
        </p:sp>
        <p:sp>
          <p:nvSpPr>
            <p:cNvPr id="33" name="object 33"/>
            <p:cNvSpPr/>
            <p:nvPr/>
          </p:nvSpPr>
          <p:spPr>
            <a:xfrm>
              <a:off x="5928751" y="1341582"/>
              <a:ext cx="151130" cy="151765"/>
            </a:xfrm>
            <a:custGeom>
              <a:avLst/>
              <a:gdLst/>
              <a:ahLst/>
              <a:cxnLst/>
              <a:rect l="l" t="t" r="r" b="b"/>
              <a:pathLst>
                <a:path w="151129" h="151765">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34" name="object 34"/>
          <p:cNvGrpSpPr/>
          <p:nvPr/>
        </p:nvGrpSpPr>
        <p:grpSpPr>
          <a:xfrm>
            <a:off x="5926809" y="1550612"/>
            <a:ext cx="155575" cy="155575"/>
            <a:chOff x="5926809" y="1550612"/>
            <a:chExt cx="155575" cy="155575"/>
          </a:xfrm>
        </p:grpSpPr>
        <p:sp>
          <p:nvSpPr>
            <p:cNvPr id="35" name="object 35"/>
            <p:cNvSpPr/>
            <p:nvPr/>
          </p:nvSpPr>
          <p:spPr>
            <a:xfrm>
              <a:off x="5928751" y="1552553"/>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A6D854"/>
            </a:solidFill>
          </p:spPr>
          <p:txBody>
            <a:bodyPr wrap="square" lIns="0" tIns="0" rIns="0" bIns="0" rtlCol="0"/>
            <a:lstStyle/>
            <a:p>
              <a:endParaRPr/>
            </a:p>
          </p:txBody>
        </p:sp>
        <p:sp>
          <p:nvSpPr>
            <p:cNvPr id="36" name="object 36"/>
            <p:cNvSpPr/>
            <p:nvPr/>
          </p:nvSpPr>
          <p:spPr>
            <a:xfrm>
              <a:off x="5928751" y="1552553"/>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37" name="object 37"/>
          <p:cNvGrpSpPr/>
          <p:nvPr/>
        </p:nvGrpSpPr>
        <p:grpSpPr>
          <a:xfrm>
            <a:off x="5926809" y="1761562"/>
            <a:ext cx="155575" cy="155575"/>
            <a:chOff x="5926809" y="1761562"/>
            <a:chExt cx="155575" cy="155575"/>
          </a:xfrm>
        </p:grpSpPr>
        <p:sp>
          <p:nvSpPr>
            <p:cNvPr id="38" name="object 38"/>
            <p:cNvSpPr/>
            <p:nvPr/>
          </p:nvSpPr>
          <p:spPr>
            <a:xfrm>
              <a:off x="5928751" y="1763504"/>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E78AC3"/>
            </a:solidFill>
          </p:spPr>
          <p:txBody>
            <a:bodyPr wrap="square" lIns="0" tIns="0" rIns="0" bIns="0" rtlCol="0"/>
            <a:lstStyle/>
            <a:p>
              <a:endParaRPr/>
            </a:p>
          </p:txBody>
        </p:sp>
        <p:sp>
          <p:nvSpPr>
            <p:cNvPr id="39" name="object 39"/>
            <p:cNvSpPr/>
            <p:nvPr/>
          </p:nvSpPr>
          <p:spPr>
            <a:xfrm>
              <a:off x="5928751" y="1763504"/>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40" name="object 40"/>
          <p:cNvGrpSpPr/>
          <p:nvPr/>
        </p:nvGrpSpPr>
        <p:grpSpPr>
          <a:xfrm>
            <a:off x="5926809" y="1972534"/>
            <a:ext cx="155575" cy="155575"/>
            <a:chOff x="5926809" y="1972534"/>
            <a:chExt cx="155575" cy="155575"/>
          </a:xfrm>
        </p:grpSpPr>
        <p:sp>
          <p:nvSpPr>
            <p:cNvPr id="41" name="object 41"/>
            <p:cNvSpPr/>
            <p:nvPr/>
          </p:nvSpPr>
          <p:spPr>
            <a:xfrm>
              <a:off x="5928751" y="1974476"/>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F2CE61"/>
            </a:solidFill>
          </p:spPr>
          <p:txBody>
            <a:bodyPr wrap="square" lIns="0" tIns="0" rIns="0" bIns="0" rtlCol="0"/>
            <a:lstStyle/>
            <a:p>
              <a:endParaRPr/>
            </a:p>
          </p:txBody>
        </p:sp>
        <p:sp>
          <p:nvSpPr>
            <p:cNvPr id="42" name="object 42"/>
            <p:cNvSpPr/>
            <p:nvPr/>
          </p:nvSpPr>
          <p:spPr>
            <a:xfrm>
              <a:off x="5928751" y="1974476"/>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43" name="object 43"/>
          <p:cNvGrpSpPr/>
          <p:nvPr/>
        </p:nvGrpSpPr>
        <p:grpSpPr>
          <a:xfrm>
            <a:off x="5926809" y="2183485"/>
            <a:ext cx="155575" cy="155575"/>
            <a:chOff x="5926809" y="2183485"/>
            <a:chExt cx="155575" cy="155575"/>
          </a:xfrm>
        </p:grpSpPr>
        <p:sp>
          <p:nvSpPr>
            <p:cNvPr id="44" name="object 44"/>
            <p:cNvSpPr/>
            <p:nvPr/>
          </p:nvSpPr>
          <p:spPr>
            <a:xfrm>
              <a:off x="5928751" y="2185427"/>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FFD92F"/>
            </a:solidFill>
          </p:spPr>
          <p:txBody>
            <a:bodyPr wrap="square" lIns="0" tIns="0" rIns="0" bIns="0" rtlCol="0"/>
            <a:lstStyle/>
            <a:p>
              <a:endParaRPr/>
            </a:p>
          </p:txBody>
        </p:sp>
        <p:sp>
          <p:nvSpPr>
            <p:cNvPr id="45" name="object 45"/>
            <p:cNvSpPr/>
            <p:nvPr/>
          </p:nvSpPr>
          <p:spPr>
            <a:xfrm>
              <a:off x="5928751" y="2185427"/>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46" name="object 46"/>
          <p:cNvGrpSpPr/>
          <p:nvPr/>
        </p:nvGrpSpPr>
        <p:grpSpPr>
          <a:xfrm>
            <a:off x="5926809" y="2394456"/>
            <a:ext cx="155575" cy="155575"/>
            <a:chOff x="5926809" y="2394456"/>
            <a:chExt cx="155575" cy="155575"/>
          </a:xfrm>
        </p:grpSpPr>
        <p:sp>
          <p:nvSpPr>
            <p:cNvPr id="47" name="object 47"/>
            <p:cNvSpPr/>
            <p:nvPr/>
          </p:nvSpPr>
          <p:spPr>
            <a:xfrm>
              <a:off x="5928751" y="2396398"/>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C49696"/>
            </a:solidFill>
          </p:spPr>
          <p:txBody>
            <a:bodyPr wrap="square" lIns="0" tIns="0" rIns="0" bIns="0" rtlCol="0"/>
            <a:lstStyle/>
            <a:p>
              <a:endParaRPr/>
            </a:p>
          </p:txBody>
        </p:sp>
        <p:sp>
          <p:nvSpPr>
            <p:cNvPr id="48" name="object 48"/>
            <p:cNvSpPr/>
            <p:nvPr/>
          </p:nvSpPr>
          <p:spPr>
            <a:xfrm>
              <a:off x="5928751" y="2396398"/>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49" name="object 49"/>
          <p:cNvGrpSpPr/>
          <p:nvPr/>
        </p:nvGrpSpPr>
        <p:grpSpPr>
          <a:xfrm>
            <a:off x="5926809" y="2605407"/>
            <a:ext cx="155575" cy="155575"/>
            <a:chOff x="5926809" y="2605407"/>
            <a:chExt cx="155575" cy="155575"/>
          </a:xfrm>
        </p:grpSpPr>
        <p:sp>
          <p:nvSpPr>
            <p:cNvPr id="50" name="object 50"/>
            <p:cNvSpPr/>
            <p:nvPr/>
          </p:nvSpPr>
          <p:spPr>
            <a:xfrm>
              <a:off x="5928751" y="2607349"/>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CCBBA3"/>
            </a:solidFill>
          </p:spPr>
          <p:txBody>
            <a:bodyPr wrap="square" lIns="0" tIns="0" rIns="0" bIns="0" rtlCol="0"/>
            <a:lstStyle/>
            <a:p>
              <a:endParaRPr/>
            </a:p>
          </p:txBody>
        </p:sp>
        <p:sp>
          <p:nvSpPr>
            <p:cNvPr id="51" name="object 51"/>
            <p:cNvSpPr/>
            <p:nvPr/>
          </p:nvSpPr>
          <p:spPr>
            <a:xfrm>
              <a:off x="5928751" y="2607349"/>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grpSp>
        <p:nvGrpSpPr>
          <p:cNvPr id="52" name="object 52"/>
          <p:cNvGrpSpPr/>
          <p:nvPr/>
        </p:nvGrpSpPr>
        <p:grpSpPr>
          <a:xfrm>
            <a:off x="5926809" y="2816379"/>
            <a:ext cx="155575" cy="155575"/>
            <a:chOff x="5926809" y="2816379"/>
            <a:chExt cx="155575" cy="155575"/>
          </a:xfrm>
        </p:grpSpPr>
        <p:sp>
          <p:nvSpPr>
            <p:cNvPr id="53" name="object 53"/>
            <p:cNvSpPr/>
            <p:nvPr/>
          </p:nvSpPr>
          <p:spPr>
            <a:xfrm>
              <a:off x="5928751" y="2818321"/>
              <a:ext cx="151130" cy="151765"/>
            </a:xfrm>
            <a:custGeom>
              <a:avLst/>
              <a:gdLst/>
              <a:ahLst/>
              <a:cxnLst/>
              <a:rect l="l" t="t" r="r" b="b"/>
              <a:pathLst>
                <a:path w="151129" h="151764">
                  <a:moveTo>
                    <a:pt x="151089" y="0"/>
                  </a:moveTo>
                  <a:lnTo>
                    <a:pt x="0" y="0"/>
                  </a:lnTo>
                  <a:lnTo>
                    <a:pt x="0" y="151393"/>
                  </a:lnTo>
                  <a:lnTo>
                    <a:pt x="151089" y="151393"/>
                  </a:lnTo>
                  <a:lnTo>
                    <a:pt x="151089" y="0"/>
                  </a:lnTo>
                  <a:close/>
                </a:path>
              </a:pathLst>
            </a:custGeom>
            <a:solidFill>
              <a:srgbClr val="BA95C7"/>
            </a:solidFill>
          </p:spPr>
          <p:txBody>
            <a:bodyPr wrap="square" lIns="0" tIns="0" rIns="0" bIns="0" rtlCol="0"/>
            <a:lstStyle/>
            <a:p>
              <a:endParaRPr/>
            </a:p>
          </p:txBody>
        </p:sp>
        <p:sp>
          <p:nvSpPr>
            <p:cNvPr id="54" name="object 54"/>
            <p:cNvSpPr/>
            <p:nvPr/>
          </p:nvSpPr>
          <p:spPr>
            <a:xfrm>
              <a:off x="5928751" y="2818321"/>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grpSp>
      <p:sp>
        <p:nvSpPr>
          <p:cNvPr id="55" name="object 55"/>
          <p:cNvSpPr/>
          <p:nvPr/>
        </p:nvSpPr>
        <p:spPr>
          <a:xfrm>
            <a:off x="5928751" y="3029271"/>
            <a:ext cx="151130" cy="151765"/>
          </a:xfrm>
          <a:custGeom>
            <a:avLst/>
            <a:gdLst/>
            <a:ahLst/>
            <a:cxnLst/>
            <a:rect l="l" t="t" r="r" b="b"/>
            <a:pathLst>
              <a:path w="151129" h="151764">
                <a:moveTo>
                  <a:pt x="0" y="151393"/>
                </a:moveTo>
                <a:lnTo>
                  <a:pt x="151089" y="151393"/>
                </a:lnTo>
                <a:lnTo>
                  <a:pt x="151089" y="0"/>
                </a:lnTo>
                <a:lnTo>
                  <a:pt x="0" y="0"/>
                </a:lnTo>
                <a:lnTo>
                  <a:pt x="0" y="151393"/>
                </a:lnTo>
                <a:close/>
              </a:path>
            </a:pathLst>
          </a:custGeom>
          <a:ln w="3883">
            <a:solidFill>
              <a:srgbClr val="000000"/>
            </a:solidFill>
          </a:ln>
        </p:spPr>
        <p:txBody>
          <a:bodyPr wrap="square" lIns="0" tIns="0" rIns="0" bIns="0" rtlCol="0"/>
          <a:lstStyle/>
          <a:p>
            <a:endParaRPr/>
          </a:p>
        </p:txBody>
      </p:sp>
      <p:sp>
        <p:nvSpPr>
          <p:cNvPr id="56" name="object 56"/>
          <p:cNvSpPr txBox="1"/>
          <p:nvPr/>
        </p:nvSpPr>
        <p:spPr>
          <a:xfrm>
            <a:off x="5913411" y="-21389"/>
            <a:ext cx="2734945" cy="3206750"/>
          </a:xfrm>
          <a:prstGeom prst="rect">
            <a:avLst/>
          </a:prstGeom>
        </p:spPr>
        <p:txBody>
          <a:bodyPr vert="horz" wrap="square" lIns="0" tIns="74930" rIns="0" bIns="0" rtlCol="0">
            <a:spAutoFit/>
          </a:bodyPr>
          <a:lstStyle/>
          <a:p>
            <a:pPr marL="12700">
              <a:lnSpc>
                <a:spcPct val="100000"/>
              </a:lnSpc>
              <a:spcBef>
                <a:spcPts val="590"/>
              </a:spcBef>
            </a:pPr>
            <a:r>
              <a:rPr sz="1000" b="1" dirty="0">
                <a:latin typeface="Arial"/>
                <a:cs typeface="Arial"/>
              </a:rPr>
              <a:t>Biological</a:t>
            </a:r>
            <a:r>
              <a:rPr sz="1000" b="1" spc="-55" dirty="0">
                <a:latin typeface="Arial"/>
                <a:cs typeface="Arial"/>
              </a:rPr>
              <a:t> </a:t>
            </a:r>
            <a:r>
              <a:rPr sz="1000" b="1" spc="-10" dirty="0">
                <a:latin typeface="Arial"/>
                <a:cs typeface="Arial"/>
              </a:rPr>
              <a:t>process</a:t>
            </a:r>
            <a:endParaRPr sz="1000">
              <a:latin typeface="Arial"/>
              <a:cs typeface="Arial"/>
            </a:endParaRPr>
          </a:p>
          <a:p>
            <a:pPr marL="218440" marR="396240">
              <a:lnSpc>
                <a:spcPct val="138900"/>
              </a:lnSpc>
              <a:spcBef>
                <a:spcPts val="20"/>
              </a:spcBef>
            </a:pPr>
            <a:r>
              <a:rPr sz="1000" dirty="0">
                <a:latin typeface="Arial"/>
                <a:cs typeface="Arial"/>
              </a:rPr>
              <a:t>Protein</a:t>
            </a:r>
            <a:r>
              <a:rPr sz="1000" spc="-45" dirty="0">
                <a:latin typeface="Arial"/>
                <a:cs typeface="Arial"/>
              </a:rPr>
              <a:t> </a:t>
            </a:r>
            <a:r>
              <a:rPr sz="1000" dirty="0">
                <a:latin typeface="Arial"/>
                <a:cs typeface="Arial"/>
              </a:rPr>
              <a:t>folding</a:t>
            </a:r>
            <a:r>
              <a:rPr sz="1000" spc="-40" dirty="0">
                <a:latin typeface="Arial"/>
                <a:cs typeface="Arial"/>
              </a:rPr>
              <a:t> </a:t>
            </a:r>
            <a:r>
              <a:rPr sz="1000" dirty="0">
                <a:latin typeface="Arial"/>
                <a:cs typeface="Arial"/>
              </a:rPr>
              <a:t>and</a:t>
            </a:r>
            <a:r>
              <a:rPr sz="1000" spc="-40" dirty="0">
                <a:latin typeface="Arial"/>
                <a:cs typeface="Arial"/>
              </a:rPr>
              <a:t> </a:t>
            </a:r>
            <a:r>
              <a:rPr sz="1000" dirty="0">
                <a:latin typeface="Arial"/>
                <a:cs typeface="Arial"/>
              </a:rPr>
              <a:t>stress</a:t>
            </a:r>
            <a:r>
              <a:rPr sz="1000" spc="-40" dirty="0">
                <a:latin typeface="Arial"/>
                <a:cs typeface="Arial"/>
              </a:rPr>
              <a:t> </a:t>
            </a:r>
            <a:r>
              <a:rPr sz="1000" spc="-10" dirty="0">
                <a:latin typeface="Arial"/>
                <a:cs typeface="Arial"/>
              </a:rPr>
              <a:t>chaperones Carbohydrate</a:t>
            </a:r>
            <a:r>
              <a:rPr sz="1000" spc="10" dirty="0">
                <a:latin typeface="Arial"/>
                <a:cs typeface="Arial"/>
              </a:rPr>
              <a:t> </a:t>
            </a:r>
            <a:r>
              <a:rPr sz="1000" spc="-10" dirty="0">
                <a:latin typeface="Arial"/>
                <a:cs typeface="Arial"/>
              </a:rPr>
              <a:t>metabolism</a:t>
            </a:r>
            <a:endParaRPr sz="1000">
              <a:latin typeface="Arial"/>
              <a:cs typeface="Arial"/>
            </a:endParaRPr>
          </a:p>
          <a:p>
            <a:pPr marL="218440" marR="165735">
              <a:lnSpc>
                <a:spcPct val="138900"/>
              </a:lnSpc>
            </a:pPr>
            <a:r>
              <a:rPr sz="1000" spc="-10" dirty="0">
                <a:latin typeface="Arial"/>
                <a:cs typeface="Arial"/>
              </a:rPr>
              <a:t>Oxidative</a:t>
            </a:r>
            <a:r>
              <a:rPr sz="1000" spc="-15" dirty="0">
                <a:latin typeface="Arial"/>
                <a:cs typeface="Arial"/>
              </a:rPr>
              <a:t> </a:t>
            </a:r>
            <a:r>
              <a:rPr sz="1000" dirty="0">
                <a:latin typeface="Arial"/>
                <a:cs typeface="Arial"/>
              </a:rPr>
              <a:t>stress</a:t>
            </a:r>
            <a:r>
              <a:rPr sz="1000" spc="-15" dirty="0">
                <a:latin typeface="Arial"/>
                <a:cs typeface="Arial"/>
              </a:rPr>
              <a:t> </a:t>
            </a:r>
            <a:r>
              <a:rPr sz="1000" spc="-10" dirty="0">
                <a:latin typeface="Arial"/>
                <a:cs typeface="Arial"/>
              </a:rPr>
              <a:t>response</a:t>
            </a:r>
            <a:r>
              <a:rPr sz="1000" spc="-15" dirty="0">
                <a:latin typeface="Arial"/>
                <a:cs typeface="Arial"/>
              </a:rPr>
              <a:t> </a:t>
            </a:r>
            <a:r>
              <a:rPr sz="1000" dirty="0">
                <a:latin typeface="Arial"/>
                <a:cs typeface="Arial"/>
              </a:rPr>
              <a:t>and</a:t>
            </a:r>
            <a:r>
              <a:rPr sz="1000" spc="-15" dirty="0">
                <a:latin typeface="Arial"/>
                <a:cs typeface="Arial"/>
              </a:rPr>
              <a:t> </a:t>
            </a:r>
            <a:r>
              <a:rPr sz="1000" dirty="0">
                <a:latin typeface="Arial"/>
                <a:cs typeface="Arial"/>
              </a:rPr>
              <a:t>ROS</a:t>
            </a:r>
            <a:r>
              <a:rPr sz="1000" spc="-15" dirty="0">
                <a:latin typeface="Arial"/>
                <a:cs typeface="Arial"/>
              </a:rPr>
              <a:t> </a:t>
            </a:r>
            <a:r>
              <a:rPr sz="1000" spc="-10" dirty="0">
                <a:latin typeface="Arial"/>
                <a:cs typeface="Arial"/>
              </a:rPr>
              <a:t>detox Water</a:t>
            </a:r>
            <a:r>
              <a:rPr sz="1000" spc="-35" dirty="0">
                <a:latin typeface="Arial"/>
                <a:cs typeface="Arial"/>
              </a:rPr>
              <a:t> </a:t>
            </a:r>
            <a:r>
              <a:rPr sz="1000" dirty="0">
                <a:latin typeface="Arial"/>
                <a:cs typeface="Arial"/>
              </a:rPr>
              <a:t>deficit</a:t>
            </a:r>
            <a:r>
              <a:rPr sz="1000" spc="-35" dirty="0">
                <a:latin typeface="Arial"/>
                <a:cs typeface="Arial"/>
              </a:rPr>
              <a:t> </a:t>
            </a:r>
            <a:r>
              <a:rPr sz="1000" dirty="0">
                <a:latin typeface="Arial"/>
                <a:cs typeface="Arial"/>
              </a:rPr>
              <a:t>and</a:t>
            </a:r>
            <a:r>
              <a:rPr sz="1000" spc="-35" dirty="0">
                <a:latin typeface="Arial"/>
                <a:cs typeface="Arial"/>
              </a:rPr>
              <a:t> </a:t>
            </a:r>
            <a:r>
              <a:rPr sz="1000" dirty="0">
                <a:latin typeface="Arial"/>
                <a:cs typeface="Arial"/>
              </a:rPr>
              <a:t>cold</a:t>
            </a:r>
            <a:r>
              <a:rPr sz="1000" spc="-35" dirty="0">
                <a:latin typeface="Arial"/>
                <a:cs typeface="Arial"/>
              </a:rPr>
              <a:t> </a:t>
            </a:r>
            <a:r>
              <a:rPr sz="1000" dirty="0">
                <a:latin typeface="Arial"/>
                <a:cs typeface="Arial"/>
              </a:rPr>
              <a:t>stress</a:t>
            </a:r>
            <a:r>
              <a:rPr sz="1000" spc="-30" dirty="0">
                <a:latin typeface="Arial"/>
                <a:cs typeface="Arial"/>
              </a:rPr>
              <a:t> </a:t>
            </a:r>
            <a:r>
              <a:rPr sz="1000" spc="-10" dirty="0">
                <a:latin typeface="Arial"/>
                <a:cs typeface="Arial"/>
              </a:rPr>
              <a:t>responses </a:t>
            </a:r>
            <a:r>
              <a:rPr sz="1000" dirty="0">
                <a:latin typeface="Arial"/>
                <a:cs typeface="Arial"/>
              </a:rPr>
              <a:t>Amino</a:t>
            </a:r>
            <a:r>
              <a:rPr sz="1000" spc="-40" dirty="0">
                <a:latin typeface="Arial"/>
                <a:cs typeface="Arial"/>
              </a:rPr>
              <a:t> </a:t>
            </a:r>
            <a:r>
              <a:rPr sz="1000" dirty="0">
                <a:latin typeface="Arial"/>
                <a:cs typeface="Arial"/>
              </a:rPr>
              <a:t>acid</a:t>
            </a:r>
            <a:r>
              <a:rPr sz="1000" spc="-35" dirty="0">
                <a:latin typeface="Arial"/>
                <a:cs typeface="Arial"/>
              </a:rPr>
              <a:t> </a:t>
            </a:r>
            <a:r>
              <a:rPr sz="1000" dirty="0">
                <a:latin typeface="Arial"/>
                <a:cs typeface="Arial"/>
              </a:rPr>
              <a:t>and</a:t>
            </a:r>
            <a:r>
              <a:rPr sz="1000" spc="-35" dirty="0">
                <a:latin typeface="Arial"/>
                <a:cs typeface="Arial"/>
              </a:rPr>
              <a:t> </a:t>
            </a:r>
            <a:r>
              <a:rPr sz="1000" dirty="0">
                <a:latin typeface="Arial"/>
                <a:cs typeface="Arial"/>
              </a:rPr>
              <a:t>peptide</a:t>
            </a:r>
            <a:r>
              <a:rPr sz="1000" spc="-35" dirty="0">
                <a:latin typeface="Arial"/>
                <a:cs typeface="Arial"/>
              </a:rPr>
              <a:t> </a:t>
            </a:r>
            <a:r>
              <a:rPr sz="1000" spc="-10" dirty="0">
                <a:latin typeface="Arial"/>
                <a:cs typeface="Arial"/>
              </a:rPr>
              <a:t>biosynthesis</a:t>
            </a:r>
            <a:endParaRPr sz="1000">
              <a:latin typeface="Arial"/>
              <a:cs typeface="Arial"/>
            </a:endParaRPr>
          </a:p>
          <a:p>
            <a:pPr marL="218440" marR="1200785">
              <a:lnSpc>
                <a:spcPct val="138900"/>
              </a:lnSpc>
            </a:pPr>
            <a:r>
              <a:rPr sz="1000" spc="-10" dirty="0">
                <a:latin typeface="Arial"/>
                <a:cs typeface="Arial"/>
              </a:rPr>
              <a:t>ABA</a:t>
            </a:r>
            <a:r>
              <a:rPr sz="1000" spc="-60" dirty="0">
                <a:latin typeface="Arial"/>
                <a:cs typeface="Arial"/>
              </a:rPr>
              <a:t> </a:t>
            </a:r>
            <a:r>
              <a:rPr sz="1000" spc="-10" dirty="0">
                <a:latin typeface="Arial"/>
                <a:cs typeface="Arial"/>
              </a:rPr>
              <a:t>hormone</a:t>
            </a:r>
            <a:r>
              <a:rPr sz="1000" spc="5" dirty="0">
                <a:latin typeface="Arial"/>
                <a:cs typeface="Arial"/>
              </a:rPr>
              <a:t> </a:t>
            </a:r>
            <a:r>
              <a:rPr sz="1000" spc="-10" dirty="0">
                <a:latin typeface="Arial"/>
                <a:cs typeface="Arial"/>
              </a:rPr>
              <a:t>signaling Response </a:t>
            </a:r>
            <a:r>
              <a:rPr sz="1000" dirty="0">
                <a:latin typeface="Arial"/>
                <a:cs typeface="Arial"/>
              </a:rPr>
              <a:t>to</a:t>
            </a:r>
            <a:r>
              <a:rPr sz="1000" spc="-5" dirty="0">
                <a:latin typeface="Arial"/>
                <a:cs typeface="Arial"/>
              </a:rPr>
              <a:t> </a:t>
            </a:r>
            <a:r>
              <a:rPr sz="1000" spc="-20" dirty="0">
                <a:latin typeface="Arial"/>
                <a:cs typeface="Arial"/>
              </a:rPr>
              <a:t>heat</a:t>
            </a:r>
            <a:endParaRPr sz="1000">
              <a:latin typeface="Arial"/>
              <a:cs typeface="Arial"/>
            </a:endParaRPr>
          </a:p>
          <a:p>
            <a:pPr marL="218440" marR="74295">
              <a:lnSpc>
                <a:spcPct val="138900"/>
              </a:lnSpc>
            </a:pPr>
            <a:r>
              <a:rPr sz="1000" spc="-10" dirty="0">
                <a:latin typeface="Arial"/>
                <a:cs typeface="Arial"/>
              </a:rPr>
              <a:t>Defense</a:t>
            </a:r>
            <a:r>
              <a:rPr sz="1000" spc="-35" dirty="0">
                <a:latin typeface="Arial"/>
                <a:cs typeface="Arial"/>
              </a:rPr>
              <a:t> </a:t>
            </a:r>
            <a:r>
              <a:rPr sz="1000" dirty="0">
                <a:latin typeface="Arial"/>
                <a:cs typeface="Arial"/>
              </a:rPr>
              <a:t>response</a:t>
            </a:r>
            <a:r>
              <a:rPr sz="1000" spc="-30" dirty="0">
                <a:latin typeface="Arial"/>
                <a:cs typeface="Arial"/>
              </a:rPr>
              <a:t> </a:t>
            </a:r>
            <a:r>
              <a:rPr sz="1000" dirty="0">
                <a:latin typeface="Arial"/>
                <a:cs typeface="Arial"/>
              </a:rPr>
              <a:t>and</a:t>
            </a:r>
            <a:r>
              <a:rPr sz="1000" spc="-30" dirty="0">
                <a:latin typeface="Arial"/>
                <a:cs typeface="Arial"/>
              </a:rPr>
              <a:t> </a:t>
            </a:r>
            <a:r>
              <a:rPr sz="1000" dirty="0">
                <a:latin typeface="Arial"/>
                <a:cs typeface="Arial"/>
              </a:rPr>
              <a:t>pathogen</a:t>
            </a:r>
            <a:r>
              <a:rPr sz="1000" spc="-30" dirty="0">
                <a:latin typeface="Arial"/>
                <a:cs typeface="Arial"/>
              </a:rPr>
              <a:t> </a:t>
            </a:r>
            <a:r>
              <a:rPr sz="1000" spc="-10" dirty="0">
                <a:latin typeface="Arial"/>
                <a:cs typeface="Arial"/>
              </a:rPr>
              <a:t>resistance polysaccharide</a:t>
            </a:r>
            <a:r>
              <a:rPr sz="1000" spc="55" dirty="0">
                <a:latin typeface="Arial"/>
                <a:cs typeface="Arial"/>
              </a:rPr>
              <a:t> </a:t>
            </a:r>
            <a:r>
              <a:rPr sz="1000" spc="-10" dirty="0">
                <a:latin typeface="Arial"/>
                <a:cs typeface="Arial"/>
              </a:rPr>
              <a:t>catabolism</a:t>
            </a:r>
            <a:endParaRPr sz="1000">
              <a:latin typeface="Arial"/>
              <a:cs typeface="Arial"/>
            </a:endParaRPr>
          </a:p>
          <a:p>
            <a:pPr marL="218440" marR="263525">
              <a:lnSpc>
                <a:spcPct val="138900"/>
              </a:lnSpc>
            </a:pPr>
            <a:r>
              <a:rPr sz="1000" spc="-10" dirty="0">
                <a:latin typeface="Arial"/>
                <a:cs typeface="Arial"/>
              </a:rPr>
              <a:t>Nucleotide</a:t>
            </a:r>
            <a:r>
              <a:rPr sz="1000" spc="-25" dirty="0">
                <a:latin typeface="Arial"/>
                <a:cs typeface="Arial"/>
              </a:rPr>
              <a:t> </a:t>
            </a:r>
            <a:r>
              <a:rPr sz="1000" dirty="0">
                <a:latin typeface="Arial"/>
                <a:cs typeface="Arial"/>
              </a:rPr>
              <a:t>biosynthesis</a:t>
            </a:r>
            <a:r>
              <a:rPr sz="1000" spc="-20" dirty="0">
                <a:latin typeface="Arial"/>
                <a:cs typeface="Arial"/>
              </a:rPr>
              <a:t> </a:t>
            </a:r>
            <a:r>
              <a:rPr sz="1000" dirty="0">
                <a:latin typeface="Arial"/>
                <a:cs typeface="Arial"/>
              </a:rPr>
              <a:t>and</a:t>
            </a:r>
            <a:r>
              <a:rPr sz="1000" spc="-25" dirty="0">
                <a:latin typeface="Arial"/>
                <a:cs typeface="Arial"/>
              </a:rPr>
              <a:t> </a:t>
            </a:r>
            <a:r>
              <a:rPr sz="1000" spc="-10" dirty="0">
                <a:latin typeface="Arial"/>
                <a:cs typeface="Arial"/>
              </a:rPr>
              <a:t>metabolism Specialized</a:t>
            </a:r>
            <a:r>
              <a:rPr sz="1000" dirty="0">
                <a:latin typeface="Arial"/>
                <a:cs typeface="Arial"/>
              </a:rPr>
              <a:t> </a:t>
            </a:r>
            <a:r>
              <a:rPr sz="1000" spc="-10" dirty="0">
                <a:latin typeface="Arial"/>
                <a:cs typeface="Arial"/>
              </a:rPr>
              <a:t>metabolite</a:t>
            </a:r>
            <a:r>
              <a:rPr sz="1000" spc="5" dirty="0">
                <a:latin typeface="Arial"/>
                <a:cs typeface="Arial"/>
              </a:rPr>
              <a:t> </a:t>
            </a:r>
            <a:r>
              <a:rPr sz="1000" spc="-10" dirty="0">
                <a:latin typeface="Arial"/>
                <a:cs typeface="Arial"/>
              </a:rPr>
              <a:t>biosynthesis</a:t>
            </a:r>
            <a:endParaRPr sz="1000">
              <a:latin typeface="Arial"/>
              <a:cs typeface="Arial"/>
            </a:endParaRPr>
          </a:p>
          <a:p>
            <a:pPr marL="218440" marR="5080">
              <a:lnSpc>
                <a:spcPct val="138900"/>
              </a:lnSpc>
            </a:pPr>
            <a:r>
              <a:rPr sz="1000" dirty="0">
                <a:latin typeface="Arial"/>
                <a:cs typeface="Arial"/>
              </a:rPr>
              <a:t>Energy</a:t>
            </a:r>
            <a:r>
              <a:rPr sz="1000" spc="-15" dirty="0">
                <a:latin typeface="Arial"/>
                <a:cs typeface="Arial"/>
              </a:rPr>
              <a:t> </a:t>
            </a:r>
            <a:r>
              <a:rPr sz="1000" spc="-10" dirty="0">
                <a:latin typeface="Arial"/>
                <a:cs typeface="Arial"/>
              </a:rPr>
              <a:t>generation</a:t>
            </a:r>
            <a:r>
              <a:rPr sz="1000" spc="-15" dirty="0">
                <a:latin typeface="Arial"/>
                <a:cs typeface="Arial"/>
              </a:rPr>
              <a:t> </a:t>
            </a:r>
            <a:r>
              <a:rPr sz="1000" spc="-10" dirty="0">
                <a:latin typeface="Arial"/>
                <a:cs typeface="Arial"/>
              </a:rPr>
              <a:t>(glyoxylate</a:t>
            </a:r>
            <a:r>
              <a:rPr sz="1000" spc="-15" dirty="0">
                <a:latin typeface="Arial"/>
                <a:cs typeface="Arial"/>
              </a:rPr>
              <a:t> </a:t>
            </a:r>
            <a:r>
              <a:rPr sz="1000" dirty="0">
                <a:latin typeface="Arial"/>
                <a:cs typeface="Arial"/>
              </a:rPr>
              <a:t>malate</a:t>
            </a:r>
            <a:r>
              <a:rPr sz="1000" spc="-15" dirty="0">
                <a:latin typeface="Arial"/>
                <a:cs typeface="Arial"/>
              </a:rPr>
              <a:t> </a:t>
            </a:r>
            <a:r>
              <a:rPr sz="1000" spc="-10" dirty="0">
                <a:latin typeface="Arial"/>
                <a:cs typeface="Arial"/>
              </a:rPr>
              <a:t>cycles) RNA</a:t>
            </a:r>
            <a:r>
              <a:rPr sz="1000" spc="-60" dirty="0">
                <a:latin typeface="Arial"/>
                <a:cs typeface="Arial"/>
              </a:rPr>
              <a:t> </a:t>
            </a:r>
            <a:r>
              <a:rPr sz="1000" spc="-10" dirty="0">
                <a:latin typeface="Arial"/>
                <a:cs typeface="Arial"/>
              </a:rPr>
              <a:t>processing </a:t>
            </a:r>
            <a:r>
              <a:rPr sz="1000" dirty="0">
                <a:latin typeface="Arial"/>
                <a:cs typeface="Arial"/>
              </a:rPr>
              <a:t>and</a:t>
            </a:r>
            <a:r>
              <a:rPr sz="1000" spc="-10" dirty="0">
                <a:latin typeface="Arial"/>
                <a:cs typeface="Arial"/>
              </a:rPr>
              <a:t> </a:t>
            </a:r>
            <a:r>
              <a:rPr sz="1000" dirty="0">
                <a:latin typeface="Arial"/>
                <a:cs typeface="Arial"/>
              </a:rPr>
              <a:t>gene</a:t>
            </a:r>
            <a:r>
              <a:rPr sz="1000" spc="-5" dirty="0">
                <a:latin typeface="Arial"/>
                <a:cs typeface="Arial"/>
              </a:rPr>
              <a:t> </a:t>
            </a:r>
            <a:r>
              <a:rPr sz="1000" spc="-10" dirty="0">
                <a:latin typeface="Arial"/>
                <a:cs typeface="Arial"/>
              </a:rPr>
              <a:t>regulation</a:t>
            </a:r>
            <a:endParaRPr sz="1000">
              <a:latin typeface="Arial"/>
              <a:cs typeface="Arial"/>
            </a:endParaRPr>
          </a:p>
          <a:p>
            <a:pPr marL="218440">
              <a:lnSpc>
                <a:spcPct val="100000"/>
              </a:lnSpc>
              <a:spcBef>
                <a:spcPts val="470"/>
              </a:spcBef>
            </a:pPr>
            <a:r>
              <a:rPr sz="1000" spc="-10" dirty="0">
                <a:latin typeface="Arial"/>
                <a:cs typeface="Arial"/>
              </a:rPr>
              <a:t>Other</a:t>
            </a:r>
            <a:endParaRPr sz="1000">
              <a:latin typeface="Arial"/>
              <a:cs typeface="Arial"/>
            </a:endParaRPr>
          </a:p>
        </p:txBody>
      </p:sp>
      <p:grpSp>
        <p:nvGrpSpPr>
          <p:cNvPr id="57" name="object 57"/>
          <p:cNvGrpSpPr/>
          <p:nvPr/>
        </p:nvGrpSpPr>
        <p:grpSpPr>
          <a:xfrm>
            <a:off x="1835743" y="178625"/>
            <a:ext cx="3919220" cy="3067050"/>
            <a:chOff x="1835743" y="178625"/>
            <a:chExt cx="3919220" cy="3067050"/>
          </a:xfrm>
        </p:grpSpPr>
        <p:sp>
          <p:nvSpPr>
            <p:cNvPr id="58" name="object 58"/>
            <p:cNvSpPr/>
            <p:nvPr/>
          </p:nvSpPr>
          <p:spPr>
            <a:xfrm>
              <a:off x="1835743" y="3240754"/>
              <a:ext cx="3919220" cy="0"/>
            </a:xfrm>
            <a:custGeom>
              <a:avLst/>
              <a:gdLst/>
              <a:ahLst/>
              <a:cxnLst/>
              <a:rect l="l" t="t" r="r" b="b"/>
              <a:pathLst>
                <a:path w="3919220">
                  <a:moveTo>
                    <a:pt x="0" y="0"/>
                  </a:moveTo>
                  <a:lnTo>
                    <a:pt x="3918837" y="0"/>
                  </a:lnTo>
                </a:path>
              </a:pathLst>
            </a:custGeom>
            <a:ln w="9645">
              <a:solidFill>
                <a:srgbClr val="EBEBEB"/>
              </a:solidFill>
            </a:ln>
          </p:spPr>
          <p:txBody>
            <a:bodyPr wrap="square" lIns="0" tIns="0" rIns="0" bIns="0" rtlCol="0"/>
            <a:lstStyle/>
            <a:p>
              <a:endParaRPr/>
            </a:p>
          </p:txBody>
        </p:sp>
        <p:sp>
          <p:nvSpPr>
            <p:cNvPr id="59" name="object 59"/>
            <p:cNvSpPr/>
            <p:nvPr/>
          </p:nvSpPr>
          <p:spPr>
            <a:xfrm>
              <a:off x="1835743" y="792579"/>
              <a:ext cx="3919220" cy="1632585"/>
            </a:xfrm>
            <a:custGeom>
              <a:avLst/>
              <a:gdLst/>
              <a:ahLst/>
              <a:cxnLst/>
              <a:rect l="l" t="t" r="r" b="b"/>
              <a:pathLst>
                <a:path w="3919220" h="1632585">
                  <a:moveTo>
                    <a:pt x="1935551" y="1632117"/>
                  </a:moveTo>
                  <a:lnTo>
                    <a:pt x="3918837" y="1632117"/>
                  </a:lnTo>
                </a:path>
                <a:path w="3919220" h="1632585">
                  <a:moveTo>
                    <a:pt x="1457596" y="1632117"/>
                  </a:moveTo>
                  <a:lnTo>
                    <a:pt x="1505414" y="1632117"/>
                  </a:lnTo>
                </a:path>
                <a:path w="3919220" h="1632585">
                  <a:moveTo>
                    <a:pt x="979746" y="1632117"/>
                  </a:moveTo>
                  <a:lnTo>
                    <a:pt x="1027459" y="1632117"/>
                  </a:lnTo>
                </a:path>
                <a:path w="3919220" h="1632585">
                  <a:moveTo>
                    <a:pt x="0" y="1632117"/>
                  </a:moveTo>
                  <a:lnTo>
                    <a:pt x="71633" y="1632117"/>
                  </a:lnTo>
                </a:path>
                <a:path w="3919220" h="1632585">
                  <a:moveTo>
                    <a:pt x="501770" y="1632117"/>
                  </a:moveTo>
                  <a:lnTo>
                    <a:pt x="549609" y="1632117"/>
                  </a:lnTo>
                </a:path>
                <a:path w="3919220" h="1632585">
                  <a:moveTo>
                    <a:pt x="501770" y="816058"/>
                  </a:moveTo>
                  <a:lnTo>
                    <a:pt x="549609" y="816058"/>
                  </a:lnTo>
                </a:path>
                <a:path w="3919220" h="1632585">
                  <a:moveTo>
                    <a:pt x="979746" y="816058"/>
                  </a:moveTo>
                  <a:lnTo>
                    <a:pt x="3918837" y="816058"/>
                  </a:lnTo>
                </a:path>
                <a:path w="3919220" h="1632585">
                  <a:moveTo>
                    <a:pt x="0" y="816058"/>
                  </a:moveTo>
                  <a:lnTo>
                    <a:pt x="71633" y="816058"/>
                  </a:lnTo>
                </a:path>
                <a:path w="3919220" h="1632585">
                  <a:moveTo>
                    <a:pt x="0" y="0"/>
                  </a:moveTo>
                  <a:lnTo>
                    <a:pt x="71633" y="0"/>
                  </a:lnTo>
                </a:path>
                <a:path w="3919220" h="1632585">
                  <a:moveTo>
                    <a:pt x="501770" y="0"/>
                  </a:moveTo>
                  <a:lnTo>
                    <a:pt x="3918837" y="0"/>
                  </a:lnTo>
                </a:path>
              </a:pathLst>
            </a:custGeom>
            <a:ln w="9645">
              <a:solidFill>
                <a:srgbClr val="EBEBEB"/>
              </a:solidFill>
            </a:ln>
          </p:spPr>
          <p:txBody>
            <a:bodyPr wrap="square" lIns="0" tIns="0" rIns="0" bIns="0" rtlCol="0"/>
            <a:lstStyle/>
            <a:p>
              <a:endParaRPr/>
            </a:p>
          </p:txBody>
        </p:sp>
        <p:sp>
          <p:nvSpPr>
            <p:cNvPr id="60" name="object 60"/>
            <p:cNvSpPr/>
            <p:nvPr/>
          </p:nvSpPr>
          <p:spPr>
            <a:xfrm>
              <a:off x="4296984" y="3159145"/>
              <a:ext cx="430530" cy="81915"/>
            </a:xfrm>
            <a:custGeom>
              <a:avLst/>
              <a:gdLst/>
              <a:ahLst/>
              <a:cxnLst/>
              <a:rect l="l" t="t" r="r" b="b"/>
              <a:pathLst>
                <a:path w="430529" h="81914">
                  <a:moveTo>
                    <a:pt x="430136" y="0"/>
                  </a:moveTo>
                  <a:lnTo>
                    <a:pt x="0" y="0"/>
                  </a:lnTo>
                  <a:lnTo>
                    <a:pt x="0" y="81602"/>
                  </a:lnTo>
                  <a:lnTo>
                    <a:pt x="430136" y="81602"/>
                  </a:lnTo>
                  <a:lnTo>
                    <a:pt x="430136" y="0"/>
                  </a:lnTo>
                  <a:close/>
                </a:path>
              </a:pathLst>
            </a:custGeom>
            <a:solidFill>
              <a:srgbClr val="E78AC3"/>
            </a:solidFill>
          </p:spPr>
          <p:txBody>
            <a:bodyPr wrap="square" lIns="0" tIns="0" rIns="0" bIns="0" rtlCol="0"/>
            <a:lstStyle/>
            <a:p>
              <a:endParaRPr/>
            </a:p>
          </p:txBody>
        </p:sp>
        <p:sp>
          <p:nvSpPr>
            <p:cNvPr id="61" name="object 61"/>
            <p:cNvSpPr/>
            <p:nvPr/>
          </p:nvSpPr>
          <p:spPr>
            <a:xfrm>
              <a:off x="4296984" y="3159145"/>
              <a:ext cx="430530" cy="81915"/>
            </a:xfrm>
            <a:custGeom>
              <a:avLst/>
              <a:gdLst/>
              <a:ahLst/>
              <a:cxnLst/>
              <a:rect l="l" t="t" r="r" b="b"/>
              <a:pathLst>
                <a:path w="430529" h="81914">
                  <a:moveTo>
                    <a:pt x="0" y="81602"/>
                  </a:moveTo>
                  <a:lnTo>
                    <a:pt x="430136" y="81602"/>
                  </a:lnTo>
                  <a:lnTo>
                    <a:pt x="430136" y="0"/>
                  </a:lnTo>
                  <a:lnTo>
                    <a:pt x="0" y="0"/>
                  </a:lnTo>
                  <a:lnTo>
                    <a:pt x="0" y="81602"/>
                  </a:lnTo>
                  <a:close/>
                </a:path>
              </a:pathLst>
            </a:custGeom>
            <a:ln w="3866">
              <a:solidFill>
                <a:srgbClr val="000000"/>
              </a:solidFill>
            </a:ln>
          </p:spPr>
          <p:txBody>
            <a:bodyPr wrap="square" lIns="0" tIns="0" rIns="0" bIns="0" rtlCol="0"/>
            <a:lstStyle/>
            <a:p>
              <a:endParaRPr/>
            </a:p>
          </p:txBody>
        </p:sp>
        <p:sp>
          <p:nvSpPr>
            <p:cNvPr id="62" name="object 62"/>
            <p:cNvSpPr/>
            <p:nvPr/>
          </p:nvSpPr>
          <p:spPr>
            <a:xfrm>
              <a:off x="4296984" y="2873528"/>
              <a:ext cx="430530" cy="285750"/>
            </a:xfrm>
            <a:custGeom>
              <a:avLst/>
              <a:gdLst/>
              <a:ahLst/>
              <a:cxnLst/>
              <a:rect l="l" t="t" r="r" b="b"/>
              <a:pathLst>
                <a:path w="430529" h="285750">
                  <a:moveTo>
                    <a:pt x="430136" y="0"/>
                  </a:moveTo>
                  <a:lnTo>
                    <a:pt x="0" y="0"/>
                  </a:lnTo>
                  <a:lnTo>
                    <a:pt x="0" y="285617"/>
                  </a:lnTo>
                  <a:lnTo>
                    <a:pt x="430136" y="285617"/>
                  </a:lnTo>
                  <a:lnTo>
                    <a:pt x="430136" y="0"/>
                  </a:lnTo>
                  <a:close/>
                </a:path>
              </a:pathLst>
            </a:custGeom>
            <a:solidFill>
              <a:srgbClr val="F2CE61"/>
            </a:solidFill>
          </p:spPr>
          <p:txBody>
            <a:bodyPr wrap="square" lIns="0" tIns="0" rIns="0" bIns="0" rtlCol="0"/>
            <a:lstStyle/>
            <a:p>
              <a:endParaRPr/>
            </a:p>
          </p:txBody>
        </p:sp>
        <p:sp>
          <p:nvSpPr>
            <p:cNvPr id="63" name="object 63"/>
            <p:cNvSpPr/>
            <p:nvPr/>
          </p:nvSpPr>
          <p:spPr>
            <a:xfrm>
              <a:off x="3819029" y="2873528"/>
              <a:ext cx="908685" cy="367665"/>
            </a:xfrm>
            <a:custGeom>
              <a:avLst/>
              <a:gdLst/>
              <a:ahLst/>
              <a:cxnLst/>
              <a:rect l="l" t="t" r="r" b="b"/>
              <a:pathLst>
                <a:path w="908685" h="367664">
                  <a:moveTo>
                    <a:pt x="477955" y="285617"/>
                  </a:moveTo>
                  <a:lnTo>
                    <a:pt x="908091" y="285617"/>
                  </a:lnTo>
                  <a:lnTo>
                    <a:pt x="908091" y="0"/>
                  </a:lnTo>
                  <a:lnTo>
                    <a:pt x="477955" y="0"/>
                  </a:lnTo>
                  <a:lnTo>
                    <a:pt x="477955" y="285617"/>
                  </a:lnTo>
                  <a:close/>
                </a:path>
                <a:path w="908685" h="367664">
                  <a:moveTo>
                    <a:pt x="0" y="367219"/>
                  </a:moveTo>
                  <a:lnTo>
                    <a:pt x="430136" y="367219"/>
                  </a:lnTo>
                  <a:lnTo>
                    <a:pt x="430136" y="40790"/>
                  </a:lnTo>
                  <a:lnTo>
                    <a:pt x="0" y="40790"/>
                  </a:lnTo>
                  <a:lnTo>
                    <a:pt x="0" y="367219"/>
                  </a:lnTo>
                  <a:close/>
                </a:path>
              </a:pathLst>
            </a:custGeom>
            <a:ln w="3862">
              <a:solidFill>
                <a:srgbClr val="000000"/>
              </a:solidFill>
            </a:ln>
          </p:spPr>
          <p:txBody>
            <a:bodyPr wrap="square" lIns="0" tIns="0" rIns="0" bIns="0" rtlCol="0"/>
            <a:lstStyle/>
            <a:p>
              <a:endParaRPr/>
            </a:p>
          </p:txBody>
        </p:sp>
        <p:sp>
          <p:nvSpPr>
            <p:cNvPr id="64" name="object 64"/>
            <p:cNvSpPr/>
            <p:nvPr/>
          </p:nvSpPr>
          <p:spPr>
            <a:xfrm>
              <a:off x="3819029" y="2791905"/>
              <a:ext cx="430530" cy="41275"/>
            </a:xfrm>
            <a:custGeom>
              <a:avLst/>
              <a:gdLst/>
              <a:ahLst/>
              <a:cxnLst/>
              <a:rect l="l" t="t" r="r" b="b"/>
              <a:pathLst>
                <a:path w="430529" h="41275">
                  <a:moveTo>
                    <a:pt x="430136" y="0"/>
                  </a:moveTo>
                  <a:lnTo>
                    <a:pt x="0" y="0"/>
                  </a:lnTo>
                  <a:lnTo>
                    <a:pt x="0" y="40811"/>
                  </a:lnTo>
                  <a:lnTo>
                    <a:pt x="430136" y="40811"/>
                  </a:lnTo>
                  <a:lnTo>
                    <a:pt x="430136" y="0"/>
                  </a:lnTo>
                  <a:close/>
                </a:path>
              </a:pathLst>
            </a:custGeom>
            <a:solidFill>
              <a:srgbClr val="B1A783"/>
            </a:solidFill>
          </p:spPr>
          <p:txBody>
            <a:bodyPr wrap="square" lIns="0" tIns="0" rIns="0" bIns="0" rtlCol="0"/>
            <a:lstStyle/>
            <a:p>
              <a:endParaRPr/>
            </a:p>
          </p:txBody>
        </p:sp>
        <p:sp>
          <p:nvSpPr>
            <p:cNvPr id="65" name="object 65"/>
            <p:cNvSpPr/>
            <p:nvPr/>
          </p:nvSpPr>
          <p:spPr>
            <a:xfrm>
              <a:off x="3819029" y="2791905"/>
              <a:ext cx="430530" cy="41275"/>
            </a:xfrm>
            <a:custGeom>
              <a:avLst/>
              <a:gdLst/>
              <a:ahLst/>
              <a:cxnLst/>
              <a:rect l="l" t="t" r="r" b="b"/>
              <a:pathLst>
                <a:path w="430529"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66" name="object 66"/>
            <p:cNvSpPr/>
            <p:nvPr/>
          </p:nvSpPr>
          <p:spPr>
            <a:xfrm>
              <a:off x="3819029" y="2832737"/>
              <a:ext cx="430530" cy="81915"/>
            </a:xfrm>
            <a:custGeom>
              <a:avLst/>
              <a:gdLst/>
              <a:ahLst/>
              <a:cxnLst/>
              <a:rect l="l" t="t" r="r" b="b"/>
              <a:pathLst>
                <a:path w="430529" h="81914">
                  <a:moveTo>
                    <a:pt x="430136" y="0"/>
                  </a:moveTo>
                  <a:lnTo>
                    <a:pt x="0" y="0"/>
                  </a:lnTo>
                  <a:lnTo>
                    <a:pt x="0" y="81602"/>
                  </a:lnTo>
                  <a:lnTo>
                    <a:pt x="430136" y="81602"/>
                  </a:lnTo>
                  <a:lnTo>
                    <a:pt x="430136" y="0"/>
                  </a:lnTo>
                  <a:close/>
                </a:path>
              </a:pathLst>
            </a:custGeom>
            <a:solidFill>
              <a:srgbClr val="8DA0CB"/>
            </a:solidFill>
          </p:spPr>
          <p:txBody>
            <a:bodyPr wrap="square" lIns="0" tIns="0" rIns="0" bIns="0" rtlCol="0"/>
            <a:lstStyle/>
            <a:p>
              <a:endParaRPr/>
            </a:p>
          </p:txBody>
        </p:sp>
        <p:sp>
          <p:nvSpPr>
            <p:cNvPr id="67" name="object 67"/>
            <p:cNvSpPr/>
            <p:nvPr/>
          </p:nvSpPr>
          <p:spPr>
            <a:xfrm>
              <a:off x="3819029" y="2832737"/>
              <a:ext cx="1386205" cy="408305"/>
            </a:xfrm>
            <a:custGeom>
              <a:avLst/>
              <a:gdLst/>
              <a:ahLst/>
              <a:cxnLst/>
              <a:rect l="l" t="t" r="r" b="b"/>
              <a:pathLst>
                <a:path w="1386204" h="408305">
                  <a:moveTo>
                    <a:pt x="0" y="81602"/>
                  </a:moveTo>
                  <a:lnTo>
                    <a:pt x="430136" y="81602"/>
                  </a:lnTo>
                  <a:lnTo>
                    <a:pt x="430136" y="0"/>
                  </a:lnTo>
                  <a:lnTo>
                    <a:pt x="0" y="0"/>
                  </a:lnTo>
                  <a:lnTo>
                    <a:pt x="0" y="81602"/>
                  </a:lnTo>
                  <a:close/>
                </a:path>
                <a:path w="1386204" h="408305">
                  <a:moveTo>
                    <a:pt x="955826" y="408010"/>
                  </a:moveTo>
                  <a:lnTo>
                    <a:pt x="1385962" y="408010"/>
                  </a:lnTo>
                  <a:lnTo>
                    <a:pt x="1385962" y="81581"/>
                  </a:lnTo>
                  <a:lnTo>
                    <a:pt x="955826" y="81581"/>
                  </a:lnTo>
                  <a:lnTo>
                    <a:pt x="955826" y="408010"/>
                  </a:lnTo>
                  <a:close/>
                </a:path>
              </a:pathLst>
            </a:custGeom>
            <a:ln w="3862">
              <a:solidFill>
                <a:srgbClr val="000000"/>
              </a:solidFill>
            </a:ln>
          </p:spPr>
          <p:txBody>
            <a:bodyPr wrap="square" lIns="0" tIns="0" rIns="0" bIns="0" rtlCol="0"/>
            <a:lstStyle/>
            <a:p>
              <a:endParaRPr/>
            </a:p>
          </p:txBody>
        </p:sp>
        <p:sp>
          <p:nvSpPr>
            <p:cNvPr id="68" name="object 68"/>
            <p:cNvSpPr/>
            <p:nvPr/>
          </p:nvSpPr>
          <p:spPr>
            <a:xfrm>
              <a:off x="2863203" y="2587910"/>
              <a:ext cx="430530" cy="81915"/>
            </a:xfrm>
            <a:custGeom>
              <a:avLst/>
              <a:gdLst/>
              <a:ahLst/>
              <a:cxnLst/>
              <a:rect l="l" t="t" r="r" b="b"/>
              <a:pathLst>
                <a:path w="430529" h="81914">
                  <a:moveTo>
                    <a:pt x="430136" y="0"/>
                  </a:moveTo>
                  <a:lnTo>
                    <a:pt x="0" y="0"/>
                  </a:lnTo>
                  <a:lnTo>
                    <a:pt x="0" y="81602"/>
                  </a:lnTo>
                  <a:lnTo>
                    <a:pt x="430136" y="81602"/>
                  </a:lnTo>
                  <a:lnTo>
                    <a:pt x="430136" y="0"/>
                  </a:lnTo>
                  <a:close/>
                </a:path>
              </a:pathLst>
            </a:custGeom>
            <a:solidFill>
              <a:srgbClr val="E78AC3"/>
            </a:solidFill>
          </p:spPr>
          <p:txBody>
            <a:bodyPr wrap="square" lIns="0" tIns="0" rIns="0" bIns="0" rtlCol="0"/>
            <a:lstStyle/>
            <a:p>
              <a:endParaRPr/>
            </a:p>
          </p:txBody>
        </p:sp>
        <p:sp>
          <p:nvSpPr>
            <p:cNvPr id="69" name="object 69"/>
            <p:cNvSpPr/>
            <p:nvPr/>
          </p:nvSpPr>
          <p:spPr>
            <a:xfrm>
              <a:off x="2863203" y="2587910"/>
              <a:ext cx="430530" cy="653415"/>
            </a:xfrm>
            <a:custGeom>
              <a:avLst/>
              <a:gdLst/>
              <a:ahLst/>
              <a:cxnLst/>
              <a:rect l="l" t="t" r="r" b="b"/>
              <a:pathLst>
                <a:path w="430529" h="653414">
                  <a:moveTo>
                    <a:pt x="0" y="81602"/>
                  </a:moveTo>
                  <a:lnTo>
                    <a:pt x="430136" y="81602"/>
                  </a:lnTo>
                  <a:lnTo>
                    <a:pt x="430136" y="0"/>
                  </a:lnTo>
                  <a:lnTo>
                    <a:pt x="0" y="0"/>
                  </a:lnTo>
                  <a:lnTo>
                    <a:pt x="0" y="81602"/>
                  </a:lnTo>
                  <a:close/>
                </a:path>
                <a:path w="430529" h="653414">
                  <a:moveTo>
                    <a:pt x="0" y="652837"/>
                  </a:moveTo>
                  <a:lnTo>
                    <a:pt x="430136" y="652837"/>
                  </a:lnTo>
                  <a:lnTo>
                    <a:pt x="430136" y="204015"/>
                  </a:lnTo>
                  <a:lnTo>
                    <a:pt x="0" y="204015"/>
                  </a:lnTo>
                  <a:lnTo>
                    <a:pt x="0" y="652837"/>
                  </a:lnTo>
                  <a:close/>
                </a:path>
              </a:pathLst>
            </a:custGeom>
            <a:ln w="3862">
              <a:solidFill>
                <a:srgbClr val="000000"/>
              </a:solidFill>
            </a:ln>
          </p:spPr>
          <p:txBody>
            <a:bodyPr wrap="square" lIns="0" tIns="0" rIns="0" bIns="0" rtlCol="0"/>
            <a:lstStyle/>
            <a:p>
              <a:endParaRPr/>
            </a:p>
          </p:txBody>
        </p:sp>
        <p:sp>
          <p:nvSpPr>
            <p:cNvPr id="70" name="object 70"/>
            <p:cNvSpPr/>
            <p:nvPr/>
          </p:nvSpPr>
          <p:spPr>
            <a:xfrm>
              <a:off x="2863203" y="1649434"/>
              <a:ext cx="430530" cy="897890"/>
            </a:xfrm>
            <a:custGeom>
              <a:avLst/>
              <a:gdLst/>
              <a:ahLst/>
              <a:cxnLst/>
              <a:rect l="l" t="t" r="r" b="b"/>
              <a:pathLst>
                <a:path w="430529" h="897889">
                  <a:moveTo>
                    <a:pt x="430136" y="0"/>
                  </a:moveTo>
                  <a:lnTo>
                    <a:pt x="0" y="0"/>
                  </a:lnTo>
                  <a:lnTo>
                    <a:pt x="0" y="897664"/>
                  </a:lnTo>
                  <a:lnTo>
                    <a:pt x="430136" y="897664"/>
                  </a:lnTo>
                  <a:lnTo>
                    <a:pt x="430136" y="0"/>
                  </a:lnTo>
                  <a:close/>
                </a:path>
              </a:pathLst>
            </a:custGeom>
            <a:solidFill>
              <a:srgbClr val="B1A783"/>
            </a:solidFill>
          </p:spPr>
          <p:txBody>
            <a:bodyPr wrap="square" lIns="0" tIns="0" rIns="0" bIns="0" rtlCol="0"/>
            <a:lstStyle/>
            <a:p>
              <a:endParaRPr/>
            </a:p>
          </p:txBody>
        </p:sp>
        <p:sp>
          <p:nvSpPr>
            <p:cNvPr id="71" name="object 71"/>
            <p:cNvSpPr/>
            <p:nvPr/>
          </p:nvSpPr>
          <p:spPr>
            <a:xfrm>
              <a:off x="2863203" y="1649434"/>
              <a:ext cx="430530" cy="897890"/>
            </a:xfrm>
            <a:custGeom>
              <a:avLst/>
              <a:gdLst/>
              <a:ahLst/>
              <a:cxnLst/>
              <a:rect l="l" t="t" r="r" b="b"/>
              <a:pathLst>
                <a:path w="430529" h="897889">
                  <a:moveTo>
                    <a:pt x="0" y="897664"/>
                  </a:moveTo>
                  <a:lnTo>
                    <a:pt x="430136" y="897664"/>
                  </a:lnTo>
                  <a:lnTo>
                    <a:pt x="430136" y="0"/>
                  </a:lnTo>
                  <a:lnTo>
                    <a:pt x="0" y="0"/>
                  </a:lnTo>
                  <a:lnTo>
                    <a:pt x="0" y="897664"/>
                  </a:lnTo>
                  <a:close/>
                </a:path>
              </a:pathLst>
            </a:custGeom>
            <a:ln w="3860">
              <a:solidFill>
                <a:srgbClr val="000000"/>
              </a:solidFill>
            </a:ln>
          </p:spPr>
          <p:txBody>
            <a:bodyPr wrap="square" lIns="0" tIns="0" rIns="0" bIns="0" rtlCol="0"/>
            <a:lstStyle/>
            <a:p>
              <a:endParaRPr/>
            </a:p>
          </p:txBody>
        </p:sp>
        <p:sp>
          <p:nvSpPr>
            <p:cNvPr id="72" name="object 72"/>
            <p:cNvSpPr/>
            <p:nvPr/>
          </p:nvSpPr>
          <p:spPr>
            <a:xfrm>
              <a:off x="2863203" y="2669512"/>
              <a:ext cx="430530" cy="122555"/>
            </a:xfrm>
            <a:custGeom>
              <a:avLst/>
              <a:gdLst/>
              <a:ahLst/>
              <a:cxnLst/>
              <a:rect l="l" t="t" r="r" b="b"/>
              <a:pathLst>
                <a:path w="430529" h="122555">
                  <a:moveTo>
                    <a:pt x="430136" y="0"/>
                  </a:moveTo>
                  <a:lnTo>
                    <a:pt x="0" y="0"/>
                  </a:lnTo>
                  <a:lnTo>
                    <a:pt x="0" y="122413"/>
                  </a:lnTo>
                  <a:lnTo>
                    <a:pt x="430136" y="122413"/>
                  </a:lnTo>
                  <a:lnTo>
                    <a:pt x="430136" y="0"/>
                  </a:lnTo>
                  <a:close/>
                </a:path>
              </a:pathLst>
            </a:custGeom>
            <a:solidFill>
              <a:srgbClr val="C49696"/>
            </a:solidFill>
          </p:spPr>
          <p:txBody>
            <a:bodyPr wrap="square" lIns="0" tIns="0" rIns="0" bIns="0" rtlCol="0"/>
            <a:lstStyle/>
            <a:p>
              <a:endParaRPr/>
            </a:p>
          </p:txBody>
        </p:sp>
        <p:sp>
          <p:nvSpPr>
            <p:cNvPr id="73" name="object 73"/>
            <p:cNvSpPr/>
            <p:nvPr/>
          </p:nvSpPr>
          <p:spPr>
            <a:xfrm>
              <a:off x="2863203" y="2669512"/>
              <a:ext cx="430530" cy="122555"/>
            </a:xfrm>
            <a:custGeom>
              <a:avLst/>
              <a:gdLst/>
              <a:ahLst/>
              <a:cxnLst/>
              <a:rect l="l" t="t" r="r" b="b"/>
              <a:pathLst>
                <a:path w="430529" h="122555">
                  <a:moveTo>
                    <a:pt x="0" y="122413"/>
                  </a:moveTo>
                  <a:lnTo>
                    <a:pt x="430136" y="122413"/>
                  </a:lnTo>
                  <a:lnTo>
                    <a:pt x="430136" y="0"/>
                  </a:lnTo>
                  <a:lnTo>
                    <a:pt x="0" y="0"/>
                  </a:lnTo>
                  <a:lnTo>
                    <a:pt x="0" y="122413"/>
                  </a:lnTo>
                  <a:close/>
                </a:path>
              </a:pathLst>
            </a:custGeom>
            <a:ln w="3866">
              <a:solidFill>
                <a:srgbClr val="000000"/>
              </a:solidFill>
            </a:ln>
          </p:spPr>
          <p:txBody>
            <a:bodyPr wrap="square" lIns="0" tIns="0" rIns="0" bIns="0" rtlCol="0"/>
            <a:lstStyle/>
            <a:p>
              <a:endParaRPr/>
            </a:p>
          </p:txBody>
        </p:sp>
        <p:sp>
          <p:nvSpPr>
            <p:cNvPr id="74" name="object 74"/>
            <p:cNvSpPr/>
            <p:nvPr/>
          </p:nvSpPr>
          <p:spPr>
            <a:xfrm>
              <a:off x="2863203" y="2547098"/>
              <a:ext cx="430530" cy="41275"/>
            </a:xfrm>
            <a:custGeom>
              <a:avLst/>
              <a:gdLst/>
              <a:ahLst/>
              <a:cxnLst/>
              <a:rect l="l" t="t" r="r" b="b"/>
              <a:pathLst>
                <a:path w="430529" h="41275">
                  <a:moveTo>
                    <a:pt x="430136" y="0"/>
                  </a:moveTo>
                  <a:lnTo>
                    <a:pt x="0" y="0"/>
                  </a:lnTo>
                  <a:lnTo>
                    <a:pt x="0" y="40811"/>
                  </a:lnTo>
                  <a:lnTo>
                    <a:pt x="430136" y="40811"/>
                  </a:lnTo>
                  <a:lnTo>
                    <a:pt x="430136" y="0"/>
                  </a:lnTo>
                  <a:close/>
                </a:path>
              </a:pathLst>
            </a:custGeom>
            <a:solidFill>
              <a:srgbClr val="8DA0CB"/>
            </a:solidFill>
          </p:spPr>
          <p:txBody>
            <a:bodyPr wrap="square" lIns="0" tIns="0" rIns="0" bIns="0" rtlCol="0"/>
            <a:lstStyle/>
            <a:p>
              <a:endParaRPr/>
            </a:p>
          </p:txBody>
        </p:sp>
        <p:sp>
          <p:nvSpPr>
            <p:cNvPr id="75" name="object 75"/>
            <p:cNvSpPr/>
            <p:nvPr/>
          </p:nvSpPr>
          <p:spPr>
            <a:xfrm>
              <a:off x="2863203" y="2547098"/>
              <a:ext cx="2820035" cy="694055"/>
            </a:xfrm>
            <a:custGeom>
              <a:avLst/>
              <a:gdLst/>
              <a:ahLst/>
              <a:cxnLst/>
              <a:rect l="l" t="t" r="r" b="b"/>
              <a:pathLst>
                <a:path w="2820035" h="694055">
                  <a:moveTo>
                    <a:pt x="0" y="40811"/>
                  </a:moveTo>
                  <a:lnTo>
                    <a:pt x="430136" y="40811"/>
                  </a:lnTo>
                  <a:lnTo>
                    <a:pt x="430136" y="0"/>
                  </a:lnTo>
                  <a:lnTo>
                    <a:pt x="0" y="0"/>
                  </a:lnTo>
                  <a:lnTo>
                    <a:pt x="0" y="40811"/>
                  </a:lnTo>
                  <a:close/>
                </a:path>
                <a:path w="2820035" h="694055">
                  <a:moveTo>
                    <a:pt x="2389607" y="693649"/>
                  </a:moveTo>
                  <a:lnTo>
                    <a:pt x="2819743" y="693649"/>
                  </a:lnTo>
                  <a:lnTo>
                    <a:pt x="2819743" y="367219"/>
                  </a:lnTo>
                  <a:lnTo>
                    <a:pt x="2389607" y="367219"/>
                  </a:lnTo>
                  <a:lnTo>
                    <a:pt x="2389607" y="693649"/>
                  </a:lnTo>
                  <a:close/>
                </a:path>
              </a:pathLst>
            </a:custGeom>
            <a:ln w="3862">
              <a:solidFill>
                <a:srgbClr val="000000"/>
              </a:solidFill>
            </a:ln>
          </p:spPr>
          <p:txBody>
            <a:bodyPr wrap="square" lIns="0" tIns="0" rIns="0" bIns="0" rtlCol="0"/>
            <a:lstStyle/>
            <a:p>
              <a:endParaRPr/>
            </a:p>
          </p:txBody>
        </p:sp>
        <p:sp>
          <p:nvSpPr>
            <p:cNvPr id="76" name="object 76"/>
            <p:cNvSpPr/>
            <p:nvPr/>
          </p:nvSpPr>
          <p:spPr>
            <a:xfrm>
              <a:off x="1907376" y="2302271"/>
              <a:ext cx="430530" cy="41275"/>
            </a:xfrm>
            <a:custGeom>
              <a:avLst/>
              <a:gdLst/>
              <a:ahLst/>
              <a:cxnLst/>
              <a:rect l="l" t="t" r="r" b="b"/>
              <a:pathLst>
                <a:path w="430530" h="41275">
                  <a:moveTo>
                    <a:pt x="430136" y="0"/>
                  </a:moveTo>
                  <a:lnTo>
                    <a:pt x="0" y="0"/>
                  </a:lnTo>
                  <a:lnTo>
                    <a:pt x="0" y="40811"/>
                  </a:lnTo>
                  <a:lnTo>
                    <a:pt x="430136" y="40811"/>
                  </a:lnTo>
                  <a:lnTo>
                    <a:pt x="430136" y="0"/>
                  </a:lnTo>
                  <a:close/>
                </a:path>
              </a:pathLst>
            </a:custGeom>
            <a:solidFill>
              <a:srgbClr val="D2D841"/>
            </a:solidFill>
          </p:spPr>
          <p:txBody>
            <a:bodyPr wrap="square" lIns="0" tIns="0" rIns="0" bIns="0" rtlCol="0"/>
            <a:lstStyle/>
            <a:p>
              <a:endParaRPr/>
            </a:p>
          </p:txBody>
        </p:sp>
        <p:sp>
          <p:nvSpPr>
            <p:cNvPr id="77" name="object 77"/>
            <p:cNvSpPr/>
            <p:nvPr/>
          </p:nvSpPr>
          <p:spPr>
            <a:xfrm>
              <a:off x="1907376" y="2302271"/>
              <a:ext cx="430530" cy="41275"/>
            </a:xfrm>
            <a:custGeom>
              <a:avLst/>
              <a:gdLst/>
              <a:ahLst/>
              <a:cxnLst/>
              <a:rect l="l" t="t" r="r" b="b"/>
              <a:pathLst>
                <a:path w="430530"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78" name="object 78"/>
            <p:cNvSpPr/>
            <p:nvPr/>
          </p:nvSpPr>
          <p:spPr>
            <a:xfrm>
              <a:off x="1907376" y="1853470"/>
              <a:ext cx="430530" cy="448945"/>
            </a:xfrm>
            <a:custGeom>
              <a:avLst/>
              <a:gdLst/>
              <a:ahLst/>
              <a:cxnLst/>
              <a:rect l="l" t="t" r="r" b="b"/>
              <a:pathLst>
                <a:path w="430530" h="448944">
                  <a:moveTo>
                    <a:pt x="430136" y="0"/>
                  </a:moveTo>
                  <a:lnTo>
                    <a:pt x="0" y="0"/>
                  </a:lnTo>
                  <a:lnTo>
                    <a:pt x="0" y="448821"/>
                  </a:lnTo>
                  <a:lnTo>
                    <a:pt x="430136" y="448821"/>
                  </a:lnTo>
                  <a:lnTo>
                    <a:pt x="430136" y="0"/>
                  </a:lnTo>
                  <a:close/>
                </a:path>
              </a:pathLst>
            </a:custGeom>
            <a:solidFill>
              <a:srgbClr val="C6B18B"/>
            </a:solidFill>
          </p:spPr>
          <p:txBody>
            <a:bodyPr wrap="square" lIns="0" tIns="0" rIns="0" bIns="0" rtlCol="0"/>
            <a:lstStyle/>
            <a:p>
              <a:endParaRPr/>
            </a:p>
          </p:txBody>
        </p:sp>
        <p:sp>
          <p:nvSpPr>
            <p:cNvPr id="79" name="object 79"/>
            <p:cNvSpPr/>
            <p:nvPr/>
          </p:nvSpPr>
          <p:spPr>
            <a:xfrm>
              <a:off x="1907376" y="1853470"/>
              <a:ext cx="430530" cy="448945"/>
            </a:xfrm>
            <a:custGeom>
              <a:avLst/>
              <a:gdLst/>
              <a:ahLst/>
              <a:cxnLst/>
              <a:rect l="l" t="t" r="r" b="b"/>
              <a:pathLst>
                <a:path w="430530" h="448944">
                  <a:moveTo>
                    <a:pt x="0" y="448821"/>
                  </a:moveTo>
                  <a:lnTo>
                    <a:pt x="430136" y="448821"/>
                  </a:lnTo>
                  <a:lnTo>
                    <a:pt x="430136" y="0"/>
                  </a:lnTo>
                  <a:lnTo>
                    <a:pt x="0" y="0"/>
                  </a:lnTo>
                  <a:lnTo>
                    <a:pt x="0" y="448821"/>
                  </a:lnTo>
                  <a:close/>
                </a:path>
              </a:pathLst>
            </a:custGeom>
            <a:ln w="3862">
              <a:solidFill>
                <a:srgbClr val="000000"/>
              </a:solidFill>
            </a:ln>
          </p:spPr>
          <p:txBody>
            <a:bodyPr wrap="square" lIns="0" tIns="0" rIns="0" bIns="0" rtlCol="0"/>
            <a:lstStyle/>
            <a:p>
              <a:endParaRPr/>
            </a:p>
          </p:txBody>
        </p:sp>
        <p:sp>
          <p:nvSpPr>
            <p:cNvPr id="80" name="object 80"/>
            <p:cNvSpPr/>
            <p:nvPr/>
          </p:nvSpPr>
          <p:spPr>
            <a:xfrm>
              <a:off x="1907376" y="180554"/>
              <a:ext cx="430530" cy="1346835"/>
            </a:xfrm>
            <a:custGeom>
              <a:avLst/>
              <a:gdLst/>
              <a:ahLst/>
              <a:cxnLst/>
              <a:rect l="l" t="t" r="r" b="b"/>
              <a:pathLst>
                <a:path w="430530" h="1346835">
                  <a:moveTo>
                    <a:pt x="430136" y="0"/>
                  </a:moveTo>
                  <a:lnTo>
                    <a:pt x="0" y="0"/>
                  </a:lnTo>
                  <a:lnTo>
                    <a:pt x="0" y="1346486"/>
                  </a:lnTo>
                  <a:lnTo>
                    <a:pt x="430136" y="1346486"/>
                  </a:lnTo>
                  <a:lnTo>
                    <a:pt x="430136" y="0"/>
                  </a:lnTo>
                  <a:close/>
                </a:path>
              </a:pathLst>
            </a:custGeom>
            <a:solidFill>
              <a:srgbClr val="66C2A5"/>
            </a:solidFill>
          </p:spPr>
          <p:txBody>
            <a:bodyPr wrap="square" lIns="0" tIns="0" rIns="0" bIns="0" rtlCol="0"/>
            <a:lstStyle/>
            <a:p>
              <a:endParaRPr/>
            </a:p>
          </p:txBody>
        </p:sp>
        <p:sp>
          <p:nvSpPr>
            <p:cNvPr id="81" name="object 81"/>
            <p:cNvSpPr/>
            <p:nvPr/>
          </p:nvSpPr>
          <p:spPr>
            <a:xfrm>
              <a:off x="1907376" y="180554"/>
              <a:ext cx="430530" cy="1346835"/>
            </a:xfrm>
            <a:custGeom>
              <a:avLst/>
              <a:gdLst/>
              <a:ahLst/>
              <a:cxnLst/>
              <a:rect l="l" t="t" r="r" b="b"/>
              <a:pathLst>
                <a:path w="430530" h="1346835">
                  <a:moveTo>
                    <a:pt x="0" y="1346486"/>
                  </a:moveTo>
                  <a:lnTo>
                    <a:pt x="430136" y="1346486"/>
                  </a:lnTo>
                  <a:lnTo>
                    <a:pt x="430136" y="0"/>
                  </a:lnTo>
                  <a:lnTo>
                    <a:pt x="0" y="0"/>
                  </a:lnTo>
                  <a:lnTo>
                    <a:pt x="0" y="1346486"/>
                  </a:lnTo>
                  <a:close/>
                </a:path>
              </a:pathLst>
            </a:custGeom>
            <a:ln w="3859">
              <a:solidFill>
                <a:srgbClr val="000000"/>
              </a:solidFill>
            </a:ln>
          </p:spPr>
          <p:txBody>
            <a:bodyPr wrap="square" lIns="0" tIns="0" rIns="0" bIns="0" rtlCol="0"/>
            <a:lstStyle/>
            <a:p>
              <a:endParaRPr/>
            </a:p>
          </p:txBody>
        </p:sp>
        <p:sp>
          <p:nvSpPr>
            <p:cNvPr id="82" name="object 82"/>
            <p:cNvSpPr/>
            <p:nvPr/>
          </p:nvSpPr>
          <p:spPr>
            <a:xfrm>
              <a:off x="1907376" y="2465496"/>
              <a:ext cx="430530" cy="81915"/>
            </a:xfrm>
            <a:custGeom>
              <a:avLst/>
              <a:gdLst/>
              <a:ahLst/>
              <a:cxnLst/>
              <a:rect l="l" t="t" r="r" b="b"/>
              <a:pathLst>
                <a:path w="430530" h="81914">
                  <a:moveTo>
                    <a:pt x="430136" y="0"/>
                  </a:moveTo>
                  <a:lnTo>
                    <a:pt x="0" y="0"/>
                  </a:lnTo>
                  <a:lnTo>
                    <a:pt x="0" y="81602"/>
                  </a:lnTo>
                  <a:lnTo>
                    <a:pt x="430136" y="81602"/>
                  </a:lnTo>
                  <a:lnTo>
                    <a:pt x="430136" y="0"/>
                  </a:lnTo>
                  <a:close/>
                </a:path>
              </a:pathLst>
            </a:custGeom>
            <a:solidFill>
              <a:srgbClr val="CCBBA3"/>
            </a:solidFill>
          </p:spPr>
          <p:txBody>
            <a:bodyPr wrap="square" lIns="0" tIns="0" rIns="0" bIns="0" rtlCol="0"/>
            <a:lstStyle/>
            <a:p>
              <a:endParaRPr/>
            </a:p>
          </p:txBody>
        </p:sp>
        <p:sp>
          <p:nvSpPr>
            <p:cNvPr id="83" name="object 83"/>
            <p:cNvSpPr/>
            <p:nvPr/>
          </p:nvSpPr>
          <p:spPr>
            <a:xfrm>
              <a:off x="1907376" y="2465496"/>
              <a:ext cx="430530" cy="81915"/>
            </a:xfrm>
            <a:custGeom>
              <a:avLst/>
              <a:gdLst/>
              <a:ahLst/>
              <a:cxnLst/>
              <a:rect l="l" t="t" r="r" b="b"/>
              <a:pathLst>
                <a:path w="430530" h="81914">
                  <a:moveTo>
                    <a:pt x="0" y="81602"/>
                  </a:moveTo>
                  <a:lnTo>
                    <a:pt x="430136" y="81602"/>
                  </a:lnTo>
                  <a:lnTo>
                    <a:pt x="430136" y="0"/>
                  </a:lnTo>
                  <a:lnTo>
                    <a:pt x="0" y="0"/>
                  </a:lnTo>
                  <a:lnTo>
                    <a:pt x="0" y="81602"/>
                  </a:lnTo>
                  <a:close/>
                </a:path>
              </a:pathLst>
            </a:custGeom>
            <a:ln w="3866">
              <a:solidFill>
                <a:srgbClr val="000000"/>
              </a:solidFill>
            </a:ln>
          </p:spPr>
          <p:txBody>
            <a:bodyPr wrap="square" lIns="0" tIns="0" rIns="0" bIns="0" rtlCol="0"/>
            <a:lstStyle/>
            <a:p>
              <a:endParaRPr/>
            </a:p>
          </p:txBody>
        </p:sp>
        <p:sp>
          <p:nvSpPr>
            <p:cNvPr id="84" name="object 84"/>
            <p:cNvSpPr/>
            <p:nvPr/>
          </p:nvSpPr>
          <p:spPr>
            <a:xfrm>
              <a:off x="1907376" y="2343083"/>
              <a:ext cx="430530" cy="122555"/>
            </a:xfrm>
            <a:custGeom>
              <a:avLst/>
              <a:gdLst/>
              <a:ahLst/>
              <a:cxnLst/>
              <a:rect l="l" t="t" r="r" b="b"/>
              <a:pathLst>
                <a:path w="430530" h="122555">
                  <a:moveTo>
                    <a:pt x="430136" y="0"/>
                  </a:moveTo>
                  <a:lnTo>
                    <a:pt x="0" y="0"/>
                  </a:lnTo>
                  <a:lnTo>
                    <a:pt x="0" y="122413"/>
                  </a:lnTo>
                  <a:lnTo>
                    <a:pt x="430136" y="122413"/>
                  </a:lnTo>
                  <a:lnTo>
                    <a:pt x="430136" y="0"/>
                  </a:lnTo>
                  <a:close/>
                </a:path>
              </a:pathLst>
            </a:custGeom>
            <a:solidFill>
              <a:srgbClr val="FFD92F"/>
            </a:solidFill>
          </p:spPr>
          <p:txBody>
            <a:bodyPr wrap="square" lIns="0" tIns="0" rIns="0" bIns="0" rtlCol="0"/>
            <a:lstStyle/>
            <a:p>
              <a:endParaRPr/>
            </a:p>
          </p:txBody>
        </p:sp>
        <p:sp>
          <p:nvSpPr>
            <p:cNvPr id="85" name="object 85"/>
            <p:cNvSpPr/>
            <p:nvPr/>
          </p:nvSpPr>
          <p:spPr>
            <a:xfrm>
              <a:off x="1907376" y="2343083"/>
              <a:ext cx="430530" cy="897890"/>
            </a:xfrm>
            <a:custGeom>
              <a:avLst/>
              <a:gdLst/>
              <a:ahLst/>
              <a:cxnLst/>
              <a:rect l="l" t="t" r="r" b="b"/>
              <a:pathLst>
                <a:path w="430530" h="897889">
                  <a:moveTo>
                    <a:pt x="0" y="122413"/>
                  </a:moveTo>
                  <a:lnTo>
                    <a:pt x="430136" y="122413"/>
                  </a:lnTo>
                  <a:lnTo>
                    <a:pt x="430136" y="0"/>
                  </a:lnTo>
                  <a:lnTo>
                    <a:pt x="0" y="0"/>
                  </a:lnTo>
                  <a:lnTo>
                    <a:pt x="0" y="122413"/>
                  </a:lnTo>
                  <a:close/>
                </a:path>
                <a:path w="430530" h="897889">
                  <a:moveTo>
                    <a:pt x="0" y="897664"/>
                  </a:moveTo>
                  <a:lnTo>
                    <a:pt x="430136" y="897664"/>
                  </a:lnTo>
                  <a:lnTo>
                    <a:pt x="430136" y="204015"/>
                  </a:lnTo>
                  <a:lnTo>
                    <a:pt x="0" y="204015"/>
                  </a:lnTo>
                  <a:lnTo>
                    <a:pt x="0" y="897664"/>
                  </a:lnTo>
                  <a:close/>
                </a:path>
              </a:pathLst>
            </a:custGeom>
            <a:ln w="3862">
              <a:solidFill>
                <a:srgbClr val="000000"/>
              </a:solidFill>
            </a:ln>
          </p:spPr>
          <p:txBody>
            <a:bodyPr wrap="square" lIns="0" tIns="0" rIns="0" bIns="0" rtlCol="0"/>
            <a:lstStyle/>
            <a:p>
              <a:endParaRPr/>
            </a:p>
          </p:txBody>
        </p:sp>
        <p:sp>
          <p:nvSpPr>
            <p:cNvPr id="86" name="object 86"/>
            <p:cNvSpPr/>
            <p:nvPr/>
          </p:nvSpPr>
          <p:spPr>
            <a:xfrm>
              <a:off x="1907376" y="1527020"/>
              <a:ext cx="430530" cy="204470"/>
            </a:xfrm>
            <a:custGeom>
              <a:avLst/>
              <a:gdLst/>
              <a:ahLst/>
              <a:cxnLst/>
              <a:rect l="l" t="t" r="r" b="b"/>
              <a:pathLst>
                <a:path w="430530" h="204469">
                  <a:moveTo>
                    <a:pt x="430136" y="0"/>
                  </a:moveTo>
                  <a:lnTo>
                    <a:pt x="0" y="0"/>
                  </a:lnTo>
                  <a:lnTo>
                    <a:pt x="0" y="204015"/>
                  </a:lnTo>
                  <a:lnTo>
                    <a:pt x="430136" y="204015"/>
                  </a:lnTo>
                  <a:lnTo>
                    <a:pt x="430136" y="0"/>
                  </a:lnTo>
                  <a:close/>
                </a:path>
              </a:pathLst>
            </a:custGeom>
            <a:solidFill>
              <a:srgbClr val="B1A783"/>
            </a:solidFill>
          </p:spPr>
          <p:txBody>
            <a:bodyPr wrap="square" lIns="0" tIns="0" rIns="0" bIns="0" rtlCol="0"/>
            <a:lstStyle/>
            <a:p>
              <a:endParaRPr/>
            </a:p>
          </p:txBody>
        </p:sp>
        <p:sp>
          <p:nvSpPr>
            <p:cNvPr id="87" name="object 87"/>
            <p:cNvSpPr/>
            <p:nvPr/>
          </p:nvSpPr>
          <p:spPr>
            <a:xfrm>
              <a:off x="1907376" y="1527020"/>
              <a:ext cx="430530" cy="204470"/>
            </a:xfrm>
            <a:custGeom>
              <a:avLst/>
              <a:gdLst/>
              <a:ahLst/>
              <a:cxnLst/>
              <a:rect l="l" t="t" r="r" b="b"/>
              <a:pathLst>
                <a:path w="430530" h="204469">
                  <a:moveTo>
                    <a:pt x="0" y="204015"/>
                  </a:moveTo>
                  <a:lnTo>
                    <a:pt x="430136" y="204015"/>
                  </a:lnTo>
                  <a:lnTo>
                    <a:pt x="430136" y="0"/>
                  </a:lnTo>
                  <a:lnTo>
                    <a:pt x="0" y="0"/>
                  </a:lnTo>
                  <a:lnTo>
                    <a:pt x="0" y="204015"/>
                  </a:lnTo>
                  <a:close/>
                </a:path>
              </a:pathLst>
            </a:custGeom>
            <a:ln w="3865">
              <a:solidFill>
                <a:srgbClr val="000000"/>
              </a:solidFill>
            </a:ln>
          </p:spPr>
          <p:txBody>
            <a:bodyPr wrap="square" lIns="0" tIns="0" rIns="0" bIns="0" rtlCol="0"/>
            <a:lstStyle/>
            <a:p>
              <a:endParaRPr/>
            </a:p>
          </p:txBody>
        </p:sp>
        <p:sp>
          <p:nvSpPr>
            <p:cNvPr id="88" name="object 88"/>
            <p:cNvSpPr/>
            <p:nvPr/>
          </p:nvSpPr>
          <p:spPr>
            <a:xfrm>
              <a:off x="1907376" y="1731036"/>
              <a:ext cx="430530" cy="122555"/>
            </a:xfrm>
            <a:custGeom>
              <a:avLst/>
              <a:gdLst/>
              <a:ahLst/>
              <a:cxnLst/>
              <a:rect l="l" t="t" r="r" b="b"/>
              <a:pathLst>
                <a:path w="430530" h="122555">
                  <a:moveTo>
                    <a:pt x="430136" y="0"/>
                  </a:moveTo>
                  <a:lnTo>
                    <a:pt x="0" y="0"/>
                  </a:lnTo>
                  <a:lnTo>
                    <a:pt x="0" y="122413"/>
                  </a:lnTo>
                  <a:lnTo>
                    <a:pt x="430136" y="122413"/>
                  </a:lnTo>
                  <a:lnTo>
                    <a:pt x="430136" y="0"/>
                  </a:lnTo>
                  <a:close/>
                </a:path>
              </a:pathLst>
            </a:custGeom>
            <a:solidFill>
              <a:srgbClr val="8DA0CB"/>
            </a:solidFill>
          </p:spPr>
          <p:txBody>
            <a:bodyPr wrap="square" lIns="0" tIns="0" rIns="0" bIns="0" rtlCol="0"/>
            <a:lstStyle/>
            <a:p>
              <a:endParaRPr/>
            </a:p>
          </p:txBody>
        </p:sp>
        <p:sp>
          <p:nvSpPr>
            <p:cNvPr id="89" name="object 89"/>
            <p:cNvSpPr/>
            <p:nvPr/>
          </p:nvSpPr>
          <p:spPr>
            <a:xfrm>
              <a:off x="1907376" y="1731036"/>
              <a:ext cx="430530" cy="122555"/>
            </a:xfrm>
            <a:custGeom>
              <a:avLst/>
              <a:gdLst/>
              <a:ahLst/>
              <a:cxnLst/>
              <a:rect l="l" t="t" r="r" b="b"/>
              <a:pathLst>
                <a:path w="430530" h="122555">
                  <a:moveTo>
                    <a:pt x="0" y="122413"/>
                  </a:moveTo>
                  <a:lnTo>
                    <a:pt x="430136" y="122413"/>
                  </a:lnTo>
                  <a:lnTo>
                    <a:pt x="430136" y="0"/>
                  </a:lnTo>
                  <a:lnTo>
                    <a:pt x="0" y="0"/>
                  </a:lnTo>
                  <a:lnTo>
                    <a:pt x="0" y="122413"/>
                  </a:lnTo>
                  <a:close/>
                </a:path>
              </a:pathLst>
            </a:custGeom>
            <a:ln w="3866">
              <a:solidFill>
                <a:srgbClr val="000000"/>
              </a:solidFill>
            </a:ln>
          </p:spPr>
          <p:txBody>
            <a:bodyPr wrap="square" lIns="0" tIns="0" rIns="0" bIns="0" rtlCol="0"/>
            <a:lstStyle/>
            <a:p>
              <a:endParaRPr/>
            </a:p>
          </p:txBody>
        </p:sp>
        <p:sp>
          <p:nvSpPr>
            <p:cNvPr id="90" name="object 90"/>
            <p:cNvSpPr/>
            <p:nvPr/>
          </p:nvSpPr>
          <p:spPr>
            <a:xfrm>
              <a:off x="3341158" y="2547098"/>
              <a:ext cx="430530" cy="285750"/>
            </a:xfrm>
            <a:custGeom>
              <a:avLst/>
              <a:gdLst/>
              <a:ahLst/>
              <a:cxnLst/>
              <a:rect l="l" t="t" r="r" b="b"/>
              <a:pathLst>
                <a:path w="430529" h="285750">
                  <a:moveTo>
                    <a:pt x="430136" y="0"/>
                  </a:moveTo>
                  <a:lnTo>
                    <a:pt x="0" y="0"/>
                  </a:lnTo>
                  <a:lnTo>
                    <a:pt x="0" y="285617"/>
                  </a:lnTo>
                  <a:lnTo>
                    <a:pt x="430136" y="285617"/>
                  </a:lnTo>
                  <a:lnTo>
                    <a:pt x="430136" y="0"/>
                  </a:lnTo>
                  <a:close/>
                </a:path>
              </a:pathLst>
            </a:custGeom>
            <a:solidFill>
              <a:srgbClr val="D2D841"/>
            </a:solidFill>
          </p:spPr>
          <p:txBody>
            <a:bodyPr wrap="square" lIns="0" tIns="0" rIns="0" bIns="0" rtlCol="0"/>
            <a:lstStyle/>
            <a:p>
              <a:endParaRPr/>
            </a:p>
          </p:txBody>
        </p:sp>
        <p:sp>
          <p:nvSpPr>
            <p:cNvPr id="91" name="object 91"/>
            <p:cNvSpPr/>
            <p:nvPr/>
          </p:nvSpPr>
          <p:spPr>
            <a:xfrm>
              <a:off x="3341158" y="2547098"/>
              <a:ext cx="430530" cy="694055"/>
            </a:xfrm>
            <a:custGeom>
              <a:avLst/>
              <a:gdLst/>
              <a:ahLst/>
              <a:cxnLst/>
              <a:rect l="l" t="t" r="r" b="b"/>
              <a:pathLst>
                <a:path w="430529" h="694055">
                  <a:moveTo>
                    <a:pt x="0" y="285617"/>
                  </a:moveTo>
                  <a:lnTo>
                    <a:pt x="430136" y="285617"/>
                  </a:lnTo>
                  <a:lnTo>
                    <a:pt x="430136" y="0"/>
                  </a:lnTo>
                  <a:lnTo>
                    <a:pt x="0" y="0"/>
                  </a:lnTo>
                  <a:lnTo>
                    <a:pt x="0" y="285617"/>
                  </a:lnTo>
                  <a:close/>
                </a:path>
                <a:path w="430529" h="694055">
                  <a:moveTo>
                    <a:pt x="0" y="693649"/>
                  </a:moveTo>
                  <a:lnTo>
                    <a:pt x="430136" y="693649"/>
                  </a:lnTo>
                  <a:lnTo>
                    <a:pt x="430136" y="285617"/>
                  </a:lnTo>
                  <a:lnTo>
                    <a:pt x="0" y="285617"/>
                  </a:lnTo>
                  <a:lnTo>
                    <a:pt x="0" y="693649"/>
                  </a:lnTo>
                  <a:close/>
                </a:path>
              </a:pathLst>
            </a:custGeom>
            <a:ln w="3862">
              <a:solidFill>
                <a:srgbClr val="000000"/>
              </a:solidFill>
            </a:ln>
          </p:spPr>
          <p:txBody>
            <a:bodyPr wrap="square" lIns="0" tIns="0" rIns="0" bIns="0" rtlCol="0"/>
            <a:lstStyle/>
            <a:p>
              <a:endParaRPr/>
            </a:p>
          </p:txBody>
        </p:sp>
        <p:sp>
          <p:nvSpPr>
            <p:cNvPr id="92" name="object 92"/>
            <p:cNvSpPr/>
            <p:nvPr/>
          </p:nvSpPr>
          <p:spPr>
            <a:xfrm>
              <a:off x="3341158" y="1731036"/>
              <a:ext cx="430530" cy="816610"/>
            </a:xfrm>
            <a:custGeom>
              <a:avLst/>
              <a:gdLst/>
              <a:ahLst/>
              <a:cxnLst/>
              <a:rect l="l" t="t" r="r" b="b"/>
              <a:pathLst>
                <a:path w="430529" h="816610">
                  <a:moveTo>
                    <a:pt x="430136" y="0"/>
                  </a:moveTo>
                  <a:lnTo>
                    <a:pt x="0" y="0"/>
                  </a:lnTo>
                  <a:lnTo>
                    <a:pt x="0" y="816062"/>
                  </a:lnTo>
                  <a:lnTo>
                    <a:pt x="430136" y="816062"/>
                  </a:lnTo>
                  <a:lnTo>
                    <a:pt x="430136" y="0"/>
                  </a:lnTo>
                  <a:close/>
                </a:path>
              </a:pathLst>
            </a:custGeom>
            <a:solidFill>
              <a:srgbClr val="8DA0CB"/>
            </a:solidFill>
          </p:spPr>
          <p:txBody>
            <a:bodyPr wrap="square" lIns="0" tIns="0" rIns="0" bIns="0" rtlCol="0"/>
            <a:lstStyle/>
            <a:p>
              <a:endParaRPr/>
            </a:p>
          </p:txBody>
        </p:sp>
        <p:sp>
          <p:nvSpPr>
            <p:cNvPr id="93" name="object 93"/>
            <p:cNvSpPr/>
            <p:nvPr/>
          </p:nvSpPr>
          <p:spPr>
            <a:xfrm>
              <a:off x="3341158" y="1731036"/>
              <a:ext cx="430530" cy="816610"/>
            </a:xfrm>
            <a:custGeom>
              <a:avLst/>
              <a:gdLst/>
              <a:ahLst/>
              <a:cxnLst/>
              <a:rect l="l" t="t" r="r" b="b"/>
              <a:pathLst>
                <a:path w="430529" h="816610">
                  <a:moveTo>
                    <a:pt x="0" y="816062"/>
                  </a:moveTo>
                  <a:lnTo>
                    <a:pt x="430136" y="816062"/>
                  </a:lnTo>
                  <a:lnTo>
                    <a:pt x="430136" y="0"/>
                  </a:lnTo>
                  <a:lnTo>
                    <a:pt x="0" y="0"/>
                  </a:lnTo>
                  <a:lnTo>
                    <a:pt x="0" y="816062"/>
                  </a:lnTo>
                  <a:close/>
                </a:path>
              </a:pathLst>
            </a:custGeom>
            <a:ln w="3860">
              <a:solidFill>
                <a:srgbClr val="000000"/>
              </a:solidFill>
            </a:ln>
          </p:spPr>
          <p:txBody>
            <a:bodyPr wrap="square" lIns="0" tIns="0" rIns="0" bIns="0" rtlCol="0"/>
            <a:lstStyle/>
            <a:p>
              <a:endParaRPr/>
            </a:p>
          </p:txBody>
        </p:sp>
        <p:sp>
          <p:nvSpPr>
            <p:cNvPr id="94" name="object 94"/>
            <p:cNvSpPr/>
            <p:nvPr/>
          </p:nvSpPr>
          <p:spPr>
            <a:xfrm>
              <a:off x="2385352" y="3159145"/>
              <a:ext cx="430530" cy="41275"/>
            </a:xfrm>
            <a:custGeom>
              <a:avLst/>
              <a:gdLst/>
              <a:ahLst/>
              <a:cxnLst/>
              <a:rect l="l" t="t" r="r" b="b"/>
              <a:pathLst>
                <a:path w="430530" h="41275">
                  <a:moveTo>
                    <a:pt x="430136" y="0"/>
                  </a:moveTo>
                  <a:lnTo>
                    <a:pt x="0" y="0"/>
                  </a:lnTo>
                  <a:lnTo>
                    <a:pt x="0" y="40811"/>
                  </a:lnTo>
                  <a:lnTo>
                    <a:pt x="430136" y="40811"/>
                  </a:lnTo>
                  <a:lnTo>
                    <a:pt x="430136" y="0"/>
                  </a:lnTo>
                  <a:close/>
                </a:path>
              </a:pathLst>
            </a:custGeom>
            <a:solidFill>
              <a:srgbClr val="E78AC3"/>
            </a:solidFill>
          </p:spPr>
          <p:txBody>
            <a:bodyPr wrap="square" lIns="0" tIns="0" rIns="0" bIns="0" rtlCol="0"/>
            <a:lstStyle/>
            <a:p>
              <a:endParaRPr/>
            </a:p>
          </p:txBody>
        </p:sp>
        <p:sp>
          <p:nvSpPr>
            <p:cNvPr id="95" name="object 95"/>
            <p:cNvSpPr/>
            <p:nvPr/>
          </p:nvSpPr>
          <p:spPr>
            <a:xfrm>
              <a:off x="2385352" y="3159145"/>
              <a:ext cx="430530" cy="41275"/>
            </a:xfrm>
            <a:custGeom>
              <a:avLst/>
              <a:gdLst/>
              <a:ahLst/>
              <a:cxnLst/>
              <a:rect l="l" t="t" r="r" b="b"/>
              <a:pathLst>
                <a:path w="430530"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96" name="object 96"/>
            <p:cNvSpPr/>
            <p:nvPr/>
          </p:nvSpPr>
          <p:spPr>
            <a:xfrm>
              <a:off x="2385352" y="2791905"/>
              <a:ext cx="430530" cy="41275"/>
            </a:xfrm>
            <a:custGeom>
              <a:avLst/>
              <a:gdLst/>
              <a:ahLst/>
              <a:cxnLst/>
              <a:rect l="l" t="t" r="r" b="b"/>
              <a:pathLst>
                <a:path w="430530" h="41275">
                  <a:moveTo>
                    <a:pt x="430136" y="0"/>
                  </a:moveTo>
                  <a:lnTo>
                    <a:pt x="0" y="0"/>
                  </a:lnTo>
                  <a:lnTo>
                    <a:pt x="0" y="40811"/>
                  </a:lnTo>
                  <a:lnTo>
                    <a:pt x="430136" y="40811"/>
                  </a:lnTo>
                  <a:lnTo>
                    <a:pt x="430136" y="0"/>
                  </a:lnTo>
                  <a:close/>
                </a:path>
              </a:pathLst>
            </a:custGeom>
            <a:solidFill>
              <a:srgbClr val="B1A783"/>
            </a:solidFill>
          </p:spPr>
          <p:txBody>
            <a:bodyPr wrap="square" lIns="0" tIns="0" rIns="0" bIns="0" rtlCol="0"/>
            <a:lstStyle/>
            <a:p>
              <a:endParaRPr/>
            </a:p>
          </p:txBody>
        </p:sp>
        <p:sp>
          <p:nvSpPr>
            <p:cNvPr id="97" name="object 97"/>
            <p:cNvSpPr/>
            <p:nvPr/>
          </p:nvSpPr>
          <p:spPr>
            <a:xfrm>
              <a:off x="2385352" y="2791905"/>
              <a:ext cx="430530" cy="41275"/>
            </a:xfrm>
            <a:custGeom>
              <a:avLst/>
              <a:gdLst/>
              <a:ahLst/>
              <a:cxnLst/>
              <a:rect l="l" t="t" r="r" b="b"/>
              <a:pathLst>
                <a:path w="430530"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98" name="object 98"/>
            <p:cNvSpPr/>
            <p:nvPr/>
          </p:nvSpPr>
          <p:spPr>
            <a:xfrm>
              <a:off x="2385352" y="1404627"/>
              <a:ext cx="430530" cy="1387475"/>
            </a:xfrm>
            <a:custGeom>
              <a:avLst/>
              <a:gdLst/>
              <a:ahLst/>
              <a:cxnLst/>
              <a:rect l="l" t="t" r="r" b="b"/>
              <a:pathLst>
                <a:path w="430530" h="1387475">
                  <a:moveTo>
                    <a:pt x="430136" y="0"/>
                  </a:moveTo>
                  <a:lnTo>
                    <a:pt x="0" y="0"/>
                  </a:lnTo>
                  <a:lnTo>
                    <a:pt x="0" y="1387298"/>
                  </a:lnTo>
                  <a:lnTo>
                    <a:pt x="430136" y="1387298"/>
                  </a:lnTo>
                  <a:lnTo>
                    <a:pt x="430136" y="0"/>
                  </a:lnTo>
                  <a:close/>
                </a:path>
              </a:pathLst>
            </a:custGeom>
            <a:solidFill>
              <a:srgbClr val="FC8D62"/>
            </a:solidFill>
          </p:spPr>
          <p:txBody>
            <a:bodyPr wrap="square" lIns="0" tIns="0" rIns="0" bIns="0" rtlCol="0"/>
            <a:lstStyle/>
            <a:p>
              <a:endParaRPr/>
            </a:p>
          </p:txBody>
        </p:sp>
        <p:sp>
          <p:nvSpPr>
            <p:cNvPr id="99" name="object 99"/>
            <p:cNvSpPr/>
            <p:nvPr/>
          </p:nvSpPr>
          <p:spPr>
            <a:xfrm>
              <a:off x="2385352" y="1404627"/>
              <a:ext cx="430530" cy="1387475"/>
            </a:xfrm>
            <a:custGeom>
              <a:avLst/>
              <a:gdLst/>
              <a:ahLst/>
              <a:cxnLst/>
              <a:rect l="l" t="t" r="r" b="b"/>
              <a:pathLst>
                <a:path w="430530" h="1387475">
                  <a:moveTo>
                    <a:pt x="0" y="1387298"/>
                  </a:moveTo>
                  <a:lnTo>
                    <a:pt x="430136" y="1387298"/>
                  </a:lnTo>
                  <a:lnTo>
                    <a:pt x="430136" y="0"/>
                  </a:lnTo>
                  <a:lnTo>
                    <a:pt x="0" y="0"/>
                  </a:lnTo>
                  <a:lnTo>
                    <a:pt x="0" y="1387298"/>
                  </a:lnTo>
                  <a:close/>
                </a:path>
              </a:pathLst>
            </a:custGeom>
            <a:ln w="3859">
              <a:solidFill>
                <a:srgbClr val="000000"/>
              </a:solidFill>
            </a:ln>
          </p:spPr>
          <p:txBody>
            <a:bodyPr wrap="square" lIns="0" tIns="0" rIns="0" bIns="0" rtlCol="0"/>
            <a:lstStyle/>
            <a:p>
              <a:endParaRPr/>
            </a:p>
          </p:txBody>
        </p:sp>
        <p:sp>
          <p:nvSpPr>
            <p:cNvPr id="100" name="object 100"/>
            <p:cNvSpPr/>
            <p:nvPr/>
          </p:nvSpPr>
          <p:spPr>
            <a:xfrm>
              <a:off x="2385352" y="3199936"/>
              <a:ext cx="430530" cy="41275"/>
            </a:xfrm>
            <a:custGeom>
              <a:avLst/>
              <a:gdLst/>
              <a:ahLst/>
              <a:cxnLst/>
              <a:rect l="l" t="t" r="r" b="b"/>
              <a:pathLst>
                <a:path w="430530" h="41275">
                  <a:moveTo>
                    <a:pt x="430136" y="0"/>
                  </a:moveTo>
                  <a:lnTo>
                    <a:pt x="0" y="0"/>
                  </a:lnTo>
                  <a:lnTo>
                    <a:pt x="0" y="40811"/>
                  </a:lnTo>
                  <a:lnTo>
                    <a:pt x="430136" y="40811"/>
                  </a:lnTo>
                  <a:lnTo>
                    <a:pt x="430136" y="0"/>
                  </a:lnTo>
                  <a:close/>
                </a:path>
              </a:pathLst>
            </a:custGeom>
            <a:solidFill>
              <a:srgbClr val="BA95C7"/>
            </a:solidFill>
          </p:spPr>
          <p:txBody>
            <a:bodyPr wrap="square" lIns="0" tIns="0" rIns="0" bIns="0" rtlCol="0"/>
            <a:lstStyle/>
            <a:p>
              <a:endParaRPr/>
            </a:p>
          </p:txBody>
        </p:sp>
        <p:sp>
          <p:nvSpPr>
            <p:cNvPr id="101" name="object 101"/>
            <p:cNvSpPr/>
            <p:nvPr/>
          </p:nvSpPr>
          <p:spPr>
            <a:xfrm>
              <a:off x="2385352" y="3199936"/>
              <a:ext cx="430530" cy="41275"/>
            </a:xfrm>
            <a:custGeom>
              <a:avLst/>
              <a:gdLst/>
              <a:ahLst/>
              <a:cxnLst/>
              <a:rect l="l" t="t" r="r" b="b"/>
              <a:pathLst>
                <a:path w="430530" h="41275">
                  <a:moveTo>
                    <a:pt x="0" y="40811"/>
                  </a:moveTo>
                  <a:lnTo>
                    <a:pt x="430136" y="40811"/>
                  </a:lnTo>
                  <a:lnTo>
                    <a:pt x="430136" y="0"/>
                  </a:lnTo>
                  <a:lnTo>
                    <a:pt x="0" y="0"/>
                  </a:lnTo>
                  <a:lnTo>
                    <a:pt x="0" y="40811"/>
                  </a:lnTo>
                  <a:close/>
                </a:path>
              </a:pathLst>
            </a:custGeom>
            <a:ln w="3866">
              <a:solidFill>
                <a:srgbClr val="000000"/>
              </a:solidFill>
            </a:ln>
          </p:spPr>
          <p:txBody>
            <a:bodyPr wrap="square" lIns="0" tIns="0" rIns="0" bIns="0" rtlCol="0"/>
            <a:lstStyle/>
            <a:p>
              <a:endParaRPr/>
            </a:p>
          </p:txBody>
        </p:sp>
        <p:sp>
          <p:nvSpPr>
            <p:cNvPr id="102" name="object 102"/>
            <p:cNvSpPr/>
            <p:nvPr/>
          </p:nvSpPr>
          <p:spPr>
            <a:xfrm>
              <a:off x="2385352" y="2832716"/>
              <a:ext cx="430530" cy="327025"/>
            </a:xfrm>
            <a:custGeom>
              <a:avLst/>
              <a:gdLst/>
              <a:ahLst/>
              <a:cxnLst/>
              <a:rect l="l" t="t" r="r" b="b"/>
              <a:pathLst>
                <a:path w="430530" h="327025">
                  <a:moveTo>
                    <a:pt x="430136" y="0"/>
                  </a:moveTo>
                  <a:lnTo>
                    <a:pt x="0" y="0"/>
                  </a:lnTo>
                  <a:lnTo>
                    <a:pt x="0" y="326429"/>
                  </a:lnTo>
                  <a:lnTo>
                    <a:pt x="430136" y="326429"/>
                  </a:lnTo>
                  <a:lnTo>
                    <a:pt x="430136" y="0"/>
                  </a:lnTo>
                  <a:close/>
                </a:path>
              </a:pathLst>
            </a:custGeom>
            <a:solidFill>
              <a:srgbClr val="A6D854"/>
            </a:solidFill>
          </p:spPr>
          <p:txBody>
            <a:bodyPr wrap="square" lIns="0" tIns="0" rIns="0" bIns="0" rtlCol="0"/>
            <a:lstStyle/>
            <a:p>
              <a:endParaRPr/>
            </a:p>
          </p:txBody>
        </p:sp>
        <p:sp>
          <p:nvSpPr>
            <p:cNvPr id="103" name="object 103"/>
            <p:cNvSpPr/>
            <p:nvPr/>
          </p:nvSpPr>
          <p:spPr>
            <a:xfrm>
              <a:off x="2385352" y="2832716"/>
              <a:ext cx="430530" cy="327025"/>
            </a:xfrm>
            <a:custGeom>
              <a:avLst/>
              <a:gdLst/>
              <a:ahLst/>
              <a:cxnLst/>
              <a:rect l="l" t="t" r="r" b="b"/>
              <a:pathLst>
                <a:path w="430530" h="327025">
                  <a:moveTo>
                    <a:pt x="0" y="326429"/>
                  </a:moveTo>
                  <a:lnTo>
                    <a:pt x="430136" y="326429"/>
                  </a:lnTo>
                  <a:lnTo>
                    <a:pt x="430136" y="0"/>
                  </a:lnTo>
                  <a:lnTo>
                    <a:pt x="0" y="0"/>
                  </a:lnTo>
                  <a:lnTo>
                    <a:pt x="0" y="326429"/>
                  </a:lnTo>
                  <a:close/>
                </a:path>
              </a:pathLst>
            </a:custGeom>
            <a:ln w="3863">
              <a:solidFill>
                <a:srgbClr val="000000"/>
              </a:solidFill>
            </a:ln>
          </p:spPr>
          <p:txBody>
            <a:bodyPr wrap="square" lIns="0" tIns="0" rIns="0" bIns="0" rtlCol="0"/>
            <a:lstStyle/>
            <a:p>
              <a:endParaRPr/>
            </a:p>
          </p:txBody>
        </p:sp>
      </p:grpSp>
      <p:sp>
        <p:nvSpPr>
          <p:cNvPr id="105" name="TextBox 104">
            <a:extLst>
              <a:ext uri="{FF2B5EF4-FFF2-40B4-BE49-F238E27FC236}">
                <a16:creationId xmlns:a16="http://schemas.microsoft.com/office/drawing/2014/main" id="{BBF6F442-0870-DEA0-1042-9A6FD4225154}"/>
              </a:ext>
            </a:extLst>
          </p:cNvPr>
          <p:cNvSpPr txBox="1"/>
          <p:nvPr/>
        </p:nvSpPr>
        <p:spPr>
          <a:xfrm>
            <a:off x="0" y="5562600"/>
            <a:ext cx="9906000" cy="1349087"/>
          </a:xfrm>
          <a:prstGeom prst="rect">
            <a:avLst/>
          </a:prstGeom>
          <a:noFill/>
        </p:spPr>
        <p:txBody>
          <a:bodyPr wrap="square">
            <a:spAutoFit/>
          </a:bodyPr>
          <a:lstStyle/>
          <a:p>
            <a:pPr marL="12700" marR="5080" algn="just">
              <a:lnSpc>
                <a:spcPts val="1420"/>
              </a:lnSpc>
              <a:spcBef>
                <a:spcPts val="894"/>
              </a:spcBef>
            </a:pPr>
            <a:r>
              <a:rPr lang="en-US" sz="1200" b="1" dirty="0">
                <a:latin typeface="Times New Roman" panose="02020603050405020304" pitchFamily="18" charset="0"/>
                <a:cs typeface="Times New Roman" panose="02020603050405020304" pitchFamily="18" charset="0"/>
              </a:rPr>
              <a:t>Fig. S3</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Stacked bar chart illustrating the composition of biological processes (BPs) within curated cold-related functional categories</a:t>
            </a:r>
            <a:r>
              <a:rPr lang="en-US" sz="1200" dirty="0">
                <a:latin typeface="Times New Roman" panose="02020603050405020304" pitchFamily="18" charset="0"/>
                <a:cs typeface="Times New Roman" panose="02020603050405020304" pitchFamily="18" charset="0"/>
              </a:rPr>
              <a:t>. The plot includes 230 proteins from the top 50 differentially accumulated proteins (DAPs) accumulated in winter rhizomes of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T. floridanum</a:t>
            </a:r>
            <a:r>
              <a:rPr lang="en-US" sz="1200" dirty="0">
                <a:latin typeface="Times New Roman" panose="02020603050405020304" pitchFamily="18" charset="0"/>
                <a:cs typeface="Times New Roman" panose="02020603050405020304" pitchFamily="18" charset="0"/>
              </a:rPr>
              <a:t> hybrids, </a:t>
            </a:r>
            <a:r>
              <a:rPr lang="en-US" sz="1200" i="1" dirty="0">
                <a:latin typeface="Times New Roman" panose="02020603050405020304" pitchFamily="18" charset="0"/>
                <a:cs typeface="Times New Roman" panose="02020603050405020304" pitchFamily="18" charset="0"/>
              </a:rPr>
              <a:t>Andropogon gerardi</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and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after excluding those assigned to the cold response category “Other” (i.e., proteins with annotations deemed less relevant to cold tolerance interpretation). Cold-related categories are shown on the x-axis and sorted by total protein count. Each bar is color-coded by BP, highlighting the functional composition of each category. Less informative or poorly annotated BPs were grouped under “Other” in the legend. This visualization supports the manual consolidation of specific biological processes into broader cold-response categories used throughout the study.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175B270B-4AE4-CE14-64F7-24761B2ED590}"/>
              </a:ext>
            </a:extLst>
          </p:cNvPr>
          <p:cNvSpPr txBox="1"/>
          <p:nvPr/>
        </p:nvSpPr>
        <p:spPr>
          <a:xfrm>
            <a:off x="78739" y="5943600"/>
            <a:ext cx="9770110" cy="738023"/>
          </a:xfrm>
          <a:prstGeom prst="rect">
            <a:avLst/>
          </a:prstGeom>
        </p:spPr>
        <p:txBody>
          <a:bodyPr vert="horz" wrap="square" lIns="0" tIns="19685" rIns="0" bIns="0" rtlCol="0">
            <a:spAutoFit/>
          </a:bodyPr>
          <a:lstStyle/>
          <a:p>
            <a:pPr marL="12700" marR="5080" algn="just">
              <a:lnSpc>
                <a:spcPts val="1430"/>
              </a:lnSpc>
              <a:spcBef>
                <a:spcPts val="155"/>
              </a:spcBef>
            </a:pPr>
            <a:r>
              <a:rPr lang="en-US" sz="1200" b="1" dirty="0">
                <a:latin typeface="Times New Roman" panose="02020603050405020304" pitchFamily="18" charset="0"/>
                <a:cs typeface="Times New Roman" panose="02020603050405020304" pitchFamily="18" charset="0"/>
              </a:rPr>
              <a:t>Fig. </a:t>
            </a:r>
            <a:r>
              <a:rPr sz="1200" b="1" dirty="0">
                <a:latin typeface="Times New Roman" panose="02020603050405020304" pitchFamily="18" charset="0"/>
                <a:cs typeface="Times New Roman" panose="02020603050405020304" pitchFamily="18" charset="0"/>
              </a:rPr>
              <a:t>S</a:t>
            </a:r>
            <a:r>
              <a:rPr lang="en-US" sz="1200" b="1" dirty="0">
                <a:latin typeface="Times New Roman" panose="02020603050405020304" pitchFamily="18" charset="0"/>
                <a:cs typeface="Times New Roman" panose="02020603050405020304" pitchFamily="18" charset="0"/>
              </a:rPr>
              <a:t>4</a:t>
            </a:r>
            <a:r>
              <a:rPr sz="1200" b="1" dirty="0">
                <a:latin typeface="Times New Roman" panose="02020603050405020304" pitchFamily="18" charset="0"/>
                <a:cs typeface="Times New Roman" panose="02020603050405020304" pitchFamily="18" charset="0"/>
              </a:rPr>
              <a:t>.</a:t>
            </a:r>
            <a:r>
              <a:rPr sz="1200" b="1" spc="170" dirty="0">
                <a:latin typeface="Times New Roman" panose="02020603050405020304" pitchFamily="18" charset="0"/>
                <a:cs typeface="Times New Roman" panose="02020603050405020304" pitchFamily="18" charset="0"/>
              </a:rPr>
              <a:t> </a:t>
            </a:r>
            <a:r>
              <a:rPr lang="en-US" sz="1200" dirty="0">
                <a:latin typeface="Times New Roman" panose="02020603050405020304" pitchFamily="18" charset="0"/>
                <a:cs typeface="Times New Roman" panose="02020603050405020304" pitchFamily="18" charset="0"/>
              </a:rPr>
              <a:t>Volcano plots showing differentially accumulated proteins (DAPs) in rhizomes of </a:t>
            </a:r>
            <a:r>
              <a:rPr lang="en-US" sz="1200" i="1" dirty="0">
                <a:latin typeface="Times New Roman"/>
                <a:cs typeface="Times New Roman"/>
              </a:rPr>
              <a:t>Tripsacum dactyloides and T. floridanum hybrids, Andropogon</a:t>
            </a:r>
            <a:r>
              <a:rPr lang="en-US" sz="1200" i="1" spc="-25" dirty="0">
                <a:latin typeface="Times New Roman"/>
                <a:cs typeface="Times New Roman"/>
              </a:rPr>
              <a:t> </a:t>
            </a:r>
            <a:r>
              <a:rPr lang="en-US" sz="1200" i="1" dirty="0">
                <a:latin typeface="Times New Roman"/>
                <a:cs typeface="Times New Roman"/>
              </a:rPr>
              <a:t>gerardi,</a:t>
            </a:r>
            <a:r>
              <a:rPr lang="en-US" sz="1200" spc="140" dirty="0">
                <a:latin typeface="Times New Roman"/>
                <a:cs typeface="Times New Roman"/>
              </a:rPr>
              <a:t> </a:t>
            </a:r>
            <a:r>
              <a:rPr lang="en-US" sz="1200" i="1" dirty="0">
                <a:latin typeface="Times New Roman"/>
                <a:cs typeface="Times New Roman"/>
              </a:rPr>
              <a:t>Miscanthus </a:t>
            </a:r>
            <a:r>
              <a:rPr lang="en-US" sz="1200" spc="140" dirty="0">
                <a:latin typeface="Times New Roman"/>
                <a:cs typeface="Times New Roman"/>
              </a:rPr>
              <a:t>× </a:t>
            </a:r>
            <a:r>
              <a:rPr lang="en-US" sz="1200" i="1" dirty="0">
                <a:latin typeface="Times New Roman"/>
                <a:cs typeface="Times New Roman"/>
              </a:rPr>
              <a:t>giganteus</a:t>
            </a:r>
            <a:r>
              <a:rPr lang="en-US" sz="1200" dirty="0">
                <a:latin typeface="Times New Roman"/>
                <a:cs typeface="Times New Roman"/>
              </a:rPr>
              <a:t>,</a:t>
            </a:r>
            <a:r>
              <a:rPr lang="en-US" sz="1200" spc="145" dirty="0">
                <a:latin typeface="Times New Roman"/>
                <a:cs typeface="Times New Roman"/>
              </a:rPr>
              <a:t> </a:t>
            </a:r>
            <a:r>
              <a:rPr lang="en-US" sz="1200" i="1" dirty="0">
                <a:latin typeface="Times New Roman"/>
                <a:cs typeface="Times New Roman"/>
              </a:rPr>
              <a:t>Panicum</a:t>
            </a:r>
            <a:r>
              <a:rPr lang="en-US" sz="1200" i="1" spc="285" dirty="0">
                <a:latin typeface="Times New Roman"/>
                <a:cs typeface="Times New Roman"/>
              </a:rPr>
              <a:t> </a:t>
            </a:r>
            <a:r>
              <a:rPr lang="en-US" sz="1200" i="1" dirty="0">
                <a:latin typeface="Times New Roman"/>
                <a:cs typeface="Times New Roman"/>
              </a:rPr>
              <a:t>virgatum</a:t>
            </a:r>
            <a:r>
              <a:rPr lang="en-US" sz="1200" spc="-10" dirty="0">
                <a:latin typeface="Times New Roman"/>
                <a:cs typeface="Times New Roman"/>
              </a:rPr>
              <a:t>, </a:t>
            </a:r>
            <a:r>
              <a:rPr lang="en-US" sz="1200" dirty="0">
                <a:latin typeface="Times New Roman"/>
                <a:cs typeface="Times New Roman"/>
              </a:rPr>
              <a:t>and</a:t>
            </a:r>
            <a:r>
              <a:rPr lang="en-US" sz="1200" spc="455" dirty="0">
                <a:latin typeface="Times New Roman"/>
                <a:cs typeface="Times New Roman"/>
              </a:rPr>
              <a:t> </a:t>
            </a:r>
            <a:r>
              <a:rPr lang="en-US" sz="1200" i="1" dirty="0">
                <a:latin typeface="Times New Roman"/>
                <a:cs typeface="Times New Roman"/>
              </a:rPr>
              <a:t>Sorghastrum</a:t>
            </a:r>
            <a:r>
              <a:rPr lang="en-US" sz="1200" i="1" spc="270" dirty="0">
                <a:latin typeface="Times New Roman"/>
                <a:cs typeface="Times New Roman"/>
              </a:rPr>
              <a:t> </a:t>
            </a:r>
            <a:r>
              <a:rPr lang="en-US" sz="1200" i="1" dirty="0">
                <a:latin typeface="Times New Roman"/>
                <a:cs typeface="Times New Roman"/>
              </a:rPr>
              <a:t>nutans</a:t>
            </a:r>
            <a:r>
              <a:rPr lang="en-US" sz="1200" i="1" spc="475" dirty="0">
                <a:latin typeface="Times New Roman"/>
                <a:cs typeface="Times New Roman"/>
              </a:rPr>
              <a:t> </a:t>
            </a:r>
            <a:r>
              <a:rPr lang="en-US" sz="1200" dirty="0">
                <a:latin typeface="Times New Roman" panose="02020603050405020304" pitchFamily="18" charset="0"/>
                <a:cs typeface="Times New Roman" panose="02020603050405020304" pitchFamily="18" charset="0"/>
              </a:rPr>
              <a:t>under winter vs. summer conditions, with total number of proteins identified listed. Proteins with significantly elevated (blue) and reduced (pink) abundance in winter relative to summer are highlighted, with non-significant proteins in gray. The y-axis represents the significance as –log</a:t>
            </a:r>
            <a:r>
              <a:rPr lang="en-US" sz="1200" baseline="-25000" dirty="0">
                <a:latin typeface="Times New Roman" panose="02020603050405020304" pitchFamily="18" charset="0"/>
                <a:cs typeface="Times New Roman" panose="02020603050405020304" pitchFamily="18" charset="0"/>
              </a:rPr>
              <a:t>10</a:t>
            </a:r>
            <a:r>
              <a:rPr lang="en-US" sz="1200" dirty="0">
                <a:latin typeface="Times New Roman" panose="02020603050405020304" pitchFamily="18" charset="0"/>
                <a:cs typeface="Times New Roman" panose="02020603050405020304" pitchFamily="18" charset="0"/>
              </a:rPr>
              <a:t>(p-value), and the x-axis shows the log</a:t>
            </a:r>
            <a:r>
              <a:rPr lang="en-US" sz="1200" baseline="-25000" dirty="0">
                <a:latin typeface="Times New Roman" panose="02020603050405020304" pitchFamily="18" charset="0"/>
                <a:cs typeface="Times New Roman" panose="02020603050405020304" pitchFamily="18" charset="0"/>
              </a:rPr>
              <a:t>2</a:t>
            </a:r>
            <a:r>
              <a:rPr lang="en-US" sz="1200" dirty="0">
                <a:latin typeface="Times New Roman" panose="02020603050405020304" pitchFamily="18" charset="0"/>
                <a:cs typeface="Times New Roman" panose="02020603050405020304" pitchFamily="18" charset="0"/>
              </a:rPr>
              <a:t> fold-change (log</a:t>
            </a:r>
            <a:r>
              <a:rPr lang="en-US" sz="1200" baseline="-25000" dirty="0">
                <a:latin typeface="Times New Roman" panose="02020603050405020304" pitchFamily="18" charset="0"/>
                <a:cs typeface="Times New Roman" panose="02020603050405020304" pitchFamily="18" charset="0"/>
              </a:rPr>
              <a:t>2</a:t>
            </a:r>
            <a:r>
              <a:rPr lang="en-US" sz="1200" dirty="0">
                <a:latin typeface="Times New Roman" panose="02020603050405020304" pitchFamily="18" charset="0"/>
                <a:cs typeface="Times New Roman" panose="02020603050405020304" pitchFamily="18" charset="0"/>
              </a:rPr>
              <a:t>FC) of the DAPs between winter and summer. </a:t>
            </a:r>
            <a:endParaRPr sz="1200"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7158312F-E4A5-0075-CC6A-4671B9AD2D43}"/>
              </a:ext>
            </a:extLst>
          </p:cNvPr>
          <p:cNvPicPr>
            <a:picLocks noChangeAspect="1"/>
          </p:cNvPicPr>
          <p:nvPr/>
        </p:nvPicPr>
        <p:blipFill>
          <a:blip r:embed="rId2"/>
          <a:stretch>
            <a:fillRect/>
          </a:stretch>
        </p:blipFill>
        <p:spPr>
          <a:xfrm>
            <a:off x="12081" y="2127250"/>
            <a:ext cx="9881839" cy="2597150"/>
          </a:xfrm>
          <a:prstGeom prst="rect">
            <a:avLst/>
          </a:prstGeom>
        </p:spPr>
      </p:pic>
    </p:spTree>
    <p:extLst>
      <p:ext uri="{BB962C8B-B14F-4D97-AF65-F5344CB8AC3E}">
        <p14:creationId xmlns:p14="http://schemas.microsoft.com/office/powerpoint/2010/main" val="2979531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id="{2E327A7B-68BA-B258-FEBE-0C356B3FA440}"/>
              </a:ext>
            </a:extLst>
          </p:cNvPr>
          <p:cNvSpPr txBox="1"/>
          <p:nvPr/>
        </p:nvSpPr>
        <p:spPr>
          <a:xfrm>
            <a:off x="67945" y="5867400"/>
            <a:ext cx="9770110" cy="917559"/>
          </a:xfrm>
          <a:prstGeom prst="rect">
            <a:avLst/>
          </a:prstGeom>
        </p:spPr>
        <p:txBody>
          <a:bodyPr vert="horz" wrap="square" lIns="0" tIns="19685" rIns="0" bIns="0" rtlCol="0">
            <a:spAutoFit/>
          </a:bodyPr>
          <a:lstStyle/>
          <a:p>
            <a:pPr marL="12700" marR="5080" algn="just">
              <a:lnSpc>
                <a:spcPts val="1430"/>
              </a:lnSpc>
              <a:spcBef>
                <a:spcPts val="155"/>
              </a:spcBef>
            </a:pPr>
            <a:r>
              <a:rPr lang="en-US" sz="1200" b="1" dirty="0">
                <a:latin typeface="Times New Roman" panose="02020603050405020304" pitchFamily="18" charset="0"/>
                <a:cs typeface="Times New Roman" panose="02020603050405020304" pitchFamily="18" charset="0"/>
              </a:rPr>
              <a:t>Fig. </a:t>
            </a:r>
            <a:r>
              <a:rPr sz="1200" b="1" dirty="0">
                <a:latin typeface="Times New Roman" panose="02020603050405020304" pitchFamily="18" charset="0"/>
                <a:cs typeface="Times New Roman" panose="02020603050405020304" pitchFamily="18" charset="0"/>
              </a:rPr>
              <a:t>S</a:t>
            </a:r>
            <a:r>
              <a:rPr lang="en-US" sz="1200" b="1" dirty="0">
                <a:latin typeface="Times New Roman" panose="02020603050405020304" pitchFamily="18" charset="0"/>
                <a:cs typeface="Times New Roman" panose="02020603050405020304" pitchFamily="18" charset="0"/>
              </a:rPr>
              <a:t>5</a:t>
            </a:r>
            <a:r>
              <a:rPr sz="1200" b="1" dirty="0">
                <a:latin typeface="Times New Roman" panose="02020603050405020304" pitchFamily="18" charset="0"/>
                <a:cs typeface="Times New Roman" panose="02020603050405020304" pitchFamily="18" charset="0"/>
              </a:rPr>
              <a:t>.</a:t>
            </a:r>
            <a:r>
              <a:rPr sz="1200" b="1" spc="17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Orthogroup sharing of significantly DAPs among </a:t>
            </a:r>
            <a:r>
              <a:rPr lang="en-US" sz="1200" b="1" i="1" dirty="0">
                <a:latin typeface="Times New Roman"/>
                <a:cs typeface="Times New Roman"/>
              </a:rPr>
              <a:t>Tripsacum dactyloides and T. floridanum hybrids, Andropogon</a:t>
            </a:r>
            <a:r>
              <a:rPr lang="en-US" sz="1200" b="1" i="1" spc="-25" dirty="0">
                <a:latin typeface="Times New Roman"/>
                <a:cs typeface="Times New Roman"/>
              </a:rPr>
              <a:t> </a:t>
            </a:r>
            <a:r>
              <a:rPr lang="en-US" sz="1200" b="1" i="1" dirty="0">
                <a:latin typeface="Times New Roman"/>
                <a:cs typeface="Times New Roman"/>
              </a:rPr>
              <a:t>gerardi,</a:t>
            </a:r>
            <a:r>
              <a:rPr lang="en-US" sz="1200" b="1" spc="140" dirty="0">
                <a:latin typeface="Times New Roman"/>
                <a:cs typeface="Times New Roman"/>
              </a:rPr>
              <a:t> </a:t>
            </a:r>
            <a:r>
              <a:rPr lang="en-US" sz="1200" b="1" i="1" dirty="0">
                <a:latin typeface="Times New Roman"/>
                <a:cs typeface="Times New Roman"/>
              </a:rPr>
              <a:t>Miscanthus </a:t>
            </a:r>
            <a:r>
              <a:rPr lang="en-US" sz="1200" b="1" spc="140" dirty="0">
                <a:latin typeface="Times New Roman"/>
                <a:cs typeface="Times New Roman"/>
              </a:rPr>
              <a:t>× </a:t>
            </a:r>
            <a:r>
              <a:rPr lang="en-US" sz="1200" b="1" i="1" dirty="0">
                <a:latin typeface="Times New Roman"/>
                <a:cs typeface="Times New Roman"/>
              </a:rPr>
              <a:t>giganteus</a:t>
            </a:r>
            <a:r>
              <a:rPr lang="en-US" sz="1200" b="1" dirty="0">
                <a:latin typeface="Times New Roman"/>
                <a:cs typeface="Times New Roman"/>
              </a:rPr>
              <a:t>,</a:t>
            </a:r>
            <a:r>
              <a:rPr lang="en-US" sz="1200" b="1" spc="145" dirty="0">
                <a:latin typeface="Times New Roman"/>
                <a:cs typeface="Times New Roman"/>
              </a:rPr>
              <a:t> </a:t>
            </a:r>
            <a:r>
              <a:rPr lang="en-US" sz="1200" b="1" i="1" dirty="0">
                <a:latin typeface="Times New Roman"/>
                <a:cs typeface="Times New Roman"/>
              </a:rPr>
              <a:t>Panicum</a:t>
            </a:r>
            <a:r>
              <a:rPr lang="en-US" sz="1200" b="1" i="1" spc="285" dirty="0">
                <a:latin typeface="Times New Roman"/>
                <a:cs typeface="Times New Roman"/>
              </a:rPr>
              <a:t> </a:t>
            </a:r>
            <a:r>
              <a:rPr lang="en-US" sz="1200" b="1" i="1" dirty="0">
                <a:latin typeface="Times New Roman"/>
                <a:cs typeface="Times New Roman"/>
              </a:rPr>
              <a:t>virgatum</a:t>
            </a:r>
            <a:r>
              <a:rPr lang="en-US" sz="1200" b="1" spc="-10" dirty="0">
                <a:latin typeface="Times New Roman"/>
                <a:cs typeface="Times New Roman"/>
              </a:rPr>
              <a:t>, </a:t>
            </a:r>
            <a:r>
              <a:rPr lang="en-US" sz="1200" b="1" dirty="0">
                <a:latin typeface="Times New Roman"/>
                <a:cs typeface="Times New Roman"/>
              </a:rPr>
              <a:t>and</a:t>
            </a:r>
            <a:r>
              <a:rPr lang="en-US" sz="1200" b="1" spc="455" dirty="0">
                <a:latin typeface="Times New Roman"/>
                <a:cs typeface="Times New Roman"/>
              </a:rPr>
              <a:t> </a:t>
            </a:r>
            <a:r>
              <a:rPr lang="en-US" sz="1200" b="1" i="1" dirty="0">
                <a:latin typeface="Times New Roman"/>
                <a:cs typeface="Times New Roman"/>
              </a:rPr>
              <a:t>Sorghastrum</a:t>
            </a:r>
            <a:r>
              <a:rPr lang="en-US" sz="1200" b="1" i="1" spc="270" dirty="0">
                <a:latin typeface="Times New Roman"/>
                <a:cs typeface="Times New Roman"/>
              </a:rPr>
              <a:t> </a:t>
            </a:r>
            <a:r>
              <a:rPr lang="en-US" sz="1200" b="1" i="1" dirty="0">
                <a:latin typeface="Times New Roman"/>
                <a:cs typeface="Times New Roman"/>
              </a:rPr>
              <a:t>nutans</a:t>
            </a:r>
            <a:r>
              <a:rPr lang="en-US" sz="1200" b="1" dirty="0">
                <a:latin typeface="Times New Roman" panose="02020603050405020304" pitchFamily="18" charset="0"/>
                <a:cs typeface="Times New Roman" panose="02020603050405020304" pitchFamily="18" charset="0"/>
              </a:rPr>
              <a:t>. (a)</a:t>
            </a:r>
            <a:r>
              <a:rPr lang="en-US" sz="1200" dirty="0">
                <a:latin typeface="Times New Roman" panose="02020603050405020304" pitchFamily="18" charset="0"/>
                <a:cs typeface="Times New Roman" panose="02020603050405020304" pitchFamily="18" charset="0"/>
              </a:rPr>
              <a:t> Winter-elevated. </a:t>
            </a:r>
            <a:r>
              <a:rPr lang="en-US" sz="1200" b="1" dirty="0">
                <a:latin typeface="Times New Roman" panose="02020603050405020304" pitchFamily="18" charset="0"/>
                <a:cs typeface="Times New Roman" panose="02020603050405020304" pitchFamily="18" charset="0"/>
              </a:rPr>
              <a:t>(b)</a:t>
            </a:r>
            <a:r>
              <a:rPr lang="en-US" sz="1200" dirty="0">
                <a:latin typeface="Times New Roman" panose="02020603050405020304" pitchFamily="18" charset="0"/>
                <a:cs typeface="Times New Roman" panose="02020603050405020304" pitchFamily="18" charset="0"/>
              </a:rPr>
              <a:t> Winter-reduced. Set sizes (horizontal bars) indicate the total number of differentially abundant orthogroups identified per species. Intersection sizes (vertical bars) represent orthogroups unique to individual species or shared among multiple species. Bar shading indicates the number of species sharing each orthogroup: unique to one species (white), shared between two species (gray), or shared among more than two species (black). Dots below the plot illustrate species-specific orthogroup intersections.</a:t>
            </a:r>
            <a:endParaRPr sz="12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F98ADDC5-867A-D8CB-5649-8368A9F1B755}"/>
              </a:ext>
            </a:extLst>
          </p:cNvPr>
          <p:cNvPicPr>
            <a:picLocks noChangeAspect="1"/>
          </p:cNvPicPr>
          <p:nvPr/>
        </p:nvPicPr>
        <p:blipFill>
          <a:blip r:embed="rId2"/>
          <a:stretch>
            <a:fillRect/>
          </a:stretch>
        </p:blipFill>
        <p:spPr>
          <a:xfrm>
            <a:off x="48637" y="1523999"/>
            <a:ext cx="9770109" cy="3795001"/>
          </a:xfrm>
          <a:prstGeom prst="rect">
            <a:avLst/>
          </a:prstGeom>
        </p:spPr>
      </p:pic>
    </p:spTree>
    <p:extLst>
      <p:ext uri="{BB962C8B-B14F-4D97-AF65-F5344CB8AC3E}">
        <p14:creationId xmlns:p14="http://schemas.microsoft.com/office/powerpoint/2010/main" val="1471013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78739" y="5334000"/>
            <a:ext cx="9770110" cy="1497205"/>
          </a:xfrm>
          <a:prstGeom prst="rect">
            <a:avLst/>
          </a:prstGeom>
        </p:spPr>
        <p:txBody>
          <a:bodyPr vert="horz" wrap="square" lIns="0" tIns="19685" rIns="0" bIns="0" rtlCol="0">
            <a:spAutoFit/>
          </a:bodyPr>
          <a:lstStyle/>
          <a:p>
            <a:pPr algn="just">
              <a:spcAft>
                <a:spcPts val="800"/>
              </a:spcAft>
              <a:buNone/>
            </a:pPr>
            <a:r>
              <a:rPr lang="en-IL" sz="1200" b="1" kern="100" dirty="0">
                <a:effectLst/>
                <a:latin typeface="Times New Roman" panose="02020603050405020304" pitchFamily="18" charset="0"/>
                <a:ea typeface="Aptos" panose="020B0004020202020204" pitchFamily="34" charset="0"/>
                <a:cs typeface="Times New Roman" panose="02020603050405020304" pitchFamily="18" charset="0"/>
              </a:rPr>
              <a:t>Fig. S6 (a) </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Enriched biological processes (BP) of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Tripsacum dactyloides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and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T. floridanum</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hybrids,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Andropogon </a:t>
            </a:r>
            <a:r>
              <a:rPr lang="en-US" sz="1200" i="1" kern="100" dirty="0">
                <a:effectLst/>
                <a:latin typeface="Times New Roman" panose="02020603050405020304" pitchFamily="18" charset="0"/>
                <a:ea typeface="Aptos" panose="020B0004020202020204" pitchFamily="34" charset="0"/>
                <a:cs typeface="Times New Roman" panose="02020603050405020304" pitchFamily="18" charset="0"/>
              </a:rPr>
              <a:t>gerardi</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Miscanthus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giganteus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Panicum virgatum</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and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Sorghastrum nutans</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 rhizomes among differentially accumulated proteins (DAPs) in 475 winter-elevated and 609 winter-reduced proteins (proteins with unknown BP term were excluded). Dot size represents gene count per BP category, while dot color indicates the gene ratio (proportion of proteins annotated to each BP category). Only the top significantly enriched BP terms (lowest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-values) are displayed for clarity. </a:t>
            </a:r>
            <a:r>
              <a:rPr lang="en-IL" sz="1200" b="1" kern="100" dirty="0">
                <a:effectLst/>
                <a:latin typeface="Times New Roman" panose="02020603050405020304" pitchFamily="18" charset="0"/>
                <a:ea typeface="Aptos" panose="020B0004020202020204" pitchFamily="34" charset="0"/>
                <a:cs typeface="Times New Roman" panose="02020603050405020304" pitchFamily="18" charset="0"/>
              </a:rPr>
              <a:t>(b) </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Mosaic plot of BP enriched among winter-elevated DAPs across five PACMAD grass species. The plot summarizes the distribution of functionally annotated proteins (n = 483 of 630; unannotated proteins were excluded) across 139 biological process (BP) terms. These terms were consolidated into broader functional categories to aid interpretability. Each bar shows the relative abundance of functional categories within a species, highlighting both conserved and species-specific patterns. A Chi-square test for independence (χ²[70]=97.5, </a:t>
            </a:r>
            <a:r>
              <a:rPr lang="en-IL" sz="1200" i="1" kern="100" dirty="0">
                <a:effectLst/>
                <a:latin typeface="Times New Roman" panose="02020603050405020304" pitchFamily="18" charset="0"/>
                <a:ea typeface="Aptos" panose="020B0004020202020204" pitchFamily="34" charset="0"/>
                <a:cs typeface="Times New Roman" panose="02020603050405020304" pitchFamily="18" charset="0"/>
              </a:rPr>
              <a:t>P</a:t>
            </a:r>
            <a:r>
              <a:rPr lang="en-IL" sz="1200" kern="100" dirty="0">
                <a:effectLst/>
                <a:latin typeface="Times New Roman" panose="02020603050405020304" pitchFamily="18" charset="0"/>
                <a:ea typeface="Aptos" panose="020B0004020202020204" pitchFamily="34" charset="0"/>
                <a:cs typeface="Times New Roman" panose="02020603050405020304" pitchFamily="18" charset="0"/>
              </a:rPr>
              <a:t>=0.017) was performed to evaluate variation across species. Category labels are shown in the legend.</a:t>
            </a:r>
          </a:p>
        </p:txBody>
      </p:sp>
      <p:pic>
        <p:nvPicPr>
          <p:cNvPr id="347" name="Picture 346">
            <a:extLst>
              <a:ext uri="{FF2B5EF4-FFF2-40B4-BE49-F238E27FC236}">
                <a16:creationId xmlns:a16="http://schemas.microsoft.com/office/drawing/2014/main" id="{D1D568F8-F1EE-9EC7-8DB6-572D33253C2E}"/>
              </a:ext>
            </a:extLst>
          </p:cNvPr>
          <p:cNvPicPr>
            <a:picLocks noChangeAspect="1"/>
          </p:cNvPicPr>
          <p:nvPr/>
        </p:nvPicPr>
        <p:blipFill>
          <a:blip r:embed="rId2"/>
          <a:stretch>
            <a:fillRect/>
          </a:stretch>
        </p:blipFill>
        <p:spPr>
          <a:xfrm>
            <a:off x="2152650" y="0"/>
            <a:ext cx="5600700" cy="529321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object 3"/>
          <p:cNvSpPr txBox="1"/>
          <p:nvPr/>
        </p:nvSpPr>
        <p:spPr>
          <a:xfrm>
            <a:off x="76200" y="5334000"/>
            <a:ext cx="9766477" cy="1490152"/>
          </a:xfrm>
          <a:prstGeom prst="rect">
            <a:avLst/>
          </a:prstGeom>
        </p:spPr>
        <p:txBody>
          <a:bodyPr vert="horz" wrap="square" lIns="0" tIns="12700" rIns="0" bIns="0" rtlCol="0">
            <a:spAutoFit/>
          </a:bodyPr>
          <a:lstStyle/>
          <a:p>
            <a:pPr algn="just"/>
            <a:r>
              <a:rPr lang="en-IL" sz="1200" b="1" dirty="0">
                <a:latin typeface="Times New Roman" panose="02020603050405020304" pitchFamily="18" charset="0"/>
                <a:cs typeface="Times New Roman" panose="02020603050405020304" pitchFamily="18" charset="0"/>
              </a:rPr>
              <a:t>Fig. S7.</a:t>
            </a:r>
            <a:r>
              <a:rPr lang="en-IL" sz="1200" dirty="0">
                <a:latin typeface="Times New Roman" panose="02020603050405020304" pitchFamily="18" charset="0"/>
                <a:cs typeface="Times New Roman" panose="02020603050405020304" pitchFamily="18" charset="0"/>
              </a:rPr>
              <a:t> </a:t>
            </a:r>
            <a:r>
              <a:rPr lang="en-IL" sz="1200" b="1" dirty="0">
                <a:latin typeface="Times New Roman" panose="02020603050405020304" pitchFamily="18" charset="0"/>
                <a:cs typeface="Times New Roman" panose="02020603050405020304" pitchFamily="18" charset="0"/>
              </a:rPr>
              <a:t>Relationship between seasonal protein abundance in rhizomes of </a:t>
            </a:r>
            <a:r>
              <a:rPr lang="en-IL" sz="1200" b="1" i="1" dirty="0">
                <a:latin typeface="Times New Roman" panose="02020603050405020304" pitchFamily="18" charset="0"/>
                <a:cs typeface="Times New Roman" panose="02020603050405020304" pitchFamily="18" charset="0"/>
              </a:rPr>
              <a:t>Tripsacum dactyloides</a:t>
            </a:r>
            <a:r>
              <a:rPr lang="en-IL" sz="1200" b="1" dirty="0">
                <a:latin typeface="Times New Roman" panose="02020603050405020304" pitchFamily="18" charset="0"/>
                <a:cs typeface="Times New Roman" panose="02020603050405020304" pitchFamily="18" charset="0"/>
              </a:rPr>
              <a:t> and </a:t>
            </a:r>
            <a:r>
              <a:rPr lang="en-IL" sz="1200" b="1" i="1" dirty="0">
                <a:latin typeface="Times New Roman" panose="02020603050405020304" pitchFamily="18" charset="0"/>
                <a:cs typeface="Times New Roman" panose="02020603050405020304" pitchFamily="18" charset="0"/>
              </a:rPr>
              <a:t>T. floridanum</a:t>
            </a:r>
            <a:r>
              <a:rPr lang="en-IL" sz="1200" b="1" dirty="0">
                <a:latin typeface="Times New Roman" panose="02020603050405020304" pitchFamily="18" charset="0"/>
                <a:cs typeface="Times New Roman" panose="02020603050405020304" pitchFamily="18" charset="0"/>
              </a:rPr>
              <a:t> hybrids and cold-responsive RNA expression in </a:t>
            </a:r>
            <a:r>
              <a:rPr lang="en-IL" sz="1200" b="1" i="1" dirty="0">
                <a:latin typeface="Times New Roman" panose="02020603050405020304" pitchFamily="18" charset="0"/>
                <a:cs typeface="Times New Roman" panose="02020603050405020304" pitchFamily="18" charset="0"/>
              </a:rPr>
              <a:t>Tripsacum</a:t>
            </a:r>
            <a:r>
              <a:rPr lang="en-IL" sz="1200" b="1" dirty="0">
                <a:latin typeface="Times New Roman" panose="02020603050405020304" pitchFamily="18" charset="0"/>
                <a:cs typeface="Times New Roman" panose="02020603050405020304" pitchFamily="18" charset="0"/>
              </a:rPr>
              <a:t> hybrids, </a:t>
            </a:r>
            <a:r>
              <a:rPr lang="en-IL" sz="1200" b="1" i="1" dirty="0">
                <a:latin typeface="Times New Roman" panose="02020603050405020304" pitchFamily="18" charset="0"/>
                <a:cs typeface="Times New Roman" panose="02020603050405020304" pitchFamily="18" charset="0"/>
              </a:rPr>
              <a:t>Tripsacum dactyloides</a:t>
            </a:r>
            <a:r>
              <a:rPr lang="en-IL" sz="1200" b="1" dirty="0">
                <a:latin typeface="Times New Roman" panose="02020603050405020304" pitchFamily="18" charset="0"/>
                <a:cs typeface="Times New Roman" panose="02020603050405020304" pitchFamily="18" charset="0"/>
              </a:rPr>
              <a:t>, and </a:t>
            </a:r>
            <a:r>
              <a:rPr lang="en-IL" sz="1200" b="1" i="1" dirty="0">
                <a:latin typeface="Times New Roman" panose="02020603050405020304" pitchFamily="18" charset="0"/>
                <a:cs typeface="Times New Roman" panose="02020603050405020304" pitchFamily="18" charset="0"/>
              </a:rPr>
              <a:t>Zea mays</a:t>
            </a:r>
            <a:r>
              <a:rPr lang="en-IL" sz="1200" b="1" dirty="0">
                <a:latin typeface="Times New Roman" panose="02020603050405020304" pitchFamily="18" charset="0"/>
                <a:cs typeface="Times New Roman" panose="02020603050405020304" pitchFamily="18" charset="0"/>
              </a:rPr>
              <a:t>. (a) </a:t>
            </a:r>
            <a:r>
              <a:rPr lang="en-IL" sz="1200" dirty="0">
                <a:latin typeface="Times New Roman" panose="02020603050405020304" pitchFamily="18" charset="0"/>
                <a:cs typeface="Times New Roman" panose="02020603050405020304" pitchFamily="18" charset="0"/>
              </a:rPr>
              <a:t>Scatterplots showing the relationship between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rhizome proteins (x-axis, log2FC Winter/Summer, 2-year average) and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leaf mRNA from a freezing tolerant F₂ bulk before and after 7 days cold acclimation (tol_5°C/tol_22°C) descended from the same </a:t>
            </a:r>
            <a:r>
              <a:rPr lang="en-IL" sz="1200" i="1" dirty="0">
                <a:latin typeface="Times New Roman" panose="02020603050405020304" pitchFamily="18" charset="0"/>
                <a:cs typeface="Times New Roman" panose="02020603050405020304" pitchFamily="18" charset="0"/>
              </a:rPr>
              <a:t>Tripsacum</a:t>
            </a:r>
            <a:r>
              <a:rPr lang="en-IL" sz="1200" dirty="0">
                <a:latin typeface="Times New Roman" panose="02020603050405020304" pitchFamily="18" charset="0"/>
                <a:cs typeface="Times New Roman" panose="02020603050405020304" pitchFamily="18" charset="0"/>
              </a:rPr>
              <a:t> hybrids used for rhizome proteomic analysis. </a:t>
            </a:r>
            <a:r>
              <a:rPr lang="en-IL" sz="1200" b="1" dirty="0">
                <a:latin typeface="Times New Roman" panose="02020603050405020304" pitchFamily="18" charset="0"/>
                <a:cs typeface="Times New Roman" panose="02020603050405020304" pitchFamily="18" charset="0"/>
              </a:rPr>
              <a:t>(b–e) </a:t>
            </a:r>
            <a:r>
              <a:rPr lang="en-IL" sz="1200" i="1" dirty="0">
                <a:latin typeface="Times New Roman" panose="02020603050405020304" pitchFamily="18" charset="0"/>
                <a:cs typeface="Times New Roman" panose="02020603050405020304" pitchFamily="18" charset="0"/>
              </a:rPr>
              <a:t>Tripsacum dactyloides</a:t>
            </a:r>
            <a:r>
              <a:rPr lang="en-IL" sz="1200" dirty="0">
                <a:latin typeface="Times New Roman" panose="02020603050405020304" pitchFamily="18" charset="0"/>
                <a:cs typeface="Times New Roman" panose="02020603050405020304" pitchFamily="18" charset="0"/>
              </a:rPr>
              <a:t> (cv. 'Pete') tissues (5°C/22°C): leaf, top-crown, bottom-crown, and root.</a:t>
            </a:r>
            <a:r>
              <a:rPr lang="en-IL" sz="1200" b="1" dirty="0">
                <a:latin typeface="Times New Roman" panose="02020603050405020304" pitchFamily="18" charset="0"/>
                <a:cs typeface="Times New Roman" panose="02020603050405020304" pitchFamily="18" charset="0"/>
              </a:rPr>
              <a:t> (f–i) </a:t>
            </a:r>
            <a:r>
              <a:rPr lang="en-IL" sz="1200" i="1" dirty="0">
                <a:latin typeface="Times New Roman" panose="02020603050405020304" pitchFamily="18" charset="0"/>
                <a:cs typeface="Times New Roman" panose="02020603050405020304" pitchFamily="18" charset="0"/>
              </a:rPr>
              <a:t>Zea mays</a:t>
            </a:r>
            <a:r>
              <a:rPr lang="en-IL" sz="1200" dirty="0">
                <a:latin typeface="Times New Roman" panose="02020603050405020304" pitchFamily="18" charset="0"/>
                <a:cs typeface="Times New Roman" panose="02020603050405020304" pitchFamily="18" charset="0"/>
              </a:rPr>
              <a:t> tissues (5°C/22°C): leaf, top-crown, bottom-crown, and root. Points are colored by shared differential expression status: blue for upregulated, pink for downregulated, and gray for non-significant changes. Dashed horizontal lines indicate the ±1 log2FC thresholds. Spearman's correlation coefficient (</a:t>
            </a:r>
            <a:r>
              <a:rPr lang="en-IL" sz="1200" i="1" dirty="0">
                <a:latin typeface="Times New Roman" panose="02020603050405020304" pitchFamily="18" charset="0"/>
                <a:cs typeface="Times New Roman" panose="02020603050405020304" pitchFamily="18" charset="0"/>
              </a:rPr>
              <a:t>ρ</a:t>
            </a:r>
            <a:r>
              <a:rPr lang="en-IL" sz="1200" dirty="0">
                <a:latin typeface="Times New Roman" panose="02020603050405020304" pitchFamily="18" charset="0"/>
                <a:cs typeface="Times New Roman" panose="02020603050405020304" pitchFamily="18" charset="0"/>
              </a:rPr>
              <a:t>) and </a:t>
            </a:r>
            <a:r>
              <a:rPr lang="en-IL" sz="1200" i="1" dirty="0">
                <a:latin typeface="Times New Roman" panose="02020603050405020304" pitchFamily="18" charset="0"/>
                <a:cs typeface="Times New Roman" panose="02020603050405020304" pitchFamily="18" charset="0"/>
              </a:rPr>
              <a:t>P</a:t>
            </a:r>
            <a:r>
              <a:rPr lang="en-IL" sz="1200" dirty="0">
                <a:latin typeface="Times New Roman" panose="02020603050405020304" pitchFamily="18" charset="0"/>
                <a:cs typeface="Times New Roman" panose="02020603050405020304" pitchFamily="18" charset="0"/>
              </a:rPr>
              <a:t>-value are shown in the upper left of each panel, along with the number of genes analyzed (</a:t>
            </a:r>
            <a:r>
              <a:rPr lang="en-IL" sz="1200" i="1" dirty="0">
                <a:latin typeface="Times New Roman" panose="02020603050405020304" pitchFamily="18" charset="0"/>
                <a:cs typeface="Times New Roman" panose="02020603050405020304" pitchFamily="18" charset="0"/>
              </a:rPr>
              <a:t>n</a:t>
            </a:r>
            <a:r>
              <a:rPr lang="en-IL" sz="1200" dirty="0">
                <a:latin typeface="Times New Roman" panose="02020603050405020304" pitchFamily="18" charset="0"/>
                <a:cs typeface="Times New Roman" panose="02020603050405020304" pitchFamily="18" charset="0"/>
              </a:rPr>
              <a:t>). The LEA3 gene is labeled in each panel.</a:t>
            </a:r>
          </a:p>
        </p:txBody>
      </p:sp>
      <p:pic>
        <p:nvPicPr>
          <p:cNvPr id="5" name="Picture 4">
            <a:extLst>
              <a:ext uri="{FF2B5EF4-FFF2-40B4-BE49-F238E27FC236}">
                <a16:creationId xmlns:a16="http://schemas.microsoft.com/office/drawing/2014/main" id="{2A9BD92F-0464-589F-49FD-DBABB468BEEA}"/>
              </a:ext>
            </a:extLst>
          </p:cNvPr>
          <p:cNvPicPr>
            <a:picLocks noChangeAspect="1"/>
          </p:cNvPicPr>
          <p:nvPr/>
        </p:nvPicPr>
        <p:blipFill>
          <a:blip r:embed="rId2"/>
          <a:srcRect t="3105"/>
          <a:stretch>
            <a:fillRect/>
          </a:stretch>
        </p:blipFill>
        <p:spPr>
          <a:xfrm>
            <a:off x="1748657" y="0"/>
            <a:ext cx="6408687" cy="5334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96" name="object 496"/>
          <p:cNvSpPr txBox="1"/>
          <p:nvPr/>
        </p:nvSpPr>
        <p:spPr>
          <a:xfrm>
            <a:off x="76200" y="5958332"/>
            <a:ext cx="9770110" cy="741229"/>
          </a:xfrm>
          <a:prstGeom prst="rect">
            <a:avLst/>
          </a:prstGeom>
        </p:spPr>
        <p:txBody>
          <a:bodyPr vert="horz" wrap="square" lIns="0" tIns="22860" rIns="0" bIns="0" rtlCol="0">
            <a:spAutoFit/>
          </a:bodyPr>
          <a:lstStyle/>
          <a:p>
            <a:pPr marL="12700" marR="5080" algn="just">
              <a:lnSpc>
                <a:spcPts val="1400"/>
              </a:lnSpc>
              <a:spcBef>
                <a:spcPts val="180"/>
              </a:spcBef>
            </a:pPr>
            <a:r>
              <a:rPr lang="en-US" sz="1200" b="1" dirty="0">
                <a:latin typeface="Times New Roman"/>
                <a:cs typeface="Times New Roman"/>
              </a:rPr>
              <a:t>Fig. </a:t>
            </a:r>
            <a:r>
              <a:rPr sz="1200" b="1" dirty="0">
                <a:latin typeface="Times New Roman"/>
                <a:cs typeface="Times New Roman"/>
              </a:rPr>
              <a:t>S</a:t>
            </a:r>
            <a:r>
              <a:rPr lang="en-US" sz="1200" b="1" dirty="0">
                <a:latin typeface="Times New Roman"/>
                <a:cs typeface="Times New Roman"/>
              </a:rPr>
              <a:t>8</a:t>
            </a:r>
            <a:r>
              <a:rPr sz="1200" dirty="0">
                <a:latin typeface="Times New Roman"/>
                <a:cs typeface="Times New Roman"/>
              </a:rPr>
              <a:t>.</a:t>
            </a:r>
            <a:r>
              <a:rPr sz="1200" spc="260" dirty="0">
                <a:latin typeface="Times New Roman"/>
                <a:cs typeface="Times New Roman"/>
              </a:rPr>
              <a:t> </a:t>
            </a:r>
            <a:r>
              <a:rPr sz="1200" b="1" dirty="0">
                <a:solidFill>
                  <a:srgbClr val="0E0E0E"/>
                </a:solidFill>
                <a:latin typeface="Times New Roman" panose="02020603050405020304" pitchFamily="18" charset="0"/>
                <a:cs typeface="Times New Roman" panose="02020603050405020304" pitchFamily="18" charset="0"/>
              </a:rPr>
              <a:t>Hydropathy</a:t>
            </a:r>
            <a:r>
              <a:rPr sz="1200" b="1" spc="260" dirty="0">
                <a:solidFill>
                  <a:srgbClr val="0E0E0E"/>
                </a:solidFill>
                <a:latin typeface="Times New Roman" panose="02020603050405020304" pitchFamily="18" charset="0"/>
                <a:cs typeface="Times New Roman" panose="02020603050405020304" pitchFamily="18" charset="0"/>
              </a:rPr>
              <a:t> </a:t>
            </a:r>
            <a:r>
              <a:rPr sz="1200" b="1" dirty="0">
                <a:solidFill>
                  <a:srgbClr val="0E0E0E"/>
                </a:solidFill>
                <a:latin typeface="Times New Roman" panose="02020603050405020304" pitchFamily="18" charset="0"/>
                <a:cs typeface="Times New Roman" panose="02020603050405020304" pitchFamily="18" charset="0"/>
              </a:rPr>
              <a:t>profiles</a:t>
            </a:r>
            <a:r>
              <a:rPr sz="1200" b="1" spc="265" dirty="0">
                <a:solidFill>
                  <a:srgbClr val="0E0E0E"/>
                </a:solidFill>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of LEA3 orthologs.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(a)</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Zea mays,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(b) </a:t>
            </a:r>
            <a:r>
              <a:rPr lang="en-US" sz="1200" i="1" dirty="0">
                <a:latin typeface="Times New Roman" panose="02020603050405020304" pitchFamily="18" charset="0"/>
                <a:cs typeface="Times New Roman" panose="02020603050405020304" pitchFamily="18" charset="0"/>
              </a:rPr>
              <a:t>Tripsacum dactyloides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(c)</a:t>
            </a:r>
            <a:r>
              <a:rPr lang="en-US" sz="1200" dirty="0">
                <a:latin typeface="Times New Roman" panose="02020603050405020304" pitchFamily="18" charset="0"/>
                <a:cs typeface="Times New Roman" panose="02020603050405020304" pitchFamily="18" charset="0"/>
              </a:rPr>
              <a:t> </a:t>
            </a:r>
            <a:r>
              <a:rPr lang="en-US" sz="1200" i="1" dirty="0">
                <a:latin typeface="Times New Roman" panose="02020603050405020304" pitchFamily="18" charset="0"/>
                <a:cs typeface="Times New Roman" panose="02020603050405020304" pitchFamily="18" charset="0"/>
              </a:rPr>
              <a:t>Miscanthus</a:t>
            </a:r>
            <a:r>
              <a:rPr lang="en-US" sz="1200" dirty="0">
                <a:latin typeface="Times New Roman" panose="02020603050405020304" pitchFamily="18" charset="0"/>
                <a:cs typeface="Times New Roman" panose="02020603050405020304" pitchFamily="18" charset="0"/>
              </a:rPr>
              <a:t> × </a:t>
            </a:r>
            <a:r>
              <a:rPr lang="en-US" sz="1200" i="1" dirty="0">
                <a:latin typeface="Times New Roman" panose="02020603050405020304" pitchFamily="18" charset="0"/>
                <a:cs typeface="Times New Roman" panose="02020603050405020304" pitchFamily="18" charset="0"/>
              </a:rPr>
              <a:t>giganteus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(d) </a:t>
            </a:r>
            <a:r>
              <a:rPr lang="en-US" sz="1200" i="1" dirty="0">
                <a:latin typeface="Times New Roman" panose="02020603050405020304" pitchFamily="18" charset="0"/>
                <a:cs typeface="Times New Roman" panose="02020603050405020304" pitchFamily="18" charset="0"/>
              </a:rPr>
              <a:t>Andropogon gerardi</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(e) </a:t>
            </a:r>
            <a:r>
              <a:rPr lang="en-US" sz="1200" i="1" dirty="0">
                <a:latin typeface="Times New Roman" panose="02020603050405020304" pitchFamily="18" charset="0"/>
                <a:cs typeface="Times New Roman" panose="02020603050405020304" pitchFamily="18" charset="0"/>
              </a:rPr>
              <a:t>Sorghastrum nutans</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(f) </a:t>
            </a:r>
            <a:r>
              <a:rPr lang="en-US" sz="1200" i="1" dirty="0">
                <a:latin typeface="Times New Roman" panose="02020603050405020304" pitchFamily="18" charset="0"/>
                <a:cs typeface="Times New Roman" panose="02020603050405020304" pitchFamily="18" charset="0"/>
              </a:rPr>
              <a:t>Panicum virgatum</a:t>
            </a:r>
            <a:r>
              <a:rPr lang="en-US" sz="1200"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(g) </a:t>
            </a:r>
            <a:r>
              <a:rPr lang="en-US" sz="1200" i="1" dirty="0">
                <a:latin typeface="Times New Roman" panose="02020603050405020304" pitchFamily="18" charset="0"/>
                <a:cs typeface="Times New Roman" panose="02020603050405020304" pitchFamily="18" charset="0"/>
              </a:rPr>
              <a:t>Triticum aestivum</a:t>
            </a:r>
            <a:r>
              <a:rPr lang="en-US" sz="1200" dirty="0">
                <a:latin typeface="Times New Roman" panose="02020603050405020304" pitchFamily="18" charset="0"/>
                <a:cs typeface="Times New Roman" panose="02020603050405020304" pitchFamily="18" charset="0"/>
              </a:rPr>
              <a:t>, and </a:t>
            </a:r>
            <a:r>
              <a:rPr lang="en-US" sz="1200" b="1" dirty="0">
                <a:latin typeface="Times New Roman" panose="02020603050405020304" pitchFamily="18" charset="0"/>
                <a:cs typeface="Times New Roman" panose="02020603050405020304" pitchFamily="18" charset="0"/>
              </a:rPr>
              <a:t>(h) </a:t>
            </a:r>
            <a:r>
              <a:rPr lang="en-US" sz="1200" i="1" dirty="0">
                <a:latin typeface="Times New Roman" panose="02020603050405020304" pitchFamily="18" charset="0"/>
                <a:cs typeface="Times New Roman" panose="02020603050405020304" pitchFamily="18" charset="0"/>
              </a:rPr>
              <a:t>Arabidopsis thaliana</a:t>
            </a:r>
            <a:r>
              <a:rPr sz="1200" dirty="0">
                <a:solidFill>
                  <a:srgbClr val="0E0E0E"/>
                </a:solidFill>
                <a:latin typeface="Times New Roman"/>
                <a:cs typeface="Times New Roman"/>
              </a:rPr>
              <a:t>.</a:t>
            </a:r>
            <a:r>
              <a:rPr sz="1200" spc="265" dirty="0">
                <a:solidFill>
                  <a:srgbClr val="0E0E0E"/>
                </a:solidFill>
                <a:latin typeface="Times New Roman"/>
                <a:cs typeface="Times New Roman"/>
              </a:rPr>
              <a:t> </a:t>
            </a:r>
            <a:r>
              <a:rPr sz="1200" spc="-10" dirty="0">
                <a:solidFill>
                  <a:srgbClr val="0E0E0E"/>
                </a:solidFill>
                <a:latin typeface="Times New Roman"/>
                <a:cs typeface="Times New Roman"/>
              </a:rPr>
              <a:t>Kyte-</a:t>
            </a:r>
            <a:r>
              <a:rPr sz="1200" dirty="0">
                <a:solidFill>
                  <a:srgbClr val="0E0E0E"/>
                </a:solidFill>
                <a:latin typeface="Times New Roman"/>
                <a:cs typeface="Times New Roman"/>
              </a:rPr>
              <a:t>Doolittle</a:t>
            </a:r>
            <a:r>
              <a:rPr sz="1200" spc="260" dirty="0">
                <a:solidFill>
                  <a:srgbClr val="0E0E0E"/>
                </a:solidFill>
                <a:latin typeface="Times New Roman"/>
                <a:cs typeface="Times New Roman"/>
              </a:rPr>
              <a:t> </a:t>
            </a:r>
            <a:r>
              <a:rPr sz="1200" dirty="0">
                <a:solidFill>
                  <a:srgbClr val="0E0E0E"/>
                </a:solidFill>
                <a:latin typeface="Times New Roman"/>
                <a:cs typeface="Times New Roman"/>
              </a:rPr>
              <a:t>plots</a:t>
            </a:r>
            <a:r>
              <a:rPr sz="1200" spc="260" dirty="0">
                <a:solidFill>
                  <a:srgbClr val="0E0E0E"/>
                </a:solidFill>
                <a:latin typeface="Times New Roman"/>
                <a:cs typeface="Times New Roman"/>
              </a:rPr>
              <a:t> </a:t>
            </a:r>
            <a:r>
              <a:rPr sz="1200" spc="-20" dirty="0">
                <a:solidFill>
                  <a:srgbClr val="0E0E0E"/>
                </a:solidFill>
                <a:latin typeface="Times New Roman"/>
                <a:cs typeface="Times New Roman"/>
              </a:rPr>
              <a:t>were </a:t>
            </a:r>
            <a:r>
              <a:rPr sz="1200" dirty="0">
                <a:solidFill>
                  <a:srgbClr val="0E0E0E"/>
                </a:solidFill>
                <a:latin typeface="Times New Roman"/>
                <a:cs typeface="Times New Roman"/>
              </a:rPr>
              <a:t>generated</a:t>
            </a:r>
            <a:r>
              <a:rPr sz="1200" spc="45" dirty="0">
                <a:solidFill>
                  <a:srgbClr val="0E0E0E"/>
                </a:solidFill>
                <a:latin typeface="Times New Roman"/>
                <a:cs typeface="Times New Roman"/>
              </a:rPr>
              <a:t> </a:t>
            </a:r>
            <a:r>
              <a:rPr sz="1200" dirty="0">
                <a:solidFill>
                  <a:srgbClr val="0E0E0E"/>
                </a:solidFill>
                <a:latin typeface="Times New Roman"/>
                <a:cs typeface="Times New Roman"/>
              </a:rPr>
              <a:t>using</a:t>
            </a:r>
            <a:r>
              <a:rPr sz="1200" spc="50" dirty="0">
                <a:solidFill>
                  <a:srgbClr val="0E0E0E"/>
                </a:solidFill>
                <a:latin typeface="Times New Roman"/>
                <a:cs typeface="Times New Roman"/>
              </a:rPr>
              <a:t> </a:t>
            </a:r>
            <a:r>
              <a:rPr sz="1200" dirty="0">
                <a:solidFill>
                  <a:srgbClr val="0E0E0E"/>
                </a:solidFill>
                <a:latin typeface="Times New Roman"/>
                <a:cs typeface="Times New Roman"/>
              </a:rPr>
              <a:t>ProtScale</a:t>
            </a:r>
            <a:r>
              <a:rPr sz="1200" spc="60" dirty="0">
                <a:solidFill>
                  <a:srgbClr val="0E0E0E"/>
                </a:solidFill>
                <a:latin typeface="Times New Roman"/>
                <a:cs typeface="Times New Roman"/>
              </a:rPr>
              <a:t> </a:t>
            </a:r>
            <a:r>
              <a:rPr sz="1200" spc="-10" dirty="0">
                <a:solidFill>
                  <a:srgbClr val="0E0E0E"/>
                </a:solidFill>
                <a:latin typeface="Times New Roman"/>
                <a:cs typeface="Times New Roman"/>
              </a:rPr>
              <a:t>(ExPASy)</a:t>
            </a:r>
            <a:r>
              <a:rPr sz="1200" spc="45" dirty="0">
                <a:solidFill>
                  <a:srgbClr val="0E0E0E"/>
                </a:solidFill>
                <a:latin typeface="Times New Roman"/>
                <a:cs typeface="Times New Roman"/>
              </a:rPr>
              <a:t> </a:t>
            </a:r>
            <a:r>
              <a:rPr sz="1200" dirty="0">
                <a:solidFill>
                  <a:srgbClr val="0E0E0E"/>
                </a:solidFill>
                <a:latin typeface="Times New Roman"/>
                <a:cs typeface="Times New Roman"/>
              </a:rPr>
              <a:t>with</a:t>
            </a:r>
            <a:r>
              <a:rPr sz="1200" spc="50" dirty="0">
                <a:solidFill>
                  <a:srgbClr val="0E0E0E"/>
                </a:solidFill>
                <a:latin typeface="Times New Roman"/>
                <a:cs typeface="Times New Roman"/>
              </a:rPr>
              <a:t> </a:t>
            </a:r>
            <a:r>
              <a:rPr sz="1200" dirty="0">
                <a:solidFill>
                  <a:srgbClr val="0E0E0E"/>
                </a:solidFill>
                <a:latin typeface="Times New Roman"/>
                <a:cs typeface="Times New Roman"/>
              </a:rPr>
              <a:t>a</a:t>
            </a:r>
            <a:r>
              <a:rPr sz="1200" spc="55" dirty="0">
                <a:solidFill>
                  <a:srgbClr val="0E0E0E"/>
                </a:solidFill>
                <a:latin typeface="Times New Roman"/>
                <a:cs typeface="Times New Roman"/>
              </a:rPr>
              <a:t> </a:t>
            </a:r>
            <a:r>
              <a:rPr sz="1200" dirty="0">
                <a:solidFill>
                  <a:srgbClr val="0E0E0E"/>
                </a:solidFill>
                <a:latin typeface="Times New Roman"/>
                <a:cs typeface="Times New Roman"/>
              </a:rPr>
              <a:t>window</a:t>
            </a:r>
            <a:r>
              <a:rPr sz="1200" spc="50" dirty="0">
                <a:solidFill>
                  <a:srgbClr val="0E0E0E"/>
                </a:solidFill>
                <a:latin typeface="Times New Roman"/>
                <a:cs typeface="Times New Roman"/>
              </a:rPr>
              <a:t> </a:t>
            </a:r>
            <a:r>
              <a:rPr sz="1200" dirty="0">
                <a:solidFill>
                  <a:srgbClr val="0E0E0E"/>
                </a:solidFill>
                <a:latin typeface="Times New Roman"/>
                <a:cs typeface="Times New Roman"/>
              </a:rPr>
              <a:t>size</a:t>
            </a:r>
            <a:r>
              <a:rPr sz="1200" spc="55" dirty="0">
                <a:solidFill>
                  <a:srgbClr val="0E0E0E"/>
                </a:solidFill>
                <a:latin typeface="Times New Roman"/>
                <a:cs typeface="Times New Roman"/>
              </a:rPr>
              <a:t> </a:t>
            </a:r>
            <a:r>
              <a:rPr sz="1200" dirty="0">
                <a:solidFill>
                  <a:srgbClr val="0E0E0E"/>
                </a:solidFill>
                <a:latin typeface="Times New Roman"/>
                <a:cs typeface="Times New Roman"/>
              </a:rPr>
              <a:t>of</a:t>
            </a:r>
            <a:r>
              <a:rPr sz="1200" spc="55" dirty="0">
                <a:solidFill>
                  <a:srgbClr val="0E0E0E"/>
                </a:solidFill>
                <a:latin typeface="Times New Roman"/>
                <a:cs typeface="Times New Roman"/>
              </a:rPr>
              <a:t> </a:t>
            </a:r>
            <a:r>
              <a:rPr sz="1200" dirty="0">
                <a:solidFill>
                  <a:srgbClr val="0E0E0E"/>
                </a:solidFill>
                <a:latin typeface="Times New Roman"/>
                <a:cs typeface="Times New Roman"/>
              </a:rPr>
              <a:t>11</a:t>
            </a:r>
            <a:r>
              <a:rPr sz="1200" spc="50" dirty="0">
                <a:solidFill>
                  <a:srgbClr val="0E0E0E"/>
                </a:solidFill>
                <a:latin typeface="Times New Roman"/>
                <a:cs typeface="Times New Roman"/>
              </a:rPr>
              <a:t> </a:t>
            </a:r>
            <a:r>
              <a:rPr sz="1200" dirty="0">
                <a:solidFill>
                  <a:srgbClr val="0E0E0E"/>
                </a:solidFill>
                <a:latin typeface="Times New Roman"/>
                <a:cs typeface="Times New Roman"/>
              </a:rPr>
              <a:t>amino</a:t>
            </a:r>
            <a:r>
              <a:rPr sz="1200" spc="50" dirty="0">
                <a:solidFill>
                  <a:srgbClr val="0E0E0E"/>
                </a:solidFill>
                <a:latin typeface="Times New Roman"/>
                <a:cs typeface="Times New Roman"/>
              </a:rPr>
              <a:t> </a:t>
            </a:r>
            <a:r>
              <a:rPr sz="1200" dirty="0">
                <a:solidFill>
                  <a:srgbClr val="0E0E0E"/>
                </a:solidFill>
                <a:latin typeface="Times New Roman"/>
                <a:cs typeface="Times New Roman"/>
              </a:rPr>
              <a:t>acids.</a:t>
            </a:r>
            <a:r>
              <a:rPr sz="1200" spc="45" dirty="0">
                <a:solidFill>
                  <a:srgbClr val="0E0E0E"/>
                </a:solidFill>
                <a:latin typeface="Times New Roman"/>
                <a:cs typeface="Times New Roman"/>
              </a:rPr>
              <a:t> </a:t>
            </a:r>
            <a:r>
              <a:rPr sz="1200" dirty="0">
                <a:solidFill>
                  <a:srgbClr val="0E0E0E"/>
                </a:solidFill>
                <a:latin typeface="Times New Roman"/>
                <a:cs typeface="Times New Roman"/>
              </a:rPr>
              <a:t>The</a:t>
            </a:r>
            <a:r>
              <a:rPr sz="1200" spc="60" dirty="0">
                <a:solidFill>
                  <a:srgbClr val="0E0E0E"/>
                </a:solidFill>
                <a:latin typeface="Times New Roman"/>
                <a:cs typeface="Times New Roman"/>
              </a:rPr>
              <a:t> </a:t>
            </a:r>
            <a:r>
              <a:rPr sz="1200" spc="-10" dirty="0">
                <a:solidFill>
                  <a:srgbClr val="0E0E0E"/>
                </a:solidFill>
                <a:latin typeface="Times New Roman"/>
                <a:cs typeface="Times New Roman"/>
              </a:rPr>
              <a:t>x-</a:t>
            </a:r>
            <a:r>
              <a:rPr sz="1200" dirty="0">
                <a:solidFill>
                  <a:srgbClr val="0E0E0E"/>
                </a:solidFill>
                <a:latin typeface="Times New Roman"/>
                <a:cs typeface="Times New Roman"/>
              </a:rPr>
              <a:t>axis</a:t>
            </a:r>
            <a:r>
              <a:rPr sz="1200" spc="50" dirty="0">
                <a:solidFill>
                  <a:srgbClr val="0E0E0E"/>
                </a:solidFill>
                <a:latin typeface="Times New Roman"/>
                <a:cs typeface="Times New Roman"/>
              </a:rPr>
              <a:t> </a:t>
            </a:r>
            <a:r>
              <a:rPr sz="1200" dirty="0">
                <a:solidFill>
                  <a:srgbClr val="0E0E0E"/>
                </a:solidFill>
                <a:latin typeface="Times New Roman"/>
                <a:cs typeface="Times New Roman"/>
              </a:rPr>
              <a:t>indicates</a:t>
            </a:r>
            <a:r>
              <a:rPr sz="1200" spc="50" dirty="0">
                <a:solidFill>
                  <a:srgbClr val="0E0E0E"/>
                </a:solidFill>
                <a:latin typeface="Times New Roman"/>
                <a:cs typeface="Times New Roman"/>
              </a:rPr>
              <a:t> </a:t>
            </a:r>
            <a:r>
              <a:rPr sz="1200" dirty="0">
                <a:solidFill>
                  <a:srgbClr val="0E0E0E"/>
                </a:solidFill>
                <a:latin typeface="Times New Roman"/>
                <a:cs typeface="Times New Roman"/>
              </a:rPr>
              <a:t>amino</a:t>
            </a:r>
            <a:r>
              <a:rPr sz="1200" spc="45" dirty="0">
                <a:solidFill>
                  <a:srgbClr val="0E0E0E"/>
                </a:solidFill>
                <a:latin typeface="Times New Roman"/>
                <a:cs typeface="Times New Roman"/>
              </a:rPr>
              <a:t> </a:t>
            </a:r>
            <a:r>
              <a:rPr sz="1200" dirty="0">
                <a:solidFill>
                  <a:srgbClr val="0E0E0E"/>
                </a:solidFill>
                <a:latin typeface="Times New Roman"/>
                <a:cs typeface="Times New Roman"/>
              </a:rPr>
              <a:t>acid</a:t>
            </a:r>
            <a:r>
              <a:rPr sz="1200" spc="55" dirty="0">
                <a:solidFill>
                  <a:srgbClr val="0E0E0E"/>
                </a:solidFill>
                <a:latin typeface="Times New Roman"/>
                <a:cs typeface="Times New Roman"/>
              </a:rPr>
              <a:t> </a:t>
            </a:r>
            <a:r>
              <a:rPr sz="1200" spc="-10" dirty="0">
                <a:solidFill>
                  <a:srgbClr val="0E0E0E"/>
                </a:solidFill>
                <a:latin typeface="Times New Roman"/>
                <a:cs typeface="Times New Roman"/>
              </a:rPr>
              <a:t>position, </a:t>
            </a:r>
            <a:r>
              <a:rPr sz="1200" dirty="0">
                <a:solidFill>
                  <a:srgbClr val="0E0E0E"/>
                </a:solidFill>
                <a:latin typeface="Times New Roman"/>
                <a:cs typeface="Times New Roman"/>
              </a:rPr>
              <a:t>and</a:t>
            </a:r>
            <a:r>
              <a:rPr sz="1200" spc="210" dirty="0">
                <a:solidFill>
                  <a:srgbClr val="0E0E0E"/>
                </a:solidFill>
                <a:latin typeface="Times New Roman"/>
                <a:cs typeface="Times New Roman"/>
              </a:rPr>
              <a:t> </a:t>
            </a:r>
            <a:r>
              <a:rPr sz="1200" dirty="0">
                <a:solidFill>
                  <a:srgbClr val="0E0E0E"/>
                </a:solidFill>
                <a:latin typeface="Times New Roman"/>
                <a:cs typeface="Times New Roman"/>
              </a:rPr>
              <a:t>the</a:t>
            </a:r>
            <a:r>
              <a:rPr sz="1200" spc="229" dirty="0">
                <a:solidFill>
                  <a:srgbClr val="0E0E0E"/>
                </a:solidFill>
                <a:latin typeface="Times New Roman"/>
                <a:cs typeface="Times New Roman"/>
              </a:rPr>
              <a:t> </a:t>
            </a:r>
            <a:r>
              <a:rPr sz="1200" spc="-10" dirty="0">
                <a:solidFill>
                  <a:srgbClr val="0E0E0E"/>
                </a:solidFill>
                <a:latin typeface="Times New Roman"/>
                <a:cs typeface="Times New Roman"/>
              </a:rPr>
              <a:t>y-</a:t>
            </a:r>
            <a:r>
              <a:rPr sz="1200" dirty="0">
                <a:solidFill>
                  <a:srgbClr val="0E0E0E"/>
                </a:solidFill>
                <a:latin typeface="Times New Roman"/>
                <a:cs typeface="Times New Roman"/>
              </a:rPr>
              <a:t>axis</a:t>
            </a:r>
            <a:r>
              <a:rPr sz="1200" spc="225" dirty="0">
                <a:solidFill>
                  <a:srgbClr val="0E0E0E"/>
                </a:solidFill>
                <a:latin typeface="Times New Roman"/>
                <a:cs typeface="Times New Roman"/>
              </a:rPr>
              <a:t> </a:t>
            </a:r>
            <a:r>
              <a:rPr sz="1200" dirty="0">
                <a:solidFill>
                  <a:srgbClr val="0E0E0E"/>
                </a:solidFill>
                <a:latin typeface="Times New Roman"/>
                <a:cs typeface="Times New Roman"/>
              </a:rPr>
              <a:t>represents</a:t>
            </a:r>
            <a:r>
              <a:rPr sz="1200" spc="220" dirty="0">
                <a:solidFill>
                  <a:srgbClr val="0E0E0E"/>
                </a:solidFill>
                <a:latin typeface="Times New Roman"/>
                <a:cs typeface="Times New Roman"/>
              </a:rPr>
              <a:t> </a:t>
            </a:r>
            <a:r>
              <a:rPr sz="1200" dirty="0">
                <a:solidFill>
                  <a:srgbClr val="0E0E0E"/>
                </a:solidFill>
                <a:latin typeface="Times New Roman"/>
                <a:cs typeface="Times New Roman"/>
              </a:rPr>
              <a:t>hydropathy</a:t>
            </a:r>
            <a:r>
              <a:rPr sz="1200" spc="210" dirty="0">
                <a:solidFill>
                  <a:srgbClr val="0E0E0E"/>
                </a:solidFill>
                <a:latin typeface="Times New Roman"/>
                <a:cs typeface="Times New Roman"/>
              </a:rPr>
              <a:t> </a:t>
            </a:r>
            <a:r>
              <a:rPr sz="1200" dirty="0">
                <a:solidFill>
                  <a:srgbClr val="0E0E0E"/>
                </a:solidFill>
                <a:latin typeface="Times New Roman"/>
                <a:cs typeface="Times New Roman"/>
              </a:rPr>
              <a:t>score.</a:t>
            </a:r>
            <a:r>
              <a:rPr sz="1200" spc="215" dirty="0">
                <a:solidFill>
                  <a:srgbClr val="0E0E0E"/>
                </a:solidFill>
                <a:latin typeface="Times New Roman"/>
                <a:cs typeface="Times New Roman"/>
              </a:rPr>
              <a:t> </a:t>
            </a:r>
            <a:r>
              <a:rPr sz="1200" dirty="0">
                <a:solidFill>
                  <a:srgbClr val="0E0E0E"/>
                </a:solidFill>
                <a:latin typeface="Times New Roman"/>
                <a:cs typeface="Times New Roman"/>
              </a:rPr>
              <a:t>Red</a:t>
            </a:r>
            <a:r>
              <a:rPr sz="1200" spc="225" dirty="0">
                <a:solidFill>
                  <a:srgbClr val="0E0E0E"/>
                </a:solidFill>
                <a:latin typeface="Times New Roman"/>
                <a:cs typeface="Times New Roman"/>
              </a:rPr>
              <a:t> </a:t>
            </a:r>
            <a:r>
              <a:rPr sz="1200" dirty="0">
                <a:solidFill>
                  <a:srgbClr val="0E0E0E"/>
                </a:solidFill>
                <a:latin typeface="Times New Roman"/>
                <a:cs typeface="Times New Roman"/>
              </a:rPr>
              <a:t>boxes</a:t>
            </a:r>
            <a:r>
              <a:rPr sz="1200" spc="220" dirty="0">
                <a:solidFill>
                  <a:srgbClr val="0E0E0E"/>
                </a:solidFill>
                <a:latin typeface="Times New Roman"/>
                <a:cs typeface="Times New Roman"/>
              </a:rPr>
              <a:t> </a:t>
            </a:r>
            <a:r>
              <a:rPr sz="1200" dirty="0">
                <a:solidFill>
                  <a:srgbClr val="0E0E0E"/>
                </a:solidFill>
                <a:latin typeface="Times New Roman"/>
                <a:cs typeface="Times New Roman"/>
              </a:rPr>
              <a:t>highlight</a:t>
            </a:r>
            <a:r>
              <a:rPr sz="1200" spc="229" dirty="0">
                <a:solidFill>
                  <a:srgbClr val="0E0E0E"/>
                </a:solidFill>
                <a:latin typeface="Times New Roman"/>
                <a:cs typeface="Times New Roman"/>
              </a:rPr>
              <a:t> </a:t>
            </a:r>
            <a:r>
              <a:rPr sz="1200" dirty="0">
                <a:solidFill>
                  <a:srgbClr val="0E0E0E"/>
                </a:solidFill>
                <a:latin typeface="Times New Roman"/>
                <a:cs typeface="Times New Roman"/>
              </a:rPr>
              <a:t>regions</a:t>
            </a:r>
            <a:r>
              <a:rPr sz="1200" spc="220" dirty="0">
                <a:solidFill>
                  <a:srgbClr val="0E0E0E"/>
                </a:solidFill>
                <a:latin typeface="Times New Roman"/>
                <a:cs typeface="Times New Roman"/>
              </a:rPr>
              <a:t> </a:t>
            </a:r>
            <a:r>
              <a:rPr sz="1200" dirty="0">
                <a:solidFill>
                  <a:srgbClr val="0E0E0E"/>
                </a:solidFill>
                <a:latin typeface="Times New Roman"/>
                <a:cs typeface="Times New Roman"/>
              </a:rPr>
              <a:t>corresponding</a:t>
            </a:r>
            <a:r>
              <a:rPr sz="1200" spc="215" dirty="0">
                <a:solidFill>
                  <a:srgbClr val="0E0E0E"/>
                </a:solidFill>
                <a:latin typeface="Times New Roman"/>
                <a:cs typeface="Times New Roman"/>
              </a:rPr>
              <a:t> </a:t>
            </a:r>
            <a:r>
              <a:rPr sz="1200" dirty="0">
                <a:solidFill>
                  <a:srgbClr val="0E0E0E"/>
                </a:solidFill>
                <a:latin typeface="Times New Roman"/>
                <a:cs typeface="Times New Roman"/>
              </a:rPr>
              <a:t>to</a:t>
            </a:r>
            <a:r>
              <a:rPr sz="1200" spc="225" dirty="0">
                <a:solidFill>
                  <a:srgbClr val="0E0E0E"/>
                </a:solidFill>
                <a:latin typeface="Times New Roman"/>
                <a:cs typeface="Times New Roman"/>
              </a:rPr>
              <a:t> </a:t>
            </a:r>
            <a:r>
              <a:rPr sz="1200" dirty="0">
                <a:solidFill>
                  <a:srgbClr val="0E0E0E"/>
                </a:solidFill>
                <a:latin typeface="Times New Roman"/>
                <a:cs typeface="Times New Roman"/>
              </a:rPr>
              <a:t>conserved</a:t>
            </a:r>
            <a:r>
              <a:rPr sz="1200" spc="210" dirty="0">
                <a:solidFill>
                  <a:srgbClr val="0E0E0E"/>
                </a:solidFill>
                <a:latin typeface="Times New Roman"/>
                <a:cs typeface="Times New Roman"/>
              </a:rPr>
              <a:t> </a:t>
            </a:r>
            <a:r>
              <a:rPr sz="1200" spc="-55" dirty="0">
                <a:solidFill>
                  <a:srgbClr val="0E0E0E"/>
                </a:solidFill>
                <a:latin typeface="Times New Roman"/>
                <a:cs typeface="Times New Roman"/>
              </a:rPr>
              <a:t>11-</a:t>
            </a:r>
            <a:r>
              <a:rPr sz="1200" dirty="0">
                <a:solidFill>
                  <a:srgbClr val="0E0E0E"/>
                </a:solidFill>
                <a:latin typeface="Times New Roman"/>
                <a:cs typeface="Times New Roman"/>
              </a:rPr>
              <a:t>mer</a:t>
            </a:r>
            <a:r>
              <a:rPr sz="1200" spc="229" dirty="0">
                <a:solidFill>
                  <a:srgbClr val="0E0E0E"/>
                </a:solidFill>
                <a:latin typeface="Times New Roman"/>
                <a:cs typeface="Times New Roman"/>
              </a:rPr>
              <a:t> </a:t>
            </a:r>
            <a:r>
              <a:rPr sz="1200" spc="-25" dirty="0">
                <a:solidFill>
                  <a:srgbClr val="0E0E0E"/>
                </a:solidFill>
                <a:latin typeface="Times New Roman"/>
                <a:cs typeface="Times New Roman"/>
              </a:rPr>
              <a:t>LEA </a:t>
            </a:r>
            <a:r>
              <a:rPr sz="1200" spc="-10" dirty="0">
                <a:solidFill>
                  <a:srgbClr val="0E0E0E"/>
                </a:solidFill>
                <a:latin typeface="Times New Roman"/>
                <a:cs typeface="Times New Roman"/>
              </a:rPr>
              <a:t>motifs.</a:t>
            </a:r>
            <a:endParaRPr sz="1200" dirty="0">
              <a:latin typeface="Times New Roman"/>
              <a:cs typeface="Times New Roman"/>
            </a:endParaRPr>
          </a:p>
        </p:txBody>
      </p:sp>
      <p:pic>
        <p:nvPicPr>
          <p:cNvPr id="498" name="Picture 497">
            <a:extLst>
              <a:ext uri="{FF2B5EF4-FFF2-40B4-BE49-F238E27FC236}">
                <a16:creationId xmlns:a16="http://schemas.microsoft.com/office/drawing/2014/main" id="{5C9F1337-1703-882B-85FF-938F8F158FC1}"/>
              </a:ext>
            </a:extLst>
          </p:cNvPr>
          <p:cNvPicPr>
            <a:picLocks noChangeAspect="1"/>
          </p:cNvPicPr>
          <p:nvPr/>
        </p:nvPicPr>
        <p:blipFill>
          <a:blip r:embed="rId2"/>
          <a:stretch>
            <a:fillRect/>
          </a:stretch>
        </p:blipFill>
        <p:spPr>
          <a:xfrm>
            <a:off x="1540562" y="0"/>
            <a:ext cx="6824877" cy="5778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5219125" y="0"/>
            <a:ext cx="4686935" cy="4087495"/>
            <a:chOff x="5219125" y="0"/>
            <a:chExt cx="4686935" cy="4087495"/>
          </a:xfrm>
        </p:grpSpPr>
        <p:pic>
          <p:nvPicPr>
            <p:cNvPr id="3" name="object 3"/>
            <p:cNvPicPr/>
            <p:nvPr/>
          </p:nvPicPr>
          <p:blipFill>
            <a:blip r:embed="rId3" cstate="print"/>
            <a:stretch>
              <a:fillRect/>
            </a:stretch>
          </p:blipFill>
          <p:spPr>
            <a:xfrm>
              <a:off x="5219125" y="755122"/>
              <a:ext cx="2539401" cy="3332153"/>
            </a:xfrm>
            <a:prstGeom prst="rect">
              <a:avLst/>
            </a:prstGeom>
          </p:spPr>
        </p:pic>
        <p:pic>
          <p:nvPicPr>
            <p:cNvPr id="4" name="object 4"/>
            <p:cNvPicPr/>
            <p:nvPr/>
          </p:nvPicPr>
          <p:blipFill>
            <a:blip r:embed="rId4" cstate="print"/>
            <a:stretch>
              <a:fillRect/>
            </a:stretch>
          </p:blipFill>
          <p:spPr>
            <a:xfrm>
              <a:off x="7431358" y="0"/>
              <a:ext cx="2474641" cy="3263191"/>
            </a:xfrm>
            <a:prstGeom prst="rect">
              <a:avLst/>
            </a:prstGeom>
          </p:spPr>
        </p:pic>
        <p:sp>
          <p:nvSpPr>
            <p:cNvPr id="5" name="object 5"/>
            <p:cNvSpPr/>
            <p:nvPr/>
          </p:nvSpPr>
          <p:spPr>
            <a:xfrm>
              <a:off x="7632004" y="2252248"/>
              <a:ext cx="2073910" cy="282575"/>
            </a:xfrm>
            <a:custGeom>
              <a:avLst/>
              <a:gdLst/>
              <a:ahLst/>
              <a:cxnLst/>
              <a:rect l="l" t="t" r="r" b="b"/>
              <a:pathLst>
                <a:path w="2073909" h="282575">
                  <a:moveTo>
                    <a:pt x="2073348" y="0"/>
                  </a:moveTo>
                  <a:lnTo>
                    <a:pt x="0" y="0"/>
                  </a:lnTo>
                  <a:lnTo>
                    <a:pt x="0" y="282463"/>
                  </a:lnTo>
                  <a:lnTo>
                    <a:pt x="2073348" y="282463"/>
                  </a:lnTo>
                  <a:lnTo>
                    <a:pt x="2073348" y="0"/>
                  </a:lnTo>
                  <a:close/>
                </a:path>
              </a:pathLst>
            </a:custGeom>
            <a:solidFill>
              <a:srgbClr val="FFFFFF"/>
            </a:solidFill>
          </p:spPr>
          <p:txBody>
            <a:bodyPr wrap="square" lIns="0" tIns="0" rIns="0" bIns="0" rtlCol="0"/>
            <a:lstStyle/>
            <a:p>
              <a:endParaRPr/>
            </a:p>
          </p:txBody>
        </p:sp>
      </p:grpSp>
      <p:sp>
        <p:nvSpPr>
          <p:cNvPr id="6" name="object 6"/>
          <p:cNvSpPr txBox="1"/>
          <p:nvPr/>
        </p:nvSpPr>
        <p:spPr>
          <a:xfrm>
            <a:off x="5423751" y="325065"/>
            <a:ext cx="1304290" cy="222250"/>
          </a:xfrm>
          <a:prstGeom prst="rect">
            <a:avLst/>
          </a:prstGeom>
        </p:spPr>
        <p:txBody>
          <a:bodyPr vert="horz" wrap="square" lIns="0" tIns="17780" rIns="0" bIns="0" rtlCol="0">
            <a:spAutoFit/>
          </a:bodyPr>
          <a:lstStyle/>
          <a:p>
            <a:pPr marL="12700">
              <a:lnSpc>
                <a:spcPct val="100000"/>
              </a:lnSpc>
              <a:spcBef>
                <a:spcPts val="140"/>
              </a:spcBef>
            </a:pPr>
            <a:r>
              <a:rPr sz="1250" b="1" dirty="0">
                <a:latin typeface="Arial"/>
                <a:cs typeface="Arial"/>
              </a:rPr>
              <a:t>TdLEA3</a:t>
            </a:r>
            <a:r>
              <a:rPr sz="1250" b="1" spc="145" dirty="0">
                <a:latin typeface="Arial"/>
                <a:cs typeface="Arial"/>
              </a:rPr>
              <a:t> </a:t>
            </a:r>
            <a:r>
              <a:rPr sz="1250" b="1" spc="-10" dirty="0">
                <a:latin typeface="Arial"/>
                <a:cs typeface="Arial"/>
              </a:rPr>
              <a:t>4copies</a:t>
            </a:r>
            <a:endParaRPr sz="1250">
              <a:latin typeface="Arial"/>
              <a:cs typeface="Arial"/>
            </a:endParaRPr>
          </a:p>
        </p:txBody>
      </p:sp>
      <p:pic>
        <p:nvPicPr>
          <p:cNvPr id="7" name="object 7"/>
          <p:cNvPicPr/>
          <p:nvPr/>
        </p:nvPicPr>
        <p:blipFill>
          <a:blip r:embed="rId5" cstate="print"/>
          <a:stretch>
            <a:fillRect/>
          </a:stretch>
        </p:blipFill>
        <p:spPr>
          <a:xfrm>
            <a:off x="172639" y="349377"/>
            <a:ext cx="3949120" cy="3924282"/>
          </a:xfrm>
          <a:prstGeom prst="rect">
            <a:avLst/>
          </a:prstGeom>
        </p:spPr>
      </p:pic>
      <p:sp>
        <p:nvSpPr>
          <p:cNvPr id="8" name="object 8"/>
          <p:cNvSpPr txBox="1"/>
          <p:nvPr/>
        </p:nvSpPr>
        <p:spPr>
          <a:xfrm>
            <a:off x="353738" y="325065"/>
            <a:ext cx="1349375" cy="222250"/>
          </a:xfrm>
          <a:prstGeom prst="rect">
            <a:avLst/>
          </a:prstGeom>
        </p:spPr>
        <p:txBody>
          <a:bodyPr vert="horz" wrap="square" lIns="0" tIns="17780" rIns="0" bIns="0" rtlCol="0">
            <a:spAutoFit/>
          </a:bodyPr>
          <a:lstStyle/>
          <a:p>
            <a:pPr marL="12700">
              <a:lnSpc>
                <a:spcPct val="100000"/>
              </a:lnSpc>
              <a:spcBef>
                <a:spcPts val="140"/>
              </a:spcBef>
            </a:pPr>
            <a:r>
              <a:rPr sz="1250" b="1" dirty="0">
                <a:latin typeface="Arial"/>
                <a:cs typeface="Arial"/>
              </a:rPr>
              <a:t>ZmLEA3</a:t>
            </a:r>
            <a:r>
              <a:rPr sz="1250" b="1" spc="150" dirty="0">
                <a:latin typeface="Arial"/>
                <a:cs typeface="Arial"/>
              </a:rPr>
              <a:t> </a:t>
            </a:r>
            <a:r>
              <a:rPr sz="1250" b="1" spc="-10" dirty="0">
                <a:latin typeface="Arial"/>
                <a:cs typeface="Arial"/>
              </a:rPr>
              <a:t>4copies</a:t>
            </a:r>
            <a:endParaRPr sz="1250">
              <a:latin typeface="Arial"/>
              <a:cs typeface="Arial"/>
            </a:endParaRPr>
          </a:p>
        </p:txBody>
      </p:sp>
      <p:grpSp>
        <p:nvGrpSpPr>
          <p:cNvPr id="9" name="object 9"/>
          <p:cNvGrpSpPr/>
          <p:nvPr/>
        </p:nvGrpSpPr>
        <p:grpSpPr>
          <a:xfrm>
            <a:off x="2422622" y="96607"/>
            <a:ext cx="2459990" cy="3263265"/>
            <a:chOff x="2422622" y="96607"/>
            <a:chExt cx="2459990" cy="3263265"/>
          </a:xfrm>
        </p:grpSpPr>
        <p:pic>
          <p:nvPicPr>
            <p:cNvPr id="10" name="object 10"/>
            <p:cNvPicPr/>
            <p:nvPr/>
          </p:nvPicPr>
          <p:blipFill>
            <a:blip r:embed="rId6" cstate="print"/>
            <a:stretch>
              <a:fillRect/>
            </a:stretch>
          </p:blipFill>
          <p:spPr>
            <a:xfrm>
              <a:off x="2422622" y="96607"/>
              <a:ext cx="2459779" cy="3263191"/>
            </a:xfrm>
            <a:prstGeom prst="rect">
              <a:avLst/>
            </a:prstGeom>
          </p:spPr>
        </p:pic>
        <p:sp>
          <p:nvSpPr>
            <p:cNvPr id="11" name="object 11"/>
            <p:cNvSpPr/>
            <p:nvPr/>
          </p:nvSpPr>
          <p:spPr>
            <a:xfrm>
              <a:off x="2623269" y="2393444"/>
              <a:ext cx="2066289" cy="282575"/>
            </a:xfrm>
            <a:custGeom>
              <a:avLst/>
              <a:gdLst/>
              <a:ahLst/>
              <a:cxnLst/>
              <a:rect l="l" t="t" r="r" b="b"/>
              <a:pathLst>
                <a:path w="2066289" h="282575">
                  <a:moveTo>
                    <a:pt x="2065917" y="0"/>
                  </a:moveTo>
                  <a:lnTo>
                    <a:pt x="0" y="0"/>
                  </a:lnTo>
                  <a:lnTo>
                    <a:pt x="0" y="282463"/>
                  </a:lnTo>
                  <a:lnTo>
                    <a:pt x="2065917" y="282463"/>
                  </a:lnTo>
                  <a:lnTo>
                    <a:pt x="2065917" y="0"/>
                  </a:lnTo>
                  <a:close/>
                </a:path>
              </a:pathLst>
            </a:custGeom>
            <a:solidFill>
              <a:srgbClr val="FFFFFF"/>
            </a:solidFill>
          </p:spPr>
          <p:txBody>
            <a:bodyPr wrap="square" lIns="0" tIns="0" rIns="0" bIns="0" rtlCol="0"/>
            <a:lstStyle/>
            <a:p>
              <a:endParaRPr/>
            </a:p>
          </p:txBody>
        </p:sp>
      </p:grpSp>
      <p:pic>
        <p:nvPicPr>
          <p:cNvPr id="12" name="object 12"/>
          <p:cNvPicPr/>
          <p:nvPr/>
        </p:nvPicPr>
        <p:blipFill>
          <a:blip r:embed="rId7" cstate="print"/>
          <a:stretch>
            <a:fillRect/>
          </a:stretch>
        </p:blipFill>
        <p:spPr>
          <a:xfrm>
            <a:off x="1784877" y="4403023"/>
            <a:ext cx="6215317" cy="158302"/>
          </a:xfrm>
          <a:prstGeom prst="rect">
            <a:avLst/>
          </a:prstGeom>
        </p:spPr>
      </p:pic>
      <p:sp>
        <p:nvSpPr>
          <p:cNvPr id="13" name="object 13"/>
          <p:cNvSpPr txBox="1"/>
          <p:nvPr/>
        </p:nvSpPr>
        <p:spPr>
          <a:xfrm>
            <a:off x="36501" y="169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a</a:t>
            </a:r>
            <a:endParaRPr sz="1450" dirty="0">
              <a:latin typeface="Arial"/>
              <a:cs typeface="Arial"/>
            </a:endParaRPr>
          </a:p>
        </p:txBody>
      </p:sp>
      <p:sp>
        <p:nvSpPr>
          <p:cNvPr id="14" name="object 14"/>
          <p:cNvSpPr txBox="1"/>
          <p:nvPr/>
        </p:nvSpPr>
        <p:spPr>
          <a:xfrm>
            <a:off x="4956091" y="16973"/>
            <a:ext cx="160020" cy="237886"/>
          </a:xfrm>
          <a:prstGeom prst="rect">
            <a:avLst/>
          </a:prstGeom>
        </p:spPr>
        <p:txBody>
          <a:bodyPr vert="horz" wrap="square" lIns="0" tIns="14605" rIns="0" bIns="0" rtlCol="0">
            <a:spAutoFit/>
          </a:bodyPr>
          <a:lstStyle/>
          <a:p>
            <a:pPr marL="12700">
              <a:lnSpc>
                <a:spcPct val="100000"/>
              </a:lnSpc>
              <a:spcBef>
                <a:spcPts val="115"/>
              </a:spcBef>
            </a:pPr>
            <a:r>
              <a:rPr lang="en-US" sz="1450" b="1" spc="-50" dirty="0">
                <a:latin typeface="Arial"/>
                <a:cs typeface="Arial"/>
              </a:rPr>
              <a:t>b</a:t>
            </a:r>
            <a:endParaRPr sz="1450" dirty="0">
              <a:latin typeface="Arial"/>
              <a:cs typeface="Arial"/>
            </a:endParaRPr>
          </a:p>
        </p:txBody>
      </p:sp>
      <p:sp>
        <p:nvSpPr>
          <p:cNvPr id="15" name="object 15"/>
          <p:cNvSpPr txBox="1"/>
          <p:nvPr/>
        </p:nvSpPr>
        <p:spPr>
          <a:xfrm>
            <a:off x="61613" y="5768926"/>
            <a:ext cx="9789160" cy="948465"/>
          </a:xfrm>
          <a:prstGeom prst="rect">
            <a:avLst/>
          </a:prstGeom>
        </p:spPr>
        <p:txBody>
          <a:bodyPr vert="horz" wrap="square" lIns="0" tIns="8890" rIns="0" bIns="0" rtlCol="0">
            <a:spAutoFit/>
          </a:bodyPr>
          <a:lstStyle/>
          <a:p>
            <a:pPr marL="12700" marR="5080" algn="just">
              <a:lnSpc>
                <a:spcPct val="103200"/>
              </a:lnSpc>
              <a:spcBef>
                <a:spcPts val="70"/>
              </a:spcBef>
            </a:pPr>
            <a:r>
              <a:rPr lang="en-US" sz="1200" b="1" dirty="0">
                <a:latin typeface="Times New Roman"/>
                <a:cs typeface="Times New Roman"/>
              </a:rPr>
              <a:t>Fig. S9.</a:t>
            </a:r>
            <a:r>
              <a:rPr sz="1200" b="1" spc="190" dirty="0">
                <a:latin typeface="Times New Roman"/>
                <a:cs typeface="Times New Roman"/>
              </a:rPr>
              <a:t> </a:t>
            </a:r>
            <a:r>
              <a:rPr sz="1200" b="1" dirty="0">
                <a:latin typeface="Times New Roman"/>
                <a:cs typeface="Times New Roman"/>
              </a:rPr>
              <a:t>AlphaFold</a:t>
            </a:r>
            <a:r>
              <a:rPr sz="1200" b="1" spc="190" dirty="0">
                <a:latin typeface="Times New Roman"/>
                <a:cs typeface="Times New Roman"/>
              </a:rPr>
              <a:t> </a:t>
            </a:r>
            <a:r>
              <a:rPr sz="1200" b="1" dirty="0">
                <a:latin typeface="Times New Roman"/>
                <a:cs typeface="Times New Roman"/>
              </a:rPr>
              <a:t>3</a:t>
            </a:r>
            <a:r>
              <a:rPr sz="1200" b="1" spc="190" dirty="0">
                <a:latin typeface="Times New Roman"/>
                <a:cs typeface="Times New Roman"/>
              </a:rPr>
              <a:t> </a:t>
            </a:r>
            <a:r>
              <a:rPr sz="1200" b="1" dirty="0">
                <a:latin typeface="Times New Roman"/>
                <a:cs typeface="Times New Roman"/>
              </a:rPr>
              <a:t>prediction</a:t>
            </a:r>
            <a:r>
              <a:rPr sz="1200" b="1" spc="190" dirty="0">
                <a:latin typeface="Times New Roman"/>
                <a:cs typeface="Times New Roman"/>
              </a:rPr>
              <a:t> </a:t>
            </a:r>
            <a:r>
              <a:rPr sz="1200" b="1" dirty="0">
                <a:latin typeface="Times New Roman"/>
                <a:cs typeface="Times New Roman"/>
              </a:rPr>
              <a:t>of</a:t>
            </a:r>
            <a:r>
              <a:rPr sz="1200" b="1" spc="225" dirty="0">
                <a:latin typeface="Times New Roman"/>
                <a:cs typeface="Times New Roman"/>
              </a:rPr>
              <a:t> </a:t>
            </a:r>
            <a:r>
              <a:rPr sz="1200" b="1" dirty="0">
                <a:latin typeface="Times New Roman"/>
                <a:cs typeface="Times New Roman"/>
              </a:rPr>
              <a:t>LEA3</a:t>
            </a:r>
            <a:r>
              <a:rPr sz="1200" b="1" spc="190" dirty="0">
                <a:latin typeface="Times New Roman"/>
                <a:cs typeface="Times New Roman"/>
              </a:rPr>
              <a:t> </a:t>
            </a:r>
            <a:r>
              <a:rPr sz="1200" b="1" dirty="0">
                <a:latin typeface="Times New Roman"/>
                <a:cs typeface="Times New Roman"/>
              </a:rPr>
              <a:t>homo-tetramer</a:t>
            </a:r>
            <a:r>
              <a:rPr sz="1200" b="1" spc="190" dirty="0">
                <a:latin typeface="Times New Roman"/>
                <a:cs typeface="Times New Roman"/>
              </a:rPr>
              <a:t> </a:t>
            </a:r>
            <a:r>
              <a:rPr sz="1200" b="1" dirty="0">
                <a:latin typeface="Times New Roman"/>
                <a:cs typeface="Times New Roman"/>
              </a:rPr>
              <a:t>assemblies</a:t>
            </a:r>
            <a:r>
              <a:rPr sz="1200" dirty="0">
                <a:latin typeface="Times New Roman"/>
                <a:cs typeface="Times New Roman"/>
              </a:rPr>
              <a:t>.</a:t>
            </a:r>
            <a:r>
              <a:rPr sz="1200" spc="190" dirty="0">
                <a:latin typeface="Times New Roman"/>
                <a:cs typeface="Times New Roman"/>
              </a:rPr>
              <a:t> </a:t>
            </a:r>
            <a:r>
              <a:rPr sz="1200" dirty="0">
                <a:latin typeface="Times New Roman"/>
                <a:cs typeface="Times New Roman"/>
              </a:rPr>
              <a:t>Predicted</a:t>
            </a:r>
            <a:r>
              <a:rPr sz="1200" spc="190" dirty="0">
                <a:latin typeface="Times New Roman"/>
                <a:cs typeface="Times New Roman"/>
              </a:rPr>
              <a:t> </a:t>
            </a:r>
            <a:r>
              <a:rPr sz="1200" dirty="0">
                <a:latin typeface="Times New Roman"/>
                <a:cs typeface="Times New Roman"/>
              </a:rPr>
              <a:t>quaternary</a:t>
            </a:r>
            <a:r>
              <a:rPr sz="1200" spc="185" dirty="0">
                <a:latin typeface="Times New Roman"/>
                <a:cs typeface="Times New Roman"/>
              </a:rPr>
              <a:t> </a:t>
            </a:r>
            <a:r>
              <a:rPr sz="1200" dirty="0">
                <a:latin typeface="Times New Roman"/>
                <a:cs typeface="Times New Roman"/>
              </a:rPr>
              <a:t>structures</a:t>
            </a:r>
            <a:r>
              <a:rPr sz="1200" spc="190" dirty="0">
                <a:latin typeface="Times New Roman"/>
                <a:cs typeface="Times New Roman"/>
              </a:rPr>
              <a:t> </a:t>
            </a:r>
            <a:r>
              <a:rPr sz="1200" dirty="0">
                <a:latin typeface="Times New Roman"/>
                <a:cs typeface="Times New Roman"/>
              </a:rPr>
              <a:t>of</a:t>
            </a:r>
            <a:r>
              <a:rPr sz="1200" spc="220" dirty="0">
                <a:latin typeface="Times New Roman"/>
                <a:cs typeface="Times New Roman"/>
              </a:rPr>
              <a:t> </a:t>
            </a:r>
            <a:r>
              <a:rPr sz="1200" dirty="0">
                <a:latin typeface="Times New Roman"/>
                <a:cs typeface="Times New Roman"/>
              </a:rPr>
              <a:t>LEA3</a:t>
            </a:r>
            <a:r>
              <a:rPr sz="1200" spc="190" dirty="0">
                <a:latin typeface="Times New Roman"/>
                <a:cs typeface="Times New Roman"/>
              </a:rPr>
              <a:t> </a:t>
            </a:r>
            <a:r>
              <a:rPr sz="1200" dirty="0">
                <a:latin typeface="Times New Roman"/>
                <a:cs typeface="Times New Roman"/>
              </a:rPr>
              <a:t>homotetramers</a:t>
            </a:r>
            <a:r>
              <a:rPr sz="1200" spc="185" dirty="0">
                <a:latin typeface="Times New Roman"/>
                <a:cs typeface="Times New Roman"/>
              </a:rPr>
              <a:t> </a:t>
            </a:r>
            <a:r>
              <a:rPr sz="1200" dirty="0">
                <a:latin typeface="Times New Roman"/>
                <a:cs typeface="Times New Roman"/>
              </a:rPr>
              <a:t>for</a:t>
            </a:r>
            <a:r>
              <a:rPr sz="1200" spc="190" dirty="0">
                <a:latin typeface="Times New Roman"/>
                <a:cs typeface="Times New Roman"/>
              </a:rPr>
              <a:t> </a:t>
            </a:r>
            <a:r>
              <a:rPr sz="1200" b="1" dirty="0">
                <a:latin typeface="Times New Roman"/>
                <a:cs typeface="Times New Roman"/>
              </a:rPr>
              <a:t>(</a:t>
            </a:r>
            <a:r>
              <a:rPr lang="en-US" sz="1200" b="1" dirty="0">
                <a:latin typeface="Times New Roman"/>
                <a:cs typeface="Times New Roman"/>
              </a:rPr>
              <a:t>a</a:t>
            </a:r>
            <a:r>
              <a:rPr sz="1200" b="1" dirty="0">
                <a:latin typeface="Times New Roman"/>
                <a:cs typeface="Times New Roman"/>
              </a:rPr>
              <a:t>)</a:t>
            </a:r>
            <a:r>
              <a:rPr sz="1200" spc="190" dirty="0">
                <a:latin typeface="Times New Roman"/>
                <a:cs typeface="Times New Roman"/>
              </a:rPr>
              <a:t> </a:t>
            </a:r>
            <a:r>
              <a:rPr sz="1200" i="1" dirty="0">
                <a:latin typeface="Times New Roman"/>
                <a:cs typeface="Times New Roman"/>
              </a:rPr>
              <a:t>Zea</a:t>
            </a:r>
            <a:r>
              <a:rPr sz="1200" i="1" spc="185" dirty="0">
                <a:latin typeface="Times New Roman"/>
                <a:cs typeface="Times New Roman"/>
              </a:rPr>
              <a:t> </a:t>
            </a:r>
            <a:r>
              <a:rPr sz="1200" i="1" spc="-20" dirty="0">
                <a:latin typeface="Times New Roman"/>
                <a:cs typeface="Times New Roman"/>
              </a:rPr>
              <a:t>mays </a:t>
            </a:r>
            <a:r>
              <a:rPr sz="1200" dirty="0">
                <a:latin typeface="Times New Roman"/>
                <a:cs typeface="Times New Roman"/>
              </a:rPr>
              <a:t>and</a:t>
            </a:r>
            <a:r>
              <a:rPr sz="1200" spc="295" dirty="0">
                <a:latin typeface="Times New Roman"/>
                <a:cs typeface="Times New Roman"/>
              </a:rPr>
              <a:t> </a:t>
            </a:r>
            <a:r>
              <a:rPr sz="1200" b="1" dirty="0">
                <a:latin typeface="Times New Roman"/>
                <a:cs typeface="Times New Roman"/>
              </a:rPr>
              <a:t>(</a:t>
            </a:r>
            <a:r>
              <a:rPr lang="en-US" sz="1200" b="1" dirty="0">
                <a:latin typeface="Times New Roman"/>
                <a:cs typeface="Times New Roman"/>
              </a:rPr>
              <a:t>b</a:t>
            </a:r>
            <a:r>
              <a:rPr sz="1200" b="1" dirty="0">
                <a:latin typeface="Times New Roman"/>
                <a:cs typeface="Times New Roman"/>
              </a:rPr>
              <a:t>)</a:t>
            </a:r>
            <a:r>
              <a:rPr sz="1200" spc="290" dirty="0">
                <a:latin typeface="Times New Roman"/>
                <a:cs typeface="Times New Roman"/>
              </a:rPr>
              <a:t> </a:t>
            </a:r>
            <a:r>
              <a:rPr sz="1200" i="1" dirty="0">
                <a:latin typeface="Times New Roman"/>
                <a:cs typeface="Times New Roman"/>
              </a:rPr>
              <a:t>Tripsacum</a:t>
            </a:r>
            <a:r>
              <a:rPr sz="1200" i="1" spc="305" dirty="0">
                <a:latin typeface="Times New Roman"/>
                <a:cs typeface="Times New Roman"/>
              </a:rPr>
              <a:t> </a:t>
            </a:r>
            <a:r>
              <a:rPr sz="1200" i="1" dirty="0">
                <a:latin typeface="Times New Roman"/>
                <a:cs typeface="Times New Roman"/>
              </a:rPr>
              <a:t>dactyloides</a:t>
            </a:r>
            <a:r>
              <a:rPr sz="1200" dirty="0">
                <a:latin typeface="Times New Roman"/>
                <a:cs typeface="Times New Roman"/>
              </a:rPr>
              <a:t>.</a:t>
            </a:r>
            <a:r>
              <a:rPr sz="1200" spc="260" dirty="0">
                <a:latin typeface="Times New Roman"/>
                <a:cs typeface="Times New Roman"/>
              </a:rPr>
              <a:t> </a:t>
            </a:r>
            <a:r>
              <a:rPr sz="1200" dirty="0">
                <a:latin typeface="Times New Roman"/>
                <a:cs typeface="Times New Roman"/>
              </a:rPr>
              <a:t>Both</a:t>
            </a:r>
            <a:r>
              <a:rPr sz="1200" spc="280" dirty="0">
                <a:latin typeface="Times New Roman"/>
                <a:cs typeface="Times New Roman"/>
              </a:rPr>
              <a:t> </a:t>
            </a:r>
            <a:r>
              <a:rPr sz="1200" dirty="0">
                <a:latin typeface="Times New Roman"/>
                <a:cs typeface="Times New Roman"/>
              </a:rPr>
              <a:t>orthologs</a:t>
            </a:r>
            <a:r>
              <a:rPr sz="1200" spc="270" dirty="0">
                <a:latin typeface="Times New Roman"/>
                <a:cs typeface="Times New Roman"/>
              </a:rPr>
              <a:t> </a:t>
            </a:r>
            <a:r>
              <a:rPr sz="1200" dirty="0">
                <a:latin typeface="Times New Roman"/>
                <a:cs typeface="Times New Roman"/>
              </a:rPr>
              <a:t>are</a:t>
            </a:r>
            <a:r>
              <a:rPr sz="1200" spc="280" dirty="0">
                <a:latin typeface="Times New Roman"/>
                <a:cs typeface="Times New Roman"/>
              </a:rPr>
              <a:t> </a:t>
            </a:r>
            <a:r>
              <a:rPr sz="1200" dirty="0">
                <a:latin typeface="Times New Roman"/>
                <a:cs typeface="Times New Roman"/>
              </a:rPr>
              <a:t>predicted</a:t>
            </a:r>
            <a:r>
              <a:rPr sz="1200" spc="254" dirty="0">
                <a:latin typeface="Times New Roman"/>
                <a:cs typeface="Times New Roman"/>
              </a:rPr>
              <a:t> </a:t>
            </a:r>
            <a:r>
              <a:rPr sz="1200" dirty="0">
                <a:latin typeface="Times New Roman"/>
                <a:cs typeface="Times New Roman"/>
              </a:rPr>
              <a:t>to</a:t>
            </a:r>
            <a:r>
              <a:rPr sz="1200" spc="295" dirty="0">
                <a:latin typeface="Times New Roman"/>
                <a:cs typeface="Times New Roman"/>
              </a:rPr>
              <a:t> </a:t>
            </a:r>
            <a:r>
              <a:rPr sz="1200" dirty="0">
                <a:latin typeface="Times New Roman"/>
                <a:cs typeface="Times New Roman"/>
              </a:rPr>
              <a:t>form</a:t>
            </a:r>
            <a:r>
              <a:rPr sz="1200" spc="250" dirty="0">
                <a:latin typeface="Times New Roman"/>
                <a:cs typeface="Times New Roman"/>
              </a:rPr>
              <a:t> </a:t>
            </a:r>
            <a:r>
              <a:rPr sz="1200" dirty="0">
                <a:latin typeface="Times New Roman"/>
                <a:cs typeface="Times New Roman"/>
              </a:rPr>
              <a:t>tetrameric</a:t>
            </a:r>
            <a:r>
              <a:rPr sz="1200" spc="285" dirty="0">
                <a:latin typeface="Times New Roman"/>
                <a:cs typeface="Times New Roman"/>
              </a:rPr>
              <a:t> </a:t>
            </a:r>
            <a:r>
              <a:rPr sz="1200" dirty="0">
                <a:latin typeface="Times New Roman"/>
                <a:cs typeface="Times New Roman"/>
              </a:rPr>
              <a:t>assemblies.</a:t>
            </a:r>
            <a:r>
              <a:rPr sz="1200" spc="265" dirty="0">
                <a:latin typeface="Times New Roman"/>
                <a:cs typeface="Times New Roman"/>
              </a:rPr>
              <a:t> </a:t>
            </a:r>
            <a:r>
              <a:rPr sz="1200" dirty="0">
                <a:latin typeface="Times New Roman"/>
                <a:cs typeface="Times New Roman"/>
              </a:rPr>
              <a:t>Colors</a:t>
            </a:r>
            <a:r>
              <a:rPr sz="1200" spc="295" dirty="0">
                <a:latin typeface="Times New Roman"/>
                <a:cs typeface="Times New Roman"/>
              </a:rPr>
              <a:t> </a:t>
            </a:r>
            <a:r>
              <a:rPr sz="1200" dirty="0">
                <a:latin typeface="Times New Roman"/>
                <a:cs typeface="Times New Roman"/>
              </a:rPr>
              <a:t>indicate</a:t>
            </a:r>
            <a:r>
              <a:rPr sz="1200" spc="275" dirty="0">
                <a:latin typeface="Times New Roman"/>
                <a:cs typeface="Times New Roman"/>
              </a:rPr>
              <a:t> </a:t>
            </a:r>
            <a:r>
              <a:rPr sz="1200" dirty="0">
                <a:latin typeface="Times New Roman"/>
                <a:cs typeface="Times New Roman"/>
              </a:rPr>
              <a:t>per-residue</a:t>
            </a:r>
            <a:r>
              <a:rPr sz="1200" spc="250" dirty="0">
                <a:latin typeface="Times New Roman"/>
                <a:cs typeface="Times New Roman"/>
              </a:rPr>
              <a:t> </a:t>
            </a:r>
            <a:r>
              <a:rPr sz="1200" dirty="0">
                <a:latin typeface="Times New Roman"/>
                <a:cs typeface="Times New Roman"/>
              </a:rPr>
              <a:t>confidence</a:t>
            </a:r>
            <a:r>
              <a:rPr sz="1200" spc="254" dirty="0">
                <a:latin typeface="Times New Roman"/>
                <a:cs typeface="Times New Roman"/>
              </a:rPr>
              <a:t> </a:t>
            </a:r>
            <a:r>
              <a:rPr sz="1200" dirty="0">
                <a:latin typeface="Times New Roman"/>
                <a:cs typeface="Times New Roman"/>
              </a:rPr>
              <a:t>(pLDDT),</a:t>
            </a:r>
            <a:r>
              <a:rPr sz="1200" spc="290" dirty="0">
                <a:latin typeface="Times New Roman"/>
                <a:cs typeface="Times New Roman"/>
              </a:rPr>
              <a:t> </a:t>
            </a:r>
            <a:r>
              <a:rPr sz="1200" dirty="0">
                <a:latin typeface="Times New Roman"/>
                <a:cs typeface="Times New Roman"/>
              </a:rPr>
              <a:t>with</a:t>
            </a:r>
            <a:r>
              <a:rPr sz="1200" spc="265" dirty="0">
                <a:latin typeface="Times New Roman"/>
                <a:cs typeface="Times New Roman"/>
              </a:rPr>
              <a:t> </a:t>
            </a:r>
            <a:r>
              <a:rPr sz="1200" dirty="0">
                <a:latin typeface="Times New Roman"/>
                <a:cs typeface="Times New Roman"/>
              </a:rPr>
              <a:t>dark</a:t>
            </a:r>
            <a:r>
              <a:rPr sz="1200" spc="260" dirty="0">
                <a:latin typeface="Times New Roman"/>
                <a:cs typeface="Times New Roman"/>
              </a:rPr>
              <a:t> </a:t>
            </a:r>
            <a:r>
              <a:rPr sz="1200" spc="-10" dirty="0">
                <a:latin typeface="Times New Roman"/>
                <a:cs typeface="Times New Roman"/>
              </a:rPr>
              <a:t>blue/blue </a:t>
            </a:r>
            <a:r>
              <a:rPr sz="1200" dirty="0">
                <a:latin typeface="Times New Roman"/>
                <a:cs typeface="Times New Roman"/>
              </a:rPr>
              <a:t>representing</a:t>
            </a:r>
            <a:r>
              <a:rPr sz="1200" spc="254" dirty="0">
                <a:latin typeface="Times New Roman"/>
                <a:cs typeface="Times New Roman"/>
              </a:rPr>
              <a:t> </a:t>
            </a:r>
            <a:r>
              <a:rPr sz="1200" dirty="0">
                <a:latin typeface="Times New Roman"/>
                <a:cs typeface="Times New Roman"/>
              </a:rPr>
              <a:t>high</a:t>
            </a:r>
            <a:r>
              <a:rPr sz="1200" spc="210" dirty="0">
                <a:latin typeface="Times New Roman"/>
                <a:cs typeface="Times New Roman"/>
              </a:rPr>
              <a:t> </a:t>
            </a:r>
            <a:r>
              <a:rPr sz="1200" dirty="0">
                <a:latin typeface="Times New Roman"/>
                <a:cs typeface="Times New Roman"/>
              </a:rPr>
              <a:t>to</a:t>
            </a:r>
            <a:r>
              <a:rPr sz="1200" spc="240" dirty="0">
                <a:latin typeface="Times New Roman"/>
                <a:cs typeface="Times New Roman"/>
              </a:rPr>
              <a:t> </a:t>
            </a:r>
            <a:r>
              <a:rPr sz="1200" dirty="0">
                <a:latin typeface="Times New Roman"/>
                <a:cs typeface="Times New Roman"/>
              </a:rPr>
              <a:t>very</a:t>
            </a:r>
            <a:r>
              <a:rPr sz="1200" spc="204" dirty="0">
                <a:latin typeface="Times New Roman"/>
                <a:cs typeface="Times New Roman"/>
              </a:rPr>
              <a:t> </a:t>
            </a:r>
            <a:r>
              <a:rPr sz="1200" dirty="0">
                <a:latin typeface="Times New Roman"/>
                <a:cs typeface="Times New Roman"/>
              </a:rPr>
              <a:t>high</a:t>
            </a:r>
            <a:r>
              <a:rPr sz="1200" spc="210" dirty="0">
                <a:latin typeface="Times New Roman"/>
                <a:cs typeface="Times New Roman"/>
              </a:rPr>
              <a:t> </a:t>
            </a:r>
            <a:r>
              <a:rPr sz="1200" dirty="0">
                <a:latin typeface="Times New Roman"/>
                <a:cs typeface="Times New Roman"/>
              </a:rPr>
              <a:t>confidence.</a:t>
            </a:r>
            <a:r>
              <a:rPr sz="1200" spc="204" dirty="0">
                <a:latin typeface="Times New Roman"/>
                <a:cs typeface="Times New Roman"/>
              </a:rPr>
              <a:t> </a:t>
            </a:r>
            <a:r>
              <a:rPr sz="1200" dirty="0">
                <a:latin typeface="Times New Roman"/>
                <a:cs typeface="Times New Roman"/>
              </a:rPr>
              <a:t>The</a:t>
            </a:r>
            <a:r>
              <a:rPr sz="1200" spc="190" dirty="0">
                <a:latin typeface="Times New Roman"/>
                <a:cs typeface="Times New Roman"/>
              </a:rPr>
              <a:t> </a:t>
            </a:r>
            <a:r>
              <a:rPr sz="1200" i="1" dirty="0">
                <a:latin typeface="Times New Roman"/>
                <a:cs typeface="Times New Roman"/>
              </a:rPr>
              <a:t>Z.</a:t>
            </a:r>
            <a:r>
              <a:rPr sz="1200" i="1" spc="204" dirty="0">
                <a:latin typeface="Times New Roman"/>
                <a:cs typeface="Times New Roman"/>
              </a:rPr>
              <a:t> </a:t>
            </a:r>
            <a:r>
              <a:rPr sz="1200" i="1" dirty="0">
                <a:latin typeface="Times New Roman"/>
                <a:cs typeface="Times New Roman"/>
              </a:rPr>
              <a:t>mays</a:t>
            </a:r>
            <a:r>
              <a:rPr sz="1200" i="1" spc="254" dirty="0">
                <a:latin typeface="Times New Roman"/>
                <a:cs typeface="Times New Roman"/>
              </a:rPr>
              <a:t> </a:t>
            </a:r>
            <a:r>
              <a:rPr sz="1200" dirty="0">
                <a:latin typeface="Times New Roman"/>
                <a:cs typeface="Times New Roman"/>
              </a:rPr>
              <a:t>complex</a:t>
            </a:r>
            <a:r>
              <a:rPr sz="1200" spc="229" dirty="0">
                <a:latin typeface="Times New Roman"/>
                <a:cs typeface="Times New Roman"/>
              </a:rPr>
              <a:t> </a:t>
            </a:r>
            <a:r>
              <a:rPr sz="1200" dirty="0">
                <a:latin typeface="Times New Roman"/>
                <a:cs typeface="Times New Roman"/>
              </a:rPr>
              <a:t>displays</a:t>
            </a:r>
            <a:r>
              <a:rPr sz="1200" spc="240" dirty="0">
                <a:latin typeface="Times New Roman"/>
                <a:cs typeface="Times New Roman"/>
              </a:rPr>
              <a:t> </a:t>
            </a:r>
            <a:r>
              <a:rPr sz="1200" dirty="0">
                <a:latin typeface="Times New Roman"/>
                <a:cs typeface="Times New Roman"/>
              </a:rPr>
              <a:t>a</a:t>
            </a:r>
            <a:r>
              <a:rPr sz="1200" spc="220" dirty="0">
                <a:latin typeface="Times New Roman"/>
                <a:cs typeface="Times New Roman"/>
              </a:rPr>
              <a:t> </a:t>
            </a:r>
            <a:r>
              <a:rPr sz="1200" dirty="0">
                <a:latin typeface="Times New Roman"/>
                <a:cs typeface="Times New Roman"/>
              </a:rPr>
              <a:t>distinct</a:t>
            </a:r>
            <a:r>
              <a:rPr sz="1200" spc="204" dirty="0">
                <a:latin typeface="Times New Roman"/>
                <a:cs typeface="Times New Roman"/>
              </a:rPr>
              <a:t> </a:t>
            </a:r>
            <a:r>
              <a:rPr sz="1200" dirty="0">
                <a:latin typeface="Times New Roman"/>
                <a:cs typeface="Times New Roman"/>
              </a:rPr>
              <a:t>oligomeric</a:t>
            </a:r>
            <a:r>
              <a:rPr sz="1200" spc="195" dirty="0">
                <a:latin typeface="Times New Roman"/>
                <a:cs typeface="Times New Roman"/>
              </a:rPr>
              <a:t> </a:t>
            </a:r>
            <a:r>
              <a:rPr sz="1200" dirty="0">
                <a:latin typeface="Times New Roman"/>
                <a:cs typeface="Times New Roman"/>
              </a:rPr>
              <a:t>packing</a:t>
            </a:r>
            <a:r>
              <a:rPr sz="1200" spc="220" dirty="0">
                <a:latin typeface="Times New Roman"/>
                <a:cs typeface="Times New Roman"/>
              </a:rPr>
              <a:t> </a:t>
            </a:r>
            <a:r>
              <a:rPr sz="1200" dirty="0">
                <a:latin typeface="Times New Roman"/>
                <a:cs typeface="Times New Roman"/>
              </a:rPr>
              <a:t>arrangement</a:t>
            </a:r>
            <a:r>
              <a:rPr sz="1200" spc="200" dirty="0">
                <a:latin typeface="Times New Roman"/>
                <a:cs typeface="Times New Roman"/>
              </a:rPr>
              <a:t> </a:t>
            </a:r>
            <a:r>
              <a:rPr sz="1200" dirty="0">
                <a:latin typeface="Times New Roman"/>
                <a:cs typeface="Times New Roman"/>
              </a:rPr>
              <a:t>relative</a:t>
            </a:r>
            <a:r>
              <a:rPr sz="1200" spc="200" dirty="0">
                <a:latin typeface="Times New Roman"/>
                <a:cs typeface="Times New Roman"/>
              </a:rPr>
              <a:t> </a:t>
            </a:r>
            <a:r>
              <a:rPr sz="1200" dirty="0">
                <a:latin typeface="Times New Roman"/>
                <a:cs typeface="Times New Roman"/>
              </a:rPr>
              <a:t>to</a:t>
            </a:r>
            <a:r>
              <a:rPr sz="1200" spc="240" dirty="0">
                <a:latin typeface="Times New Roman"/>
                <a:cs typeface="Times New Roman"/>
              </a:rPr>
              <a:t> </a:t>
            </a:r>
            <a:r>
              <a:rPr sz="1200" i="1" dirty="0">
                <a:latin typeface="Times New Roman"/>
                <a:cs typeface="Times New Roman"/>
              </a:rPr>
              <a:t>Tripsacum</a:t>
            </a:r>
            <a:r>
              <a:rPr sz="1200" dirty="0">
                <a:latin typeface="Times New Roman"/>
                <a:cs typeface="Times New Roman"/>
              </a:rPr>
              <a:t>.</a:t>
            </a:r>
            <a:r>
              <a:rPr sz="1200" spc="210" dirty="0">
                <a:latin typeface="Times New Roman"/>
                <a:cs typeface="Times New Roman"/>
              </a:rPr>
              <a:t> </a:t>
            </a:r>
            <a:r>
              <a:rPr sz="1200" dirty="0">
                <a:latin typeface="Times New Roman"/>
                <a:cs typeface="Times New Roman"/>
              </a:rPr>
              <a:t>Predicted</a:t>
            </a:r>
            <a:r>
              <a:rPr sz="1200" spc="185" dirty="0">
                <a:latin typeface="Times New Roman"/>
                <a:cs typeface="Times New Roman"/>
              </a:rPr>
              <a:t> </a:t>
            </a:r>
            <a:r>
              <a:rPr sz="1200" dirty="0">
                <a:latin typeface="Times New Roman"/>
                <a:cs typeface="Times New Roman"/>
              </a:rPr>
              <a:t>Aligned</a:t>
            </a:r>
            <a:r>
              <a:rPr sz="1200" spc="220" dirty="0">
                <a:latin typeface="Times New Roman"/>
                <a:cs typeface="Times New Roman"/>
              </a:rPr>
              <a:t> </a:t>
            </a:r>
            <a:r>
              <a:rPr sz="1200" spc="-10" dirty="0">
                <a:latin typeface="Times New Roman"/>
                <a:cs typeface="Times New Roman"/>
              </a:rPr>
              <a:t>Error </a:t>
            </a:r>
            <a:r>
              <a:rPr sz="1200" dirty="0">
                <a:latin typeface="Times New Roman"/>
                <a:cs typeface="Times New Roman"/>
              </a:rPr>
              <a:t>(PAE)</a:t>
            </a:r>
            <a:r>
              <a:rPr sz="1200" spc="235" dirty="0">
                <a:latin typeface="Times New Roman"/>
                <a:cs typeface="Times New Roman"/>
              </a:rPr>
              <a:t> </a:t>
            </a:r>
            <a:r>
              <a:rPr sz="1200" dirty="0">
                <a:latin typeface="Times New Roman"/>
                <a:cs typeface="Times New Roman"/>
              </a:rPr>
              <a:t>plots.</a:t>
            </a:r>
            <a:r>
              <a:rPr sz="1200" spc="215" dirty="0">
                <a:latin typeface="Times New Roman"/>
                <a:cs typeface="Times New Roman"/>
              </a:rPr>
              <a:t> </a:t>
            </a:r>
            <a:r>
              <a:rPr sz="1200" dirty="0">
                <a:latin typeface="Times New Roman"/>
                <a:cs typeface="Times New Roman"/>
              </a:rPr>
              <a:t>Low</a:t>
            </a:r>
            <a:r>
              <a:rPr sz="1200" spc="200" dirty="0">
                <a:latin typeface="Times New Roman"/>
                <a:cs typeface="Times New Roman"/>
              </a:rPr>
              <a:t> </a:t>
            </a:r>
            <a:r>
              <a:rPr sz="1200" dirty="0">
                <a:latin typeface="Times New Roman"/>
                <a:cs typeface="Times New Roman"/>
              </a:rPr>
              <a:t>error</a:t>
            </a:r>
            <a:r>
              <a:rPr sz="1200" spc="240" dirty="0">
                <a:latin typeface="Times New Roman"/>
                <a:cs typeface="Times New Roman"/>
              </a:rPr>
              <a:t> </a:t>
            </a:r>
            <a:r>
              <a:rPr sz="1200" dirty="0">
                <a:latin typeface="Times New Roman"/>
                <a:cs typeface="Times New Roman"/>
              </a:rPr>
              <a:t>values</a:t>
            </a:r>
            <a:r>
              <a:rPr sz="1200" spc="235" dirty="0">
                <a:latin typeface="Times New Roman"/>
                <a:cs typeface="Times New Roman"/>
              </a:rPr>
              <a:t> </a:t>
            </a:r>
            <a:r>
              <a:rPr sz="1200" dirty="0">
                <a:latin typeface="Times New Roman"/>
                <a:cs typeface="Times New Roman"/>
              </a:rPr>
              <a:t>(dark</a:t>
            </a:r>
            <a:r>
              <a:rPr sz="1200" spc="235" dirty="0">
                <a:latin typeface="Times New Roman"/>
                <a:cs typeface="Times New Roman"/>
              </a:rPr>
              <a:t> </a:t>
            </a:r>
            <a:r>
              <a:rPr sz="1200" dirty="0">
                <a:latin typeface="Times New Roman"/>
                <a:cs typeface="Times New Roman"/>
              </a:rPr>
              <a:t>green)</a:t>
            </a:r>
            <a:r>
              <a:rPr sz="1200" spc="225" dirty="0">
                <a:latin typeface="Times New Roman"/>
                <a:cs typeface="Times New Roman"/>
              </a:rPr>
              <a:t> </a:t>
            </a:r>
            <a:r>
              <a:rPr sz="1200" dirty="0">
                <a:latin typeface="Times New Roman"/>
                <a:cs typeface="Times New Roman"/>
              </a:rPr>
              <a:t>in</a:t>
            </a:r>
            <a:r>
              <a:rPr sz="1200" spc="245" dirty="0">
                <a:latin typeface="Times New Roman"/>
                <a:cs typeface="Times New Roman"/>
              </a:rPr>
              <a:t> </a:t>
            </a:r>
            <a:r>
              <a:rPr sz="1200" dirty="0">
                <a:latin typeface="Times New Roman"/>
                <a:cs typeface="Times New Roman"/>
              </a:rPr>
              <a:t>the</a:t>
            </a:r>
            <a:r>
              <a:rPr sz="1200" spc="235" dirty="0">
                <a:latin typeface="Times New Roman"/>
                <a:cs typeface="Times New Roman"/>
              </a:rPr>
              <a:t> </a:t>
            </a:r>
            <a:r>
              <a:rPr sz="1200" dirty="0">
                <a:latin typeface="Times New Roman"/>
                <a:cs typeface="Times New Roman"/>
              </a:rPr>
              <a:t>off-diagonal</a:t>
            </a:r>
            <a:r>
              <a:rPr sz="1200" spc="195" dirty="0">
                <a:latin typeface="Times New Roman"/>
                <a:cs typeface="Times New Roman"/>
              </a:rPr>
              <a:t> </a:t>
            </a:r>
            <a:r>
              <a:rPr sz="1200" dirty="0">
                <a:latin typeface="Times New Roman"/>
                <a:cs typeface="Times New Roman"/>
              </a:rPr>
              <a:t>regions</a:t>
            </a:r>
            <a:r>
              <a:rPr sz="1200" spc="200" dirty="0">
                <a:latin typeface="Times New Roman"/>
                <a:cs typeface="Times New Roman"/>
              </a:rPr>
              <a:t> </a:t>
            </a:r>
            <a:r>
              <a:rPr sz="1200" dirty="0">
                <a:latin typeface="Times New Roman"/>
                <a:cs typeface="Times New Roman"/>
              </a:rPr>
              <a:t>confirm</a:t>
            </a:r>
            <a:r>
              <a:rPr sz="1200" spc="250" dirty="0">
                <a:latin typeface="Times New Roman"/>
                <a:cs typeface="Times New Roman"/>
              </a:rPr>
              <a:t> </a:t>
            </a:r>
            <a:r>
              <a:rPr sz="1200" dirty="0">
                <a:latin typeface="Times New Roman"/>
                <a:cs typeface="Times New Roman"/>
              </a:rPr>
              <a:t>high</a:t>
            </a:r>
            <a:r>
              <a:rPr sz="1200" spc="215" dirty="0">
                <a:latin typeface="Times New Roman"/>
                <a:cs typeface="Times New Roman"/>
              </a:rPr>
              <a:t> </a:t>
            </a:r>
            <a:r>
              <a:rPr sz="1200" dirty="0">
                <a:latin typeface="Times New Roman"/>
                <a:cs typeface="Times New Roman"/>
              </a:rPr>
              <a:t>confidence</a:t>
            </a:r>
            <a:r>
              <a:rPr sz="1200" spc="215" dirty="0">
                <a:latin typeface="Times New Roman"/>
                <a:cs typeface="Times New Roman"/>
              </a:rPr>
              <a:t> </a:t>
            </a:r>
            <a:r>
              <a:rPr sz="1200" dirty="0">
                <a:latin typeface="Times New Roman"/>
                <a:cs typeface="Times New Roman"/>
              </a:rPr>
              <a:t>in</a:t>
            </a:r>
            <a:r>
              <a:rPr sz="1200" spc="250" dirty="0">
                <a:latin typeface="Times New Roman"/>
                <a:cs typeface="Times New Roman"/>
              </a:rPr>
              <a:t> </a:t>
            </a:r>
            <a:r>
              <a:rPr sz="1200" dirty="0">
                <a:latin typeface="Times New Roman"/>
                <a:cs typeface="Times New Roman"/>
              </a:rPr>
              <a:t>the</a:t>
            </a:r>
            <a:r>
              <a:rPr sz="1200" spc="229" dirty="0">
                <a:latin typeface="Times New Roman"/>
                <a:cs typeface="Times New Roman"/>
              </a:rPr>
              <a:t> </a:t>
            </a:r>
            <a:r>
              <a:rPr sz="1200" dirty="0">
                <a:latin typeface="Times New Roman"/>
                <a:cs typeface="Times New Roman"/>
              </a:rPr>
              <a:t>relative</a:t>
            </a:r>
            <a:r>
              <a:rPr sz="1200" spc="210" dirty="0">
                <a:latin typeface="Times New Roman"/>
                <a:cs typeface="Times New Roman"/>
              </a:rPr>
              <a:t> </a:t>
            </a:r>
            <a:r>
              <a:rPr sz="1200" dirty="0">
                <a:latin typeface="Times New Roman"/>
                <a:cs typeface="Times New Roman"/>
              </a:rPr>
              <a:t>positioning</a:t>
            </a:r>
            <a:r>
              <a:rPr sz="1200" spc="220" dirty="0">
                <a:latin typeface="Times New Roman"/>
                <a:cs typeface="Times New Roman"/>
              </a:rPr>
              <a:t> </a:t>
            </a:r>
            <a:r>
              <a:rPr sz="1200" dirty="0">
                <a:latin typeface="Times New Roman"/>
                <a:cs typeface="Times New Roman"/>
              </a:rPr>
              <a:t>of</a:t>
            </a:r>
            <a:r>
              <a:rPr sz="1200" spc="190" dirty="0">
                <a:latin typeface="Times New Roman"/>
                <a:cs typeface="Times New Roman"/>
              </a:rPr>
              <a:t> </a:t>
            </a:r>
            <a:r>
              <a:rPr sz="1200" dirty="0">
                <a:latin typeface="Times New Roman"/>
                <a:cs typeface="Times New Roman"/>
              </a:rPr>
              <a:t>the</a:t>
            </a:r>
            <a:r>
              <a:rPr sz="1200" spc="235" dirty="0">
                <a:latin typeface="Times New Roman"/>
                <a:cs typeface="Times New Roman"/>
              </a:rPr>
              <a:t> </a:t>
            </a:r>
            <a:r>
              <a:rPr sz="1200" dirty="0">
                <a:latin typeface="Times New Roman"/>
                <a:cs typeface="Times New Roman"/>
              </a:rPr>
              <a:t>subunits,</a:t>
            </a:r>
            <a:r>
              <a:rPr sz="1200" spc="220" dirty="0">
                <a:latin typeface="Times New Roman"/>
                <a:cs typeface="Times New Roman"/>
              </a:rPr>
              <a:t> </a:t>
            </a:r>
            <a:r>
              <a:rPr sz="1200" dirty="0">
                <a:latin typeface="Times New Roman"/>
                <a:cs typeface="Times New Roman"/>
              </a:rPr>
              <a:t>validating</a:t>
            </a:r>
            <a:r>
              <a:rPr sz="1200" spc="235" dirty="0">
                <a:latin typeface="Times New Roman"/>
                <a:cs typeface="Times New Roman"/>
              </a:rPr>
              <a:t> </a:t>
            </a:r>
            <a:r>
              <a:rPr sz="1200" dirty="0">
                <a:latin typeface="Times New Roman"/>
                <a:cs typeface="Times New Roman"/>
              </a:rPr>
              <a:t>the</a:t>
            </a:r>
            <a:r>
              <a:rPr sz="1200" spc="229" dirty="0">
                <a:latin typeface="Times New Roman"/>
                <a:cs typeface="Times New Roman"/>
              </a:rPr>
              <a:t> </a:t>
            </a:r>
            <a:r>
              <a:rPr sz="1200" spc="-10" dirty="0">
                <a:latin typeface="Times New Roman"/>
                <a:cs typeface="Times New Roman"/>
              </a:rPr>
              <a:t>predicted </a:t>
            </a:r>
            <a:r>
              <a:rPr sz="1200" dirty="0">
                <a:latin typeface="Times New Roman"/>
                <a:cs typeface="Times New Roman"/>
              </a:rPr>
              <a:t>tetrameric</a:t>
            </a:r>
            <a:r>
              <a:rPr sz="1200" spc="114" dirty="0">
                <a:latin typeface="Times New Roman"/>
                <a:cs typeface="Times New Roman"/>
              </a:rPr>
              <a:t> </a:t>
            </a:r>
            <a:r>
              <a:rPr sz="1200" dirty="0">
                <a:latin typeface="Times New Roman"/>
                <a:cs typeface="Times New Roman"/>
              </a:rPr>
              <a:t>interfaces</a:t>
            </a:r>
            <a:r>
              <a:rPr sz="1200" spc="114" dirty="0">
                <a:latin typeface="Times New Roman"/>
                <a:cs typeface="Times New Roman"/>
              </a:rPr>
              <a:t> </a:t>
            </a:r>
            <a:r>
              <a:rPr sz="1200" dirty="0">
                <a:latin typeface="Times New Roman"/>
                <a:cs typeface="Times New Roman"/>
              </a:rPr>
              <a:t>for</a:t>
            </a:r>
            <a:r>
              <a:rPr sz="1200" spc="100" dirty="0">
                <a:latin typeface="Times New Roman"/>
                <a:cs typeface="Times New Roman"/>
              </a:rPr>
              <a:t> </a:t>
            </a:r>
            <a:r>
              <a:rPr sz="1200" dirty="0">
                <a:latin typeface="Times New Roman"/>
                <a:cs typeface="Times New Roman"/>
              </a:rPr>
              <a:t>both</a:t>
            </a:r>
            <a:r>
              <a:rPr sz="1200" spc="85" dirty="0">
                <a:latin typeface="Times New Roman"/>
                <a:cs typeface="Times New Roman"/>
              </a:rPr>
              <a:t> </a:t>
            </a:r>
            <a:r>
              <a:rPr sz="1200" spc="-10" dirty="0">
                <a:latin typeface="Times New Roman"/>
                <a:cs typeface="Times New Roman"/>
              </a:rPr>
              <a:t>species.</a:t>
            </a:r>
            <a:endParaRPr sz="1200" dirty="0">
              <a:latin typeface="Times New Roman"/>
              <a:cs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1994</TotalTime>
  <Words>1433</Words>
  <Application>Microsoft Macintosh PowerPoint</Application>
  <PresentationFormat>A4 Paper (210x297 mm)</PresentationFormat>
  <Paragraphs>63</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Elad Oren</cp:lastModifiedBy>
  <cp:revision>1</cp:revision>
  <dcterms:created xsi:type="dcterms:W3CDTF">2026-01-30T17:19:25Z</dcterms:created>
  <dcterms:modified xsi:type="dcterms:W3CDTF">2026-02-09T19:51:42Z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2025-04-27T00:00:00Z</vt:filetime>
  </property>
  <property fmtid="{D5CDD505-2E9C-101B-9397-08002B2CF9AE}" pid="3" name="LastSaved">
    <vt:filetime>2026-01-30T00:00:00Z</vt:filetime>
  </property>
  <property fmtid="{D5CDD505-2E9C-101B-9397-08002B2CF9AE}" pid="4" name="Producer">
    <vt:lpwstr>macOS Version 15.4.1 (Build 24E263) Quartz PDFContext</vt:lpwstr>
  </property>
</Properties>
</file>