
<file path=[Content_Types].xml><?xml version="1.0" encoding="utf-8"?>
<Types xmlns="http://schemas.openxmlformats.org/package/2006/content-types">
  <Default Extension="emf" ContentType="image/x-emf"/>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3"/>
  </p:notesMasterIdLst>
  <p:sldIdLst>
    <p:sldId id="262" r:id="rId2"/>
    <p:sldId id="256" r:id="rId3"/>
    <p:sldId id="260" r:id="rId4"/>
    <p:sldId id="263" r:id="rId5"/>
    <p:sldId id="266" r:id="rId6"/>
    <p:sldId id="264" r:id="rId7"/>
    <p:sldId id="257" r:id="rId8"/>
    <p:sldId id="258" r:id="rId9"/>
    <p:sldId id="265" r:id="rId10"/>
    <p:sldId id="259" r:id="rId11"/>
    <p:sldId id="261" r:id="rId12"/>
  </p:sldIdLst>
  <p:sldSz cx="9906000" cy="6858000" type="A4"/>
  <p:notesSz cx="9906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E3E0F3B-B79D-2444-8020-464DAEAA3BEE}" v="88" dt="2026-03-04T21:52:57.481"/>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618"/>
    <p:restoredTop sz="93638"/>
  </p:normalViewPr>
  <p:slideViewPr>
    <p:cSldViewPr>
      <p:cViewPr varScale="1">
        <p:scale>
          <a:sx n="113" d="100"/>
          <a:sy n="113" d="100"/>
        </p:scale>
        <p:origin x="1296" y="176"/>
      </p:cViewPr>
      <p:guideLst>
        <p:guide orient="horz" pos="2880"/>
        <p:guide pos="2160"/>
      </p:guideLst>
    </p:cSldViewPr>
  </p:slideViewPr>
  <p:notesTextViewPr>
    <p:cViewPr>
      <p:scale>
        <a:sx n="100" d="100"/>
        <a:sy n="100" d="100"/>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lad Oren" userId="211a55de1c355a5b" providerId="LiveId" clId="{D82687A4-6243-5AE4-AB01-541924923F2E}"/>
    <pc:docChg chg="undo redo custSel addSld delSld modSld sldOrd">
      <pc:chgData name="Elad Oren" userId="211a55de1c355a5b" providerId="LiveId" clId="{D82687A4-6243-5AE4-AB01-541924923F2E}" dt="2026-03-06T10:15:10.187" v="1080" actId="1076"/>
      <pc:docMkLst>
        <pc:docMk/>
      </pc:docMkLst>
      <pc:sldChg chg="addSp delSp modSp mod">
        <pc:chgData name="Elad Oren" userId="211a55de1c355a5b" providerId="LiveId" clId="{D82687A4-6243-5AE4-AB01-541924923F2E}" dt="2026-02-10T20:01:46.768" v="771" actId="14100"/>
        <pc:sldMkLst>
          <pc:docMk/>
          <pc:sldMk cId="0" sldId="256"/>
        </pc:sldMkLst>
        <pc:spChg chg="mod">
          <ac:chgData name="Elad Oren" userId="211a55de1c355a5b" providerId="LiveId" clId="{D82687A4-6243-5AE4-AB01-541924923F2E}" dt="2026-02-09T19:15:16.586" v="631" actId="20577"/>
          <ac:spMkLst>
            <pc:docMk/>
            <pc:sldMk cId="0" sldId="256"/>
            <ac:spMk id="121" creationId="{00000000-0000-0000-0000-000000000000}"/>
          </ac:spMkLst>
        </pc:spChg>
        <pc:picChg chg="add mod">
          <ac:chgData name="Elad Oren" userId="211a55de1c355a5b" providerId="LiveId" clId="{D82687A4-6243-5AE4-AB01-541924923F2E}" dt="2026-02-10T20:01:46.768" v="771" actId="14100"/>
          <ac:picMkLst>
            <pc:docMk/>
            <pc:sldMk cId="0" sldId="256"/>
            <ac:picMk id="4" creationId="{472B2883-E981-13ED-929C-48F64A6C3B49}"/>
          </ac:picMkLst>
        </pc:picChg>
      </pc:sldChg>
      <pc:sldChg chg="addSp delSp modSp mod ord">
        <pc:chgData name="Elad Oren" userId="211a55de1c355a5b" providerId="LiveId" clId="{D82687A4-6243-5AE4-AB01-541924923F2E}" dt="2026-03-06T10:15:10.187" v="1080" actId="1076"/>
        <pc:sldMkLst>
          <pc:docMk/>
          <pc:sldMk cId="0" sldId="257"/>
        </pc:sldMkLst>
        <pc:spChg chg="mod">
          <ac:chgData name="Elad Oren" userId="211a55de1c355a5b" providerId="LiveId" clId="{D82687A4-6243-5AE4-AB01-541924923F2E}" dt="2026-03-06T10:10:32.781" v="1065" actId="20577"/>
          <ac:spMkLst>
            <pc:docMk/>
            <pc:sldMk cId="0" sldId="257"/>
            <ac:spMk id="2" creationId="{00000000-0000-0000-0000-000000000000}"/>
          </ac:spMkLst>
        </pc:spChg>
        <pc:picChg chg="add del mod">
          <ac:chgData name="Elad Oren" userId="211a55de1c355a5b" providerId="LiveId" clId="{D82687A4-6243-5AE4-AB01-541924923F2E}" dt="2026-03-06T10:14:21.757" v="1066" actId="478"/>
          <ac:picMkLst>
            <pc:docMk/>
            <pc:sldMk cId="0" sldId="257"/>
            <ac:picMk id="3" creationId="{BFED2C21-1395-896A-3809-666A10FA6873}"/>
          </ac:picMkLst>
        </pc:picChg>
        <pc:picChg chg="add mod">
          <ac:chgData name="Elad Oren" userId="211a55de1c355a5b" providerId="LiveId" clId="{D82687A4-6243-5AE4-AB01-541924923F2E}" dt="2026-03-06T10:15:10.187" v="1080" actId="1076"/>
          <ac:picMkLst>
            <pc:docMk/>
            <pc:sldMk cId="0" sldId="257"/>
            <ac:picMk id="5" creationId="{EAC29886-E30A-9F5E-C2B6-6782390B5255}"/>
          </ac:picMkLst>
        </pc:picChg>
      </pc:sldChg>
      <pc:sldChg chg="addSp delSp modSp mod">
        <pc:chgData name="Elad Oren" userId="211a55de1c355a5b" providerId="LiveId" clId="{D82687A4-6243-5AE4-AB01-541924923F2E}" dt="2026-03-04T21:52:30.055" v="1048" actId="20577"/>
        <pc:sldMkLst>
          <pc:docMk/>
          <pc:sldMk cId="0" sldId="258"/>
        </pc:sldMkLst>
        <pc:spChg chg="mod">
          <ac:chgData name="Elad Oren" userId="211a55de1c355a5b" providerId="LiveId" clId="{D82687A4-6243-5AE4-AB01-541924923F2E}" dt="2026-03-04T21:52:30.055" v="1048" actId="20577"/>
          <ac:spMkLst>
            <pc:docMk/>
            <pc:sldMk cId="0" sldId="258"/>
            <ac:spMk id="3" creationId="{00000000-0000-0000-0000-000000000000}"/>
          </ac:spMkLst>
        </pc:spChg>
        <pc:picChg chg="add mod modCrop">
          <ac:chgData name="Elad Oren" userId="211a55de1c355a5b" providerId="LiveId" clId="{D82687A4-6243-5AE4-AB01-541924923F2E}" dt="2026-02-10T20:06:24.975" v="814" actId="12788"/>
          <ac:picMkLst>
            <pc:docMk/>
            <pc:sldMk cId="0" sldId="258"/>
            <ac:picMk id="2" creationId="{67814547-79F6-8123-4973-561687D987BA}"/>
          </ac:picMkLst>
        </pc:picChg>
      </pc:sldChg>
      <pc:sldChg chg="addSp delSp modSp mod">
        <pc:chgData name="Elad Oren" userId="211a55de1c355a5b" providerId="LiveId" clId="{D82687A4-6243-5AE4-AB01-541924923F2E}" dt="2026-03-04T21:52:37.932" v="1055" actId="20577"/>
        <pc:sldMkLst>
          <pc:docMk/>
          <pc:sldMk cId="0" sldId="259"/>
        </pc:sldMkLst>
        <pc:spChg chg="mod">
          <ac:chgData name="Elad Oren" userId="211a55de1c355a5b" providerId="LiveId" clId="{D82687A4-6243-5AE4-AB01-541924923F2E}" dt="2026-03-04T21:52:37.932" v="1055" actId="20577"/>
          <ac:spMkLst>
            <pc:docMk/>
            <pc:sldMk cId="0" sldId="259"/>
            <ac:spMk id="496" creationId="{00000000-0000-0000-0000-000000000000}"/>
          </ac:spMkLst>
        </pc:spChg>
        <pc:picChg chg="add mod">
          <ac:chgData name="Elad Oren" userId="211a55de1c355a5b" providerId="LiveId" clId="{D82687A4-6243-5AE4-AB01-541924923F2E}" dt="2026-02-16T16:47:39.481" v="830" actId="12788"/>
          <ac:picMkLst>
            <pc:docMk/>
            <pc:sldMk cId="0" sldId="259"/>
            <ac:picMk id="3" creationId="{AC7F87FF-441F-2F0D-EEF4-DD3BF6FB69AC}"/>
          </ac:picMkLst>
        </pc:picChg>
      </pc:sldChg>
      <pc:sldChg chg="addSp delSp modSp mod ord">
        <pc:chgData name="Elad Oren" userId="211a55de1c355a5b" providerId="LiveId" clId="{D82687A4-6243-5AE4-AB01-541924923F2E}" dt="2026-02-10T20:03:54.960" v="788" actId="1076"/>
        <pc:sldMkLst>
          <pc:docMk/>
          <pc:sldMk cId="0" sldId="260"/>
        </pc:sldMkLst>
        <pc:spChg chg="add mod">
          <ac:chgData name="Elad Oren" userId="211a55de1c355a5b" providerId="LiveId" clId="{D82687A4-6243-5AE4-AB01-541924923F2E}" dt="2026-02-09T19:44:12.593" v="756" actId="113"/>
          <ac:spMkLst>
            <pc:docMk/>
            <pc:sldMk cId="0" sldId="260"/>
            <ac:spMk id="105" creationId="{BBF6F442-0870-DEA0-1042-9A6FD4225154}"/>
          </ac:spMkLst>
        </pc:spChg>
        <pc:picChg chg="add mod">
          <ac:chgData name="Elad Oren" userId="211a55de1c355a5b" providerId="LiveId" clId="{D82687A4-6243-5AE4-AB01-541924923F2E}" dt="2026-02-10T20:03:54.960" v="788" actId="1076"/>
          <ac:picMkLst>
            <pc:docMk/>
            <pc:sldMk cId="0" sldId="260"/>
            <ac:picMk id="108" creationId="{19840D2C-4C98-E29E-7479-4B2868C16C91}"/>
          </ac:picMkLst>
        </pc:picChg>
      </pc:sldChg>
      <pc:sldChg chg="modSp mod">
        <pc:chgData name="Elad Oren" userId="211a55de1c355a5b" providerId="LiveId" clId="{D82687A4-6243-5AE4-AB01-541924923F2E}" dt="2026-03-04T21:52:41.062" v="1057" actId="20577"/>
        <pc:sldMkLst>
          <pc:docMk/>
          <pc:sldMk cId="0" sldId="261"/>
        </pc:sldMkLst>
        <pc:spChg chg="mod">
          <ac:chgData name="Elad Oren" userId="211a55de1c355a5b" providerId="LiveId" clId="{D82687A4-6243-5AE4-AB01-541924923F2E}" dt="2026-02-09T19:41:15.940" v="747" actId="20577"/>
          <ac:spMkLst>
            <pc:docMk/>
            <pc:sldMk cId="0" sldId="261"/>
            <ac:spMk id="13" creationId="{00000000-0000-0000-0000-000000000000}"/>
          </ac:spMkLst>
        </pc:spChg>
        <pc:spChg chg="mod">
          <ac:chgData name="Elad Oren" userId="211a55de1c355a5b" providerId="LiveId" clId="{D82687A4-6243-5AE4-AB01-541924923F2E}" dt="2026-02-09T19:41:18.491" v="749" actId="20577"/>
          <ac:spMkLst>
            <pc:docMk/>
            <pc:sldMk cId="0" sldId="261"/>
            <ac:spMk id="14" creationId="{00000000-0000-0000-0000-000000000000}"/>
          </ac:spMkLst>
        </pc:spChg>
        <pc:spChg chg="mod">
          <ac:chgData name="Elad Oren" userId="211a55de1c355a5b" providerId="LiveId" clId="{D82687A4-6243-5AE4-AB01-541924923F2E}" dt="2026-03-04T21:52:41.062" v="1057" actId="20577"/>
          <ac:spMkLst>
            <pc:docMk/>
            <pc:sldMk cId="0" sldId="261"/>
            <ac:spMk id="15" creationId="{00000000-0000-0000-0000-000000000000}"/>
          </ac:spMkLst>
        </pc:spChg>
      </pc:sldChg>
      <pc:sldChg chg="addSp delSp modSp mod ord">
        <pc:chgData name="Elad Oren" userId="211a55de1c355a5b" providerId="LiveId" clId="{D82687A4-6243-5AE4-AB01-541924923F2E}" dt="2026-02-09T19:12:15.816" v="610" actId="20577"/>
        <pc:sldMkLst>
          <pc:docMk/>
          <pc:sldMk cId="0" sldId="262"/>
        </pc:sldMkLst>
        <pc:spChg chg="mod">
          <ac:chgData name="Elad Oren" userId="211a55de1c355a5b" providerId="LiveId" clId="{D82687A4-6243-5AE4-AB01-541924923F2E}" dt="2026-02-09T18:25:33.487" v="583" actId="313"/>
          <ac:spMkLst>
            <pc:docMk/>
            <pc:sldMk cId="0" sldId="262"/>
            <ac:spMk id="20" creationId="{00000000-0000-0000-0000-000000000000}"/>
          </ac:spMkLst>
        </pc:spChg>
        <pc:spChg chg="mod">
          <ac:chgData name="Elad Oren" userId="211a55de1c355a5b" providerId="LiveId" clId="{D82687A4-6243-5AE4-AB01-541924923F2E}" dt="2026-02-09T19:01:26.938" v="589" actId="20577"/>
          <ac:spMkLst>
            <pc:docMk/>
            <pc:sldMk cId="0" sldId="262"/>
            <ac:spMk id="46" creationId="{00000000-0000-0000-0000-000000000000}"/>
          </ac:spMkLst>
        </pc:spChg>
        <pc:spChg chg="mod">
          <ac:chgData name="Elad Oren" userId="211a55de1c355a5b" providerId="LiveId" clId="{D82687A4-6243-5AE4-AB01-541924923F2E}" dt="2026-02-09T19:01:30.455" v="590" actId="20577"/>
          <ac:spMkLst>
            <pc:docMk/>
            <pc:sldMk cId="0" sldId="262"/>
            <ac:spMk id="47" creationId="{00000000-0000-0000-0000-000000000000}"/>
          </ac:spMkLst>
        </pc:spChg>
        <pc:spChg chg="mod">
          <ac:chgData name="Elad Oren" userId="211a55de1c355a5b" providerId="LiveId" clId="{D82687A4-6243-5AE4-AB01-541924923F2E}" dt="2026-02-09T19:01:32.817" v="591" actId="20577"/>
          <ac:spMkLst>
            <pc:docMk/>
            <pc:sldMk cId="0" sldId="262"/>
            <ac:spMk id="48" creationId="{00000000-0000-0000-0000-000000000000}"/>
          </ac:spMkLst>
        </pc:spChg>
        <pc:spChg chg="mod">
          <ac:chgData name="Elad Oren" userId="211a55de1c355a5b" providerId="LiveId" clId="{D82687A4-6243-5AE4-AB01-541924923F2E}" dt="2026-02-09T19:01:35.842" v="592" actId="20577"/>
          <ac:spMkLst>
            <pc:docMk/>
            <pc:sldMk cId="0" sldId="262"/>
            <ac:spMk id="50" creationId="{00000000-0000-0000-0000-000000000000}"/>
          </ac:spMkLst>
        </pc:spChg>
        <pc:spChg chg="mod">
          <ac:chgData name="Elad Oren" userId="211a55de1c355a5b" providerId="LiveId" clId="{D82687A4-6243-5AE4-AB01-541924923F2E}" dt="2026-02-09T19:12:15.816" v="610" actId="20577"/>
          <ac:spMkLst>
            <pc:docMk/>
            <pc:sldMk cId="0" sldId="262"/>
            <ac:spMk id="51" creationId="{00000000-0000-0000-0000-000000000000}"/>
          </ac:spMkLst>
        </pc:spChg>
        <pc:spChg chg="add mod">
          <ac:chgData name="Elad Oren" userId="211a55de1c355a5b" providerId="LiveId" clId="{D82687A4-6243-5AE4-AB01-541924923F2E}" dt="2026-02-09T19:02:33.515" v="598" actId="20577"/>
          <ac:spMkLst>
            <pc:docMk/>
            <pc:sldMk cId="0" sldId="262"/>
            <ac:spMk id="69" creationId="{8A5C3169-23BF-FBFD-BAA6-92A51D6AE6A6}"/>
          </ac:spMkLst>
        </pc:spChg>
      </pc:sldChg>
      <pc:sldChg chg="addSp delSp modSp new mod">
        <pc:chgData name="Elad Oren" userId="211a55de1c355a5b" providerId="LiveId" clId="{D82687A4-6243-5AE4-AB01-541924923F2E}" dt="2026-02-10T20:04:22.252" v="791" actId="14100"/>
        <pc:sldMkLst>
          <pc:docMk/>
          <pc:sldMk cId="2979531068" sldId="263"/>
        </pc:sldMkLst>
        <pc:spChg chg="add mod">
          <ac:chgData name="Elad Oren" userId="211a55de1c355a5b" providerId="LiveId" clId="{D82687A4-6243-5AE4-AB01-541924923F2E}" dt="2026-02-09T19:21:43.533" v="638" actId="20577"/>
          <ac:spMkLst>
            <pc:docMk/>
            <pc:sldMk cId="2979531068" sldId="263"/>
            <ac:spMk id="4" creationId="{175B270B-4AE4-CE14-64F7-24761B2ED590}"/>
          </ac:spMkLst>
        </pc:spChg>
        <pc:picChg chg="add mod">
          <ac:chgData name="Elad Oren" userId="211a55de1c355a5b" providerId="LiveId" clId="{D82687A4-6243-5AE4-AB01-541924923F2E}" dt="2026-02-10T20:04:22.252" v="791" actId="14100"/>
          <ac:picMkLst>
            <pc:docMk/>
            <pc:sldMk cId="2979531068" sldId="263"/>
            <ac:picMk id="2" creationId="{DDD25754-1BC2-5353-3A35-C484B9B58D02}"/>
          </ac:picMkLst>
        </pc:picChg>
      </pc:sldChg>
      <pc:sldChg chg="addSp delSp modSp new add del mod ord">
        <pc:chgData name="Elad Oren" userId="211a55de1c355a5b" providerId="LiveId" clId="{D82687A4-6243-5AE4-AB01-541924923F2E}" dt="2026-03-04T21:52:20.993" v="1044" actId="20577"/>
        <pc:sldMkLst>
          <pc:docMk/>
          <pc:sldMk cId="1471013447" sldId="264"/>
        </pc:sldMkLst>
        <pc:spChg chg="add mod">
          <ac:chgData name="Elad Oren" userId="211a55de1c355a5b" providerId="LiveId" clId="{D82687A4-6243-5AE4-AB01-541924923F2E}" dt="2026-03-04T21:52:20.993" v="1044" actId="20577"/>
          <ac:spMkLst>
            <pc:docMk/>
            <pc:sldMk cId="1471013447" sldId="264"/>
            <ac:spMk id="4" creationId="{2E327A7B-68BA-B258-FEBE-0C356B3FA440}"/>
          </ac:spMkLst>
        </pc:spChg>
        <pc:picChg chg="add mod">
          <ac:chgData name="Elad Oren" userId="211a55de1c355a5b" providerId="LiveId" clId="{D82687A4-6243-5AE4-AB01-541924923F2E}" dt="2026-02-10T20:05:03.006" v="799" actId="1076"/>
          <ac:picMkLst>
            <pc:docMk/>
            <pc:sldMk cId="1471013447" sldId="264"/>
            <ac:picMk id="2" creationId="{64A11078-78A4-3A51-8F2D-58318850DAB0}"/>
          </ac:picMkLst>
        </pc:picChg>
      </pc:sldChg>
      <pc:sldChg chg="addSp delSp modSp new mod">
        <pc:chgData name="Elad Oren" userId="211a55de1c355a5b" providerId="LiveId" clId="{D82687A4-6243-5AE4-AB01-541924923F2E}" dt="2026-03-04T21:52:34.348" v="1052" actId="20577"/>
        <pc:sldMkLst>
          <pc:docMk/>
          <pc:sldMk cId="3279342236" sldId="265"/>
        </pc:sldMkLst>
        <pc:spChg chg="add mod">
          <ac:chgData name="Elad Oren" userId="211a55de1c355a5b" providerId="LiveId" clId="{D82687A4-6243-5AE4-AB01-541924923F2E}" dt="2026-03-04T21:52:34.348" v="1052" actId="20577"/>
          <ac:spMkLst>
            <pc:docMk/>
            <pc:sldMk cId="3279342236" sldId="265"/>
            <ac:spMk id="7" creationId="{67BD8C7C-B9F1-7AE4-114B-18CA2BF04D7E}"/>
          </ac:spMkLst>
        </pc:spChg>
        <pc:picChg chg="add mod">
          <ac:chgData name="Elad Oren" userId="211a55de1c355a5b" providerId="LiveId" clId="{D82687A4-6243-5AE4-AB01-541924923F2E}" dt="2026-02-17T07:37:38.683" v="943" actId="12788"/>
          <ac:picMkLst>
            <pc:docMk/>
            <pc:sldMk cId="3279342236" sldId="265"/>
            <ac:picMk id="3" creationId="{3FB849EB-68FE-50C5-9CCF-265AB0ADF286}"/>
          </ac:picMkLst>
        </pc:picChg>
      </pc:sldChg>
      <pc:sldChg chg="addSp delSp modSp new mod">
        <pc:chgData name="Elad Oren" userId="211a55de1c355a5b" providerId="LiveId" clId="{D82687A4-6243-5AE4-AB01-541924923F2E}" dt="2026-03-04T21:52:51.465" v="1062" actId="1038"/>
        <pc:sldMkLst>
          <pc:docMk/>
          <pc:sldMk cId="2927330293" sldId="266"/>
        </pc:sldMkLst>
        <pc:spChg chg="add mod">
          <ac:chgData name="Elad Oren" userId="211a55de1c355a5b" providerId="LiveId" clId="{D82687A4-6243-5AE4-AB01-541924923F2E}" dt="2026-03-04T21:52:51.465" v="1062" actId="1038"/>
          <ac:spMkLst>
            <pc:docMk/>
            <pc:sldMk cId="2927330293" sldId="266"/>
            <ac:spMk id="6" creationId="{0D8356EF-70B3-8A8C-6B10-EB5EC3E55B77}"/>
          </ac:spMkLst>
        </pc:spChg>
        <pc:picChg chg="add mod">
          <ac:chgData name="Elad Oren" userId="211a55de1c355a5b" providerId="LiveId" clId="{D82687A4-6243-5AE4-AB01-541924923F2E}" dt="2026-03-04T21:49:57.396" v="1024" actId="1076"/>
          <ac:picMkLst>
            <pc:docMk/>
            <pc:sldMk cId="2927330293" sldId="266"/>
            <ac:picMk id="8" creationId="{6DF1C239-1661-8DD5-BEDB-7C0E084A5DA2}"/>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292600" cy="344488"/>
          </a:xfrm>
          <a:prstGeom prst="rect">
            <a:avLst/>
          </a:prstGeom>
        </p:spPr>
        <p:txBody>
          <a:bodyPr vert="horz" lIns="91440" tIns="45720" rIns="91440" bIns="45720" rtlCol="0"/>
          <a:lstStyle>
            <a:lvl1pPr algn="l">
              <a:defRPr sz="1200"/>
            </a:lvl1pPr>
          </a:lstStyle>
          <a:p>
            <a:endParaRPr lang="en-IL"/>
          </a:p>
        </p:txBody>
      </p:sp>
      <p:sp>
        <p:nvSpPr>
          <p:cNvPr id="3" name="Date Placeholder 2"/>
          <p:cNvSpPr>
            <a:spLocks noGrp="1"/>
          </p:cNvSpPr>
          <p:nvPr>
            <p:ph type="dt" idx="1"/>
          </p:nvPr>
        </p:nvSpPr>
        <p:spPr>
          <a:xfrm>
            <a:off x="5611813" y="0"/>
            <a:ext cx="4292600" cy="344488"/>
          </a:xfrm>
          <a:prstGeom prst="rect">
            <a:avLst/>
          </a:prstGeom>
        </p:spPr>
        <p:txBody>
          <a:bodyPr vert="horz" lIns="91440" tIns="45720" rIns="91440" bIns="45720" rtlCol="0"/>
          <a:lstStyle>
            <a:lvl1pPr algn="r">
              <a:defRPr sz="1200"/>
            </a:lvl1pPr>
          </a:lstStyle>
          <a:p>
            <a:fld id="{C7B3804D-9B91-E44B-91EB-7247B239EA50}" type="datetimeFigureOut">
              <a:rPr lang="en-IL" smtClean="0"/>
              <a:t>06/03/2026</a:t>
            </a:fld>
            <a:endParaRPr lang="en-IL"/>
          </a:p>
        </p:txBody>
      </p:sp>
      <p:sp>
        <p:nvSpPr>
          <p:cNvPr id="4" name="Slide Image Placeholder 3"/>
          <p:cNvSpPr>
            <a:spLocks noGrp="1" noRot="1" noChangeAspect="1"/>
          </p:cNvSpPr>
          <p:nvPr>
            <p:ph type="sldImg" idx="2"/>
          </p:nvPr>
        </p:nvSpPr>
        <p:spPr>
          <a:xfrm>
            <a:off x="3281363" y="857250"/>
            <a:ext cx="3343275" cy="2314575"/>
          </a:xfrm>
          <a:prstGeom prst="rect">
            <a:avLst/>
          </a:prstGeom>
          <a:noFill/>
          <a:ln w="12700">
            <a:solidFill>
              <a:prstClr val="black"/>
            </a:solidFill>
          </a:ln>
        </p:spPr>
        <p:txBody>
          <a:bodyPr vert="horz" lIns="91440" tIns="45720" rIns="91440" bIns="45720" rtlCol="0" anchor="ctr"/>
          <a:lstStyle/>
          <a:p>
            <a:endParaRPr lang="en-IL"/>
          </a:p>
        </p:txBody>
      </p:sp>
      <p:sp>
        <p:nvSpPr>
          <p:cNvPr id="5" name="Notes Placeholder 4"/>
          <p:cNvSpPr>
            <a:spLocks noGrp="1"/>
          </p:cNvSpPr>
          <p:nvPr>
            <p:ph type="body" sz="quarter" idx="3"/>
          </p:nvPr>
        </p:nvSpPr>
        <p:spPr>
          <a:xfrm>
            <a:off x="990600" y="3300413"/>
            <a:ext cx="79248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6" name="Footer Placeholder 5"/>
          <p:cNvSpPr>
            <a:spLocks noGrp="1"/>
          </p:cNvSpPr>
          <p:nvPr>
            <p:ph type="ftr" sz="quarter" idx="4"/>
          </p:nvPr>
        </p:nvSpPr>
        <p:spPr>
          <a:xfrm>
            <a:off x="0" y="6513513"/>
            <a:ext cx="4292600" cy="344487"/>
          </a:xfrm>
          <a:prstGeom prst="rect">
            <a:avLst/>
          </a:prstGeom>
        </p:spPr>
        <p:txBody>
          <a:bodyPr vert="horz" lIns="91440" tIns="45720" rIns="91440" bIns="45720" rtlCol="0" anchor="b"/>
          <a:lstStyle>
            <a:lvl1pPr algn="l">
              <a:defRPr sz="1200"/>
            </a:lvl1pPr>
          </a:lstStyle>
          <a:p>
            <a:endParaRPr lang="en-IL"/>
          </a:p>
        </p:txBody>
      </p:sp>
      <p:sp>
        <p:nvSpPr>
          <p:cNvPr id="7" name="Slide Number Placeholder 6"/>
          <p:cNvSpPr>
            <a:spLocks noGrp="1"/>
          </p:cNvSpPr>
          <p:nvPr>
            <p:ph type="sldNum" sz="quarter" idx="5"/>
          </p:nvPr>
        </p:nvSpPr>
        <p:spPr>
          <a:xfrm>
            <a:off x="5611813" y="6513513"/>
            <a:ext cx="4292600" cy="344487"/>
          </a:xfrm>
          <a:prstGeom prst="rect">
            <a:avLst/>
          </a:prstGeom>
        </p:spPr>
        <p:txBody>
          <a:bodyPr vert="horz" lIns="91440" tIns="45720" rIns="91440" bIns="45720" rtlCol="0" anchor="b"/>
          <a:lstStyle>
            <a:lvl1pPr algn="r">
              <a:defRPr sz="1200"/>
            </a:lvl1pPr>
          </a:lstStyle>
          <a:p>
            <a:fld id="{B2030424-2981-A942-8E8A-F43C86421C52}" type="slidenum">
              <a:rPr lang="en-IL" smtClean="0"/>
              <a:t>‹#›</a:t>
            </a:fld>
            <a:endParaRPr lang="en-IL"/>
          </a:p>
        </p:txBody>
      </p:sp>
    </p:spTree>
    <p:extLst>
      <p:ext uri="{BB962C8B-B14F-4D97-AF65-F5344CB8AC3E}">
        <p14:creationId xmlns:p14="http://schemas.microsoft.com/office/powerpoint/2010/main" val="33235154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L"/>
          </a:p>
        </p:txBody>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B2030424-2981-A942-8E8A-F43C86421C52}" type="slidenum">
              <a:rPr lang="en-IL" smtClean="0"/>
              <a:t>11</a:t>
            </a:fld>
            <a:endParaRPr lang="en-IL"/>
          </a:p>
        </p:txBody>
      </p:sp>
    </p:spTree>
    <p:extLst>
      <p:ext uri="{BB962C8B-B14F-4D97-AF65-F5344CB8AC3E}">
        <p14:creationId xmlns:p14="http://schemas.microsoft.com/office/powerpoint/2010/main" val="801226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742950" y="2125980"/>
            <a:ext cx="84201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485900" y="3840480"/>
            <a:ext cx="69342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3/6/26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3/6/26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a:lvl1pPr>
          </a:lstStyle>
          <a:p>
            <a:endParaRPr/>
          </a:p>
        </p:txBody>
      </p:sp>
      <p:sp>
        <p:nvSpPr>
          <p:cNvPr id="3" name="Holder 3"/>
          <p:cNvSpPr>
            <a:spLocks noGrp="1"/>
          </p:cNvSpPr>
          <p:nvPr>
            <p:ph sz="half" idx="2"/>
          </p:nvPr>
        </p:nvSpPr>
        <p:spPr>
          <a:xfrm>
            <a:off x="495300" y="1577340"/>
            <a:ext cx="430911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5101590" y="1577340"/>
            <a:ext cx="430911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3/6/26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3/6/26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3/6/26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495300" y="274320"/>
            <a:ext cx="8915400" cy="10972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body" idx="1"/>
          </p:nvPr>
        </p:nvSpPr>
        <p:spPr>
          <a:xfrm>
            <a:off x="495300" y="1577340"/>
            <a:ext cx="89154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3368040" y="6377940"/>
            <a:ext cx="316992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95300" y="6377940"/>
            <a:ext cx="227838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3/6/26</a:t>
            </a:fld>
            <a:endParaRPr lang="en-US"/>
          </a:p>
        </p:txBody>
      </p:sp>
      <p:sp>
        <p:nvSpPr>
          <p:cNvPr id="6" name="Holder 6"/>
          <p:cNvSpPr>
            <a:spLocks noGrp="1"/>
          </p:cNvSpPr>
          <p:nvPr>
            <p:ph type="sldNum" sz="quarter" idx="7"/>
          </p:nvPr>
        </p:nvSpPr>
        <p:spPr>
          <a:xfrm>
            <a:off x="7132320" y="6377940"/>
            <a:ext cx="227838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jpg"/><Relationship Id="rId13" Type="http://schemas.openxmlformats.org/officeDocument/2006/relationships/image" Target="../media/image12.png"/><Relationship Id="rId3" Type="http://schemas.openxmlformats.org/officeDocument/2006/relationships/image" Target="../media/image2.jpg"/><Relationship Id="rId7" Type="http://schemas.openxmlformats.org/officeDocument/2006/relationships/image" Target="../media/image6.jpg"/><Relationship Id="rId12" Type="http://schemas.openxmlformats.org/officeDocument/2006/relationships/image" Target="../media/image11.jpg"/><Relationship Id="rId2" Type="http://schemas.openxmlformats.org/officeDocument/2006/relationships/image" Target="../media/image1.jpg"/><Relationship Id="rId16" Type="http://schemas.openxmlformats.org/officeDocument/2006/relationships/image" Target="../media/image15.png"/><Relationship Id="rId1" Type="http://schemas.openxmlformats.org/officeDocument/2006/relationships/slideLayout" Target="../slideLayouts/slideLayout5.xml"/><Relationship Id="rId6" Type="http://schemas.openxmlformats.org/officeDocument/2006/relationships/image" Target="../media/image5.jpg"/><Relationship Id="rId11" Type="http://schemas.openxmlformats.org/officeDocument/2006/relationships/image" Target="../media/image10.jpg"/><Relationship Id="rId5" Type="http://schemas.openxmlformats.org/officeDocument/2006/relationships/image" Target="../media/image4.jpg"/><Relationship Id="rId15" Type="http://schemas.openxmlformats.org/officeDocument/2006/relationships/image" Target="../media/image14.png"/><Relationship Id="rId10" Type="http://schemas.openxmlformats.org/officeDocument/2006/relationships/image" Target="../media/image9.jpg"/><Relationship Id="rId4" Type="http://schemas.openxmlformats.org/officeDocument/2006/relationships/image" Target="../media/image3.png"/><Relationship Id="rId9" Type="http://schemas.openxmlformats.org/officeDocument/2006/relationships/image" Target="../media/image8.jpg"/><Relationship Id="rId14" Type="http://schemas.openxmlformats.org/officeDocument/2006/relationships/image" Target="../media/image13.png"/></Relationships>
</file>

<file path=ppt/slides/_rels/slide2.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22.emf"/><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23.emf"/><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24.emf"/><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25.jpg"/><Relationship Id="rId7" Type="http://schemas.openxmlformats.org/officeDocument/2006/relationships/image" Target="../media/image29.png"/><Relationship Id="rId2" Type="http://schemas.openxmlformats.org/officeDocument/2006/relationships/notesSlide" Target="../notesSlides/notesSlide1.xml"/><Relationship Id="rId1" Type="http://schemas.openxmlformats.org/officeDocument/2006/relationships/slideLayout" Target="../slideLayouts/slideLayout5.xml"/><Relationship Id="rId6" Type="http://schemas.openxmlformats.org/officeDocument/2006/relationships/image" Target="../media/image28.jpg"/><Relationship Id="rId5" Type="http://schemas.openxmlformats.org/officeDocument/2006/relationships/image" Target="../media/image27.jpg"/><Relationship Id="rId4" Type="http://schemas.openxmlformats.org/officeDocument/2006/relationships/image" Target="../media/image26.jp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054590" y="2384067"/>
            <a:ext cx="796925" cy="222250"/>
          </a:xfrm>
          <a:prstGeom prst="rect">
            <a:avLst/>
          </a:prstGeom>
        </p:spPr>
        <p:txBody>
          <a:bodyPr vert="horz" wrap="square" lIns="0" tIns="17780" rIns="0" bIns="0" rtlCol="0">
            <a:spAutoFit/>
          </a:bodyPr>
          <a:lstStyle/>
          <a:p>
            <a:pPr marL="12700">
              <a:lnSpc>
                <a:spcPct val="100000"/>
              </a:lnSpc>
              <a:spcBef>
                <a:spcPts val="140"/>
              </a:spcBef>
            </a:pPr>
            <a:r>
              <a:rPr sz="1250" i="1" spc="-125" dirty="0">
                <a:latin typeface="Arial"/>
                <a:cs typeface="Arial"/>
              </a:rPr>
              <a:t>P.</a:t>
            </a:r>
            <a:r>
              <a:rPr sz="1250" i="1" spc="-75" dirty="0">
                <a:latin typeface="Arial"/>
                <a:cs typeface="Arial"/>
              </a:rPr>
              <a:t> </a:t>
            </a:r>
            <a:r>
              <a:rPr sz="1250" i="1" spc="-10" dirty="0">
                <a:latin typeface="Arial"/>
                <a:cs typeface="Arial"/>
              </a:rPr>
              <a:t>virgatum</a:t>
            </a:r>
            <a:endParaRPr sz="1250">
              <a:latin typeface="Arial"/>
              <a:cs typeface="Arial"/>
            </a:endParaRPr>
          </a:p>
        </p:txBody>
      </p:sp>
      <p:grpSp>
        <p:nvGrpSpPr>
          <p:cNvPr id="3" name="object 3"/>
          <p:cNvGrpSpPr/>
          <p:nvPr/>
        </p:nvGrpSpPr>
        <p:grpSpPr>
          <a:xfrm>
            <a:off x="6450418" y="2713168"/>
            <a:ext cx="1293495" cy="1724660"/>
            <a:chOff x="6450418" y="2713168"/>
            <a:chExt cx="1293495" cy="1724660"/>
          </a:xfrm>
        </p:grpSpPr>
        <p:pic>
          <p:nvPicPr>
            <p:cNvPr id="4" name="object 4"/>
            <p:cNvPicPr/>
            <p:nvPr/>
          </p:nvPicPr>
          <p:blipFill>
            <a:blip r:embed="rId2" cstate="print"/>
            <a:stretch>
              <a:fillRect/>
            </a:stretch>
          </p:blipFill>
          <p:spPr>
            <a:xfrm>
              <a:off x="6450418" y="2713168"/>
              <a:ext cx="1293056" cy="1724487"/>
            </a:xfrm>
            <a:prstGeom prst="rect">
              <a:avLst/>
            </a:prstGeom>
          </p:spPr>
        </p:pic>
        <p:sp>
          <p:nvSpPr>
            <p:cNvPr id="5" name="object 5"/>
            <p:cNvSpPr/>
            <p:nvPr/>
          </p:nvSpPr>
          <p:spPr>
            <a:xfrm>
              <a:off x="7594847" y="2832069"/>
              <a:ext cx="35560" cy="0"/>
            </a:xfrm>
            <a:custGeom>
              <a:avLst/>
              <a:gdLst/>
              <a:ahLst/>
              <a:cxnLst/>
              <a:rect l="l" t="t" r="r" b="b"/>
              <a:pathLst>
                <a:path w="35559">
                  <a:moveTo>
                    <a:pt x="0" y="0"/>
                  </a:moveTo>
                  <a:lnTo>
                    <a:pt x="35092" y="0"/>
                  </a:lnTo>
                </a:path>
              </a:pathLst>
            </a:custGeom>
            <a:ln w="30963">
              <a:solidFill>
                <a:srgbClr val="000000"/>
              </a:solidFill>
            </a:ln>
          </p:spPr>
          <p:txBody>
            <a:bodyPr wrap="square" lIns="0" tIns="0" rIns="0" bIns="0" rtlCol="0"/>
            <a:lstStyle/>
            <a:p>
              <a:endParaRPr/>
            </a:p>
          </p:txBody>
        </p:sp>
      </p:grpSp>
      <p:grpSp>
        <p:nvGrpSpPr>
          <p:cNvPr id="6" name="object 6"/>
          <p:cNvGrpSpPr/>
          <p:nvPr/>
        </p:nvGrpSpPr>
        <p:grpSpPr>
          <a:xfrm>
            <a:off x="5038460" y="2713168"/>
            <a:ext cx="1293495" cy="1724660"/>
            <a:chOff x="5038460" y="2713168"/>
            <a:chExt cx="1293495" cy="1724660"/>
          </a:xfrm>
        </p:grpSpPr>
        <p:pic>
          <p:nvPicPr>
            <p:cNvPr id="7" name="object 7"/>
            <p:cNvPicPr/>
            <p:nvPr/>
          </p:nvPicPr>
          <p:blipFill>
            <a:blip r:embed="rId3" cstate="print"/>
            <a:stretch>
              <a:fillRect/>
            </a:stretch>
          </p:blipFill>
          <p:spPr>
            <a:xfrm>
              <a:off x="5038460" y="2713168"/>
              <a:ext cx="1293056" cy="1724487"/>
            </a:xfrm>
            <a:prstGeom prst="rect">
              <a:avLst/>
            </a:prstGeom>
          </p:spPr>
        </p:pic>
        <p:pic>
          <p:nvPicPr>
            <p:cNvPr id="8" name="object 8"/>
            <p:cNvPicPr/>
            <p:nvPr/>
          </p:nvPicPr>
          <p:blipFill>
            <a:blip r:embed="rId4" cstate="print"/>
            <a:stretch>
              <a:fillRect/>
            </a:stretch>
          </p:blipFill>
          <p:spPr>
            <a:xfrm>
              <a:off x="5552978" y="4177455"/>
              <a:ext cx="81538" cy="85667"/>
            </a:xfrm>
            <a:prstGeom prst="rect">
              <a:avLst/>
            </a:prstGeom>
          </p:spPr>
        </p:pic>
        <p:sp>
          <p:nvSpPr>
            <p:cNvPr id="9" name="object 9"/>
            <p:cNvSpPr/>
            <p:nvPr/>
          </p:nvSpPr>
          <p:spPr>
            <a:xfrm>
              <a:off x="5135068" y="2839501"/>
              <a:ext cx="50165" cy="0"/>
            </a:xfrm>
            <a:custGeom>
              <a:avLst/>
              <a:gdLst/>
              <a:ahLst/>
              <a:cxnLst/>
              <a:rect l="l" t="t" r="r" b="b"/>
              <a:pathLst>
                <a:path w="50164">
                  <a:moveTo>
                    <a:pt x="0" y="0"/>
                  </a:moveTo>
                  <a:lnTo>
                    <a:pt x="49748" y="0"/>
                  </a:lnTo>
                </a:path>
              </a:pathLst>
            </a:custGeom>
            <a:ln w="30963">
              <a:solidFill>
                <a:srgbClr val="000000"/>
              </a:solidFill>
            </a:ln>
          </p:spPr>
          <p:txBody>
            <a:bodyPr wrap="square" lIns="0" tIns="0" rIns="0" bIns="0" rtlCol="0"/>
            <a:lstStyle/>
            <a:p>
              <a:endParaRPr/>
            </a:p>
          </p:txBody>
        </p:sp>
      </p:grpSp>
      <p:sp>
        <p:nvSpPr>
          <p:cNvPr id="10" name="object 10"/>
          <p:cNvSpPr txBox="1"/>
          <p:nvPr/>
        </p:nvSpPr>
        <p:spPr>
          <a:xfrm>
            <a:off x="5376066" y="4480453"/>
            <a:ext cx="1954530" cy="222250"/>
          </a:xfrm>
          <a:prstGeom prst="rect">
            <a:avLst/>
          </a:prstGeom>
        </p:spPr>
        <p:txBody>
          <a:bodyPr vert="horz" wrap="square" lIns="0" tIns="17780" rIns="0" bIns="0" rtlCol="0">
            <a:spAutoFit/>
          </a:bodyPr>
          <a:lstStyle/>
          <a:p>
            <a:pPr marL="12700">
              <a:lnSpc>
                <a:spcPct val="100000"/>
              </a:lnSpc>
              <a:spcBef>
                <a:spcPts val="140"/>
              </a:spcBef>
              <a:tabLst>
                <a:tab pos="1500505" algn="l"/>
              </a:tabLst>
            </a:pPr>
            <a:r>
              <a:rPr sz="1875" spc="-15" baseline="2222" dirty="0">
                <a:latin typeface="Arial"/>
                <a:cs typeface="Arial"/>
              </a:rPr>
              <a:t>summer</a:t>
            </a:r>
            <a:r>
              <a:rPr sz="1875" baseline="2222" dirty="0">
                <a:latin typeface="Arial"/>
                <a:cs typeface="Arial"/>
              </a:rPr>
              <a:t>	</a:t>
            </a:r>
            <a:r>
              <a:rPr sz="1250" spc="-10" dirty="0">
                <a:latin typeface="Arial"/>
                <a:cs typeface="Arial"/>
              </a:rPr>
              <a:t>winter</a:t>
            </a:r>
            <a:endParaRPr sz="1250">
              <a:latin typeface="Arial"/>
              <a:cs typeface="Arial"/>
            </a:endParaRPr>
          </a:p>
        </p:txBody>
      </p:sp>
      <p:sp>
        <p:nvSpPr>
          <p:cNvPr id="11" name="object 11"/>
          <p:cNvSpPr txBox="1"/>
          <p:nvPr/>
        </p:nvSpPr>
        <p:spPr>
          <a:xfrm>
            <a:off x="4434348" y="21618"/>
            <a:ext cx="971550" cy="222250"/>
          </a:xfrm>
          <a:prstGeom prst="rect">
            <a:avLst/>
          </a:prstGeom>
        </p:spPr>
        <p:txBody>
          <a:bodyPr vert="horz" wrap="square" lIns="0" tIns="17780" rIns="0" bIns="0" rtlCol="0">
            <a:spAutoFit/>
          </a:bodyPr>
          <a:lstStyle/>
          <a:p>
            <a:pPr marL="12700">
              <a:lnSpc>
                <a:spcPct val="100000"/>
              </a:lnSpc>
              <a:spcBef>
                <a:spcPts val="140"/>
              </a:spcBef>
            </a:pPr>
            <a:r>
              <a:rPr sz="1250" i="1" dirty="0">
                <a:latin typeface="Arial"/>
                <a:cs typeface="Arial"/>
              </a:rPr>
              <a:t>M.</a:t>
            </a:r>
            <a:r>
              <a:rPr sz="1250" i="1" spc="70" dirty="0">
                <a:latin typeface="Arial"/>
                <a:cs typeface="Arial"/>
              </a:rPr>
              <a:t> </a:t>
            </a:r>
            <a:r>
              <a:rPr sz="1250" i="1" spc="-10" dirty="0">
                <a:latin typeface="Arial"/>
                <a:cs typeface="Arial"/>
              </a:rPr>
              <a:t>giganteus</a:t>
            </a:r>
            <a:endParaRPr sz="1250">
              <a:latin typeface="Arial"/>
              <a:cs typeface="Arial"/>
            </a:endParaRPr>
          </a:p>
        </p:txBody>
      </p:sp>
      <p:grpSp>
        <p:nvGrpSpPr>
          <p:cNvPr id="12" name="object 12"/>
          <p:cNvGrpSpPr/>
          <p:nvPr/>
        </p:nvGrpSpPr>
        <p:grpSpPr>
          <a:xfrm>
            <a:off x="3507601" y="349377"/>
            <a:ext cx="1285875" cy="1717675"/>
            <a:chOff x="3507601" y="349377"/>
            <a:chExt cx="1285875" cy="1717675"/>
          </a:xfrm>
        </p:grpSpPr>
        <p:pic>
          <p:nvPicPr>
            <p:cNvPr id="13" name="object 13"/>
            <p:cNvPicPr/>
            <p:nvPr/>
          </p:nvPicPr>
          <p:blipFill>
            <a:blip r:embed="rId5" cstate="print"/>
            <a:stretch>
              <a:fillRect/>
            </a:stretch>
          </p:blipFill>
          <p:spPr>
            <a:xfrm>
              <a:off x="3507601" y="349377"/>
              <a:ext cx="1285624" cy="1717056"/>
            </a:xfrm>
            <a:prstGeom prst="rect">
              <a:avLst/>
            </a:prstGeom>
          </p:spPr>
        </p:pic>
        <p:sp>
          <p:nvSpPr>
            <p:cNvPr id="14" name="object 14"/>
            <p:cNvSpPr/>
            <p:nvPr/>
          </p:nvSpPr>
          <p:spPr>
            <a:xfrm>
              <a:off x="4689186" y="2006982"/>
              <a:ext cx="52705" cy="0"/>
            </a:xfrm>
            <a:custGeom>
              <a:avLst/>
              <a:gdLst/>
              <a:ahLst/>
              <a:cxnLst/>
              <a:rect l="l" t="t" r="r" b="b"/>
              <a:pathLst>
                <a:path w="52704">
                  <a:moveTo>
                    <a:pt x="0" y="0"/>
                  </a:moveTo>
                  <a:lnTo>
                    <a:pt x="52638" y="0"/>
                  </a:lnTo>
                </a:path>
              </a:pathLst>
            </a:custGeom>
            <a:ln w="30963">
              <a:solidFill>
                <a:srgbClr val="000000"/>
              </a:solidFill>
            </a:ln>
          </p:spPr>
          <p:txBody>
            <a:bodyPr wrap="square" lIns="0" tIns="0" rIns="0" bIns="0" rtlCol="0"/>
            <a:lstStyle/>
            <a:p>
              <a:endParaRPr/>
            </a:p>
          </p:txBody>
        </p:sp>
      </p:grpSp>
      <p:grpSp>
        <p:nvGrpSpPr>
          <p:cNvPr id="15" name="object 15"/>
          <p:cNvGrpSpPr/>
          <p:nvPr/>
        </p:nvGrpSpPr>
        <p:grpSpPr>
          <a:xfrm>
            <a:off x="4919559" y="349377"/>
            <a:ext cx="1285875" cy="1717675"/>
            <a:chOff x="4919559" y="349377"/>
            <a:chExt cx="1285875" cy="1717675"/>
          </a:xfrm>
        </p:grpSpPr>
        <p:pic>
          <p:nvPicPr>
            <p:cNvPr id="16" name="object 16"/>
            <p:cNvPicPr/>
            <p:nvPr/>
          </p:nvPicPr>
          <p:blipFill>
            <a:blip r:embed="rId6" cstate="print"/>
            <a:stretch>
              <a:fillRect/>
            </a:stretch>
          </p:blipFill>
          <p:spPr>
            <a:xfrm>
              <a:off x="4919559" y="349377"/>
              <a:ext cx="1285624" cy="1717056"/>
            </a:xfrm>
            <a:prstGeom prst="rect">
              <a:avLst/>
            </a:prstGeom>
          </p:spPr>
        </p:pic>
        <p:sp>
          <p:nvSpPr>
            <p:cNvPr id="17" name="object 17"/>
            <p:cNvSpPr/>
            <p:nvPr/>
          </p:nvSpPr>
          <p:spPr>
            <a:xfrm>
              <a:off x="6093713" y="2021845"/>
              <a:ext cx="35560" cy="0"/>
            </a:xfrm>
            <a:custGeom>
              <a:avLst/>
              <a:gdLst/>
              <a:ahLst/>
              <a:cxnLst/>
              <a:rect l="l" t="t" r="r" b="b"/>
              <a:pathLst>
                <a:path w="35560">
                  <a:moveTo>
                    <a:pt x="0" y="0"/>
                  </a:moveTo>
                  <a:lnTo>
                    <a:pt x="35092" y="0"/>
                  </a:lnTo>
                </a:path>
              </a:pathLst>
            </a:custGeom>
            <a:ln w="30963">
              <a:solidFill>
                <a:srgbClr val="000000"/>
              </a:solidFill>
            </a:ln>
          </p:spPr>
          <p:txBody>
            <a:bodyPr wrap="square" lIns="0" tIns="0" rIns="0" bIns="0" rtlCol="0"/>
            <a:lstStyle/>
            <a:p>
              <a:endParaRPr/>
            </a:p>
          </p:txBody>
        </p:sp>
      </p:grpSp>
      <p:sp>
        <p:nvSpPr>
          <p:cNvPr id="18" name="object 18"/>
          <p:cNvSpPr txBox="1"/>
          <p:nvPr/>
        </p:nvSpPr>
        <p:spPr>
          <a:xfrm>
            <a:off x="3851605" y="2111687"/>
            <a:ext cx="622300" cy="222250"/>
          </a:xfrm>
          <a:prstGeom prst="rect">
            <a:avLst/>
          </a:prstGeom>
        </p:spPr>
        <p:txBody>
          <a:bodyPr vert="horz" wrap="square" lIns="0" tIns="17780" rIns="0" bIns="0" rtlCol="0">
            <a:spAutoFit/>
          </a:bodyPr>
          <a:lstStyle/>
          <a:p>
            <a:pPr marL="12700">
              <a:lnSpc>
                <a:spcPct val="100000"/>
              </a:lnSpc>
              <a:spcBef>
                <a:spcPts val="140"/>
              </a:spcBef>
            </a:pPr>
            <a:r>
              <a:rPr sz="1250" spc="-10" dirty="0">
                <a:latin typeface="Arial"/>
                <a:cs typeface="Arial"/>
              </a:rPr>
              <a:t>summer</a:t>
            </a:r>
            <a:endParaRPr sz="1250">
              <a:latin typeface="Arial"/>
              <a:cs typeface="Arial"/>
            </a:endParaRPr>
          </a:p>
        </p:txBody>
      </p:sp>
      <p:sp>
        <p:nvSpPr>
          <p:cNvPr id="19" name="object 19"/>
          <p:cNvSpPr txBox="1"/>
          <p:nvPr/>
        </p:nvSpPr>
        <p:spPr>
          <a:xfrm>
            <a:off x="5342522" y="2115197"/>
            <a:ext cx="466090" cy="222250"/>
          </a:xfrm>
          <a:prstGeom prst="rect">
            <a:avLst/>
          </a:prstGeom>
        </p:spPr>
        <p:txBody>
          <a:bodyPr vert="horz" wrap="square" lIns="0" tIns="17780" rIns="0" bIns="0" rtlCol="0">
            <a:spAutoFit/>
          </a:bodyPr>
          <a:lstStyle/>
          <a:p>
            <a:pPr marL="12700">
              <a:lnSpc>
                <a:spcPct val="100000"/>
              </a:lnSpc>
              <a:spcBef>
                <a:spcPts val="140"/>
              </a:spcBef>
            </a:pPr>
            <a:r>
              <a:rPr sz="1250" spc="-10" dirty="0">
                <a:latin typeface="Arial"/>
                <a:cs typeface="Arial"/>
              </a:rPr>
              <a:t>winter</a:t>
            </a:r>
            <a:endParaRPr sz="1250">
              <a:latin typeface="Arial"/>
              <a:cs typeface="Arial"/>
            </a:endParaRPr>
          </a:p>
        </p:txBody>
      </p:sp>
      <p:sp>
        <p:nvSpPr>
          <p:cNvPr id="20" name="object 20"/>
          <p:cNvSpPr txBox="1"/>
          <p:nvPr/>
        </p:nvSpPr>
        <p:spPr>
          <a:xfrm>
            <a:off x="1403592" y="21618"/>
            <a:ext cx="853440" cy="210314"/>
          </a:xfrm>
          <a:prstGeom prst="rect">
            <a:avLst/>
          </a:prstGeom>
        </p:spPr>
        <p:txBody>
          <a:bodyPr vert="horz" wrap="square" lIns="0" tIns="17780" rIns="0" bIns="0" rtlCol="0">
            <a:spAutoFit/>
          </a:bodyPr>
          <a:lstStyle/>
          <a:p>
            <a:pPr marL="12700">
              <a:lnSpc>
                <a:spcPct val="100000"/>
              </a:lnSpc>
              <a:spcBef>
                <a:spcPts val="140"/>
              </a:spcBef>
            </a:pPr>
            <a:r>
              <a:rPr sz="1250" i="1" dirty="0">
                <a:latin typeface="Arial"/>
                <a:cs typeface="Arial"/>
              </a:rPr>
              <a:t>A.</a:t>
            </a:r>
            <a:r>
              <a:rPr sz="1250" i="1" spc="150" dirty="0">
                <a:latin typeface="Arial"/>
                <a:cs typeface="Arial"/>
              </a:rPr>
              <a:t>  </a:t>
            </a:r>
            <a:r>
              <a:rPr lang="en-US" sz="1250" i="1" spc="-10" dirty="0">
                <a:latin typeface="Arial"/>
                <a:cs typeface="Arial"/>
              </a:rPr>
              <a:t>gerardi</a:t>
            </a:r>
            <a:endParaRPr sz="1250" dirty="0">
              <a:latin typeface="Arial"/>
              <a:cs typeface="Arial"/>
            </a:endParaRPr>
          </a:p>
        </p:txBody>
      </p:sp>
      <p:grpSp>
        <p:nvGrpSpPr>
          <p:cNvPr id="21" name="object 21"/>
          <p:cNvGrpSpPr/>
          <p:nvPr/>
        </p:nvGrpSpPr>
        <p:grpSpPr>
          <a:xfrm>
            <a:off x="416156" y="349377"/>
            <a:ext cx="1293495" cy="1717675"/>
            <a:chOff x="416156" y="349377"/>
            <a:chExt cx="1293495" cy="1717675"/>
          </a:xfrm>
        </p:grpSpPr>
        <p:pic>
          <p:nvPicPr>
            <p:cNvPr id="22" name="object 22"/>
            <p:cNvPicPr/>
            <p:nvPr/>
          </p:nvPicPr>
          <p:blipFill>
            <a:blip r:embed="rId7" cstate="print"/>
            <a:stretch>
              <a:fillRect/>
            </a:stretch>
          </p:blipFill>
          <p:spPr>
            <a:xfrm>
              <a:off x="416156" y="349377"/>
              <a:ext cx="1293056" cy="1717056"/>
            </a:xfrm>
            <a:prstGeom prst="rect">
              <a:avLst/>
            </a:prstGeom>
          </p:spPr>
        </p:pic>
        <p:sp>
          <p:nvSpPr>
            <p:cNvPr id="23" name="object 23"/>
            <p:cNvSpPr/>
            <p:nvPr/>
          </p:nvSpPr>
          <p:spPr>
            <a:xfrm>
              <a:off x="490469" y="2021845"/>
              <a:ext cx="102870" cy="0"/>
            </a:xfrm>
            <a:custGeom>
              <a:avLst/>
              <a:gdLst/>
              <a:ahLst/>
              <a:cxnLst/>
              <a:rect l="l" t="t" r="r" b="b"/>
              <a:pathLst>
                <a:path w="102870">
                  <a:moveTo>
                    <a:pt x="102377" y="0"/>
                  </a:moveTo>
                  <a:lnTo>
                    <a:pt x="0" y="0"/>
                  </a:lnTo>
                </a:path>
              </a:pathLst>
            </a:custGeom>
            <a:ln w="30963">
              <a:solidFill>
                <a:srgbClr val="000000"/>
              </a:solidFill>
            </a:ln>
          </p:spPr>
          <p:txBody>
            <a:bodyPr wrap="square" lIns="0" tIns="0" rIns="0" bIns="0" rtlCol="0"/>
            <a:lstStyle/>
            <a:p>
              <a:endParaRPr/>
            </a:p>
          </p:txBody>
        </p:sp>
      </p:grpSp>
      <p:grpSp>
        <p:nvGrpSpPr>
          <p:cNvPr id="24" name="object 24"/>
          <p:cNvGrpSpPr/>
          <p:nvPr/>
        </p:nvGrpSpPr>
        <p:grpSpPr>
          <a:xfrm>
            <a:off x="1828113" y="349377"/>
            <a:ext cx="1293495" cy="1717675"/>
            <a:chOff x="1828113" y="349377"/>
            <a:chExt cx="1293495" cy="1717675"/>
          </a:xfrm>
        </p:grpSpPr>
        <p:pic>
          <p:nvPicPr>
            <p:cNvPr id="25" name="object 25"/>
            <p:cNvPicPr/>
            <p:nvPr/>
          </p:nvPicPr>
          <p:blipFill>
            <a:blip r:embed="rId8" cstate="print"/>
            <a:stretch>
              <a:fillRect/>
            </a:stretch>
          </p:blipFill>
          <p:spPr>
            <a:xfrm>
              <a:off x="1828113" y="349377"/>
              <a:ext cx="1293056" cy="1717056"/>
            </a:xfrm>
            <a:prstGeom prst="rect">
              <a:avLst/>
            </a:prstGeom>
          </p:spPr>
        </p:pic>
        <p:sp>
          <p:nvSpPr>
            <p:cNvPr id="26" name="object 26"/>
            <p:cNvSpPr/>
            <p:nvPr/>
          </p:nvSpPr>
          <p:spPr>
            <a:xfrm>
              <a:off x="3024562" y="2021845"/>
              <a:ext cx="38100" cy="0"/>
            </a:xfrm>
            <a:custGeom>
              <a:avLst/>
              <a:gdLst/>
              <a:ahLst/>
              <a:cxnLst/>
              <a:rect l="l" t="t" r="r" b="b"/>
              <a:pathLst>
                <a:path w="38100">
                  <a:moveTo>
                    <a:pt x="0" y="0"/>
                  </a:moveTo>
                  <a:lnTo>
                    <a:pt x="37982" y="0"/>
                  </a:lnTo>
                </a:path>
              </a:pathLst>
            </a:custGeom>
            <a:ln w="30963">
              <a:solidFill>
                <a:srgbClr val="000000"/>
              </a:solidFill>
            </a:ln>
          </p:spPr>
          <p:txBody>
            <a:bodyPr wrap="square" lIns="0" tIns="0" rIns="0" bIns="0" rtlCol="0"/>
            <a:lstStyle/>
            <a:p>
              <a:endParaRPr/>
            </a:p>
          </p:txBody>
        </p:sp>
      </p:grpSp>
      <p:sp>
        <p:nvSpPr>
          <p:cNvPr id="27" name="object 27"/>
          <p:cNvSpPr txBox="1"/>
          <p:nvPr/>
        </p:nvSpPr>
        <p:spPr>
          <a:xfrm>
            <a:off x="788348" y="2114680"/>
            <a:ext cx="622300" cy="222250"/>
          </a:xfrm>
          <a:prstGeom prst="rect">
            <a:avLst/>
          </a:prstGeom>
        </p:spPr>
        <p:txBody>
          <a:bodyPr vert="horz" wrap="square" lIns="0" tIns="17780" rIns="0" bIns="0" rtlCol="0">
            <a:spAutoFit/>
          </a:bodyPr>
          <a:lstStyle/>
          <a:p>
            <a:pPr marL="12700">
              <a:lnSpc>
                <a:spcPct val="100000"/>
              </a:lnSpc>
              <a:spcBef>
                <a:spcPts val="140"/>
              </a:spcBef>
            </a:pPr>
            <a:r>
              <a:rPr sz="1250" spc="-10" dirty="0">
                <a:latin typeface="Arial"/>
                <a:cs typeface="Arial"/>
              </a:rPr>
              <a:t>summer</a:t>
            </a:r>
            <a:endParaRPr sz="1250">
              <a:latin typeface="Arial"/>
              <a:cs typeface="Arial"/>
            </a:endParaRPr>
          </a:p>
        </p:txBody>
      </p:sp>
      <p:sp>
        <p:nvSpPr>
          <p:cNvPr id="28" name="object 28"/>
          <p:cNvSpPr txBox="1"/>
          <p:nvPr/>
        </p:nvSpPr>
        <p:spPr>
          <a:xfrm>
            <a:off x="2279254" y="2116229"/>
            <a:ext cx="466725" cy="222250"/>
          </a:xfrm>
          <a:prstGeom prst="rect">
            <a:avLst/>
          </a:prstGeom>
        </p:spPr>
        <p:txBody>
          <a:bodyPr vert="horz" wrap="square" lIns="0" tIns="17780" rIns="0" bIns="0" rtlCol="0">
            <a:spAutoFit/>
          </a:bodyPr>
          <a:lstStyle/>
          <a:p>
            <a:pPr marL="12700">
              <a:lnSpc>
                <a:spcPct val="100000"/>
              </a:lnSpc>
              <a:spcBef>
                <a:spcPts val="140"/>
              </a:spcBef>
            </a:pPr>
            <a:r>
              <a:rPr sz="1250" spc="-10" dirty="0">
                <a:latin typeface="Arial"/>
                <a:cs typeface="Arial"/>
              </a:rPr>
              <a:t>winter</a:t>
            </a:r>
            <a:endParaRPr sz="1250">
              <a:latin typeface="Arial"/>
              <a:cs typeface="Arial"/>
            </a:endParaRPr>
          </a:p>
        </p:txBody>
      </p:sp>
      <p:grpSp>
        <p:nvGrpSpPr>
          <p:cNvPr id="29" name="object 29"/>
          <p:cNvGrpSpPr/>
          <p:nvPr/>
        </p:nvGrpSpPr>
        <p:grpSpPr>
          <a:xfrm>
            <a:off x="1976741" y="2728030"/>
            <a:ext cx="1293495" cy="1717675"/>
            <a:chOff x="1976741" y="2728030"/>
            <a:chExt cx="1293495" cy="1717675"/>
          </a:xfrm>
        </p:grpSpPr>
        <p:pic>
          <p:nvPicPr>
            <p:cNvPr id="30" name="object 30"/>
            <p:cNvPicPr/>
            <p:nvPr/>
          </p:nvPicPr>
          <p:blipFill>
            <a:blip r:embed="rId9" cstate="print"/>
            <a:stretch>
              <a:fillRect/>
            </a:stretch>
          </p:blipFill>
          <p:spPr>
            <a:xfrm>
              <a:off x="1976741" y="2728030"/>
              <a:ext cx="1293056" cy="1717056"/>
            </a:xfrm>
            <a:prstGeom prst="rect">
              <a:avLst/>
            </a:prstGeom>
          </p:spPr>
        </p:pic>
        <p:sp>
          <p:nvSpPr>
            <p:cNvPr id="31" name="object 31"/>
            <p:cNvSpPr/>
            <p:nvPr/>
          </p:nvSpPr>
          <p:spPr>
            <a:xfrm>
              <a:off x="2073348" y="4385636"/>
              <a:ext cx="50165" cy="0"/>
            </a:xfrm>
            <a:custGeom>
              <a:avLst/>
              <a:gdLst/>
              <a:ahLst/>
              <a:cxnLst/>
              <a:rect l="l" t="t" r="r" b="b"/>
              <a:pathLst>
                <a:path w="50164">
                  <a:moveTo>
                    <a:pt x="0" y="0"/>
                  </a:moveTo>
                  <a:lnTo>
                    <a:pt x="49748" y="0"/>
                  </a:lnTo>
                </a:path>
              </a:pathLst>
            </a:custGeom>
            <a:ln w="30963">
              <a:solidFill>
                <a:srgbClr val="000000"/>
              </a:solidFill>
            </a:ln>
          </p:spPr>
          <p:txBody>
            <a:bodyPr wrap="square" lIns="0" tIns="0" rIns="0" bIns="0" rtlCol="0"/>
            <a:lstStyle/>
            <a:p>
              <a:endParaRPr/>
            </a:p>
          </p:txBody>
        </p:sp>
      </p:grpSp>
      <p:grpSp>
        <p:nvGrpSpPr>
          <p:cNvPr id="32" name="object 32"/>
          <p:cNvGrpSpPr/>
          <p:nvPr/>
        </p:nvGrpSpPr>
        <p:grpSpPr>
          <a:xfrm>
            <a:off x="3366404" y="2728030"/>
            <a:ext cx="1293495" cy="1717675"/>
            <a:chOff x="3366404" y="2728030"/>
            <a:chExt cx="1293495" cy="1717675"/>
          </a:xfrm>
        </p:grpSpPr>
        <p:pic>
          <p:nvPicPr>
            <p:cNvPr id="33" name="object 33"/>
            <p:cNvPicPr/>
            <p:nvPr/>
          </p:nvPicPr>
          <p:blipFill>
            <a:blip r:embed="rId10" cstate="print"/>
            <a:stretch>
              <a:fillRect/>
            </a:stretch>
          </p:blipFill>
          <p:spPr>
            <a:xfrm>
              <a:off x="3366404" y="2728030"/>
              <a:ext cx="1293056" cy="1717056"/>
            </a:xfrm>
            <a:prstGeom prst="rect">
              <a:avLst/>
            </a:prstGeom>
          </p:spPr>
        </p:pic>
        <p:sp>
          <p:nvSpPr>
            <p:cNvPr id="34" name="object 34"/>
            <p:cNvSpPr/>
            <p:nvPr/>
          </p:nvSpPr>
          <p:spPr>
            <a:xfrm>
              <a:off x="4555422" y="4385636"/>
              <a:ext cx="50165" cy="0"/>
            </a:xfrm>
            <a:custGeom>
              <a:avLst/>
              <a:gdLst/>
              <a:ahLst/>
              <a:cxnLst/>
              <a:rect l="l" t="t" r="r" b="b"/>
              <a:pathLst>
                <a:path w="50164">
                  <a:moveTo>
                    <a:pt x="0" y="0"/>
                  </a:moveTo>
                  <a:lnTo>
                    <a:pt x="49748" y="0"/>
                  </a:lnTo>
                </a:path>
              </a:pathLst>
            </a:custGeom>
            <a:ln w="30963">
              <a:solidFill>
                <a:srgbClr val="000000"/>
              </a:solidFill>
            </a:ln>
          </p:spPr>
          <p:txBody>
            <a:bodyPr wrap="square" lIns="0" tIns="0" rIns="0" bIns="0" rtlCol="0"/>
            <a:lstStyle/>
            <a:p>
              <a:endParaRPr/>
            </a:p>
          </p:txBody>
        </p:sp>
      </p:grpSp>
      <p:sp>
        <p:nvSpPr>
          <p:cNvPr id="35" name="object 35"/>
          <p:cNvSpPr txBox="1"/>
          <p:nvPr/>
        </p:nvSpPr>
        <p:spPr>
          <a:xfrm>
            <a:off x="2871698" y="2373746"/>
            <a:ext cx="1003300" cy="222250"/>
          </a:xfrm>
          <a:prstGeom prst="rect">
            <a:avLst/>
          </a:prstGeom>
        </p:spPr>
        <p:txBody>
          <a:bodyPr vert="horz" wrap="square" lIns="0" tIns="17780" rIns="0" bIns="0" rtlCol="0">
            <a:spAutoFit/>
          </a:bodyPr>
          <a:lstStyle/>
          <a:p>
            <a:pPr marL="12700">
              <a:lnSpc>
                <a:spcPct val="100000"/>
              </a:lnSpc>
              <a:spcBef>
                <a:spcPts val="140"/>
              </a:spcBef>
            </a:pPr>
            <a:r>
              <a:rPr sz="1250" i="1" spc="-120" dirty="0">
                <a:latin typeface="Arial"/>
                <a:cs typeface="Arial"/>
              </a:rPr>
              <a:t>T.</a:t>
            </a:r>
            <a:r>
              <a:rPr sz="1250" i="1" spc="-60" dirty="0">
                <a:latin typeface="Arial"/>
                <a:cs typeface="Arial"/>
              </a:rPr>
              <a:t> </a:t>
            </a:r>
            <a:r>
              <a:rPr sz="1250" i="1" spc="-10" dirty="0">
                <a:latin typeface="Arial"/>
                <a:cs typeface="Arial"/>
              </a:rPr>
              <a:t>dactyloides</a:t>
            </a:r>
            <a:endParaRPr sz="1250" dirty="0">
              <a:latin typeface="Arial"/>
              <a:cs typeface="Arial"/>
            </a:endParaRPr>
          </a:p>
        </p:txBody>
      </p:sp>
      <p:sp>
        <p:nvSpPr>
          <p:cNvPr id="36" name="object 36"/>
          <p:cNvSpPr txBox="1"/>
          <p:nvPr/>
        </p:nvSpPr>
        <p:spPr>
          <a:xfrm>
            <a:off x="2318682" y="4495574"/>
            <a:ext cx="1955800" cy="222250"/>
          </a:xfrm>
          <a:prstGeom prst="rect">
            <a:avLst/>
          </a:prstGeom>
        </p:spPr>
        <p:txBody>
          <a:bodyPr vert="horz" wrap="square" lIns="0" tIns="17780" rIns="0" bIns="0" rtlCol="0">
            <a:spAutoFit/>
          </a:bodyPr>
          <a:lstStyle/>
          <a:p>
            <a:pPr marL="12700">
              <a:lnSpc>
                <a:spcPct val="100000"/>
              </a:lnSpc>
              <a:spcBef>
                <a:spcPts val="140"/>
              </a:spcBef>
              <a:tabLst>
                <a:tab pos="1500505" algn="l"/>
              </a:tabLst>
            </a:pPr>
            <a:r>
              <a:rPr sz="1875" spc="-15" baseline="2222" dirty="0">
                <a:latin typeface="Arial"/>
                <a:cs typeface="Arial"/>
              </a:rPr>
              <a:t>summer</a:t>
            </a:r>
            <a:r>
              <a:rPr sz="1875" baseline="2222" dirty="0">
                <a:latin typeface="Arial"/>
                <a:cs typeface="Arial"/>
              </a:rPr>
              <a:t>	</a:t>
            </a:r>
            <a:r>
              <a:rPr sz="1250" spc="-10" dirty="0">
                <a:latin typeface="Arial"/>
                <a:cs typeface="Arial"/>
              </a:rPr>
              <a:t>winter</a:t>
            </a:r>
            <a:endParaRPr sz="1250">
              <a:latin typeface="Arial"/>
              <a:cs typeface="Arial"/>
            </a:endParaRPr>
          </a:p>
        </p:txBody>
      </p:sp>
      <p:grpSp>
        <p:nvGrpSpPr>
          <p:cNvPr id="37" name="object 37"/>
          <p:cNvGrpSpPr/>
          <p:nvPr/>
        </p:nvGrpSpPr>
        <p:grpSpPr>
          <a:xfrm>
            <a:off x="6599046" y="349377"/>
            <a:ext cx="1285875" cy="1717675"/>
            <a:chOff x="6599046" y="349377"/>
            <a:chExt cx="1285875" cy="1717675"/>
          </a:xfrm>
        </p:grpSpPr>
        <p:pic>
          <p:nvPicPr>
            <p:cNvPr id="38" name="object 38"/>
            <p:cNvPicPr/>
            <p:nvPr/>
          </p:nvPicPr>
          <p:blipFill>
            <a:blip r:embed="rId11" cstate="print"/>
            <a:stretch>
              <a:fillRect/>
            </a:stretch>
          </p:blipFill>
          <p:spPr>
            <a:xfrm>
              <a:off x="6599046" y="349377"/>
              <a:ext cx="1285624" cy="1717056"/>
            </a:xfrm>
            <a:prstGeom prst="rect">
              <a:avLst/>
            </a:prstGeom>
          </p:spPr>
        </p:pic>
        <p:sp>
          <p:nvSpPr>
            <p:cNvPr id="39" name="object 39"/>
            <p:cNvSpPr/>
            <p:nvPr/>
          </p:nvSpPr>
          <p:spPr>
            <a:xfrm>
              <a:off x="6658496" y="2014413"/>
              <a:ext cx="52705" cy="0"/>
            </a:xfrm>
            <a:custGeom>
              <a:avLst/>
              <a:gdLst/>
              <a:ahLst/>
              <a:cxnLst/>
              <a:rect l="l" t="t" r="r" b="b"/>
              <a:pathLst>
                <a:path w="52704">
                  <a:moveTo>
                    <a:pt x="0" y="0"/>
                  </a:moveTo>
                  <a:lnTo>
                    <a:pt x="52638" y="0"/>
                  </a:lnTo>
                </a:path>
              </a:pathLst>
            </a:custGeom>
            <a:ln w="30963">
              <a:solidFill>
                <a:srgbClr val="000000"/>
              </a:solidFill>
            </a:ln>
          </p:spPr>
          <p:txBody>
            <a:bodyPr wrap="square" lIns="0" tIns="0" rIns="0" bIns="0" rtlCol="0"/>
            <a:lstStyle/>
            <a:p>
              <a:endParaRPr/>
            </a:p>
          </p:txBody>
        </p:sp>
      </p:grpSp>
      <p:sp>
        <p:nvSpPr>
          <p:cNvPr id="40" name="object 40"/>
          <p:cNvSpPr txBox="1"/>
          <p:nvPr/>
        </p:nvSpPr>
        <p:spPr>
          <a:xfrm>
            <a:off x="7651610" y="11090"/>
            <a:ext cx="725805" cy="222250"/>
          </a:xfrm>
          <a:prstGeom prst="rect">
            <a:avLst/>
          </a:prstGeom>
        </p:spPr>
        <p:txBody>
          <a:bodyPr vert="horz" wrap="square" lIns="0" tIns="17780" rIns="0" bIns="0" rtlCol="0">
            <a:spAutoFit/>
          </a:bodyPr>
          <a:lstStyle/>
          <a:p>
            <a:pPr marL="12700">
              <a:lnSpc>
                <a:spcPct val="100000"/>
              </a:lnSpc>
              <a:spcBef>
                <a:spcPts val="140"/>
              </a:spcBef>
            </a:pPr>
            <a:r>
              <a:rPr sz="1250" i="1" dirty="0">
                <a:latin typeface="Arial"/>
                <a:cs typeface="Arial"/>
              </a:rPr>
              <a:t>S.</a:t>
            </a:r>
            <a:r>
              <a:rPr sz="1250" i="1" spc="35" dirty="0">
                <a:latin typeface="Arial"/>
                <a:cs typeface="Arial"/>
              </a:rPr>
              <a:t> </a:t>
            </a:r>
            <a:r>
              <a:rPr sz="1250" i="1" spc="-10" dirty="0">
                <a:latin typeface="Arial"/>
                <a:cs typeface="Arial"/>
              </a:rPr>
              <a:t>nutans</a:t>
            </a:r>
            <a:endParaRPr sz="1250">
              <a:latin typeface="Arial"/>
              <a:cs typeface="Arial"/>
            </a:endParaRPr>
          </a:p>
        </p:txBody>
      </p:sp>
      <p:grpSp>
        <p:nvGrpSpPr>
          <p:cNvPr id="41" name="object 41"/>
          <p:cNvGrpSpPr/>
          <p:nvPr/>
        </p:nvGrpSpPr>
        <p:grpSpPr>
          <a:xfrm>
            <a:off x="8011004" y="349377"/>
            <a:ext cx="1285875" cy="1717675"/>
            <a:chOff x="8011004" y="349377"/>
            <a:chExt cx="1285875" cy="1717675"/>
          </a:xfrm>
        </p:grpSpPr>
        <p:pic>
          <p:nvPicPr>
            <p:cNvPr id="42" name="object 42"/>
            <p:cNvPicPr/>
            <p:nvPr/>
          </p:nvPicPr>
          <p:blipFill>
            <a:blip r:embed="rId12" cstate="print"/>
            <a:stretch>
              <a:fillRect/>
            </a:stretch>
          </p:blipFill>
          <p:spPr>
            <a:xfrm>
              <a:off x="8011004" y="349377"/>
              <a:ext cx="1285624" cy="1717056"/>
            </a:xfrm>
            <a:prstGeom prst="rect">
              <a:avLst/>
            </a:prstGeom>
          </p:spPr>
        </p:pic>
        <p:sp>
          <p:nvSpPr>
            <p:cNvPr id="43" name="object 43"/>
            <p:cNvSpPr/>
            <p:nvPr/>
          </p:nvSpPr>
          <p:spPr>
            <a:xfrm>
              <a:off x="8070454" y="2021845"/>
              <a:ext cx="35560" cy="0"/>
            </a:xfrm>
            <a:custGeom>
              <a:avLst/>
              <a:gdLst/>
              <a:ahLst/>
              <a:cxnLst/>
              <a:rect l="l" t="t" r="r" b="b"/>
              <a:pathLst>
                <a:path w="35559">
                  <a:moveTo>
                    <a:pt x="0" y="0"/>
                  </a:moveTo>
                  <a:lnTo>
                    <a:pt x="35092" y="0"/>
                  </a:lnTo>
                </a:path>
              </a:pathLst>
            </a:custGeom>
            <a:ln w="30963">
              <a:solidFill>
                <a:srgbClr val="000000"/>
              </a:solidFill>
            </a:ln>
          </p:spPr>
          <p:txBody>
            <a:bodyPr wrap="square" lIns="0" tIns="0" rIns="0" bIns="0" rtlCol="0"/>
            <a:lstStyle/>
            <a:p>
              <a:endParaRPr/>
            </a:p>
          </p:txBody>
        </p:sp>
      </p:grpSp>
      <p:sp>
        <p:nvSpPr>
          <p:cNvPr id="44" name="object 44"/>
          <p:cNvSpPr txBox="1"/>
          <p:nvPr/>
        </p:nvSpPr>
        <p:spPr>
          <a:xfrm>
            <a:off x="6953268" y="2117261"/>
            <a:ext cx="622300" cy="222250"/>
          </a:xfrm>
          <a:prstGeom prst="rect">
            <a:avLst/>
          </a:prstGeom>
        </p:spPr>
        <p:txBody>
          <a:bodyPr vert="horz" wrap="square" lIns="0" tIns="17780" rIns="0" bIns="0" rtlCol="0">
            <a:spAutoFit/>
          </a:bodyPr>
          <a:lstStyle/>
          <a:p>
            <a:pPr marL="12700">
              <a:lnSpc>
                <a:spcPct val="100000"/>
              </a:lnSpc>
              <a:spcBef>
                <a:spcPts val="140"/>
              </a:spcBef>
            </a:pPr>
            <a:r>
              <a:rPr sz="1250" spc="-10" dirty="0">
                <a:latin typeface="Arial"/>
                <a:cs typeface="Arial"/>
              </a:rPr>
              <a:t>summer</a:t>
            </a:r>
            <a:endParaRPr sz="1250">
              <a:latin typeface="Arial"/>
              <a:cs typeface="Arial"/>
            </a:endParaRPr>
          </a:p>
        </p:txBody>
      </p:sp>
      <p:sp>
        <p:nvSpPr>
          <p:cNvPr id="45" name="object 45"/>
          <p:cNvSpPr txBox="1"/>
          <p:nvPr/>
        </p:nvSpPr>
        <p:spPr>
          <a:xfrm>
            <a:off x="8444185" y="2110655"/>
            <a:ext cx="466725" cy="222250"/>
          </a:xfrm>
          <a:prstGeom prst="rect">
            <a:avLst/>
          </a:prstGeom>
        </p:spPr>
        <p:txBody>
          <a:bodyPr vert="horz" wrap="square" lIns="0" tIns="17780" rIns="0" bIns="0" rtlCol="0">
            <a:spAutoFit/>
          </a:bodyPr>
          <a:lstStyle/>
          <a:p>
            <a:pPr marL="12700">
              <a:lnSpc>
                <a:spcPct val="100000"/>
              </a:lnSpc>
              <a:spcBef>
                <a:spcPts val="140"/>
              </a:spcBef>
            </a:pPr>
            <a:r>
              <a:rPr sz="1250" spc="-10" dirty="0">
                <a:latin typeface="Arial"/>
                <a:cs typeface="Arial"/>
              </a:rPr>
              <a:t>winter</a:t>
            </a:r>
            <a:endParaRPr sz="1250">
              <a:latin typeface="Arial"/>
              <a:cs typeface="Arial"/>
            </a:endParaRPr>
          </a:p>
        </p:txBody>
      </p:sp>
      <p:sp>
        <p:nvSpPr>
          <p:cNvPr id="46" name="object 46"/>
          <p:cNvSpPr txBox="1"/>
          <p:nvPr/>
        </p:nvSpPr>
        <p:spPr>
          <a:xfrm>
            <a:off x="408585" y="1904"/>
            <a:ext cx="160020" cy="237886"/>
          </a:xfrm>
          <a:prstGeom prst="rect">
            <a:avLst/>
          </a:prstGeom>
        </p:spPr>
        <p:txBody>
          <a:bodyPr vert="horz" wrap="square" lIns="0" tIns="14605" rIns="0" bIns="0" rtlCol="0">
            <a:spAutoFit/>
          </a:bodyPr>
          <a:lstStyle/>
          <a:p>
            <a:pPr marL="12700">
              <a:lnSpc>
                <a:spcPct val="100000"/>
              </a:lnSpc>
              <a:spcBef>
                <a:spcPts val="115"/>
              </a:spcBef>
            </a:pPr>
            <a:r>
              <a:rPr lang="en-US" sz="1450" b="1" spc="-50" dirty="0">
                <a:latin typeface="Arial"/>
                <a:cs typeface="Arial"/>
              </a:rPr>
              <a:t>a</a:t>
            </a:r>
            <a:endParaRPr sz="1450" dirty="0">
              <a:latin typeface="Arial"/>
              <a:cs typeface="Arial"/>
            </a:endParaRPr>
          </a:p>
        </p:txBody>
      </p:sp>
      <p:sp>
        <p:nvSpPr>
          <p:cNvPr id="47" name="object 47"/>
          <p:cNvSpPr txBox="1"/>
          <p:nvPr/>
        </p:nvSpPr>
        <p:spPr>
          <a:xfrm>
            <a:off x="3561060" y="1904"/>
            <a:ext cx="160020" cy="237886"/>
          </a:xfrm>
          <a:prstGeom prst="rect">
            <a:avLst/>
          </a:prstGeom>
        </p:spPr>
        <p:txBody>
          <a:bodyPr vert="horz" wrap="square" lIns="0" tIns="14605" rIns="0" bIns="0" rtlCol="0">
            <a:spAutoFit/>
          </a:bodyPr>
          <a:lstStyle/>
          <a:p>
            <a:pPr marL="12700">
              <a:lnSpc>
                <a:spcPct val="100000"/>
              </a:lnSpc>
              <a:spcBef>
                <a:spcPts val="115"/>
              </a:spcBef>
            </a:pPr>
            <a:r>
              <a:rPr lang="en-US" sz="1450" b="1" spc="-50" dirty="0">
                <a:latin typeface="Arial"/>
                <a:cs typeface="Arial"/>
              </a:rPr>
              <a:t>b</a:t>
            </a:r>
            <a:endParaRPr sz="1450" dirty="0">
              <a:latin typeface="Arial"/>
              <a:cs typeface="Arial"/>
            </a:endParaRPr>
          </a:p>
        </p:txBody>
      </p:sp>
      <p:sp>
        <p:nvSpPr>
          <p:cNvPr id="48" name="object 48"/>
          <p:cNvSpPr txBox="1"/>
          <p:nvPr/>
        </p:nvSpPr>
        <p:spPr>
          <a:xfrm>
            <a:off x="6646519" y="1904"/>
            <a:ext cx="160020" cy="237886"/>
          </a:xfrm>
          <a:prstGeom prst="rect">
            <a:avLst/>
          </a:prstGeom>
        </p:spPr>
        <p:txBody>
          <a:bodyPr vert="horz" wrap="square" lIns="0" tIns="14605" rIns="0" bIns="0" rtlCol="0">
            <a:spAutoFit/>
          </a:bodyPr>
          <a:lstStyle/>
          <a:p>
            <a:pPr marL="12700">
              <a:lnSpc>
                <a:spcPct val="100000"/>
              </a:lnSpc>
              <a:spcBef>
                <a:spcPts val="115"/>
              </a:spcBef>
            </a:pPr>
            <a:r>
              <a:rPr lang="en-US" sz="1450" b="1" spc="-50" dirty="0">
                <a:latin typeface="Arial"/>
                <a:cs typeface="Arial"/>
              </a:rPr>
              <a:t>c</a:t>
            </a:r>
            <a:endParaRPr sz="1450" dirty="0">
              <a:latin typeface="Arial"/>
              <a:cs typeface="Arial"/>
            </a:endParaRPr>
          </a:p>
        </p:txBody>
      </p:sp>
      <p:sp>
        <p:nvSpPr>
          <p:cNvPr id="50" name="object 50"/>
          <p:cNvSpPr txBox="1"/>
          <p:nvPr/>
        </p:nvSpPr>
        <p:spPr>
          <a:xfrm>
            <a:off x="2029375" y="2388609"/>
            <a:ext cx="160020" cy="237886"/>
          </a:xfrm>
          <a:prstGeom prst="rect">
            <a:avLst/>
          </a:prstGeom>
        </p:spPr>
        <p:txBody>
          <a:bodyPr vert="horz" wrap="square" lIns="0" tIns="14605" rIns="0" bIns="0" rtlCol="0">
            <a:spAutoFit/>
          </a:bodyPr>
          <a:lstStyle/>
          <a:p>
            <a:pPr marL="12700">
              <a:lnSpc>
                <a:spcPct val="100000"/>
              </a:lnSpc>
              <a:spcBef>
                <a:spcPts val="115"/>
              </a:spcBef>
            </a:pPr>
            <a:r>
              <a:rPr lang="en-US" sz="1450" b="1" spc="-50" dirty="0">
                <a:latin typeface="Arial"/>
                <a:cs typeface="Arial"/>
              </a:rPr>
              <a:t>d</a:t>
            </a:r>
            <a:endParaRPr sz="1450" dirty="0">
              <a:latin typeface="Arial"/>
              <a:cs typeface="Arial"/>
            </a:endParaRPr>
          </a:p>
        </p:txBody>
      </p:sp>
      <p:sp>
        <p:nvSpPr>
          <p:cNvPr id="51" name="object 51"/>
          <p:cNvSpPr txBox="1"/>
          <p:nvPr/>
        </p:nvSpPr>
        <p:spPr>
          <a:xfrm>
            <a:off x="61613" y="5874864"/>
            <a:ext cx="9831070" cy="765915"/>
          </a:xfrm>
          <a:prstGeom prst="rect">
            <a:avLst/>
          </a:prstGeom>
        </p:spPr>
        <p:txBody>
          <a:bodyPr vert="horz" wrap="square" lIns="0" tIns="9525" rIns="0" bIns="0" rtlCol="0">
            <a:spAutoFit/>
          </a:bodyPr>
          <a:lstStyle/>
          <a:p>
            <a:pPr marL="12700" marR="5080" algn="just">
              <a:lnSpc>
                <a:spcPct val="104200"/>
              </a:lnSpc>
              <a:spcBef>
                <a:spcPts val="75"/>
              </a:spcBef>
            </a:pPr>
            <a:r>
              <a:rPr lang="en-US" sz="1200" b="1" dirty="0">
                <a:latin typeface="Times New Roman"/>
                <a:cs typeface="Times New Roman"/>
              </a:rPr>
              <a:t>Fig. </a:t>
            </a:r>
            <a:r>
              <a:rPr sz="1200" b="1" dirty="0">
                <a:latin typeface="Times New Roman"/>
                <a:cs typeface="Times New Roman"/>
              </a:rPr>
              <a:t>S</a:t>
            </a:r>
            <a:r>
              <a:rPr lang="en-US" sz="1200" b="1" dirty="0">
                <a:latin typeface="Times New Roman"/>
                <a:cs typeface="Times New Roman"/>
              </a:rPr>
              <a:t>1</a:t>
            </a:r>
            <a:r>
              <a:rPr sz="1200" b="1" dirty="0">
                <a:latin typeface="Times New Roman"/>
                <a:cs typeface="Times New Roman"/>
              </a:rPr>
              <a:t>.</a:t>
            </a:r>
            <a:r>
              <a:rPr sz="1200" b="1" spc="380" dirty="0">
                <a:latin typeface="Times New Roman"/>
                <a:cs typeface="Times New Roman"/>
              </a:rPr>
              <a:t> </a:t>
            </a:r>
            <a:r>
              <a:rPr sz="1200" b="1" dirty="0">
                <a:latin typeface="Times New Roman"/>
                <a:cs typeface="Times New Roman"/>
              </a:rPr>
              <a:t>Rhizome</a:t>
            </a:r>
            <a:r>
              <a:rPr sz="1200" b="1" spc="405" dirty="0">
                <a:latin typeface="Times New Roman"/>
                <a:cs typeface="Times New Roman"/>
              </a:rPr>
              <a:t> </a:t>
            </a:r>
            <a:r>
              <a:rPr sz="1200" b="1" dirty="0">
                <a:latin typeface="Times New Roman"/>
                <a:cs typeface="Times New Roman"/>
              </a:rPr>
              <a:t>morphology</a:t>
            </a:r>
            <a:r>
              <a:rPr sz="1200" b="1" spc="380" dirty="0">
                <a:latin typeface="Times New Roman"/>
                <a:cs typeface="Times New Roman"/>
              </a:rPr>
              <a:t> </a:t>
            </a:r>
            <a:r>
              <a:rPr sz="1200" b="1" dirty="0">
                <a:latin typeface="Times New Roman"/>
                <a:cs typeface="Times New Roman"/>
              </a:rPr>
              <a:t>at</a:t>
            </a:r>
            <a:r>
              <a:rPr sz="1200" b="1" spc="390" dirty="0">
                <a:latin typeface="Times New Roman"/>
                <a:cs typeface="Times New Roman"/>
              </a:rPr>
              <a:t> </a:t>
            </a:r>
            <a:r>
              <a:rPr sz="1200" b="1" dirty="0">
                <a:latin typeface="Times New Roman"/>
                <a:cs typeface="Times New Roman"/>
              </a:rPr>
              <a:t>sampling.</a:t>
            </a:r>
            <a:r>
              <a:rPr sz="1200" b="1" spc="375" dirty="0">
                <a:latin typeface="Times New Roman"/>
                <a:cs typeface="Times New Roman"/>
              </a:rPr>
              <a:t> </a:t>
            </a:r>
            <a:r>
              <a:rPr sz="1200" dirty="0">
                <a:latin typeface="Times New Roman"/>
                <a:cs typeface="Times New Roman"/>
              </a:rPr>
              <a:t>Paired</a:t>
            </a:r>
            <a:r>
              <a:rPr sz="1200" spc="380" dirty="0">
                <a:latin typeface="Times New Roman"/>
                <a:cs typeface="Times New Roman"/>
              </a:rPr>
              <a:t> </a:t>
            </a:r>
            <a:r>
              <a:rPr sz="1200" dirty="0">
                <a:latin typeface="Times New Roman"/>
                <a:cs typeface="Times New Roman"/>
              </a:rPr>
              <a:t>images</a:t>
            </a:r>
            <a:r>
              <a:rPr sz="1200" spc="350" dirty="0">
                <a:latin typeface="Times New Roman"/>
                <a:cs typeface="Times New Roman"/>
              </a:rPr>
              <a:t> </a:t>
            </a:r>
            <a:r>
              <a:rPr sz="1200" dirty="0">
                <a:latin typeface="Times New Roman"/>
                <a:cs typeface="Times New Roman"/>
              </a:rPr>
              <a:t>display</a:t>
            </a:r>
            <a:r>
              <a:rPr sz="1200" spc="409" dirty="0">
                <a:latin typeface="Times New Roman"/>
                <a:cs typeface="Times New Roman"/>
              </a:rPr>
              <a:t> </a:t>
            </a:r>
            <a:r>
              <a:rPr sz="1200" dirty="0">
                <a:latin typeface="Times New Roman"/>
                <a:cs typeface="Times New Roman"/>
              </a:rPr>
              <a:t>representative</a:t>
            </a:r>
            <a:r>
              <a:rPr sz="1200" spc="420" dirty="0">
                <a:latin typeface="Times New Roman"/>
                <a:cs typeface="Times New Roman"/>
              </a:rPr>
              <a:t> </a:t>
            </a:r>
            <a:r>
              <a:rPr sz="1200" dirty="0">
                <a:latin typeface="Times New Roman"/>
                <a:cs typeface="Times New Roman"/>
              </a:rPr>
              <a:t>rhizome</a:t>
            </a:r>
            <a:r>
              <a:rPr sz="1200" spc="405" dirty="0">
                <a:latin typeface="Times New Roman"/>
                <a:cs typeface="Times New Roman"/>
              </a:rPr>
              <a:t> </a:t>
            </a:r>
            <a:r>
              <a:rPr sz="1200" dirty="0">
                <a:latin typeface="Times New Roman"/>
                <a:cs typeface="Times New Roman"/>
              </a:rPr>
              <a:t>tissues</a:t>
            </a:r>
            <a:r>
              <a:rPr sz="1200" spc="390" dirty="0">
                <a:latin typeface="Times New Roman"/>
                <a:cs typeface="Times New Roman"/>
              </a:rPr>
              <a:t> </a:t>
            </a:r>
            <a:r>
              <a:rPr sz="1200" dirty="0">
                <a:latin typeface="Times New Roman"/>
                <a:cs typeface="Times New Roman"/>
              </a:rPr>
              <a:t>(white</a:t>
            </a:r>
            <a:r>
              <a:rPr sz="1200" spc="390" dirty="0">
                <a:latin typeface="Times New Roman"/>
                <a:cs typeface="Times New Roman"/>
              </a:rPr>
              <a:t> </a:t>
            </a:r>
            <a:r>
              <a:rPr sz="1200" dirty="0">
                <a:latin typeface="Times New Roman"/>
                <a:cs typeface="Times New Roman"/>
              </a:rPr>
              <a:t>arrows)</a:t>
            </a:r>
            <a:r>
              <a:rPr sz="1200" spc="365" dirty="0">
                <a:latin typeface="Times New Roman"/>
                <a:cs typeface="Times New Roman"/>
              </a:rPr>
              <a:t> </a:t>
            </a:r>
            <a:r>
              <a:rPr sz="1200" spc="-10" dirty="0">
                <a:latin typeface="Times New Roman"/>
                <a:cs typeface="Times New Roman"/>
              </a:rPr>
              <a:t>collected </a:t>
            </a:r>
            <a:r>
              <a:rPr sz="1200" dirty="0">
                <a:latin typeface="Times New Roman"/>
                <a:cs typeface="Times New Roman"/>
              </a:rPr>
              <a:t>during</a:t>
            </a:r>
            <a:r>
              <a:rPr sz="1200" spc="250" dirty="0">
                <a:latin typeface="Times New Roman"/>
                <a:cs typeface="Times New Roman"/>
              </a:rPr>
              <a:t> </a:t>
            </a:r>
            <a:r>
              <a:rPr sz="1200" dirty="0">
                <a:latin typeface="Times New Roman"/>
                <a:cs typeface="Times New Roman"/>
              </a:rPr>
              <a:t>summer</a:t>
            </a:r>
            <a:r>
              <a:rPr sz="1200" spc="280" dirty="0">
                <a:latin typeface="Times New Roman"/>
                <a:cs typeface="Times New Roman"/>
              </a:rPr>
              <a:t> </a:t>
            </a:r>
            <a:r>
              <a:rPr sz="1200" dirty="0">
                <a:latin typeface="Times New Roman"/>
                <a:cs typeface="Times New Roman"/>
              </a:rPr>
              <a:t>(August,</a:t>
            </a:r>
            <a:r>
              <a:rPr sz="1200" spc="229" dirty="0">
                <a:latin typeface="Times New Roman"/>
                <a:cs typeface="Times New Roman"/>
              </a:rPr>
              <a:t> </a:t>
            </a:r>
            <a:r>
              <a:rPr sz="1200" dirty="0">
                <a:latin typeface="Times New Roman"/>
                <a:cs typeface="Times New Roman"/>
              </a:rPr>
              <a:t>left)</a:t>
            </a:r>
            <a:r>
              <a:rPr sz="1200" spc="245" dirty="0">
                <a:latin typeface="Times New Roman"/>
                <a:cs typeface="Times New Roman"/>
              </a:rPr>
              <a:t> </a:t>
            </a:r>
            <a:r>
              <a:rPr sz="1200" dirty="0">
                <a:latin typeface="Times New Roman"/>
                <a:cs typeface="Times New Roman"/>
              </a:rPr>
              <a:t>and</a:t>
            </a:r>
            <a:r>
              <a:rPr sz="1200" spc="245" dirty="0">
                <a:latin typeface="Times New Roman"/>
                <a:cs typeface="Times New Roman"/>
              </a:rPr>
              <a:t> </a:t>
            </a:r>
            <a:r>
              <a:rPr sz="1200" dirty="0">
                <a:latin typeface="Times New Roman"/>
                <a:cs typeface="Times New Roman"/>
              </a:rPr>
              <a:t>winter</a:t>
            </a:r>
            <a:r>
              <a:rPr sz="1200" spc="290" dirty="0">
                <a:latin typeface="Times New Roman"/>
                <a:cs typeface="Times New Roman"/>
              </a:rPr>
              <a:t> </a:t>
            </a:r>
            <a:r>
              <a:rPr sz="1200" dirty="0">
                <a:latin typeface="Times New Roman"/>
                <a:cs typeface="Times New Roman"/>
              </a:rPr>
              <a:t>(January,</a:t>
            </a:r>
            <a:r>
              <a:rPr sz="1200" spc="270" dirty="0">
                <a:latin typeface="Times New Roman"/>
                <a:cs typeface="Times New Roman"/>
              </a:rPr>
              <a:t> </a:t>
            </a:r>
            <a:r>
              <a:rPr sz="1200" dirty="0">
                <a:latin typeface="Times New Roman"/>
                <a:cs typeface="Times New Roman"/>
              </a:rPr>
              <a:t>right)</a:t>
            </a:r>
            <a:r>
              <a:rPr sz="1200" spc="265" dirty="0">
                <a:latin typeface="Times New Roman"/>
                <a:cs typeface="Times New Roman"/>
              </a:rPr>
              <a:t> </a:t>
            </a:r>
            <a:r>
              <a:rPr sz="1200" dirty="0">
                <a:latin typeface="Times New Roman"/>
                <a:cs typeface="Times New Roman"/>
              </a:rPr>
              <a:t>for</a:t>
            </a:r>
            <a:r>
              <a:rPr sz="1200" spc="215" dirty="0">
                <a:latin typeface="Times New Roman"/>
                <a:cs typeface="Times New Roman"/>
              </a:rPr>
              <a:t> </a:t>
            </a:r>
            <a:r>
              <a:rPr sz="1200" b="1" dirty="0">
                <a:latin typeface="Times New Roman"/>
                <a:cs typeface="Times New Roman"/>
              </a:rPr>
              <a:t>(</a:t>
            </a:r>
            <a:r>
              <a:rPr lang="en-US" sz="1200" b="1" dirty="0">
                <a:latin typeface="Times New Roman"/>
                <a:cs typeface="Times New Roman"/>
              </a:rPr>
              <a:t>a</a:t>
            </a:r>
            <a:r>
              <a:rPr sz="1200" b="1" dirty="0">
                <a:latin typeface="Times New Roman"/>
                <a:cs typeface="Times New Roman"/>
              </a:rPr>
              <a:t>)</a:t>
            </a:r>
            <a:r>
              <a:rPr sz="1200" b="1" spc="275" dirty="0">
                <a:latin typeface="Times New Roman"/>
                <a:cs typeface="Times New Roman"/>
              </a:rPr>
              <a:t> </a:t>
            </a:r>
            <a:r>
              <a:rPr sz="1200" i="1" dirty="0">
                <a:latin typeface="Times New Roman"/>
                <a:cs typeface="Times New Roman"/>
              </a:rPr>
              <a:t>Andropogon</a:t>
            </a:r>
            <a:r>
              <a:rPr sz="1200" i="1" spc="254" dirty="0">
                <a:latin typeface="Times New Roman"/>
                <a:cs typeface="Times New Roman"/>
              </a:rPr>
              <a:t> </a:t>
            </a:r>
            <a:r>
              <a:rPr lang="en-US" sz="1200" i="1" dirty="0">
                <a:latin typeface="Times New Roman"/>
                <a:cs typeface="Times New Roman"/>
              </a:rPr>
              <a:t>gerardi</a:t>
            </a:r>
            <a:r>
              <a:rPr sz="1200" dirty="0">
                <a:latin typeface="Times New Roman"/>
                <a:cs typeface="Times New Roman"/>
              </a:rPr>
              <a:t>,</a:t>
            </a:r>
            <a:r>
              <a:rPr sz="1200" spc="240" dirty="0">
                <a:latin typeface="Times New Roman"/>
                <a:cs typeface="Times New Roman"/>
              </a:rPr>
              <a:t> </a:t>
            </a:r>
            <a:r>
              <a:rPr sz="1200" b="1" dirty="0">
                <a:latin typeface="Times New Roman"/>
                <a:cs typeface="Times New Roman"/>
              </a:rPr>
              <a:t>(</a:t>
            </a:r>
            <a:r>
              <a:rPr lang="en-US" sz="1200" b="1" dirty="0">
                <a:latin typeface="Times New Roman"/>
                <a:cs typeface="Times New Roman"/>
              </a:rPr>
              <a:t>b</a:t>
            </a:r>
            <a:r>
              <a:rPr sz="1200" b="1" dirty="0">
                <a:latin typeface="Times New Roman"/>
                <a:cs typeface="Times New Roman"/>
              </a:rPr>
              <a:t>)</a:t>
            </a:r>
            <a:r>
              <a:rPr sz="1200" b="1" spc="265" dirty="0">
                <a:latin typeface="Times New Roman"/>
                <a:cs typeface="Times New Roman"/>
              </a:rPr>
              <a:t> </a:t>
            </a:r>
            <a:r>
              <a:rPr lang="en-US" sz="1200" i="1" dirty="0">
                <a:latin typeface="Times New Roman" panose="02020603050405020304" pitchFamily="18" charset="0"/>
                <a:cs typeface="Times New Roman" panose="02020603050405020304" pitchFamily="18" charset="0"/>
              </a:rPr>
              <a:t>Miscanthus</a:t>
            </a:r>
            <a:r>
              <a:rPr lang="en-US" sz="1200" dirty="0">
                <a:latin typeface="Times New Roman" panose="02020603050405020304" pitchFamily="18" charset="0"/>
                <a:cs typeface="Times New Roman" panose="02020603050405020304" pitchFamily="18" charset="0"/>
              </a:rPr>
              <a:t> × </a:t>
            </a:r>
            <a:r>
              <a:rPr lang="en-US" sz="1200" i="1" dirty="0">
                <a:latin typeface="Times New Roman" panose="02020603050405020304" pitchFamily="18" charset="0"/>
                <a:cs typeface="Times New Roman" panose="02020603050405020304" pitchFamily="18" charset="0"/>
              </a:rPr>
              <a:t>giganteus</a:t>
            </a:r>
            <a:r>
              <a:rPr sz="1200" dirty="0">
                <a:latin typeface="Times New Roman"/>
                <a:cs typeface="Times New Roman"/>
              </a:rPr>
              <a:t>,</a:t>
            </a:r>
            <a:r>
              <a:rPr sz="1200" spc="240" dirty="0">
                <a:latin typeface="Times New Roman"/>
                <a:cs typeface="Times New Roman"/>
              </a:rPr>
              <a:t> </a:t>
            </a:r>
            <a:r>
              <a:rPr sz="1200" b="1" dirty="0">
                <a:latin typeface="Times New Roman"/>
                <a:cs typeface="Times New Roman"/>
              </a:rPr>
              <a:t>(</a:t>
            </a:r>
            <a:r>
              <a:rPr lang="en-US" sz="1200" b="1" dirty="0">
                <a:latin typeface="Times New Roman"/>
                <a:cs typeface="Times New Roman"/>
              </a:rPr>
              <a:t>c</a:t>
            </a:r>
            <a:r>
              <a:rPr sz="1200" b="1" dirty="0">
                <a:latin typeface="Times New Roman"/>
                <a:cs typeface="Times New Roman"/>
              </a:rPr>
              <a:t>)</a:t>
            </a:r>
            <a:r>
              <a:rPr sz="1200" b="1" spc="275" dirty="0">
                <a:latin typeface="Times New Roman"/>
                <a:cs typeface="Times New Roman"/>
              </a:rPr>
              <a:t> </a:t>
            </a:r>
            <a:r>
              <a:rPr sz="1200" i="1" dirty="0">
                <a:latin typeface="Times New Roman"/>
                <a:cs typeface="Times New Roman"/>
              </a:rPr>
              <a:t>Sorghastrum</a:t>
            </a:r>
            <a:r>
              <a:rPr sz="1200" i="1" spc="250" dirty="0">
                <a:latin typeface="Times New Roman"/>
                <a:cs typeface="Times New Roman"/>
              </a:rPr>
              <a:t> </a:t>
            </a:r>
            <a:r>
              <a:rPr sz="1200" i="1" dirty="0">
                <a:latin typeface="Times New Roman"/>
                <a:cs typeface="Times New Roman"/>
              </a:rPr>
              <a:t>nutans</a:t>
            </a:r>
            <a:r>
              <a:rPr sz="1200" dirty="0">
                <a:latin typeface="Times New Roman"/>
                <a:cs typeface="Times New Roman"/>
              </a:rPr>
              <a:t>,</a:t>
            </a:r>
            <a:r>
              <a:rPr sz="1200" spc="240" dirty="0">
                <a:latin typeface="Times New Roman"/>
                <a:cs typeface="Times New Roman"/>
              </a:rPr>
              <a:t> </a:t>
            </a:r>
            <a:r>
              <a:rPr sz="1200" b="1" spc="-25" dirty="0">
                <a:latin typeface="Times New Roman"/>
                <a:cs typeface="Times New Roman"/>
              </a:rPr>
              <a:t>(</a:t>
            </a:r>
            <a:r>
              <a:rPr lang="en-US" sz="1200" b="1" spc="-25" dirty="0">
                <a:latin typeface="Times New Roman"/>
                <a:cs typeface="Times New Roman"/>
              </a:rPr>
              <a:t>d</a:t>
            </a:r>
            <a:r>
              <a:rPr sz="1200" b="1" spc="-25" dirty="0">
                <a:latin typeface="Times New Roman"/>
                <a:cs typeface="Times New Roman"/>
              </a:rPr>
              <a:t>) </a:t>
            </a:r>
            <a:r>
              <a:rPr lang="en-US" sz="1200" i="1" dirty="0">
                <a:latin typeface="Times New Roman" panose="02020603050405020304" pitchFamily="18" charset="0"/>
                <a:cs typeface="Times New Roman" panose="02020603050405020304" pitchFamily="18" charset="0"/>
              </a:rPr>
              <a:t>Tripsacum dactyloides</a:t>
            </a:r>
            <a:r>
              <a:rPr lang="en-US" sz="1200" dirty="0">
                <a:latin typeface="Times New Roman" panose="02020603050405020304" pitchFamily="18" charset="0"/>
                <a:cs typeface="Times New Roman" panose="02020603050405020304" pitchFamily="18" charset="0"/>
              </a:rPr>
              <a:t> and </a:t>
            </a:r>
            <a:r>
              <a:rPr lang="en-US" sz="1200" i="1" dirty="0">
                <a:latin typeface="Times New Roman" panose="02020603050405020304" pitchFamily="18" charset="0"/>
                <a:cs typeface="Times New Roman" panose="02020603050405020304" pitchFamily="18" charset="0"/>
              </a:rPr>
              <a:t>T. floridanum</a:t>
            </a:r>
            <a:r>
              <a:rPr lang="en-US" sz="1200" dirty="0">
                <a:latin typeface="Times New Roman" panose="02020603050405020304" pitchFamily="18" charset="0"/>
                <a:cs typeface="Times New Roman" panose="02020603050405020304" pitchFamily="18" charset="0"/>
              </a:rPr>
              <a:t> hybrids</a:t>
            </a:r>
            <a:r>
              <a:rPr sz="1200" dirty="0">
                <a:latin typeface="Times New Roman"/>
                <a:cs typeface="Times New Roman"/>
              </a:rPr>
              <a:t>,</a:t>
            </a:r>
            <a:r>
              <a:rPr sz="1200" spc="260" dirty="0">
                <a:latin typeface="Times New Roman"/>
                <a:cs typeface="Times New Roman"/>
              </a:rPr>
              <a:t> </a:t>
            </a:r>
            <a:r>
              <a:rPr lang="en-US" sz="1200" dirty="0">
                <a:latin typeface="Times New Roman"/>
                <a:cs typeface="Times New Roman"/>
              </a:rPr>
              <a:t>and </a:t>
            </a:r>
            <a:r>
              <a:rPr sz="1200" b="1" dirty="0">
                <a:latin typeface="Times New Roman"/>
                <a:cs typeface="Times New Roman"/>
              </a:rPr>
              <a:t>(</a:t>
            </a:r>
            <a:r>
              <a:rPr lang="en-US" sz="1200" b="1" dirty="0">
                <a:latin typeface="Times New Roman"/>
                <a:cs typeface="Times New Roman"/>
              </a:rPr>
              <a:t>e</a:t>
            </a:r>
            <a:r>
              <a:rPr sz="1200" b="1" dirty="0">
                <a:latin typeface="Times New Roman"/>
                <a:cs typeface="Times New Roman"/>
              </a:rPr>
              <a:t>)</a:t>
            </a:r>
            <a:r>
              <a:rPr sz="1200" b="1" spc="285" dirty="0">
                <a:latin typeface="Times New Roman"/>
                <a:cs typeface="Times New Roman"/>
              </a:rPr>
              <a:t> </a:t>
            </a:r>
            <a:r>
              <a:rPr sz="1200" i="1" dirty="0">
                <a:latin typeface="Times New Roman"/>
                <a:cs typeface="Times New Roman"/>
              </a:rPr>
              <a:t>Panicum</a:t>
            </a:r>
            <a:r>
              <a:rPr sz="1200" i="1" spc="270" dirty="0">
                <a:latin typeface="Times New Roman"/>
                <a:cs typeface="Times New Roman"/>
              </a:rPr>
              <a:t> </a:t>
            </a:r>
            <a:r>
              <a:rPr sz="1200" i="1" dirty="0">
                <a:latin typeface="Times New Roman"/>
                <a:cs typeface="Times New Roman"/>
              </a:rPr>
              <a:t>virgatum</a:t>
            </a:r>
            <a:r>
              <a:rPr sz="1200" dirty="0">
                <a:latin typeface="Times New Roman"/>
                <a:cs typeface="Times New Roman"/>
              </a:rPr>
              <a:t>.</a:t>
            </a:r>
            <a:r>
              <a:rPr sz="1200" spc="260" dirty="0">
                <a:latin typeface="Times New Roman"/>
                <a:cs typeface="Times New Roman"/>
              </a:rPr>
              <a:t> </a:t>
            </a:r>
            <a:r>
              <a:rPr sz="1200" dirty="0">
                <a:latin typeface="Times New Roman"/>
                <a:cs typeface="Times New Roman"/>
              </a:rPr>
              <a:t>Summer</a:t>
            </a:r>
            <a:r>
              <a:rPr sz="1200" spc="265" dirty="0">
                <a:latin typeface="Times New Roman"/>
                <a:cs typeface="Times New Roman"/>
              </a:rPr>
              <a:t> </a:t>
            </a:r>
            <a:r>
              <a:rPr sz="1200" dirty="0">
                <a:latin typeface="Times New Roman"/>
                <a:cs typeface="Times New Roman"/>
              </a:rPr>
              <a:t>samples</a:t>
            </a:r>
            <a:r>
              <a:rPr sz="1200" spc="270" dirty="0">
                <a:latin typeface="Times New Roman"/>
                <a:cs typeface="Times New Roman"/>
              </a:rPr>
              <a:t> </a:t>
            </a:r>
            <a:r>
              <a:rPr sz="1200" dirty="0">
                <a:latin typeface="Times New Roman"/>
                <a:cs typeface="Times New Roman"/>
              </a:rPr>
              <a:t>exhibit</a:t>
            </a:r>
            <a:r>
              <a:rPr sz="1200" spc="250" dirty="0">
                <a:latin typeface="Times New Roman"/>
                <a:cs typeface="Times New Roman"/>
              </a:rPr>
              <a:t> </a:t>
            </a:r>
            <a:r>
              <a:rPr sz="1200" dirty="0">
                <a:latin typeface="Times New Roman"/>
                <a:cs typeface="Times New Roman"/>
              </a:rPr>
              <a:t>active</a:t>
            </a:r>
            <a:r>
              <a:rPr sz="1200" spc="285" dirty="0">
                <a:latin typeface="Times New Roman"/>
                <a:cs typeface="Times New Roman"/>
              </a:rPr>
              <a:t> </a:t>
            </a:r>
            <a:r>
              <a:rPr sz="1200" dirty="0">
                <a:latin typeface="Times New Roman"/>
                <a:cs typeface="Times New Roman"/>
              </a:rPr>
              <a:t>bud</a:t>
            </a:r>
            <a:r>
              <a:rPr sz="1200" spc="270" dirty="0">
                <a:latin typeface="Times New Roman"/>
                <a:cs typeface="Times New Roman"/>
              </a:rPr>
              <a:t> </a:t>
            </a:r>
            <a:r>
              <a:rPr sz="1200" dirty="0">
                <a:latin typeface="Times New Roman"/>
                <a:cs typeface="Times New Roman"/>
              </a:rPr>
              <a:t>growth</a:t>
            </a:r>
            <a:r>
              <a:rPr sz="1200" spc="254" dirty="0">
                <a:latin typeface="Times New Roman"/>
                <a:cs typeface="Times New Roman"/>
              </a:rPr>
              <a:t> </a:t>
            </a:r>
            <a:r>
              <a:rPr sz="1200" dirty="0">
                <a:latin typeface="Times New Roman"/>
                <a:cs typeface="Times New Roman"/>
              </a:rPr>
              <a:t>and</a:t>
            </a:r>
            <a:r>
              <a:rPr sz="1200" spc="260" dirty="0">
                <a:latin typeface="Times New Roman"/>
                <a:cs typeface="Times New Roman"/>
              </a:rPr>
              <a:t> </a:t>
            </a:r>
            <a:r>
              <a:rPr sz="1200" dirty="0">
                <a:latin typeface="Times New Roman"/>
                <a:cs typeface="Times New Roman"/>
              </a:rPr>
              <a:t>pale</a:t>
            </a:r>
            <a:r>
              <a:rPr sz="1200" spc="280" dirty="0">
                <a:latin typeface="Times New Roman"/>
                <a:cs typeface="Times New Roman"/>
              </a:rPr>
              <a:t> </a:t>
            </a:r>
            <a:r>
              <a:rPr sz="1200" dirty="0">
                <a:latin typeface="Times New Roman"/>
                <a:cs typeface="Times New Roman"/>
              </a:rPr>
              <a:t>storage</a:t>
            </a:r>
            <a:r>
              <a:rPr sz="1200" spc="235" dirty="0">
                <a:latin typeface="Times New Roman"/>
                <a:cs typeface="Times New Roman"/>
              </a:rPr>
              <a:t> </a:t>
            </a:r>
            <a:r>
              <a:rPr sz="1200" dirty="0">
                <a:latin typeface="Times New Roman"/>
                <a:cs typeface="Times New Roman"/>
              </a:rPr>
              <a:t>tissue.</a:t>
            </a:r>
            <a:r>
              <a:rPr sz="1200" spc="260" dirty="0">
                <a:latin typeface="Times New Roman"/>
                <a:cs typeface="Times New Roman"/>
              </a:rPr>
              <a:t> </a:t>
            </a:r>
            <a:r>
              <a:rPr sz="1200" dirty="0">
                <a:latin typeface="Times New Roman"/>
                <a:cs typeface="Times New Roman"/>
              </a:rPr>
              <a:t>Winter</a:t>
            </a:r>
            <a:r>
              <a:rPr sz="1200" spc="240" dirty="0">
                <a:latin typeface="Times New Roman"/>
                <a:cs typeface="Times New Roman"/>
              </a:rPr>
              <a:t> </a:t>
            </a:r>
            <a:r>
              <a:rPr sz="1200" dirty="0">
                <a:latin typeface="Times New Roman"/>
                <a:cs typeface="Times New Roman"/>
              </a:rPr>
              <a:t>samples</a:t>
            </a:r>
            <a:r>
              <a:rPr sz="1200" spc="285" dirty="0">
                <a:latin typeface="Times New Roman"/>
                <a:cs typeface="Times New Roman"/>
              </a:rPr>
              <a:t> </a:t>
            </a:r>
            <a:r>
              <a:rPr sz="1200" spc="-10" dirty="0">
                <a:latin typeface="Times New Roman"/>
                <a:cs typeface="Times New Roman"/>
              </a:rPr>
              <a:t>exhibit </a:t>
            </a:r>
            <a:r>
              <a:rPr sz="1200" dirty="0">
                <a:latin typeface="Times New Roman"/>
                <a:cs typeface="Times New Roman"/>
              </a:rPr>
              <a:t>dormancy</a:t>
            </a:r>
            <a:r>
              <a:rPr sz="1200" spc="135" dirty="0">
                <a:latin typeface="Times New Roman"/>
                <a:cs typeface="Times New Roman"/>
              </a:rPr>
              <a:t> </a:t>
            </a:r>
            <a:r>
              <a:rPr sz="1200" dirty="0">
                <a:latin typeface="Times New Roman"/>
                <a:cs typeface="Times New Roman"/>
              </a:rPr>
              <a:t>and</a:t>
            </a:r>
            <a:r>
              <a:rPr sz="1200" spc="140" dirty="0">
                <a:latin typeface="Times New Roman"/>
                <a:cs typeface="Times New Roman"/>
              </a:rPr>
              <a:t> </a:t>
            </a:r>
            <a:r>
              <a:rPr sz="1200" dirty="0">
                <a:latin typeface="Times New Roman"/>
                <a:cs typeface="Times New Roman"/>
              </a:rPr>
              <a:t>epidermal</a:t>
            </a:r>
            <a:r>
              <a:rPr sz="1200" spc="150" dirty="0">
                <a:latin typeface="Times New Roman"/>
                <a:cs typeface="Times New Roman"/>
              </a:rPr>
              <a:t> </a:t>
            </a:r>
            <a:r>
              <a:rPr sz="1200" dirty="0">
                <a:latin typeface="Times New Roman"/>
                <a:cs typeface="Times New Roman"/>
              </a:rPr>
              <a:t>hardening.</a:t>
            </a:r>
            <a:r>
              <a:rPr sz="1200" spc="135" dirty="0">
                <a:latin typeface="Times New Roman"/>
                <a:cs typeface="Times New Roman"/>
              </a:rPr>
              <a:t> </a:t>
            </a:r>
            <a:r>
              <a:rPr sz="1200" dirty="0">
                <a:latin typeface="Times New Roman"/>
                <a:cs typeface="Times New Roman"/>
              </a:rPr>
              <a:t>Proteomic</a:t>
            </a:r>
            <a:r>
              <a:rPr sz="1200" spc="114" dirty="0">
                <a:latin typeface="Times New Roman"/>
                <a:cs typeface="Times New Roman"/>
              </a:rPr>
              <a:t> </a:t>
            </a:r>
            <a:r>
              <a:rPr sz="1200" dirty="0">
                <a:latin typeface="Times New Roman"/>
                <a:cs typeface="Times New Roman"/>
              </a:rPr>
              <a:t>analysis</a:t>
            </a:r>
            <a:r>
              <a:rPr sz="1200" spc="160" dirty="0">
                <a:latin typeface="Times New Roman"/>
                <a:cs typeface="Times New Roman"/>
              </a:rPr>
              <a:t> </a:t>
            </a:r>
            <a:r>
              <a:rPr sz="1200" dirty="0">
                <a:latin typeface="Times New Roman"/>
                <a:cs typeface="Times New Roman"/>
              </a:rPr>
              <a:t>was</a:t>
            </a:r>
            <a:r>
              <a:rPr sz="1200" spc="140" dirty="0">
                <a:latin typeface="Times New Roman"/>
                <a:cs typeface="Times New Roman"/>
              </a:rPr>
              <a:t> </a:t>
            </a:r>
            <a:r>
              <a:rPr sz="1200" dirty="0">
                <a:latin typeface="Times New Roman"/>
                <a:cs typeface="Times New Roman"/>
              </a:rPr>
              <a:t>restricted</a:t>
            </a:r>
            <a:r>
              <a:rPr sz="1200" spc="160" dirty="0">
                <a:latin typeface="Times New Roman"/>
                <a:cs typeface="Times New Roman"/>
              </a:rPr>
              <a:t> </a:t>
            </a:r>
            <a:r>
              <a:rPr sz="1200" dirty="0">
                <a:latin typeface="Times New Roman"/>
                <a:cs typeface="Times New Roman"/>
              </a:rPr>
              <a:t>to</a:t>
            </a:r>
            <a:r>
              <a:rPr sz="1200" spc="145" dirty="0">
                <a:latin typeface="Times New Roman"/>
                <a:cs typeface="Times New Roman"/>
              </a:rPr>
              <a:t> </a:t>
            </a:r>
            <a:r>
              <a:rPr sz="1200" dirty="0">
                <a:latin typeface="Times New Roman"/>
                <a:cs typeface="Times New Roman"/>
              </a:rPr>
              <a:t>mid-section</a:t>
            </a:r>
            <a:r>
              <a:rPr sz="1200" spc="155" dirty="0">
                <a:latin typeface="Times New Roman"/>
                <a:cs typeface="Times New Roman"/>
              </a:rPr>
              <a:t> </a:t>
            </a:r>
            <a:r>
              <a:rPr sz="1200" dirty="0">
                <a:latin typeface="Times New Roman"/>
                <a:cs typeface="Times New Roman"/>
              </a:rPr>
              <a:t>of</a:t>
            </a:r>
            <a:r>
              <a:rPr sz="1200" spc="150" dirty="0">
                <a:latin typeface="Times New Roman"/>
                <a:cs typeface="Times New Roman"/>
              </a:rPr>
              <a:t> </a:t>
            </a:r>
            <a:r>
              <a:rPr sz="1200" dirty="0">
                <a:latin typeface="Times New Roman"/>
                <a:cs typeface="Times New Roman"/>
              </a:rPr>
              <a:t>these</a:t>
            </a:r>
            <a:r>
              <a:rPr sz="1200" spc="135" dirty="0">
                <a:latin typeface="Times New Roman"/>
                <a:cs typeface="Times New Roman"/>
              </a:rPr>
              <a:t> </a:t>
            </a:r>
            <a:r>
              <a:rPr sz="1200" dirty="0">
                <a:latin typeface="Times New Roman"/>
                <a:cs typeface="Times New Roman"/>
              </a:rPr>
              <a:t>storage</a:t>
            </a:r>
            <a:r>
              <a:rPr sz="1200" spc="110" dirty="0">
                <a:latin typeface="Times New Roman"/>
                <a:cs typeface="Times New Roman"/>
              </a:rPr>
              <a:t> </a:t>
            </a:r>
            <a:r>
              <a:rPr sz="1200" dirty="0">
                <a:latin typeface="Times New Roman"/>
                <a:cs typeface="Times New Roman"/>
              </a:rPr>
              <a:t>organs.</a:t>
            </a:r>
            <a:r>
              <a:rPr sz="1200" spc="135" dirty="0">
                <a:latin typeface="Times New Roman"/>
                <a:cs typeface="Times New Roman"/>
              </a:rPr>
              <a:t> </a:t>
            </a:r>
            <a:r>
              <a:rPr sz="1200" dirty="0">
                <a:latin typeface="Times New Roman"/>
                <a:cs typeface="Times New Roman"/>
              </a:rPr>
              <a:t>Scale</a:t>
            </a:r>
            <a:r>
              <a:rPr sz="1200" spc="180" dirty="0">
                <a:latin typeface="Times New Roman"/>
                <a:cs typeface="Times New Roman"/>
              </a:rPr>
              <a:t> </a:t>
            </a:r>
            <a:r>
              <a:rPr sz="1200" dirty="0">
                <a:latin typeface="Times New Roman"/>
                <a:cs typeface="Times New Roman"/>
              </a:rPr>
              <a:t>bars</a:t>
            </a:r>
            <a:r>
              <a:rPr sz="1200" spc="180" dirty="0">
                <a:latin typeface="Times New Roman"/>
                <a:cs typeface="Times New Roman"/>
              </a:rPr>
              <a:t> </a:t>
            </a:r>
            <a:r>
              <a:rPr sz="1200" dirty="0">
                <a:latin typeface="Times New Roman"/>
                <a:cs typeface="Times New Roman"/>
              </a:rPr>
              <a:t>represent</a:t>
            </a:r>
            <a:r>
              <a:rPr sz="1200" spc="110" dirty="0">
                <a:latin typeface="Times New Roman"/>
                <a:cs typeface="Times New Roman"/>
              </a:rPr>
              <a:t> </a:t>
            </a:r>
            <a:r>
              <a:rPr sz="1200" dirty="0">
                <a:latin typeface="Times New Roman"/>
                <a:cs typeface="Times New Roman"/>
              </a:rPr>
              <a:t>approx.</a:t>
            </a:r>
            <a:r>
              <a:rPr sz="1200" spc="140" dirty="0">
                <a:latin typeface="Times New Roman"/>
                <a:cs typeface="Times New Roman"/>
              </a:rPr>
              <a:t> </a:t>
            </a:r>
            <a:r>
              <a:rPr sz="1200" dirty="0">
                <a:latin typeface="Times New Roman"/>
                <a:cs typeface="Times New Roman"/>
              </a:rPr>
              <a:t>1</a:t>
            </a:r>
            <a:r>
              <a:rPr sz="1200" spc="140" dirty="0">
                <a:latin typeface="Times New Roman"/>
                <a:cs typeface="Times New Roman"/>
              </a:rPr>
              <a:t> </a:t>
            </a:r>
            <a:r>
              <a:rPr sz="1200" spc="-25" dirty="0">
                <a:latin typeface="Times New Roman"/>
                <a:cs typeface="Times New Roman"/>
              </a:rPr>
              <a:t>cm.</a:t>
            </a:r>
            <a:endParaRPr sz="1200" dirty="0">
              <a:latin typeface="Times New Roman"/>
              <a:cs typeface="Times New Roman"/>
            </a:endParaRPr>
          </a:p>
        </p:txBody>
      </p:sp>
      <p:sp>
        <p:nvSpPr>
          <p:cNvPr id="52" name="object 52"/>
          <p:cNvSpPr txBox="1"/>
          <p:nvPr/>
        </p:nvSpPr>
        <p:spPr>
          <a:xfrm>
            <a:off x="4653160" y="1906654"/>
            <a:ext cx="143510" cy="97155"/>
          </a:xfrm>
          <a:prstGeom prst="rect">
            <a:avLst/>
          </a:prstGeom>
        </p:spPr>
        <p:txBody>
          <a:bodyPr vert="horz" wrap="square" lIns="0" tIns="14604" rIns="0" bIns="0" rtlCol="0">
            <a:spAutoFit/>
          </a:bodyPr>
          <a:lstStyle/>
          <a:p>
            <a:pPr marL="12700">
              <a:lnSpc>
                <a:spcPct val="100000"/>
              </a:lnSpc>
              <a:spcBef>
                <a:spcPts val="114"/>
              </a:spcBef>
            </a:pPr>
            <a:r>
              <a:rPr sz="450" dirty="0">
                <a:latin typeface="Arial"/>
                <a:cs typeface="Arial"/>
              </a:rPr>
              <a:t>1</a:t>
            </a:r>
            <a:r>
              <a:rPr sz="450" spc="-85" dirty="0">
                <a:latin typeface="Arial"/>
                <a:cs typeface="Arial"/>
              </a:rPr>
              <a:t> </a:t>
            </a:r>
            <a:r>
              <a:rPr sz="450" spc="-25" dirty="0">
                <a:latin typeface="Arial"/>
                <a:cs typeface="Arial"/>
              </a:rPr>
              <a:t>cm</a:t>
            </a:r>
            <a:endParaRPr sz="450">
              <a:latin typeface="Arial"/>
              <a:cs typeface="Arial"/>
            </a:endParaRPr>
          </a:p>
        </p:txBody>
      </p:sp>
      <p:sp>
        <p:nvSpPr>
          <p:cNvPr id="53" name="object 53"/>
          <p:cNvSpPr txBox="1"/>
          <p:nvPr/>
        </p:nvSpPr>
        <p:spPr>
          <a:xfrm>
            <a:off x="471102" y="1913311"/>
            <a:ext cx="143510" cy="97155"/>
          </a:xfrm>
          <a:prstGeom prst="rect">
            <a:avLst/>
          </a:prstGeom>
        </p:spPr>
        <p:txBody>
          <a:bodyPr vert="horz" wrap="square" lIns="0" tIns="15240" rIns="0" bIns="0" rtlCol="0">
            <a:spAutoFit/>
          </a:bodyPr>
          <a:lstStyle/>
          <a:p>
            <a:pPr marL="12700">
              <a:lnSpc>
                <a:spcPct val="100000"/>
              </a:lnSpc>
              <a:spcBef>
                <a:spcPts val="120"/>
              </a:spcBef>
            </a:pPr>
            <a:r>
              <a:rPr sz="450" dirty="0">
                <a:latin typeface="Arial"/>
                <a:cs typeface="Arial"/>
              </a:rPr>
              <a:t>1</a:t>
            </a:r>
            <a:r>
              <a:rPr sz="450" spc="-85" dirty="0">
                <a:latin typeface="Arial"/>
                <a:cs typeface="Arial"/>
              </a:rPr>
              <a:t> </a:t>
            </a:r>
            <a:r>
              <a:rPr sz="450" spc="-25" dirty="0">
                <a:latin typeface="Arial"/>
                <a:cs typeface="Arial"/>
              </a:rPr>
              <a:t>cm</a:t>
            </a:r>
            <a:endParaRPr sz="450">
              <a:latin typeface="Arial"/>
              <a:cs typeface="Arial"/>
            </a:endParaRPr>
          </a:p>
        </p:txBody>
      </p:sp>
      <p:sp>
        <p:nvSpPr>
          <p:cNvPr id="54" name="object 54"/>
          <p:cNvSpPr txBox="1"/>
          <p:nvPr/>
        </p:nvSpPr>
        <p:spPr>
          <a:xfrm>
            <a:off x="2965726" y="1917388"/>
            <a:ext cx="143510" cy="97155"/>
          </a:xfrm>
          <a:prstGeom prst="rect">
            <a:avLst/>
          </a:prstGeom>
        </p:spPr>
        <p:txBody>
          <a:bodyPr vert="horz" wrap="square" lIns="0" tIns="14604" rIns="0" bIns="0" rtlCol="0">
            <a:spAutoFit/>
          </a:bodyPr>
          <a:lstStyle/>
          <a:p>
            <a:pPr marL="12700">
              <a:lnSpc>
                <a:spcPct val="100000"/>
              </a:lnSpc>
              <a:spcBef>
                <a:spcPts val="114"/>
              </a:spcBef>
            </a:pPr>
            <a:r>
              <a:rPr sz="450" dirty="0">
                <a:latin typeface="Arial"/>
                <a:cs typeface="Arial"/>
              </a:rPr>
              <a:t>1</a:t>
            </a:r>
            <a:r>
              <a:rPr sz="450" spc="-85" dirty="0">
                <a:latin typeface="Arial"/>
                <a:cs typeface="Arial"/>
              </a:rPr>
              <a:t> </a:t>
            </a:r>
            <a:r>
              <a:rPr sz="450" spc="-25" dirty="0">
                <a:latin typeface="Arial"/>
                <a:cs typeface="Arial"/>
              </a:rPr>
              <a:t>cm</a:t>
            </a:r>
            <a:endParaRPr sz="450">
              <a:latin typeface="Arial"/>
              <a:cs typeface="Arial"/>
            </a:endParaRPr>
          </a:p>
        </p:txBody>
      </p:sp>
      <p:sp>
        <p:nvSpPr>
          <p:cNvPr id="55" name="object 55"/>
          <p:cNvSpPr txBox="1"/>
          <p:nvPr/>
        </p:nvSpPr>
        <p:spPr>
          <a:xfrm>
            <a:off x="6045611" y="1918472"/>
            <a:ext cx="143510" cy="97155"/>
          </a:xfrm>
          <a:prstGeom prst="rect">
            <a:avLst/>
          </a:prstGeom>
        </p:spPr>
        <p:txBody>
          <a:bodyPr vert="horz" wrap="square" lIns="0" tIns="15240" rIns="0" bIns="0" rtlCol="0">
            <a:spAutoFit/>
          </a:bodyPr>
          <a:lstStyle/>
          <a:p>
            <a:pPr marL="12700">
              <a:lnSpc>
                <a:spcPct val="100000"/>
              </a:lnSpc>
              <a:spcBef>
                <a:spcPts val="120"/>
              </a:spcBef>
            </a:pPr>
            <a:r>
              <a:rPr sz="450" dirty="0">
                <a:latin typeface="Arial"/>
                <a:cs typeface="Arial"/>
              </a:rPr>
              <a:t>1</a:t>
            </a:r>
            <a:r>
              <a:rPr sz="450" spc="-85" dirty="0">
                <a:latin typeface="Arial"/>
                <a:cs typeface="Arial"/>
              </a:rPr>
              <a:t> </a:t>
            </a:r>
            <a:r>
              <a:rPr sz="450" spc="-25" dirty="0">
                <a:latin typeface="Arial"/>
                <a:cs typeface="Arial"/>
              </a:rPr>
              <a:t>cm</a:t>
            </a:r>
            <a:endParaRPr sz="450">
              <a:latin typeface="Arial"/>
              <a:cs typeface="Arial"/>
            </a:endParaRPr>
          </a:p>
        </p:txBody>
      </p:sp>
      <p:sp>
        <p:nvSpPr>
          <p:cNvPr id="56" name="object 56"/>
          <p:cNvSpPr txBox="1"/>
          <p:nvPr/>
        </p:nvSpPr>
        <p:spPr>
          <a:xfrm>
            <a:off x="6621953" y="1913311"/>
            <a:ext cx="143510" cy="97155"/>
          </a:xfrm>
          <a:prstGeom prst="rect">
            <a:avLst/>
          </a:prstGeom>
        </p:spPr>
        <p:txBody>
          <a:bodyPr vert="horz" wrap="square" lIns="0" tIns="15240" rIns="0" bIns="0" rtlCol="0">
            <a:spAutoFit/>
          </a:bodyPr>
          <a:lstStyle/>
          <a:p>
            <a:pPr marL="12700">
              <a:lnSpc>
                <a:spcPct val="100000"/>
              </a:lnSpc>
              <a:spcBef>
                <a:spcPts val="120"/>
              </a:spcBef>
            </a:pPr>
            <a:r>
              <a:rPr sz="450" dirty="0">
                <a:latin typeface="Arial"/>
                <a:cs typeface="Arial"/>
              </a:rPr>
              <a:t>1</a:t>
            </a:r>
            <a:r>
              <a:rPr sz="450" spc="-85" dirty="0">
                <a:latin typeface="Arial"/>
                <a:cs typeface="Arial"/>
              </a:rPr>
              <a:t> </a:t>
            </a:r>
            <a:r>
              <a:rPr sz="450" spc="-25" dirty="0">
                <a:latin typeface="Arial"/>
                <a:cs typeface="Arial"/>
              </a:rPr>
              <a:t>cm</a:t>
            </a:r>
            <a:endParaRPr sz="450">
              <a:latin typeface="Arial"/>
              <a:cs typeface="Arial"/>
            </a:endParaRPr>
          </a:p>
        </p:txBody>
      </p:sp>
      <p:sp>
        <p:nvSpPr>
          <p:cNvPr id="57" name="object 57"/>
          <p:cNvSpPr txBox="1"/>
          <p:nvPr/>
        </p:nvSpPr>
        <p:spPr>
          <a:xfrm>
            <a:off x="8020081" y="1925336"/>
            <a:ext cx="143510" cy="97155"/>
          </a:xfrm>
          <a:prstGeom prst="rect">
            <a:avLst/>
          </a:prstGeom>
        </p:spPr>
        <p:txBody>
          <a:bodyPr vert="horz" wrap="square" lIns="0" tIns="14604" rIns="0" bIns="0" rtlCol="0">
            <a:spAutoFit/>
          </a:bodyPr>
          <a:lstStyle/>
          <a:p>
            <a:pPr marL="12700">
              <a:lnSpc>
                <a:spcPct val="100000"/>
              </a:lnSpc>
              <a:spcBef>
                <a:spcPts val="114"/>
              </a:spcBef>
            </a:pPr>
            <a:r>
              <a:rPr sz="450" dirty="0">
                <a:latin typeface="Arial"/>
                <a:cs typeface="Arial"/>
              </a:rPr>
              <a:t>1</a:t>
            </a:r>
            <a:r>
              <a:rPr sz="450" spc="-85" dirty="0">
                <a:latin typeface="Arial"/>
                <a:cs typeface="Arial"/>
              </a:rPr>
              <a:t> </a:t>
            </a:r>
            <a:r>
              <a:rPr sz="450" spc="-25" dirty="0">
                <a:latin typeface="Arial"/>
                <a:cs typeface="Arial"/>
              </a:rPr>
              <a:t>cm</a:t>
            </a:r>
            <a:endParaRPr sz="450">
              <a:latin typeface="Arial"/>
              <a:cs typeface="Arial"/>
            </a:endParaRPr>
          </a:p>
        </p:txBody>
      </p:sp>
      <p:sp>
        <p:nvSpPr>
          <p:cNvPr id="58" name="object 58"/>
          <p:cNvSpPr txBox="1"/>
          <p:nvPr/>
        </p:nvSpPr>
        <p:spPr>
          <a:xfrm>
            <a:off x="7546023" y="2733289"/>
            <a:ext cx="143510" cy="97155"/>
          </a:xfrm>
          <a:prstGeom prst="rect">
            <a:avLst/>
          </a:prstGeom>
        </p:spPr>
        <p:txBody>
          <a:bodyPr vert="horz" wrap="square" lIns="0" tIns="14604" rIns="0" bIns="0" rtlCol="0">
            <a:spAutoFit/>
          </a:bodyPr>
          <a:lstStyle/>
          <a:p>
            <a:pPr marL="12700">
              <a:lnSpc>
                <a:spcPct val="100000"/>
              </a:lnSpc>
              <a:spcBef>
                <a:spcPts val="114"/>
              </a:spcBef>
            </a:pPr>
            <a:r>
              <a:rPr sz="450" dirty="0">
                <a:latin typeface="Arial"/>
                <a:cs typeface="Arial"/>
              </a:rPr>
              <a:t>1</a:t>
            </a:r>
            <a:r>
              <a:rPr sz="450" spc="-85" dirty="0">
                <a:latin typeface="Arial"/>
                <a:cs typeface="Arial"/>
              </a:rPr>
              <a:t> </a:t>
            </a:r>
            <a:r>
              <a:rPr sz="450" spc="-25" dirty="0">
                <a:latin typeface="Arial"/>
                <a:cs typeface="Arial"/>
              </a:rPr>
              <a:t>cm</a:t>
            </a:r>
            <a:endParaRPr sz="450">
              <a:latin typeface="Arial"/>
              <a:cs typeface="Arial"/>
            </a:endParaRPr>
          </a:p>
        </p:txBody>
      </p:sp>
      <p:sp>
        <p:nvSpPr>
          <p:cNvPr id="59" name="object 59"/>
          <p:cNvSpPr txBox="1"/>
          <p:nvPr/>
        </p:nvSpPr>
        <p:spPr>
          <a:xfrm>
            <a:off x="2020395" y="4286753"/>
            <a:ext cx="143510" cy="97155"/>
          </a:xfrm>
          <a:prstGeom prst="rect">
            <a:avLst/>
          </a:prstGeom>
        </p:spPr>
        <p:txBody>
          <a:bodyPr vert="horz" wrap="square" lIns="0" tIns="14604" rIns="0" bIns="0" rtlCol="0">
            <a:spAutoFit/>
          </a:bodyPr>
          <a:lstStyle/>
          <a:p>
            <a:pPr marL="12700">
              <a:lnSpc>
                <a:spcPct val="100000"/>
              </a:lnSpc>
              <a:spcBef>
                <a:spcPts val="114"/>
              </a:spcBef>
            </a:pPr>
            <a:r>
              <a:rPr sz="450" dirty="0">
                <a:latin typeface="Arial"/>
                <a:cs typeface="Arial"/>
              </a:rPr>
              <a:t>1</a:t>
            </a:r>
            <a:r>
              <a:rPr sz="450" spc="-85" dirty="0">
                <a:latin typeface="Arial"/>
                <a:cs typeface="Arial"/>
              </a:rPr>
              <a:t> </a:t>
            </a:r>
            <a:r>
              <a:rPr sz="450" spc="-25" dirty="0">
                <a:latin typeface="Arial"/>
                <a:cs typeface="Arial"/>
              </a:rPr>
              <a:t>cm</a:t>
            </a:r>
            <a:endParaRPr sz="450">
              <a:latin typeface="Arial"/>
              <a:cs typeface="Arial"/>
            </a:endParaRPr>
          </a:p>
        </p:txBody>
      </p:sp>
      <p:sp>
        <p:nvSpPr>
          <p:cNvPr id="60" name="object 60"/>
          <p:cNvSpPr txBox="1"/>
          <p:nvPr/>
        </p:nvSpPr>
        <p:spPr>
          <a:xfrm>
            <a:off x="4504326" y="4286753"/>
            <a:ext cx="143510" cy="97155"/>
          </a:xfrm>
          <a:prstGeom prst="rect">
            <a:avLst/>
          </a:prstGeom>
        </p:spPr>
        <p:txBody>
          <a:bodyPr vert="horz" wrap="square" lIns="0" tIns="14604" rIns="0" bIns="0" rtlCol="0">
            <a:spAutoFit/>
          </a:bodyPr>
          <a:lstStyle/>
          <a:p>
            <a:pPr marL="12700">
              <a:lnSpc>
                <a:spcPct val="100000"/>
              </a:lnSpc>
              <a:spcBef>
                <a:spcPts val="114"/>
              </a:spcBef>
            </a:pPr>
            <a:r>
              <a:rPr sz="450" dirty="0">
                <a:latin typeface="Arial"/>
                <a:cs typeface="Arial"/>
              </a:rPr>
              <a:t>1</a:t>
            </a:r>
            <a:r>
              <a:rPr sz="450" spc="-85" dirty="0">
                <a:latin typeface="Arial"/>
                <a:cs typeface="Arial"/>
              </a:rPr>
              <a:t> </a:t>
            </a:r>
            <a:r>
              <a:rPr sz="450" spc="-25" dirty="0">
                <a:latin typeface="Arial"/>
                <a:cs typeface="Arial"/>
              </a:rPr>
              <a:t>cm</a:t>
            </a:r>
            <a:endParaRPr sz="450">
              <a:latin typeface="Arial"/>
              <a:cs typeface="Arial"/>
            </a:endParaRPr>
          </a:p>
        </p:txBody>
      </p:sp>
      <p:sp>
        <p:nvSpPr>
          <p:cNvPr id="61" name="object 61"/>
          <p:cNvSpPr/>
          <p:nvPr/>
        </p:nvSpPr>
        <p:spPr>
          <a:xfrm>
            <a:off x="1011304" y="1282218"/>
            <a:ext cx="62865" cy="106045"/>
          </a:xfrm>
          <a:custGeom>
            <a:avLst/>
            <a:gdLst/>
            <a:ahLst/>
            <a:cxnLst/>
            <a:rect l="l" t="t" r="r" b="b"/>
            <a:pathLst>
              <a:path w="62865" h="106044">
                <a:moveTo>
                  <a:pt x="26193" y="55340"/>
                </a:moveTo>
                <a:lnTo>
                  <a:pt x="5872" y="66469"/>
                </a:lnTo>
                <a:lnTo>
                  <a:pt x="62733" y="106000"/>
                </a:lnTo>
                <a:lnTo>
                  <a:pt x="61260" y="66469"/>
                </a:lnTo>
                <a:lnTo>
                  <a:pt x="61183" y="64405"/>
                </a:lnTo>
                <a:lnTo>
                  <a:pt x="31149" y="64405"/>
                </a:lnTo>
                <a:lnTo>
                  <a:pt x="26193" y="55340"/>
                </a:lnTo>
                <a:close/>
              </a:path>
              <a:path w="62865" h="106044">
                <a:moveTo>
                  <a:pt x="39800" y="47889"/>
                </a:moveTo>
                <a:lnTo>
                  <a:pt x="26193" y="55340"/>
                </a:lnTo>
                <a:lnTo>
                  <a:pt x="31149" y="64405"/>
                </a:lnTo>
                <a:lnTo>
                  <a:pt x="44773" y="56973"/>
                </a:lnTo>
                <a:lnTo>
                  <a:pt x="39800" y="47889"/>
                </a:lnTo>
                <a:close/>
              </a:path>
              <a:path w="62865" h="106044">
                <a:moveTo>
                  <a:pt x="60152" y="36743"/>
                </a:moveTo>
                <a:lnTo>
                  <a:pt x="39800" y="47889"/>
                </a:lnTo>
                <a:lnTo>
                  <a:pt x="44773" y="56973"/>
                </a:lnTo>
                <a:lnTo>
                  <a:pt x="31149" y="64405"/>
                </a:lnTo>
                <a:lnTo>
                  <a:pt x="61183" y="64405"/>
                </a:lnTo>
                <a:lnTo>
                  <a:pt x="60152" y="36743"/>
                </a:lnTo>
                <a:close/>
              </a:path>
              <a:path w="62865" h="106044">
                <a:moveTo>
                  <a:pt x="13582" y="0"/>
                </a:moveTo>
                <a:lnTo>
                  <a:pt x="0" y="7431"/>
                </a:lnTo>
                <a:lnTo>
                  <a:pt x="26193" y="55340"/>
                </a:lnTo>
                <a:lnTo>
                  <a:pt x="39800" y="47889"/>
                </a:lnTo>
                <a:lnTo>
                  <a:pt x="13582" y="0"/>
                </a:lnTo>
                <a:close/>
              </a:path>
            </a:pathLst>
          </a:custGeom>
          <a:solidFill>
            <a:srgbClr val="FFFFFF"/>
          </a:solidFill>
        </p:spPr>
        <p:txBody>
          <a:bodyPr wrap="square" lIns="0" tIns="0" rIns="0" bIns="0" rtlCol="0"/>
          <a:lstStyle/>
          <a:p>
            <a:endParaRPr/>
          </a:p>
        </p:txBody>
      </p:sp>
      <p:sp>
        <p:nvSpPr>
          <p:cNvPr id="62" name="object 62"/>
          <p:cNvSpPr/>
          <p:nvPr/>
        </p:nvSpPr>
        <p:spPr>
          <a:xfrm>
            <a:off x="3760679" y="1144738"/>
            <a:ext cx="58419" cy="108585"/>
          </a:xfrm>
          <a:custGeom>
            <a:avLst/>
            <a:gdLst/>
            <a:ahLst/>
            <a:cxnLst/>
            <a:rect l="l" t="t" r="r" b="b"/>
            <a:pathLst>
              <a:path w="58420" h="108584">
                <a:moveTo>
                  <a:pt x="23495" y="52472"/>
                </a:moveTo>
                <a:lnTo>
                  <a:pt x="0" y="101458"/>
                </a:lnTo>
                <a:lnTo>
                  <a:pt x="14037" y="108167"/>
                </a:lnTo>
                <a:lnTo>
                  <a:pt x="37448" y="59177"/>
                </a:lnTo>
                <a:lnTo>
                  <a:pt x="23495" y="52472"/>
                </a:lnTo>
                <a:close/>
              </a:path>
              <a:path w="58420" h="108584">
                <a:moveTo>
                  <a:pt x="57990" y="43143"/>
                </a:moveTo>
                <a:lnTo>
                  <a:pt x="27970" y="43143"/>
                </a:lnTo>
                <a:lnTo>
                  <a:pt x="41904" y="49852"/>
                </a:lnTo>
                <a:lnTo>
                  <a:pt x="37448" y="59177"/>
                </a:lnTo>
                <a:lnTo>
                  <a:pt x="58418" y="69256"/>
                </a:lnTo>
                <a:lnTo>
                  <a:pt x="58253" y="59177"/>
                </a:lnTo>
                <a:lnTo>
                  <a:pt x="58143" y="52472"/>
                </a:lnTo>
                <a:lnTo>
                  <a:pt x="58100" y="49852"/>
                </a:lnTo>
                <a:lnTo>
                  <a:pt x="57990" y="43143"/>
                </a:lnTo>
                <a:close/>
              </a:path>
              <a:path w="58420" h="108584">
                <a:moveTo>
                  <a:pt x="27970" y="43143"/>
                </a:moveTo>
                <a:lnTo>
                  <a:pt x="23495" y="52472"/>
                </a:lnTo>
                <a:lnTo>
                  <a:pt x="37448" y="59177"/>
                </a:lnTo>
                <a:lnTo>
                  <a:pt x="41904" y="49852"/>
                </a:lnTo>
                <a:lnTo>
                  <a:pt x="27970" y="43143"/>
                </a:lnTo>
                <a:close/>
              </a:path>
              <a:path w="58420" h="108584">
                <a:moveTo>
                  <a:pt x="57283" y="0"/>
                </a:moveTo>
                <a:lnTo>
                  <a:pt x="2580" y="42420"/>
                </a:lnTo>
                <a:lnTo>
                  <a:pt x="23495" y="52472"/>
                </a:lnTo>
                <a:lnTo>
                  <a:pt x="27970" y="43143"/>
                </a:lnTo>
                <a:lnTo>
                  <a:pt x="57990" y="43143"/>
                </a:lnTo>
                <a:lnTo>
                  <a:pt x="57283" y="0"/>
                </a:lnTo>
                <a:close/>
              </a:path>
            </a:pathLst>
          </a:custGeom>
          <a:solidFill>
            <a:srgbClr val="FFFFFF"/>
          </a:solidFill>
        </p:spPr>
        <p:txBody>
          <a:bodyPr wrap="square" lIns="0" tIns="0" rIns="0" bIns="0" rtlCol="0"/>
          <a:lstStyle/>
          <a:p>
            <a:endParaRPr/>
          </a:p>
        </p:txBody>
      </p:sp>
      <p:pic>
        <p:nvPicPr>
          <p:cNvPr id="63" name="object 63"/>
          <p:cNvPicPr/>
          <p:nvPr/>
        </p:nvPicPr>
        <p:blipFill>
          <a:blip r:embed="rId13" cstate="print"/>
          <a:stretch>
            <a:fillRect/>
          </a:stretch>
        </p:blipFill>
        <p:spPr>
          <a:xfrm>
            <a:off x="5789027" y="1724487"/>
            <a:ext cx="76790" cy="92066"/>
          </a:xfrm>
          <a:prstGeom prst="rect">
            <a:avLst/>
          </a:prstGeom>
        </p:spPr>
      </p:pic>
      <p:sp>
        <p:nvSpPr>
          <p:cNvPr id="64" name="object 64"/>
          <p:cNvSpPr/>
          <p:nvPr/>
        </p:nvSpPr>
        <p:spPr>
          <a:xfrm>
            <a:off x="7140295" y="891969"/>
            <a:ext cx="62230" cy="105410"/>
          </a:xfrm>
          <a:custGeom>
            <a:avLst/>
            <a:gdLst/>
            <a:ahLst/>
            <a:cxnLst/>
            <a:rect l="l" t="t" r="r" b="b"/>
            <a:pathLst>
              <a:path w="62229" h="105409">
                <a:moveTo>
                  <a:pt x="38704" y="51606"/>
                </a:moveTo>
                <a:lnTo>
                  <a:pt x="23222" y="51606"/>
                </a:lnTo>
                <a:lnTo>
                  <a:pt x="23222" y="104864"/>
                </a:lnTo>
                <a:lnTo>
                  <a:pt x="38704" y="104864"/>
                </a:lnTo>
                <a:lnTo>
                  <a:pt x="38704" y="51606"/>
                </a:lnTo>
                <a:close/>
              </a:path>
              <a:path w="62229" h="105409">
                <a:moveTo>
                  <a:pt x="30963" y="0"/>
                </a:moveTo>
                <a:lnTo>
                  <a:pt x="0" y="61927"/>
                </a:lnTo>
                <a:lnTo>
                  <a:pt x="23222" y="61927"/>
                </a:lnTo>
                <a:lnTo>
                  <a:pt x="23222" y="51606"/>
                </a:lnTo>
                <a:lnTo>
                  <a:pt x="56767" y="51606"/>
                </a:lnTo>
                <a:lnTo>
                  <a:pt x="30963" y="0"/>
                </a:lnTo>
                <a:close/>
              </a:path>
              <a:path w="62229" h="105409">
                <a:moveTo>
                  <a:pt x="56767" y="51606"/>
                </a:moveTo>
                <a:lnTo>
                  <a:pt x="38704" y="51606"/>
                </a:lnTo>
                <a:lnTo>
                  <a:pt x="38704" y="61927"/>
                </a:lnTo>
                <a:lnTo>
                  <a:pt x="61927" y="61927"/>
                </a:lnTo>
                <a:lnTo>
                  <a:pt x="56767" y="51606"/>
                </a:lnTo>
                <a:close/>
              </a:path>
            </a:pathLst>
          </a:custGeom>
          <a:solidFill>
            <a:srgbClr val="FFFFFF"/>
          </a:solidFill>
        </p:spPr>
        <p:txBody>
          <a:bodyPr wrap="square" lIns="0" tIns="0" rIns="0" bIns="0" rtlCol="0"/>
          <a:lstStyle/>
          <a:p>
            <a:endParaRPr/>
          </a:p>
        </p:txBody>
      </p:sp>
      <p:pic>
        <p:nvPicPr>
          <p:cNvPr id="65" name="object 65"/>
          <p:cNvPicPr/>
          <p:nvPr/>
        </p:nvPicPr>
        <p:blipFill>
          <a:blip r:embed="rId14" cstate="print"/>
          <a:stretch>
            <a:fillRect/>
          </a:stretch>
        </p:blipFill>
        <p:spPr>
          <a:xfrm>
            <a:off x="8932491" y="1285934"/>
            <a:ext cx="72042" cy="106516"/>
          </a:xfrm>
          <a:prstGeom prst="rect">
            <a:avLst/>
          </a:prstGeom>
        </p:spPr>
      </p:pic>
      <p:pic>
        <p:nvPicPr>
          <p:cNvPr id="66" name="object 66"/>
          <p:cNvPicPr/>
          <p:nvPr/>
        </p:nvPicPr>
        <p:blipFill>
          <a:blip r:embed="rId15" cstate="print"/>
          <a:stretch>
            <a:fillRect/>
          </a:stretch>
        </p:blipFill>
        <p:spPr>
          <a:xfrm>
            <a:off x="7277053" y="4006534"/>
            <a:ext cx="81538" cy="85563"/>
          </a:xfrm>
          <a:prstGeom prst="rect">
            <a:avLst/>
          </a:prstGeom>
        </p:spPr>
      </p:pic>
      <p:pic>
        <p:nvPicPr>
          <p:cNvPr id="67" name="object 67"/>
          <p:cNvPicPr/>
          <p:nvPr/>
        </p:nvPicPr>
        <p:blipFill>
          <a:blip r:embed="rId15" cstate="print"/>
          <a:stretch>
            <a:fillRect/>
          </a:stretch>
        </p:blipFill>
        <p:spPr>
          <a:xfrm>
            <a:off x="3628257" y="4043690"/>
            <a:ext cx="81538" cy="85563"/>
          </a:xfrm>
          <a:prstGeom prst="rect">
            <a:avLst/>
          </a:prstGeom>
        </p:spPr>
      </p:pic>
      <p:pic>
        <p:nvPicPr>
          <p:cNvPr id="68" name="object 68"/>
          <p:cNvPicPr/>
          <p:nvPr/>
        </p:nvPicPr>
        <p:blipFill>
          <a:blip r:embed="rId16" cstate="print"/>
          <a:stretch>
            <a:fillRect/>
          </a:stretch>
        </p:blipFill>
        <p:spPr>
          <a:xfrm>
            <a:off x="2994837" y="3724038"/>
            <a:ext cx="84325" cy="93924"/>
          </a:xfrm>
          <a:prstGeom prst="rect">
            <a:avLst/>
          </a:prstGeom>
        </p:spPr>
      </p:pic>
      <p:sp>
        <p:nvSpPr>
          <p:cNvPr id="69" name="object 50">
            <a:extLst>
              <a:ext uri="{FF2B5EF4-FFF2-40B4-BE49-F238E27FC236}">
                <a16:creationId xmlns:a16="http://schemas.microsoft.com/office/drawing/2014/main" id="{8A5C3169-23BF-FBFD-BAA6-92A51D6AE6A6}"/>
              </a:ext>
            </a:extLst>
          </p:cNvPr>
          <p:cNvSpPr txBox="1"/>
          <p:nvPr/>
        </p:nvSpPr>
        <p:spPr>
          <a:xfrm>
            <a:off x="5038460" y="2395673"/>
            <a:ext cx="160020" cy="237886"/>
          </a:xfrm>
          <a:prstGeom prst="rect">
            <a:avLst/>
          </a:prstGeom>
        </p:spPr>
        <p:txBody>
          <a:bodyPr vert="horz" wrap="square" lIns="0" tIns="14605" rIns="0" bIns="0" rtlCol="0">
            <a:spAutoFit/>
          </a:bodyPr>
          <a:lstStyle/>
          <a:p>
            <a:pPr marL="12700">
              <a:lnSpc>
                <a:spcPct val="100000"/>
              </a:lnSpc>
              <a:spcBef>
                <a:spcPts val="115"/>
              </a:spcBef>
            </a:pPr>
            <a:r>
              <a:rPr lang="en-US" sz="1450" b="1" spc="-50" dirty="0">
                <a:latin typeface="Arial"/>
                <a:cs typeface="Arial"/>
              </a:rPr>
              <a:t>e</a:t>
            </a:r>
            <a:endParaRPr sz="1450" dirty="0">
              <a:latin typeface="Arial"/>
              <a:cs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1" name="object 121"/>
          <p:cNvSpPr txBox="1"/>
          <p:nvPr/>
        </p:nvSpPr>
        <p:spPr>
          <a:xfrm>
            <a:off x="54609" y="5803961"/>
            <a:ext cx="9774359" cy="1090042"/>
          </a:xfrm>
          <a:prstGeom prst="rect">
            <a:avLst/>
          </a:prstGeom>
        </p:spPr>
        <p:txBody>
          <a:bodyPr vert="horz" wrap="square" lIns="0" tIns="12700" rIns="0" bIns="0" rtlCol="0">
            <a:spAutoFit/>
          </a:bodyPr>
          <a:lstStyle/>
          <a:p>
            <a:pPr marR="5080" algn="just">
              <a:lnSpc>
                <a:spcPts val="1435"/>
              </a:lnSpc>
              <a:spcBef>
                <a:spcPts val="100"/>
              </a:spcBef>
            </a:pPr>
            <a:r>
              <a:rPr lang="en-US" sz="1200" b="1" dirty="0">
                <a:latin typeface="Times New Roman"/>
                <a:cs typeface="Times New Roman"/>
              </a:rPr>
              <a:t>Fig. S2.</a:t>
            </a:r>
            <a:r>
              <a:rPr lang="en-US" sz="1200" b="1" spc="459" dirty="0">
                <a:latin typeface="Times New Roman"/>
                <a:cs typeface="Times New Roman"/>
              </a:rPr>
              <a:t> </a:t>
            </a:r>
            <a:r>
              <a:rPr lang="en-US" sz="1200" b="1" dirty="0">
                <a:latin typeface="Times New Roman"/>
                <a:cs typeface="Times New Roman"/>
              </a:rPr>
              <a:t>Principal</a:t>
            </a:r>
            <a:r>
              <a:rPr lang="en-US" sz="1200" b="1" spc="455" dirty="0">
                <a:latin typeface="Times New Roman"/>
                <a:cs typeface="Times New Roman"/>
              </a:rPr>
              <a:t> </a:t>
            </a:r>
            <a:r>
              <a:rPr lang="en-US" sz="1200" b="1" dirty="0">
                <a:latin typeface="Times New Roman"/>
                <a:cs typeface="Times New Roman"/>
              </a:rPr>
              <a:t>component</a:t>
            </a:r>
            <a:r>
              <a:rPr lang="en-US" sz="1200" b="1" spc="455" dirty="0">
                <a:latin typeface="Times New Roman"/>
                <a:cs typeface="Times New Roman"/>
              </a:rPr>
              <a:t> </a:t>
            </a:r>
            <a:r>
              <a:rPr lang="en-US" sz="1200" b="1" dirty="0">
                <a:latin typeface="Times New Roman"/>
                <a:cs typeface="Times New Roman"/>
              </a:rPr>
              <a:t>analysis</a:t>
            </a:r>
            <a:r>
              <a:rPr lang="en-US" sz="1200" b="1" spc="459" dirty="0">
                <a:latin typeface="Times New Roman"/>
                <a:cs typeface="Times New Roman"/>
              </a:rPr>
              <a:t> </a:t>
            </a:r>
            <a:r>
              <a:rPr lang="en-US" sz="1200" b="1" dirty="0">
                <a:latin typeface="Times New Roman"/>
                <a:cs typeface="Times New Roman"/>
              </a:rPr>
              <a:t>(PCA)</a:t>
            </a:r>
            <a:r>
              <a:rPr lang="en-US" sz="1200" b="1" spc="455" dirty="0">
                <a:latin typeface="Times New Roman"/>
                <a:cs typeface="Times New Roman"/>
              </a:rPr>
              <a:t> </a:t>
            </a:r>
            <a:r>
              <a:rPr lang="en-US" sz="1200" b="1" spc="-25" dirty="0">
                <a:latin typeface="Times New Roman"/>
                <a:cs typeface="Times New Roman"/>
              </a:rPr>
              <a:t>of</a:t>
            </a:r>
            <a:r>
              <a:rPr lang="en-US" sz="1200" dirty="0">
                <a:latin typeface="Times New Roman"/>
                <a:cs typeface="Times New Roman"/>
              </a:rPr>
              <a:t> </a:t>
            </a:r>
            <a:r>
              <a:rPr sz="1200" b="1" spc="-10" dirty="0">
                <a:latin typeface="Times New Roman"/>
                <a:cs typeface="Times New Roman"/>
              </a:rPr>
              <a:t>log-</a:t>
            </a:r>
            <a:r>
              <a:rPr sz="1200" b="1" dirty="0">
                <a:latin typeface="Times New Roman"/>
                <a:cs typeface="Times New Roman"/>
              </a:rPr>
              <a:t>transformed</a:t>
            </a:r>
            <a:r>
              <a:rPr sz="1200" b="1" spc="440" dirty="0">
                <a:latin typeface="Times New Roman"/>
                <a:cs typeface="Times New Roman"/>
              </a:rPr>
              <a:t> </a:t>
            </a:r>
            <a:r>
              <a:rPr sz="1200" b="1" dirty="0">
                <a:latin typeface="Times New Roman"/>
                <a:cs typeface="Times New Roman"/>
              </a:rPr>
              <a:t>protein</a:t>
            </a:r>
            <a:r>
              <a:rPr sz="1200" b="1" spc="445" dirty="0">
                <a:latin typeface="Times New Roman"/>
                <a:cs typeface="Times New Roman"/>
              </a:rPr>
              <a:t> </a:t>
            </a:r>
            <a:r>
              <a:rPr sz="1200" b="1" dirty="0">
                <a:latin typeface="Times New Roman"/>
                <a:cs typeface="Times New Roman"/>
              </a:rPr>
              <a:t>abundance</a:t>
            </a:r>
            <a:r>
              <a:rPr sz="1200" b="1" spc="440" dirty="0">
                <a:latin typeface="Times New Roman"/>
                <a:cs typeface="Times New Roman"/>
              </a:rPr>
              <a:t> </a:t>
            </a:r>
            <a:r>
              <a:rPr sz="1200" b="1" dirty="0">
                <a:latin typeface="Times New Roman"/>
                <a:cs typeface="Times New Roman"/>
              </a:rPr>
              <a:t>data.</a:t>
            </a:r>
            <a:r>
              <a:rPr sz="1200" b="1" spc="445" dirty="0">
                <a:latin typeface="Times New Roman"/>
                <a:cs typeface="Times New Roman"/>
              </a:rPr>
              <a:t> </a:t>
            </a:r>
            <a:r>
              <a:rPr sz="1200" b="1" dirty="0">
                <a:latin typeface="Times New Roman"/>
                <a:cs typeface="Times New Roman"/>
              </a:rPr>
              <a:t>(</a:t>
            </a:r>
            <a:r>
              <a:rPr lang="en-US" sz="1200" b="1" dirty="0">
                <a:latin typeface="Times New Roman"/>
                <a:cs typeface="Times New Roman"/>
              </a:rPr>
              <a:t>a</a:t>
            </a:r>
            <a:r>
              <a:rPr sz="1200" b="1" dirty="0">
                <a:latin typeface="Times New Roman"/>
                <a:cs typeface="Times New Roman"/>
              </a:rPr>
              <a:t>)</a:t>
            </a:r>
            <a:r>
              <a:rPr sz="1200" b="1" spc="440" dirty="0">
                <a:latin typeface="Times New Roman"/>
                <a:cs typeface="Times New Roman"/>
              </a:rPr>
              <a:t> </a:t>
            </a:r>
            <a:r>
              <a:rPr sz="1200" dirty="0">
                <a:latin typeface="Times New Roman"/>
                <a:cs typeface="Times New Roman"/>
              </a:rPr>
              <a:t>PCA</a:t>
            </a:r>
            <a:r>
              <a:rPr sz="1200" spc="440" dirty="0">
                <a:latin typeface="Times New Roman"/>
                <a:cs typeface="Times New Roman"/>
              </a:rPr>
              <a:t> </a:t>
            </a:r>
            <a:r>
              <a:rPr sz="1200" spc="-25" dirty="0">
                <a:latin typeface="Times New Roman"/>
                <a:cs typeface="Times New Roman"/>
              </a:rPr>
              <a:t>of</a:t>
            </a:r>
            <a:r>
              <a:rPr lang="en-US" sz="1200" spc="-25" dirty="0">
                <a:latin typeface="Times New Roman"/>
                <a:cs typeface="Times New Roman"/>
              </a:rPr>
              <a:t> </a:t>
            </a:r>
            <a:r>
              <a:rPr sz="1200" dirty="0">
                <a:latin typeface="Times New Roman"/>
                <a:cs typeface="Times New Roman"/>
              </a:rPr>
              <a:t>745</a:t>
            </a:r>
            <a:r>
              <a:rPr sz="1200" spc="100" dirty="0">
                <a:latin typeface="Times New Roman"/>
                <a:cs typeface="Times New Roman"/>
              </a:rPr>
              <a:t> </a:t>
            </a:r>
            <a:r>
              <a:rPr sz="1200" dirty="0">
                <a:latin typeface="Times New Roman"/>
                <a:cs typeface="Times New Roman"/>
              </a:rPr>
              <a:t>orthogroups</a:t>
            </a:r>
            <a:r>
              <a:rPr sz="1200" spc="140" dirty="0">
                <a:latin typeface="Times New Roman"/>
                <a:cs typeface="Times New Roman"/>
              </a:rPr>
              <a:t>  </a:t>
            </a:r>
            <a:r>
              <a:rPr sz="1200" dirty="0">
                <a:latin typeface="Times New Roman"/>
                <a:cs typeface="Times New Roman"/>
              </a:rPr>
              <a:t>from</a:t>
            </a:r>
            <a:r>
              <a:rPr sz="1200" spc="145" dirty="0">
                <a:latin typeface="Times New Roman"/>
                <a:cs typeface="Times New Roman"/>
              </a:rPr>
              <a:t>  </a:t>
            </a:r>
            <a:r>
              <a:rPr sz="1200" dirty="0">
                <a:latin typeface="Times New Roman"/>
                <a:cs typeface="Times New Roman"/>
              </a:rPr>
              <a:t>five</a:t>
            </a:r>
            <a:r>
              <a:rPr sz="1200" spc="135" dirty="0">
                <a:latin typeface="Times New Roman"/>
                <a:cs typeface="Times New Roman"/>
              </a:rPr>
              <a:t>  </a:t>
            </a:r>
            <a:r>
              <a:rPr sz="1200" dirty="0">
                <a:latin typeface="Times New Roman"/>
                <a:cs typeface="Times New Roman"/>
              </a:rPr>
              <a:t>species</a:t>
            </a:r>
            <a:r>
              <a:rPr sz="1200" spc="145" dirty="0">
                <a:latin typeface="Times New Roman"/>
                <a:cs typeface="Times New Roman"/>
              </a:rPr>
              <a:t>  </a:t>
            </a:r>
            <a:r>
              <a:rPr lang="en-US" sz="1200" i="1" dirty="0">
                <a:latin typeface="Times New Roman"/>
                <a:cs typeface="Times New Roman"/>
              </a:rPr>
              <a:t>Tripsacum dactyloides and T. floridanum hybrids </a:t>
            </a:r>
            <a:r>
              <a:rPr sz="1200" spc="-10" dirty="0">
                <a:latin typeface="Times New Roman"/>
                <a:cs typeface="Times New Roman"/>
              </a:rPr>
              <a:t>(Td-</a:t>
            </a:r>
            <a:r>
              <a:rPr sz="1200" dirty="0">
                <a:latin typeface="Times New Roman"/>
                <a:cs typeface="Times New Roman"/>
              </a:rPr>
              <a:t>2019,</a:t>
            </a:r>
            <a:r>
              <a:rPr sz="1200" spc="145" dirty="0">
                <a:latin typeface="Times New Roman"/>
                <a:cs typeface="Times New Roman"/>
              </a:rPr>
              <a:t> </a:t>
            </a:r>
            <a:r>
              <a:rPr sz="1200" spc="-10" dirty="0">
                <a:latin typeface="Times New Roman"/>
                <a:cs typeface="Times New Roman"/>
              </a:rPr>
              <a:t>Td-</a:t>
            </a:r>
            <a:r>
              <a:rPr sz="1200" dirty="0">
                <a:latin typeface="Times New Roman"/>
                <a:cs typeface="Times New Roman"/>
              </a:rPr>
              <a:t>2022),</a:t>
            </a:r>
            <a:r>
              <a:rPr sz="1200" spc="145" dirty="0">
                <a:latin typeface="Times New Roman"/>
                <a:cs typeface="Times New Roman"/>
              </a:rPr>
              <a:t> </a:t>
            </a:r>
            <a:r>
              <a:rPr sz="1200" i="1" dirty="0">
                <a:latin typeface="Times New Roman"/>
                <a:cs typeface="Times New Roman"/>
              </a:rPr>
              <a:t>A</a:t>
            </a:r>
            <a:r>
              <a:rPr lang="en-US" sz="1200" i="1" dirty="0">
                <a:latin typeface="Times New Roman"/>
                <a:cs typeface="Times New Roman"/>
              </a:rPr>
              <a:t>ndropogon</a:t>
            </a:r>
            <a:r>
              <a:rPr sz="1200" i="1" spc="-25" dirty="0">
                <a:latin typeface="Times New Roman"/>
                <a:cs typeface="Times New Roman"/>
              </a:rPr>
              <a:t> </a:t>
            </a:r>
            <a:r>
              <a:rPr sz="1200" i="1" dirty="0">
                <a:latin typeface="Times New Roman"/>
                <a:cs typeface="Times New Roman"/>
              </a:rPr>
              <a:t>gerardi</a:t>
            </a:r>
            <a:r>
              <a:rPr lang="en-US" sz="1200" i="1" dirty="0">
                <a:latin typeface="Times New Roman"/>
                <a:cs typeface="Times New Roman"/>
              </a:rPr>
              <a:t> </a:t>
            </a:r>
            <a:r>
              <a:rPr sz="1200" dirty="0">
                <a:latin typeface="Times New Roman"/>
                <a:cs typeface="Times New Roman"/>
              </a:rPr>
              <a:t>(Ag),</a:t>
            </a:r>
            <a:r>
              <a:rPr sz="1200" spc="140" dirty="0">
                <a:latin typeface="Times New Roman"/>
                <a:cs typeface="Times New Roman"/>
              </a:rPr>
              <a:t> </a:t>
            </a:r>
            <a:r>
              <a:rPr lang="en-US" sz="1200" i="1" dirty="0">
                <a:latin typeface="Times New Roman"/>
                <a:cs typeface="Times New Roman"/>
              </a:rPr>
              <a:t>Miscanthus </a:t>
            </a:r>
            <a:r>
              <a:rPr lang="en-US" sz="1200" spc="140" dirty="0">
                <a:latin typeface="Times New Roman"/>
                <a:cs typeface="Times New Roman"/>
              </a:rPr>
              <a:t>× </a:t>
            </a:r>
            <a:r>
              <a:rPr lang="en-US" sz="1200" i="1" dirty="0">
                <a:latin typeface="Times New Roman"/>
                <a:cs typeface="Times New Roman"/>
              </a:rPr>
              <a:t>giganteus </a:t>
            </a:r>
            <a:r>
              <a:rPr sz="1200" dirty="0">
                <a:latin typeface="Times New Roman"/>
                <a:cs typeface="Times New Roman"/>
              </a:rPr>
              <a:t>(Mg),</a:t>
            </a:r>
            <a:r>
              <a:rPr sz="1200" spc="145" dirty="0">
                <a:latin typeface="Times New Roman"/>
                <a:cs typeface="Times New Roman"/>
              </a:rPr>
              <a:t>  </a:t>
            </a:r>
            <a:r>
              <a:rPr sz="1200" i="1" dirty="0">
                <a:latin typeface="Times New Roman"/>
                <a:cs typeface="Times New Roman"/>
              </a:rPr>
              <a:t>P</a:t>
            </a:r>
            <a:r>
              <a:rPr lang="en-US" sz="1200" i="1" dirty="0">
                <a:latin typeface="Times New Roman"/>
                <a:cs typeface="Times New Roman"/>
              </a:rPr>
              <a:t>anicum</a:t>
            </a:r>
            <a:r>
              <a:rPr sz="1200" i="1" spc="285" dirty="0">
                <a:latin typeface="Times New Roman"/>
                <a:cs typeface="Times New Roman"/>
              </a:rPr>
              <a:t> </a:t>
            </a:r>
            <a:r>
              <a:rPr sz="1200" i="1" dirty="0">
                <a:latin typeface="Times New Roman"/>
                <a:cs typeface="Times New Roman"/>
              </a:rPr>
              <a:t>virgatum</a:t>
            </a:r>
            <a:r>
              <a:rPr sz="1200" i="1" spc="450" dirty="0">
                <a:latin typeface="Times New Roman"/>
                <a:cs typeface="Times New Roman"/>
              </a:rPr>
              <a:t> </a:t>
            </a:r>
            <a:r>
              <a:rPr sz="1200" spc="-10" dirty="0">
                <a:latin typeface="Times New Roman"/>
                <a:cs typeface="Times New Roman"/>
              </a:rPr>
              <a:t>(</a:t>
            </a:r>
            <a:r>
              <a:rPr sz="1200" spc="-10" dirty="0" err="1">
                <a:latin typeface="Times New Roman"/>
                <a:cs typeface="Times New Roman"/>
              </a:rPr>
              <a:t>Pv</a:t>
            </a:r>
            <a:r>
              <a:rPr sz="1200" spc="-10" dirty="0">
                <a:latin typeface="Times New Roman"/>
                <a:cs typeface="Times New Roman"/>
              </a:rPr>
              <a:t>),</a:t>
            </a:r>
            <a:r>
              <a:rPr lang="en-US" sz="1200" spc="-10" dirty="0">
                <a:latin typeface="Times New Roman"/>
                <a:cs typeface="Times New Roman"/>
              </a:rPr>
              <a:t> </a:t>
            </a:r>
            <a:r>
              <a:rPr lang="en-US" sz="1200" dirty="0">
                <a:latin typeface="Times New Roman"/>
                <a:cs typeface="Times New Roman"/>
              </a:rPr>
              <a:t>and</a:t>
            </a:r>
            <a:r>
              <a:rPr lang="en-US" sz="1200" spc="455" dirty="0">
                <a:latin typeface="Times New Roman"/>
                <a:cs typeface="Times New Roman"/>
              </a:rPr>
              <a:t> </a:t>
            </a:r>
            <a:r>
              <a:rPr lang="en-US" sz="1200" i="1" dirty="0">
                <a:latin typeface="Times New Roman"/>
                <a:cs typeface="Times New Roman"/>
              </a:rPr>
              <a:t>Sorghastrum</a:t>
            </a:r>
            <a:r>
              <a:rPr lang="en-US" sz="1200" i="1" spc="270" dirty="0">
                <a:latin typeface="Times New Roman"/>
                <a:cs typeface="Times New Roman"/>
              </a:rPr>
              <a:t> </a:t>
            </a:r>
            <a:r>
              <a:rPr lang="en-US" sz="1200" i="1" dirty="0">
                <a:latin typeface="Times New Roman"/>
                <a:cs typeface="Times New Roman"/>
              </a:rPr>
              <a:t>nutans</a:t>
            </a:r>
            <a:r>
              <a:rPr lang="en-US" sz="1200" i="1" spc="475" dirty="0">
                <a:latin typeface="Times New Roman"/>
                <a:cs typeface="Times New Roman"/>
              </a:rPr>
              <a:t> </a:t>
            </a:r>
            <a:r>
              <a:rPr lang="en-US" sz="1200" dirty="0">
                <a:latin typeface="Times New Roman"/>
                <a:cs typeface="Times New Roman"/>
              </a:rPr>
              <a:t>(Sn).</a:t>
            </a:r>
            <a:r>
              <a:rPr lang="en-US" sz="1200" spc="480" dirty="0">
                <a:latin typeface="Times New Roman"/>
                <a:cs typeface="Times New Roman"/>
              </a:rPr>
              <a:t> </a:t>
            </a:r>
            <a:r>
              <a:rPr lang="en-US" sz="1200" b="1" dirty="0">
                <a:latin typeface="Times New Roman"/>
                <a:cs typeface="Times New Roman"/>
              </a:rPr>
              <a:t>(b)</a:t>
            </a:r>
            <a:r>
              <a:rPr lang="en-US" sz="1200" b="1" spc="475" dirty="0">
                <a:latin typeface="Times New Roman"/>
                <a:cs typeface="Times New Roman"/>
              </a:rPr>
              <a:t> </a:t>
            </a:r>
            <a:r>
              <a:rPr lang="en-US" sz="1200" dirty="0">
                <a:latin typeface="Times New Roman"/>
                <a:cs typeface="Times New Roman"/>
              </a:rPr>
              <a:t>PCA</a:t>
            </a:r>
            <a:r>
              <a:rPr lang="en-US" sz="1200" spc="470" dirty="0">
                <a:latin typeface="Times New Roman"/>
                <a:cs typeface="Times New Roman"/>
              </a:rPr>
              <a:t> </a:t>
            </a:r>
            <a:r>
              <a:rPr lang="en-US" sz="1200" dirty="0">
                <a:latin typeface="Times New Roman"/>
                <a:cs typeface="Times New Roman"/>
              </a:rPr>
              <a:t>of</a:t>
            </a:r>
            <a:r>
              <a:rPr lang="en-US" sz="1200" spc="470" dirty="0">
                <a:latin typeface="Times New Roman"/>
                <a:cs typeface="Times New Roman"/>
              </a:rPr>
              <a:t> </a:t>
            </a:r>
            <a:r>
              <a:rPr lang="en-US" sz="1200" dirty="0">
                <a:latin typeface="Times New Roman"/>
                <a:cs typeface="Times New Roman"/>
              </a:rPr>
              <a:t>1,889</a:t>
            </a:r>
            <a:r>
              <a:rPr lang="en-US" sz="1200" spc="470" dirty="0">
                <a:latin typeface="Times New Roman"/>
                <a:cs typeface="Times New Roman"/>
              </a:rPr>
              <a:t> </a:t>
            </a:r>
            <a:r>
              <a:rPr lang="en-US" sz="1200" dirty="0">
                <a:latin typeface="Times New Roman"/>
                <a:cs typeface="Times New Roman"/>
              </a:rPr>
              <a:t>proteins</a:t>
            </a:r>
            <a:r>
              <a:rPr lang="en-US" sz="1200" spc="475" dirty="0">
                <a:latin typeface="Times New Roman"/>
                <a:cs typeface="Times New Roman"/>
              </a:rPr>
              <a:t> </a:t>
            </a:r>
            <a:r>
              <a:rPr lang="en-US" sz="1200" dirty="0">
                <a:latin typeface="Times New Roman"/>
                <a:cs typeface="Times New Roman"/>
              </a:rPr>
              <a:t>from</a:t>
            </a:r>
            <a:r>
              <a:rPr lang="en-US" sz="1200" spc="475" dirty="0">
                <a:latin typeface="Times New Roman"/>
                <a:cs typeface="Times New Roman"/>
              </a:rPr>
              <a:t> </a:t>
            </a:r>
            <a:r>
              <a:rPr lang="en-US" sz="1200" i="1" dirty="0">
                <a:latin typeface="Times New Roman"/>
                <a:cs typeface="Times New Roman"/>
              </a:rPr>
              <a:t>Tripsacum</a:t>
            </a:r>
            <a:r>
              <a:rPr lang="en-US" sz="1200" i="1" spc="475" dirty="0">
                <a:latin typeface="Times New Roman"/>
                <a:cs typeface="Times New Roman"/>
              </a:rPr>
              <a:t> </a:t>
            </a:r>
            <a:r>
              <a:rPr lang="en-US" sz="1200" dirty="0">
                <a:latin typeface="Times New Roman"/>
                <a:cs typeface="Times New Roman"/>
              </a:rPr>
              <a:t>hybrids.</a:t>
            </a:r>
            <a:r>
              <a:rPr lang="en-US" sz="1200" spc="470" dirty="0">
                <a:latin typeface="Times New Roman"/>
                <a:cs typeface="Times New Roman"/>
              </a:rPr>
              <a:t> </a:t>
            </a:r>
            <a:r>
              <a:rPr lang="en-US" sz="1200" dirty="0">
                <a:latin typeface="Times New Roman"/>
                <a:cs typeface="Times New Roman"/>
              </a:rPr>
              <a:t>Points</a:t>
            </a:r>
            <a:r>
              <a:rPr lang="en-US" sz="1200" spc="475" dirty="0">
                <a:latin typeface="Times New Roman"/>
                <a:cs typeface="Times New Roman"/>
              </a:rPr>
              <a:t> </a:t>
            </a:r>
            <a:r>
              <a:rPr lang="en-US" sz="1200" dirty="0">
                <a:latin typeface="Times New Roman"/>
                <a:cs typeface="Times New Roman"/>
              </a:rPr>
              <a:t>are</a:t>
            </a:r>
            <a:r>
              <a:rPr lang="en-US" sz="1200" spc="475" dirty="0">
                <a:latin typeface="Times New Roman"/>
                <a:cs typeface="Times New Roman"/>
              </a:rPr>
              <a:t> </a:t>
            </a:r>
            <a:r>
              <a:rPr lang="en-US" sz="1200" dirty="0">
                <a:latin typeface="Times New Roman"/>
                <a:cs typeface="Times New Roman"/>
              </a:rPr>
              <a:t>colored</a:t>
            </a:r>
            <a:r>
              <a:rPr lang="en-US" sz="1200" spc="480" dirty="0">
                <a:latin typeface="Times New Roman"/>
                <a:cs typeface="Times New Roman"/>
              </a:rPr>
              <a:t> </a:t>
            </a:r>
            <a:r>
              <a:rPr lang="en-US" sz="1200" dirty="0">
                <a:latin typeface="Times New Roman"/>
                <a:cs typeface="Times New Roman"/>
              </a:rPr>
              <a:t>by</a:t>
            </a:r>
            <a:r>
              <a:rPr lang="en-US" sz="1200" spc="470" dirty="0">
                <a:latin typeface="Times New Roman"/>
                <a:cs typeface="Times New Roman"/>
              </a:rPr>
              <a:t> </a:t>
            </a:r>
            <a:r>
              <a:rPr lang="en-US" sz="1200" dirty="0">
                <a:latin typeface="Times New Roman"/>
                <a:cs typeface="Times New Roman"/>
              </a:rPr>
              <a:t>hybrid</a:t>
            </a:r>
            <a:r>
              <a:rPr lang="en-US" sz="1200" spc="475" dirty="0">
                <a:latin typeface="Times New Roman"/>
                <a:cs typeface="Times New Roman"/>
              </a:rPr>
              <a:t> </a:t>
            </a:r>
            <a:r>
              <a:rPr lang="en-US" sz="1200" spc="-10" dirty="0">
                <a:latin typeface="Times New Roman"/>
                <a:cs typeface="Times New Roman"/>
              </a:rPr>
              <a:t>type–</a:t>
            </a:r>
            <a:r>
              <a:rPr lang="en-US" sz="1200" dirty="0">
                <a:latin typeface="Times New Roman"/>
                <a:cs typeface="Times New Roman"/>
              </a:rPr>
              <a:t>intraspecific</a:t>
            </a:r>
            <a:r>
              <a:rPr lang="en-US" sz="1200" spc="305" dirty="0">
                <a:latin typeface="Times New Roman"/>
                <a:cs typeface="Times New Roman"/>
              </a:rPr>
              <a:t> </a:t>
            </a:r>
            <a:r>
              <a:rPr lang="en-US" sz="1200" i="1" spc="-25" dirty="0">
                <a:latin typeface="Times New Roman"/>
                <a:cs typeface="Times New Roman"/>
              </a:rPr>
              <a:t>T. </a:t>
            </a:r>
            <a:r>
              <a:rPr lang="en-US" sz="1200" i="1" dirty="0">
                <a:latin typeface="Times New Roman"/>
                <a:cs typeface="Times New Roman"/>
              </a:rPr>
              <a:t>dactyloides</a:t>
            </a:r>
            <a:r>
              <a:rPr lang="en-US" sz="1200" i="1" spc="165" dirty="0">
                <a:latin typeface="Times New Roman"/>
                <a:cs typeface="Times New Roman"/>
              </a:rPr>
              <a:t> </a:t>
            </a:r>
            <a:r>
              <a:rPr lang="en-US" sz="1200" dirty="0">
                <a:latin typeface="Times New Roman"/>
                <a:cs typeface="Times New Roman"/>
              </a:rPr>
              <a:t>hybrids</a:t>
            </a:r>
            <a:r>
              <a:rPr lang="en-US" sz="1200" spc="165" dirty="0">
                <a:latin typeface="Times New Roman"/>
                <a:cs typeface="Times New Roman"/>
              </a:rPr>
              <a:t> </a:t>
            </a:r>
            <a:r>
              <a:rPr lang="en-US" sz="1200" dirty="0">
                <a:latin typeface="Times New Roman"/>
                <a:cs typeface="Times New Roman"/>
              </a:rPr>
              <a:t>(Td</a:t>
            </a:r>
            <a:r>
              <a:rPr lang="en-US" sz="1200" spc="160" dirty="0">
                <a:latin typeface="Times New Roman"/>
                <a:cs typeface="Times New Roman"/>
              </a:rPr>
              <a:t> </a:t>
            </a:r>
            <a:r>
              <a:rPr lang="en-US" sz="1200" dirty="0">
                <a:latin typeface="Times New Roman"/>
                <a:cs typeface="Times New Roman"/>
              </a:rPr>
              <a:t>×</a:t>
            </a:r>
            <a:r>
              <a:rPr lang="en-US" sz="1200" spc="165" dirty="0">
                <a:latin typeface="Times New Roman"/>
                <a:cs typeface="Times New Roman"/>
              </a:rPr>
              <a:t> </a:t>
            </a:r>
            <a:r>
              <a:rPr lang="en-US" sz="1200" dirty="0">
                <a:latin typeface="Times New Roman"/>
                <a:cs typeface="Times New Roman"/>
              </a:rPr>
              <a:t>Td)</a:t>
            </a:r>
            <a:r>
              <a:rPr lang="en-US" sz="1200" spc="160" dirty="0">
                <a:latin typeface="Times New Roman"/>
                <a:cs typeface="Times New Roman"/>
              </a:rPr>
              <a:t> </a:t>
            </a:r>
            <a:r>
              <a:rPr lang="en-US" sz="1200" dirty="0">
                <a:latin typeface="Times New Roman"/>
                <a:cs typeface="Times New Roman"/>
              </a:rPr>
              <a:t>and</a:t>
            </a:r>
            <a:r>
              <a:rPr lang="en-US" sz="1200" spc="160" dirty="0">
                <a:latin typeface="Times New Roman"/>
                <a:cs typeface="Times New Roman"/>
              </a:rPr>
              <a:t> </a:t>
            </a:r>
            <a:r>
              <a:rPr lang="en-US" sz="1200" dirty="0">
                <a:latin typeface="Times New Roman"/>
                <a:cs typeface="Times New Roman"/>
              </a:rPr>
              <a:t>interspecific</a:t>
            </a:r>
            <a:r>
              <a:rPr lang="en-US" sz="1200" spc="160" dirty="0">
                <a:latin typeface="Times New Roman"/>
                <a:cs typeface="Times New Roman"/>
              </a:rPr>
              <a:t> </a:t>
            </a:r>
            <a:r>
              <a:rPr lang="en-US" sz="1200" i="1" dirty="0">
                <a:latin typeface="Times New Roman"/>
                <a:cs typeface="Times New Roman"/>
              </a:rPr>
              <a:t>T.</a:t>
            </a:r>
            <a:r>
              <a:rPr lang="en-US" sz="1200" i="1" spc="165" dirty="0">
                <a:latin typeface="Times New Roman"/>
                <a:cs typeface="Times New Roman"/>
              </a:rPr>
              <a:t> </a:t>
            </a:r>
            <a:r>
              <a:rPr lang="en-US" sz="1200" i="1" dirty="0">
                <a:latin typeface="Times New Roman"/>
                <a:cs typeface="Times New Roman"/>
              </a:rPr>
              <a:t>dactyloides</a:t>
            </a:r>
            <a:r>
              <a:rPr lang="en-US" sz="1200" i="1" spc="165" dirty="0">
                <a:latin typeface="Times New Roman"/>
                <a:cs typeface="Times New Roman"/>
              </a:rPr>
              <a:t> </a:t>
            </a:r>
            <a:r>
              <a:rPr lang="en-US" sz="1200" dirty="0">
                <a:latin typeface="Times New Roman"/>
                <a:cs typeface="Times New Roman"/>
              </a:rPr>
              <a:t>×</a:t>
            </a:r>
            <a:r>
              <a:rPr lang="en-US" sz="1200" spc="160" dirty="0">
                <a:latin typeface="Times New Roman"/>
                <a:cs typeface="Times New Roman"/>
              </a:rPr>
              <a:t> </a:t>
            </a:r>
            <a:r>
              <a:rPr lang="en-US" sz="1200" i="1" dirty="0">
                <a:latin typeface="Times New Roman"/>
                <a:cs typeface="Times New Roman"/>
              </a:rPr>
              <a:t>T.</a:t>
            </a:r>
            <a:r>
              <a:rPr lang="en-US" sz="1200" i="1" spc="165" dirty="0">
                <a:latin typeface="Times New Roman"/>
                <a:cs typeface="Times New Roman"/>
              </a:rPr>
              <a:t> </a:t>
            </a:r>
            <a:r>
              <a:rPr lang="en-US" sz="1200" i="1" dirty="0">
                <a:latin typeface="Times New Roman"/>
                <a:cs typeface="Times New Roman"/>
              </a:rPr>
              <a:t>floridanum</a:t>
            </a:r>
            <a:r>
              <a:rPr lang="en-US" sz="1200" i="1" spc="160" dirty="0">
                <a:latin typeface="Times New Roman"/>
                <a:cs typeface="Times New Roman"/>
              </a:rPr>
              <a:t> </a:t>
            </a:r>
            <a:r>
              <a:rPr lang="en-US" sz="1200" dirty="0">
                <a:latin typeface="Times New Roman"/>
                <a:cs typeface="Times New Roman"/>
              </a:rPr>
              <a:t>hybrids</a:t>
            </a:r>
            <a:r>
              <a:rPr lang="en-US" sz="1200" spc="165" dirty="0">
                <a:latin typeface="Times New Roman"/>
                <a:cs typeface="Times New Roman"/>
              </a:rPr>
              <a:t> </a:t>
            </a:r>
            <a:r>
              <a:rPr lang="en-US" sz="1200" dirty="0">
                <a:latin typeface="Times New Roman"/>
                <a:cs typeface="Times New Roman"/>
              </a:rPr>
              <a:t>(Td</a:t>
            </a:r>
            <a:r>
              <a:rPr lang="en-US" sz="1200" spc="160" dirty="0">
                <a:latin typeface="Times New Roman"/>
                <a:cs typeface="Times New Roman"/>
              </a:rPr>
              <a:t> </a:t>
            </a:r>
            <a:r>
              <a:rPr lang="en-US" sz="1200" dirty="0">
                <a:latin typeface="Times New Roman"/>
                <a:cs typeface="Times New Roman"/>
              </a:rPr>
              <a:t>×</a:t>
            </a:r>
            <a:r>
              <a:rPr lang="en-US" sz="1200" spc="165" dirty="0">
                <a:latin typeface="Times New Roman"/>
                <a:cs typeface="Times New Roman"/>
              </a:rPr>
              <a:t> </a:t>
            </a:r>
            <a:r>
              <a:rPr lang="en-US" sz="1200" dirty="0" err="1">
                <a:latin typeface="Times New Roman"/>
                <a:cs typeface="Times New Roman"/>
              </a:rPr>
              <a:t>Tf</a:t>
            </a:r>
            <a:r>
              <a:rPr lang="en-US" sz="1200" dirty="0">
                <a:latin typeface="Times New Roman"/>
                <a:cs typeface="Times New Roman"/>
              </a:rPr>
              <a:t>).</a:t>
            </a:r>
            <a:r>
              <a:rPr lang="en-US" sz="1200" spc="160" dirty="0">
                <a:latin typeface="Times New Roman"/>
                <a:cs typeface="Times New Roman"/>
              </a:rPr>
              <a:t> </a:t>
            </a:r>
            <a:r>
              <a:rPr lang="en-US" sz="1200" dirty="0">
                <a:latin typeface="Times New Roman"/>
                <a:cs typeface="Times New Roman"/>
              </a:rPr>
              <a:t>Shapes</a:t>
            </a:r>
            <a:r>
              <a:rPr lang="en-US" sz="1200" spc="160" dirty="0">
                <a:latin typeface="Times New Roman"/>
                <a:cs typeface="Times New Roman"/>
              </a:rPr>
              <a:t> </a:t>
            </a:r>
            <a:r>
              <a:rPr lang="en-US" sz="1200" dirty="0">
                <a:latin typeface="Times New Roman"/>
                <a:cs typeface="Times New Roman"/>
              </a:rPr>
              <a:t>represent</a:t>
            </a:r>
            <a:r>
              <a:rPr lang="en-US" sz="1200" spc="165" dirty="0">
                <a:latin typeface="Times New Roman"/>
                <a:cs typeface="Times New Roman"/>
              </a:rPr>
              <a:t> </a:t>
            </a:r>
            <a:r>
              <a:rPr lang="en-US" sz="1200" dirty="0">
                <a:latin typeface="Times New Roman"/>
                <a:cs typeface="Times New Roman"/>
              </a:rPr>
              <a:t>season</a:t>
            </a:r>
            <a:r>
              <a:rPr lang="en-US" sz="1200" spc="160" dirty="0">
                <a:latin typeface="Times New Roman"/>
                <a:cs typeface="Times New Roman"/>
              </a:rPr>
              <a:t> </a:t>
            </a:r>
            <a:r>
              <a:rPr lang="en-US" sz="1200" dirty="0">
                <a:latin typeface="Times New Roman"/>
                <a:cs typeface="Times New Roman"/>
              </a:rPr>
              <a:t>(circle</a:t>
            </a:r>
            <a:r>
              <a:rPr lang="en-US" sz="1200" spc="160" dirty="0">
                <a:latin typeface="Times New Roman"/>
                <a:cs typeface="Times New Roman"/>
              </a:rPr>
              <a:t> </a:t>
            </a:r>
            <a:r>
              <a:rPr lang="en-US" sz="1200" spc="-50" dirty="0">
                <a:latin typeface="Times New Roman"/>
                <a:cs typeface="Times New Roman"/>
              </a:rPr>
              <a:t>= </a:t>
            </a:r>
            <a:r>
              <a:rPr lang="en-US" sz="1200" dirty="0">
                <a:latin typeface="Times New Roman"/>
                <a:cs typeface="Times New Roman"/>
              </a:rPr>
              <a:t>summer,</a:t>
            </a:r>
            <a:r>
              <a:rPr lang="en-US" sz="1200" spc="-25" dirty="0">
                <a:latin typeface="Times New Roman"/>
                <a:cs typeface="Times New Roman"/>
              </a:rPr>
              <a:t> </a:t>
            </a:r>
            <a:r>
              <a:rPr lang="en-US" sz="1200" dirty="0">
                <a:latin typeface="Times New Roman"/>
                <a:cs typeface="Times New Roman"/>
              </a:rPr>
              <a:t>triangle</a:t>
            </a:r>
            <a:r>
              <a:rPr lang="en-US" sz="1200" spc="-25" dirty="0">
                <a:latin typeface="Times New Roman"/>
                <a:cs typeface="Times New Roman"/>
              </a:rPr>
              <a:t> </a:t>
            </a:r>
            <a:r>
              <a:rPr lang="en-US" sz="1200" dirty="0">
                <a:latin typeface="Times New Roman"/>
                <a:cs typeface="Times New Roman"/>
              </a:rPr>
              <a:t>=</a:t>
            </a:r>
            <a:r>
              <a:rPr lang="en-US" sz="1200" spc="-25" dirty="0">
                <a:latin typeface="Times New Roman"/>
                <a:cs typeface="Times New Roman"/>
              </a:rPr>
              <a:t> </a:t>
            </a:r>
            <a:r>
              <a:rPr lang="en-US" sz="1200" dirty="0">
                <a:latin typeface="Times New Roman"/>
                <a:cs typeface="Times New Roman"/>
              </a:rPr>
              <a:t>winter).</a:t>
            </a:r>
            <a:r>
              <a:rPr lang="en-US" sz="1200" spc="-25" dirty="0">
                <a:latin typeface="Times New Roman"/>
                <a:cs typeface="Times New Roman"/>
              </a:rPr>
              <a:t> </a:t>
            </a:r>
            <a:r>
              <a:rPr lang="en-US" sz="1200" dirty="0">
                <a:latin typeface="Times New Roman"/>
                <a:cs typeface="Times New Roman"/>
              </a:rPr>
              <a:t>The</a:t>
            </a:r>
            <a:r>
              <a:rPr lang="en-US" sz="1200" spc="-25" dirty="0">
                <a:latin typeface="Times New Roman"/>
                <a:cs typeface="Times New Roman"/>
              </a:rPr>
              <a:t> </a:t>
            </a:r>
            <a:r>
              <a:rPr lang="en-US" sz="1200" dirty="0">
                <a:latin typeface="Times New Roman"/>
                <a:cs typeface="Times New Roman"/>
              </a:rPr>
              <a:t>percentage</a:t>
            </a:r>
            <a:r>
              <a:rPr lang="en-US" sz="1200" spc="-25" dirty="0">
                <a:latin typeface="Times New Roman"/>
                <a:cs typeface="Times New Roman"/>
              </a:rPr>
              <a:t> </a:t>
            </a:r>
            <a:r>
              <a:rPr lang="en-US" sz="1200" dirty="0">
                <a:latin typeface="Times New Roman"/>
                <a:cs typeface="Times New Roman"/>
              </a:rPr>
              <a:t>of</a:t>
            </a:r>
            <a:r>
              <a:rPr lang="en-US" sz="1200" spc="-25" dirty="0">
                <a:latin typeface="Times New Roman"/>
                <a:cs typeface="Times New Roman"/>
              </a:rPr>
              <a:t> </a:t>
            </a:r>
            <a:r>
              <a:rPr lang="en-US" sz="1200" dirty="0">
                <a:latin typeface="Times New Roman"/>
                <a:cs typeface="Times New Roman"/>
              </a:rPr>
              <a:t>total</a:t>
            </a:r>
            <a:r>
              <a:rPr lang="en-US" sz="1200" spc="-25" dirty="0">
                <a:latin typeface="Times New Roman"/>
                <a:cs typeface="Times New Roman"/>
              </a:rPr>
              <a:t> </a:t>
            </a:r>
            <a:r>
              <a:rPr lang="en-US" sz="1200" dirty="0">
                <a:latin typeface="Times New Roman"/>
                <a:cs typeface="Times New Roman"/>
              </a:rPr>
              <a:t>variance</a:t>
            </a:r>
            <a:r>
              <a:rPr lang="en-US" sz="1200" spc="-25" dirty="0">
                <a:latin typeface="Times New Roman"/>
                <a:cs typeface="Times New Roman"/>
              </a:rPr>
              <a:t> </a:t>
            </a:r>
            <a:r>
              <a:rPr lang="en-US" sz="1200" dirty="0">
                <a:latin typeface="Times New Roman"/>
                <a:cs typeface="Times New Roman"/>
              </a:rPr>
              <a:t>explained</a:t>
            </a:r>
            <a:r>
              <a:rPr lang="en-US" sz="1200" spc="-25" dirty="0">
                <a:latin typeface="Times New Roman"/>
                <a:cs typeface="Times New Roman"/>
              </a:rPr>
              <a:t> </a:t>
            </a:r>
            <a:r>
              <a:rPr lang="en-US" sz="1200" dirty="0">
                <a:latin typeface="Times New Roman"/>
                <a:cs typeface="Times New Roman"/>
              </a:rPr>
              <a:t>by</a:t>
            </a:r>
            <a:r>
              <a:rPr lang="en-US" sz="1200" spc="-25" dirty="0">
                <a:latin typeface="Times New Roman"/>
                <a:cs typeface="Times New Roman"/>
              </a:rPr>
              <a:t> </a:t>
            </a:r>
            <a:r>
              <a:rPr lang="en-US" sz="1200" dirty="0">
                <a:latin typeface="Times New Roman"/>
                <a:cs typeface="Times New Roman"/>
              </a:rPr>
              <a:t>each</a:t>
            </a:r>
            <a:r>
              <a:rPr lang="en-US" sz="1200" spc="-25" dirty="0">
                <a:latin typeface="Times New Roman"/>
                <a:cs typeface="Times New Roman"/>
              </a:rPr>
              <a:t> </a:t>
            </a:r>
            <a:r>
              <a:rPr lang="en-US" sz="1200" dirty="0">
                <a:latin typeface="Times New Roman"/>
                <a:cs typeface="Times New Roman"/>
              </a:rPr>
              <a:t>principal</a:t>
            </a:r>
            <a:r>
              <a:rPr lang="en-US" sz="1200" spc="-25" dirty="0">
                <a:latin typeface="Times New Roman"/>
                <a:cs typeface="Times New Roman"/>
              </a:rPr>
              <a:t> </a:t>
            </a:r>
            <a:r>
              <a:rPr lang="en-US" sz="1200" dirty="0">
                <a:latin typeface="Times New Roman"/>
                <a:cs typeface="Times New Roman"/>
              </a:rPr>
              <a:t>component</a:t>
            </a:r>
            <a:r>
              <a:rPr lang="en-US" sz="1200" spc="-25" dirty="0">
                <a:latin typeface="Times New Roman"/>
                <a:cs typeface="Times New Roman"/>
              </a:rPr>
              <a:t> </a:t>
            </a:r>
            <a:r>
              <a:rPr lang="en-US" sz="1200" dirty="0">
                <a:latin typeface="Times New Roman"/>
                <a:cs typeface="Times New Roman"/>
              </a:rPr>
              <a:t>is</a:t>
            </a:r>
            <a:r>
              <a:rPr lang="en-US" sz="1200" spc="-20" dirty="0">
                <a:latin typeface="Times New Roman"/>
                <a:cs typeface="Times New Roman"/>
              </a:rPr>
              <a:t> </a:t>
            </a:r>
            <a:r>
              <a:rPr lang="en-US" sz="1200" dirty="0">
                <a:latin typeface="Times New Roman"/>
                <a:cs typeface="Times New Roman"/>
              </a:rPr>
              <a:t>shown</a:t>
            </a:r>
            <a:r>
              <a:rPr lang="en-US" sz="1200" spc="-25" dirty="0">
                <a:latin typeface="Times New Roman"/>
                <a:cs typeface="Times New Roman"/>
              </a:rPr>
              <a:t> </a:t>
            </a:r>
            <a:r>
              <a:rPr lang="en-US" sz="1200" dirty="0">
                <a:latin typeface="Times New Roman"/>
                <a:cs typeface="Times New Roman"/>
              </a:rPr>
              <a:t>on</a:t>
            </a:r>
            <a:r>
              <a:rPr lang="en-US" sz="1200" spc="-25" dirty="0">
                <a:latin typeface="Times New Roman"/>
                <a:cs typeface="Times New Roman"/>
              </a:rPr>
              <a:t> </a:t>
            </a:r>
            <a:r>
              <a:rPr lang="en-US" sz="1200" dirty="0">
                <a:latin typeface="Times New Roman"/>
                <a:cs typeface="Times New Roman"/>
              </a:rPr>
              <a:t>the</a:t>
            </a:r>
            <a:r>
              <a:rPr lang="en-US" sz="1200" spc="-25" dirty="0">
                <a:latin typeface="Times New Roman"/>
                <a:cs typeface="Times New Roman"/>
              </a:rPr>
              <a:t> </a:t>
            </a:r>
            <a:r>
              <a:rPr lang="en-US" sz="1200" spc="-10" dirty="0">
                <a:latin typeface="Times New Roman"/>
                <a:cs typeface="Times New Roman"/>
              </a:rPr>
              <a:t>axes.</a:t>
            </a:r>
            <a:endParaRPr lang="en-US" sz="1200" dirty="0">
              <a:latin typeface="Times New Roman"/>
              <a:cs typeface="Times New Roman"/>
            </a:endParaRPr>
          </a:p>
          <a:p>
            <a:pPr marR="5080" algn="just">
              <a:lnSpc>
                <a:spcPts val="1435"/>
              </a:lnSpc>
            </a:pPr>
            <a:endParaRPr sz="1200" dirty="0">
              <a:latin typeface="Times New Roman"/>
              <a:cs typeface="Times New Roman"/>
            </a:endParaRPr>
          </a:p>
        </p:txBody>
      </p:sp>
      <p:pic>
        <p:nvPicPr>
          <p:cNvPr id="4" name="Picture 3">
            <a:extLst>
              <a:ext uri="{FF2B5EF4-FFF2-40B4-BE49-F238E27FC236}">
                <a16:creationId xmlns:a16="http://schemas.microsoft.com/office/drawing/2014/main" id="{472B2883-E981-13ED-929C-48F64A6C3B49}"/>
              </a:ext>
            </a:extLst>
          </p:cNvPr>
          <p:cNvPicPr>
            <a:picLocks noChangeAspect="1"/>
          </p:cNvPicPr>
          <p:nvPr/>
        </p:nvPicPr>
        <p:blipFill>
          <a:blip r:embed="rId2"/>
          <a:stretch>
            <a:fillRect/>
          </a:stretch>
        </p:blipFill>
        <p:spPr>
          <a:xfrm>
            <a:off x="16387" y="1524000"/>
            <a:ext cx="9889613" cy="3816324"/>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5" name="TextBox 104">
            <a:extLst>
              <a:ext uri="{FF2B5EF4-FFF2-40B4-BE49-F238E27FC236}">
                <a16:creationId xmlns:a16="http://schemas.microsoft.com/office/drawing/2014/main" id="{BBF6F442-0870-DEA0-1042-9A6FD4225154}"/>
              </a:ext>
            </a:extLst>
          </p:cNvPr>
          <p:cNvSpPr txBox="1"/>
          <p:nvPr/>
        </p:nvSpPr>
        <p:spPr>
          <a:xfrm>
            <a:off x="0" y="5562600"/>
            <a:ext cx="9906000" cy="1349087"/>
          </a:xfrm>
          <a:prstGeom prst="rect">
            <a:avLst/>
          </a:prstGeom>
          <a:noFill/>
        </p:spPr>
        <p:txBody>
          <a:bodyPr wrap="square">
            <a:spAutoFit/>
          </a:bodyPr>
          <a:lstStyle/>
          <a:p>
            <a:pPr marL="12700" marR="5080" algn="just">
              <a:lnSpc>
                <a:spcPts val="1420"/>
              </a:lnSpc>
              <a:spcBef>
                <a:spcPts val="894"/>
              </a:spcBef>
            </a:pPr>
            <a:r>
              <a:rPr lang="en-US" sz="1200" b="1" dirty="0">
                <a:latin typeface="Times New Roman" panose="02020603050405020304" pitchFamily="18" charset="0"/>
                <a:cs typeface="Times New Roman" panose="02020603050405020304" pitchFamily="18" charset="0"/>
              </a:rPr>
              <a:t>Fig. S3</a:t>
            </a:r>
            <a:r>
              <a:rPr lang="en-US" sz="1200" dirty="0">
                <a:latin typeface="Times New Roman" panose="02020603050405020304" pitchFamily="18" charset="0"/>
                <a:cs typeface="Times New Roman" panose="02020603050405020304" pitchFamily="18" charset="0"/>
              </a:rPr>
              <a:t> </a:t>
            </a:r>
            <a:r>
              <a:rPr lang="en-US" sz="1200" b="1" dirty="0">
                <a:latin typeface="Times New Roman" panose="02020603050405020304" pitchFamily="18" charset="0"/>
                <a:cs typeface="Times New Roman" panose="02020603050405020304" pitchFamily="18" charset="0"/>
              </a:rPr>
              <a:t>Stacked bar chart illustrating the composition of biological processes (BPs) within curated cold-related functional categories</a:t>
            </a:r>
            <a:r>
              <a:rPr lang="en-US" sz="1200" dirty="0">
                <a:latin typeface="Times New Roman" panose="02020603050405020304" pitchFamily="18" charset="0"/>
                <a:cs typeface="Times New Roman" panose="02020603050405020304" pitchFamily="18" charset="0"/>
              </a:rPr>
              <a:t>. The plot includes 230 proteins from the top 50 differentially accumulated proteins (DAPs) accumulated in winter rhizomes of </a:t>
            </a:r>
            <a:r>
              <a:rPr lang="en-US" sz="1200" i="1" dirty="0">
                <a:latin typeface="Times New Roman" panose="02020603050405020304" pitchFamily="18" charset="0"/>
                <a:cs typeface="Times New Roman" panose="02020603050405020304" pitchFamily="18" charset="0"/>
              </a:rPr>
              <a:t>Tripsacum dactyloides</a:t>
            </a:r>
            <a:r>
              <a:rPr lang="en-US" sz="1200" dirty="0">
                <a:latin typeface="Times New Roman" panose="02020603050405020304" pitchFamily="18" charset="0"/>
                <a:cs typeface="Times New Roman" panose="02020603050405020304" pitchFamily="18" charset="0"/>
              </a:rPr>
              <a:t> and </a:t>
            </a:r>
            <a:r>
              <a:rPr lang="en-US" sz="1200" i="1" dirty="0">
                <a:latin typeface="Times New Roman" panose="02020603050405020304" pitchFamily="18" charset="0"/>
                <a:cs typeface="Times New Roman" panose="02020603050405020304" pitchFamily="18" charset="0"/>
              </a:rPr>
              <a:t>T. floridanum</a:t>
            </a:r>
            <a:r>
              <a:rPr lang="en-US" sz="1200" dirty="0">
                <a:latin typeface="Times New Roman" panose="02020603050405020304" pitchFamily="18" charset="0"/>
                <a:cs typeface="Times New Roman" panose="02020603050405020304" pitchFamily="18" charset="0"/>
              </a:rPr>
              <a:t> hybrids, </a:t>
            </a:r>
            <a:r>
              <a:rPr lang="en-US" sz="1200" i="1" dirty="0">
                <a:latin typeface="Times New Roman" panose="02020603050405020304" pitchFamily="18" charset="0"/>
                <a:cs typeface="Times New Roman" panose="02020603050405020304" pitchFamily="18" charset="0"/>
              </a:rPr>
              <a:t>Andropogon gerardi</a:t>
            </a:r>
            <a:r>
              <a:rPr lang="en-US" sz="1200" dirty="0">
                <a:latin typeface="Times New Roman" panose="02020603050405020304" pitchFamily="18" charset="0"/>
                <a:cs typeface="Times New Roman" panose="02020603050405020304" pitchFamily="18" charset="0"/>
              </a:rPr>
              <a:t>, </a:t>
            </a:r>
            <a:r>
              <a:rPr lang="en-US" sz="1200" i="1" dirty="0">
                <a:latin typeface="Times New Roman" panose="02020603050405020304" pitchFamily="18" charset="0"/>
                <a:cs typeface="Times New Roman" panose="02020603050405020304" pitchFamily="18" charset="0"/>
              </a:rPr>
              <a:t>Miscanthus</a:t>
            </a:r>
            <a:r>
              <a:rPr lang="en-US" sz="1200" dirty="0">
                <a:latin typeface="Times New Roman" panose="02020603050405020304" pitchFamily="18" charset="0"/>
                <a:cs typeface="Times New Roman" panose="02020603050405020304" pitchFamily="18" charset="0"/>
              </a:rPr>
              <a:t> × </a:t>
            </a:r>
            <a:r>
              <a:rPr lang="en-US" sz="1200" i="1" dirty="0">
                <a:latin typeface="Times New Roman" panose="02020603050405020304" pitchFamily="18" charset="0"/>
                <a:cs typeface="Times New Roman" panose="02020603050405020304" pitchFamily="18" charset="0"/>
              </a:rPr>
              <a:t>giganteus</a:t>
            </a:r>
            <a:r>
              <a:rPr lang="en-US" sz="1200" dirty="0">
                <a:latin typeface="Times New Roman" panose="02020603050405020304" pitchFamily="18" charset="0"/>
                <a:cs typeface="Times New Roman" panose="02020603050405020304" pitchFamily="18" charset="0"/>
              </a:rPr>
              <a:t>, </a:t>
            </a:r>
            <a:r>
              <a:rPr lang="en-US" sz="1200" i="1" dirty="0">
                <a:latin typeface="Times New Roman" panose="02020603050405020304" pitchFamily="18" charset="0"/>
                <a:cs typeface="Times New Roman" panose="02020603050405020304" pitchFamily="18" charset="0"/>
              </a:rPr>
              <a:t>Panicum virgatum</a:t>
            </a:r>
            <a:r>
              <a:rPr lang="en-US" sz="1200" dirty="0">
                <a:latin typeface="Times New Roman" panose="02020603050405020304" pitchFamily="18" charset="0"/>
                <a:cs typeface="Times New Roman" panose="02020603050405020304" pitchFamily="18" charset="0"/>
              </a:rPr>
              <a:t>, and </a:t>
            </a:r>
            <a:r>
              <a:rPr lang="en-US" sz="1200" i="1" dirty="0">
                <a:latin typeface="Times New Roman" panose="02020603050405020304" pitchFamily="18" charset="0"/>
                <a:cs typeface="Times New Roman" panose="02020603050405020304" pitchFamily="18" charset="0"/>
              </a:rPr>
              <a:t>Sorghastrum nutans</a:t>
            </a:r>
            <a:r>
              <a:rPr lang="en-US" sz="1200" dirty="0">
                <a:latin typeface="Times New Roman" panose="02020603050405020304" pitchFamily="18" charset="0"/>
                <a:cs typeface="Times New Roman" panose="02020603050405020304" pitchFamily="18" charset="0"/>
              </a:rPr>
              <a:t>, after excluding those assigned to the cold response category “Other” (i.e., proteins with annotations deemed less relevant to cold tolerance interpretation). Cold-related categories are shown on the x-axis and sorted by total protein count. Each bar is color-coded by BP, highlighting the functional composition of each category. Less informative or poorly annotated BPs were grouped under “Other” in the legend. This visualization supports the manual consolidation of specific biological processes into broader cold-response categories used throughout the study.</a:t>
            </a:r>
          </a:p>
        </p:txBody>
      </p:sp>
      <p:pic>
        <p:nvPicPr>
          <p:cNvPr id="108" name="Picture 107">
            <a:extLst>
              <a:ext uri="{FF2B5EF4-FFF2-40B4-BE49-F238E27FC236}">
                <a16:creationId xmlns:a16="http://schemas.microsoft.com/office/drawing/2014/main" id="{19840D2C-4C98-E29E-7479-4B2868C16C91}"/>
              </a:ext>
            </a:extLst>
          </p:cNvPr>
          <p:cNvPicPr>
            <a:picLocks noChangeAspect="1"/>
          </p:cNvPicPr>
          <p:nvPr/>
        </p:nvPicPr>
        <p:blipFill>
          <a:blip r:embed="rId2"/>
          <a:stretch>
            <a:fillRect/>
          </a:stretch>
        </p:blipFill>
        <p:spPr>
          <a:xfrm>
            <a:off x="2438400" y="0"/>
            <a:ext cx="7382335" cy="55626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2">
            <a:extLst>
              <a:ext uri="{FF2B5EF4-FFF2-40B4-BE49-F238E27FC236}">
                <a16:creationId xmlns:a16="http://schemas.microsoft.com/office/drawing/2014/main" id="{175B270B-4AE4-CE14-64F7-24761B2ED590}"/>
              </a:ext>
            </a:extLst>
          </p:cNvPr>
          <p:cNvSpPr txBox="1"/>
          <p:nvPr/>
        </p:nvSpPr>
        <p:spPr>
          <a:xfrm>
            <a:off x="78739" y="5943600"/>
            <a:ext cx="9770110" cy="738023"/>
          </a:xfrm>
          <a:prstGeom prst="rect">
            <a:avLst/>
          </a:prstGeom>
        </p:spPr>
        <p:txBody>
          <a:bodyPr vert="horz" wrap="square" lIns="0" tIns="19685" rIns="0" bIns="0" rtlCol="0">
            <a:spAutoFit/>
          </a:bodyPr>
          <a:lstStyle/>
          <a:p>
            <a:pPr marL="12700" marR="5080" algn="just">
              <a:lnSpc>
                <a:spcPts val="1430"/>
              </a:lnSpc>
              <a:spcBef>
                <a:spcPts val="155"/>
              </a:spcBef>
            </a:pPr>
            <a:r>
              <a:rPr lang="en-US" sz="1200" b="1" dirty="0">
                <a:latin typeface="Times New Roman" panose="02020603050405020304" pitchFamily="18" charset="0"/>
                <a:cs typeface="Times New Roman" panose="02020603050405020304" pitchFamily="18" charset="0"/>
              </a:rPr>
              <a:t>Fig. </a:t>
            </a:r>
            <a:r>
              <a:rPr sz="1200" b="1" dirty="0">
                <a:latin typeface="Times New Roman" panose="02020603050405020304" pitchFamily="18" charset="0"/>
                <a:cs typeface="Times New Roman" panose="02020603050405020304" pitchFamily="18" charset="0"/>
              </a:rPr>
              <a:t>S</a:t>
            </a:r>
            <a:r>
              <a:rPr lang="en-US" sz="1200" b="1" dirty="0">
                <a:latin typeface="Times New Roman" panose="02020603050405020304" pitchFamily="18" charset="0"/>
                <a:cs typeface="Times New Roman" panose="02020603050405020304" pitchFamily="18" charset="0"/>
              </a:rPr>
              <a:t>4</a:t>
            </a:r>
            <a:r>
              <a:rPr sz="1200" b="1" dirty="0">
                <a:latin typeface="Times New Roman" panose="02020603050405020304" pitchFamily="18" charset="0"/>
                <a:cs typeface="Times New Roman" panose="02020603050405020304" pitchFamily="18" charset="0"/>
              </a:rPr>
              <a:t>.</a:t>
            </a:r>
            <a:r>
              <a:rPr sz="1200" b="1" spc="170" dirty="0">
                <a:latin typeface="Times New Roman" panose="02020603050405020304" pitchFamily="18" charset="0"/>
                <a:cs typeface="Times New Roman" panose="02020603050405020304" pitchFamily="18" charset="0"/>
              </a:rPr>
              <a:t> </a:t>
            </a:r>
            <a:r>
              <a:rPr lang="en-US" sz="1200" dirty="0">
                <a:latin typeface="Times New Roman" panose="02020603050405020304" pitchFamily="18" charset="0"/>
                <a:cs typeface="Times New Roman" panose="02020603050405020304" pitchFamily="18" charset="0"/>
              </a:rPr>
              <a:t>Volcano plots showing differentially accumulated proteins (DAPs) in rhizomes of </a:t>
            </a:r>
            <a:r>
              <a:rPr lang="en-US" sz="1200" i="1" dirty="0">
                <a:latin typeface="Times New Roman"/>
                <a:cs typeface="Times New Roman"/>
              </a:rPr>
              <a:t>Tripsacum dactyloides and T. floridanum hybrids, Andropogon</a:t>
            </a:r>
            <a:r>
              <a:rPr lang="en-US" sz="1200" i="1" spc="-25" dirty="0">
                <a:latin typeface="Times New Roman"/>
                <a:cs typeface="Times New Roman"/>
              </a:rPr>
              <a:t> </a:t>
            </a:r>
            <a:r>
              <a:rPr lang="en-US" sz="1200" i="1" dirty="0">
                <a:latin typeface="Times New Roman"/>
                <a:cs typeface="Times New Roman"/>
              </a:rPr>
              <a:t>gerardi,</a:t>
            </a:r>
            <a:r>
              <a:rPr lang="en-US" sz="1200" spc="140" dirty="0">
                <a:latin typeface="Times New Roman"/>
                <a:cs typeface="Times New Roman"/>
              </a:rPr>
              <a:t> </a:t>
            </a:r>
            <a:r>
              <a:rPr lang="en-US" sz="1200" i="1" dirty="0">
                <a:latin typeface="Times New Roman"/>
                <a:cs typeface="Times New Roman"/>
              </a:rPr>
              <a:t>Miscanthus </a:t>
            </a:r>
            <a:r>
              <a:rPr lang="en-US" sz="1200" spc="140" dirty="0">
                <a:latin typeface="Times New Roman"/>
                <a:cs typeface="Times New Roman"/>
              </a:rPr>
              <a:t>× </a:t>
            </a:r>
            <a:r>
              <a:rPr lang="en-US" sz="1200" i="1" dirty="0">
                <a:latin typeface="Times New Roman"/>
                <a:cs typeface="Times New Roman"/>
              </a:rPr>
              <a:t>giganteus</a:t>
            </a:r>
            <a:r>
              <a:rPr lang="en-US" sz="1200" dirty="0">
                <a:latin typeface="Times New Roman"/>
                <a:cs typeface="Times New Roman"/>
              </a:rPr>
              <a:t>,</a:t>
            </a:r>
            <a:r>
              <a:rPr lang="en-US" sz="1200" spc="145" dirty="0">
                <a:latin typeface="Times New Roman"/>
                <a:cs typeface="Times New Roman"/>
              </a:rPr>
              <a:t> </a:t>
            </a:r>
            <a:r>
              <a:rPr lang="en-US" sz="1200" i="1" dirty="0">
                <a:latin typeface="Times New Roman"/>
                <a:cs typeface="Times New Roman"/>
              </a:rPr>
              <a:t>Panicum</a:t>
            </a:r>
            <a:r>
              <a:rPr lang="en-US" sz="1200" i="1" spc="285" dirty="0">
                <a:latin typeface="Times New Roman"/>
                <a:cs typeface="Times New Roman"/>
              </a:rPr>
              <a:t> </a:t>
            </a:r>
            <a:r>
              <a:rPr lang="en-US" sz="1200" i="1" dirty="0">
                <a:latin typeface="Times New Roman"/>
                <a:cs typeface="Times New Roman"/>
              </a:rPr>
              <a:t>virgatum</a:t>
            </a:r>
            <a:r>
              <a:rPr lang="en-US" sz="1200" spc="-10" dirty="0">
                <a:latin typeface="Times New Roman"/>
                <a:cs typeface="Times New Roman"/>
              </a:rPr>
              <a:t>, </a:t>
            </a:r>
            <a:r>
              <a:rPr lang="en-US" sz="1200" dirty="0">
                <a:latin typeface="Times New Roman"/>
                <a:cs typeface="Times New Roman"/>
              </a:rPr>
              <a:t>and</a:t>
            </a:r>
            <a:r>
              <a:rPr lang="en-US" sz="1200" spc="455" dirty="0">
                <a:latin typeface="Times New Roman"/>
                <a:cs typeface="Times New Roman"/>
              </a:rPr>
              <a:t> </a:t>
            </a:r>
            <a:r>
              <a:rPr lang="en-US" sz="1200" i="1" dirty="0">
                <a:latin typeface="Times New Roman"/>
                <a:cs typeface="Times New Roman"/>
              </a:rPr>
              <a:t>Sorghastrum</a:t>
            </a:r>
            <a:r>
              <a:rPr lang="en-US" sz="1200" i="1" spc="270" dirty="0">
                <a:latin typeface="Times New Roman"/>
                <a:cs typeface="Times New Roman"/>
              </a:rPr>
              <a:t> </a:t>
            </a:r>
            <a:r>
              <a:rPr lang="en-US" sz="1200" i="1" dirty="0">
                <a:latin typeface="Times New Roman"/>
                <a:cs typeface="Times New Roman"/>
              </a:rPr>
              <a:t>nutans</a:t>
            </a:r>
            <a:r>
              <a:rPr lang="en-US" sz="1200" i="1" spc="475" dirty="0">
                <a:latin typeface="Times New Roman"/>
                <a:cs typeface="Times New Roman"/>
              </a:rPr>
              <a:t> </a:t>
            </a:r>
            <a:r>
              <a:rPr lang="en-US" sz="1200" dirty="0">
                <a:latin typeface="Times New Roman" panose="02020603050405020304" pitchFamily="18" charset="0"/>
                <a:cs typeface="Times New Roman" panose="02020603050405020304" pitchFamily="18" charset="0"/>
              </a:rPr>
              <a:t>under winter vs. summer conditions, with total number of proteins identified listed. Proteins with significantly elevated (blue) and reduced (pink) abundance in winter relative to summer are highlighted, with non-significant proteins in gray. The y-axis represents the significance as –log</a:t>
            </a:r>
            <a:r>
              <a:rPr lang="en-US" sz="1200" baseline="-25000" dirty="0">
                <a:latin typeface="Times New Roman" panose="02020603050405020304" pitchFamily="18" charset="0"/>
                <a:cs typeface="Times New Roman" panose="02020603050405020304" pitchFamily="18" charset="0"/>
              </a:rPr>
              <a:t>10</a:t>
            </a:r>
            <a:r>
              <a:rPr lang="en-US" sz="1200" dirty="0">
                <a:latin typeface="Times New Roman" panose="02020603050405020304" pitchFamily="18" charset="0"/>
                <a:cs typeface="Times New Roman" panose="02020603050405020304" pitchFamily="18" charset="0"/>
              </a:rPr>
              <a:t>(p-value), and the x-axis shows the log</a:t>
            </a:r>
            <a:r>
              <a:rPr lang="en-US" sz="1200" baseline="-25000" dirty="0">
                <a:latin typeface="Times New Roman" panose="02020603050405020304" pitchFamily="18" charset="0"/>
                <a:cs typeface="Times New Roman" panose="02020603050405020304" pitchFamily="18" charset="0"/>
              </a:rPr>
              <a:t>2</a:t>
            </a:r>
            <a:r>
              <a:rPr lang="en-US" sz="1200" dirty="0">
                <a:latin typeface="Times New Roman" panose="02020603050405020304" pitchFamily="18" charset="0"/>
                <a:cs typeface="Times New Roman" panose="02020603050405020304" pitchFamily="18" charset="0"/>
              </a:rPr>
              <a:t> fold-change (log</a:t>
            </a:r>
            <a:r>
              <a:rPr lang="en-US" sz="1200" baseline="-25000" dirty="0">
                <a:latin typeface="Times New Roman" panose="02020603050405020304" pitchFamily="18" charset="0"/>
                <a:cs typeface="Times New Roman" panose="02020603050405020304" pitchFamily="18" charset="0"/>
              </a:rPr>
              <a:t>2</a:t>
            </a:r>
            <a:r>
              <a:rPr lang="en-US" sz="1200" dirty="0">
                <a:latin typeface="Times New Roman" panose="02020603050405020304" pitchFamily="18" charset="0"/>
                <a:cs typeface="Times New Roman" panose="02020603050405020304" pitchFamily="18" charset="0"/>
              </a:rPr>
              <a:t>FC) of the DAPs between winter and summer. </a:t>
            </a:r>
            <a:endParaRPr sz="1200"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DDD25754-1BC2-5353-3A35-C484B9B58D02}"/>
              </a:ext>
            </a:extLst>
          </p:cNvPr>
          <p:cNvPicPr>
            <a:picLocks noChangeAspect="1"/>
          </p:cNvPicPr>
          <p:nvPr/>
        </p:nvPicPr>
        <p:blipFill>
          <a:blip r:embed="rId2"/>
          <a:stretch>
            <a:fillRect/>
          </a:stretch>
        </p:blipFill>
        <p:spPr>
          <a:xfrm>
            <a:off x="-3282" y="2438400"/>
            <a:ext cx="9852131" cy="2410178"/>
          </a:xfrm>
          <a:prstGeom prst="rect">
            <a:avLst/>
          </a:prstGeom>
        </p:spPr>
      </p:pic>
    </p:spTree>
    <p:extLst>
      <p:ext uri="{BB962C8B-B14F-4D97-AF65-F5344CB8AC3E}">
        <p14:creationId xmlns:p14="http://schemas.microsoft.com/office/powerpoint/2010/main" val="29795310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2">
            <a:extLst>
              <a:ext uri="{FF2B5EF4-FFF2-40B4-BE49-F238E27FC236}">
                <a16:creationId xmlns:a16="http://schemas.microsoft.com/office/drawing/2014/main" id="{0D8356EF-70B3-8A8C-6B10-EB5EC3E55B77}"/>
              </a:ext>
            </a:extLst>
          </p:cNvPr>
          <p:cNvSpPr txBox="1"/>
          <p:nvPr/>
        </p:nvSpPr>
        <p:spPr>
          <a:xfrm>
            <a:off x="59690" y="5684705"/>
            <a:ext cx="9770110" cy="1097095"/>
          </a:xfrm>
          <a:prstGeom prst="rect">
            <a:avLst/>
          </a:prstGeom>
        </p:spPr>
        <p:txBody>
          <a:bodyPr vert="horz" wrap="square" lIns="0" tIns="19685" rIns="0" bIns="0" rtlCol="0">
            <a:spAutoFit/>
          </a:bodyPr>
          <a:lstStyle/>
          <a:p>
            <a:pPr marL="12700" marR="5080" algn="just" rtl="0">
              <a:lnSpc>
                <a:spcPts val="1430"/>
              </a:lnSpc>
              <a:spcBef>
                <a:spcPts val="155"/>
              </a:spcBef>
            </a:pPr>
            <a:r>
              <a:rPr lang="en-US" sz="1200" b="1" dirty="0">
                <a:latin typeface="Times New Roman" panose="02020603050405020304" pitchFamily="18" charset="0"/>
                <a:cs typeface="Times New Roman" panose="02020603050405020304" pitchFamily="18" charset="0"/>
              </a:rPr>
              <a:t>Fig. S5. Permutation and permulation controls for the cross-species fold-change correlation contrast. </a:t>
            </a:r>
            <a:r>
              <a:rPr lang="en-US" sz="1200" dirty="0">
                <a:latin typeface="Times New Roman" panose="02020603050405020304" pitchFamily="18" charset="0"/>
                <a:cs typeface="Times New Roman" panose="02020603050405020304" pitchFamily="18" charset="0"/>
              </a:rPr>
              <a:t>The observed </a:t>
            </a:r>
            <a:r>
              <a:rPr lang="el-GR" sz="1200" dirty="0" err="1">
                <a:latin typeface="Times New Roman" panose="02020603050405020304" pitchFamily="18" charset="0"/>
                <a:cs typeface="Times New Roman" panose="02020603050405020304" pitchFamily="18" charset="0"/>
              </a:rPr>
              <a:t>Δ</a:t>
            </a:r>
            <a:r>
              <a:rPr lang="el-GR" sz="1200" i="1" dirty="0" err="1">
                <a:latin typeface="Times New Roman" panose="02020603050405020304" pitchFamily="18" charset="0"/>
                <a:cs typeface="Times New Roman" panose="02020603050405020304" pitchFamily="18" charset="0"/>
              </a:rPr>
              <a:t>ρ</a:t>
            </a:r>
            <a:r>
              <a:rPr lang="el-GR" sz="1200" dirty="0">
                <a:latin typeface="Times New Roman" panose="02020603050405020304" pitchFamily="18" charset="0"/>
                <a:cs typeface="Times New Roman" panose="02020603050405020304" pitchFamily="18" charset="0"/>
              </a:rPr>
              <a:t> (</a:t>
            </a:r>
            <a:r>
              <a:rPr lang="en-US" sz="1200" dirty="0">
                <a:latin typeface="Times New Roman" panose="02020603050405020304" pitchFamily="18" charset="0"/>
                <a:cs typeface="Times New Roman" panose="02020603050405020304" pitchFamily="18" charset="0"/>
              </a:rPr>
              <a:t>median Spearman </a:t>
            </a:r>
            <a:r>
              <a:rPr lang="el-GR" sz="1200" i="1" dirty="0">
                <a:latin typeface="Times New Roman" panose="02020603050405020304" pitchFamily="18" charset="0"/>
                <a:cs typeface="Times New Roman" panose="02020603050405020304" pitchFamily="18" charset="0"/>
              </a:rPr>
              <a:t>ρ</a:t>
            </a:r>
            <a:r>
              <a:rPr lang="el-GR" sz="1200" dirty="0">
                <a:latin typeface="Times New Roman" panose="02020603050405020304" pitchFamily="18" charset="0"/>
                <a:cs typeface="Times New Roman" panose="02020603050405020304" pitchFamily="18" charset="0"/>
              </a:rPr>
              <a:t> </a:t>
            </a:r>
            <a:r>
              <a:rPr lang="en-US" sz="1200" dirty="0">
                <a:latin typeface="Times New Roman" panose="02020603050405020304" pitchFamily="18" charset="0"/>
                <a:cs typeface="Times New Roman" panose="02020603050405020304" pitchFamily="18" charset="0"/>
              </a:rPr>
              <a:t>of shared DAPs minus background) is shown as a red line in each panel. (</a:t>
            </a:r>
            <a:r>
              <a:rPr lang="en-US" sz="1200" b="1" dirty="0">
                <a:latin typeface="Times New Roman" panose="02020603050405020304" pitchFamily="18" charset="0"/>
                <a:cs typeface="Times New Roman" panose="02020603050405020304" pitchFamily="18" charset="0"/>
              </a:rPr>
              <a:t>a</a:t>
            </a:r>
            <a:r>
              <a:rPr lang="en-US" sz="1200" dirty="0">
                <a:latin typeface="Times New Roman" panose="02020603050405020304" pitchFamily="18" charset="0"/>
                <a:cs typeface="Times New Roman" panose="02020603050405020304" pitchFamily="18" charset="0"/>
              </a:rPr>
              <a:t>) Naive permutation: shared/background labels shuffled randomly (10,000 replicates). (</a:t>
            </a:r>
            <a:r>
              <a:rPr lang="en-US" sz="1200" b="1" dirty="0">
                <a:latin typeface="Times New Roman" panose="02020603050405020304" pitchFamily="18" charset="0"/>
                <a:cs typeface="Times New Roman" panose="02020603050405020304" pitchFamily="18" charset="0"/>
              </a:rPr>
              <a:t>b</a:t>
            </a:r>
            <a:r>
              <a:rPr lang="en-US" sz="1200" dirty="0">
                <a:latin typeface="Times New Roman" panose="02020603050405020304" pitchFamily="18" charset="0"/>
                <a:cs typeface="Times New Roman" panose="02020603050405020304" pitchFamily="18" charset="0"/>
              </a:rPr>
              <a:t>) Magnitude-matched permutation: labels shuffled within |</a:t>
            </a:r>
            <a:r>
              <a:rPr lang="en-US" sz="1200" dirty="0" err="1">
                <a:latin typeface="Times New Roman" panose="02020603050405020304" pitchFamily="18" charset="0"/>
                <a:cs typeface="Times New Roman" panose="02020603050405020304" pitchFamily="18" charset="0"/>
              </a:rPr>
              <a:t>log₂FC</a:t>
            </a:r>
            <a:r>
              <a:rPr lang="en-US" sz="1200" dirty="0">
                <a:latin typeface="Times New Roman" panose="02020603050405020304" pitchFamily="18" charset="0"/>
                <a:cs typeface="Times New Roman" panose="02020603050405020304" pitchFamily="18" charset="0"/>
              </a:rPr>
              <a:t>| bins. (</a:t>
            </a:r>
            <a:r>
              <a:rPr lang="en-US" sz="1200" b="1" dirty="0">
                <a:latin typeface="Times New Roman" panose="02020603050405020304" pitchFamily="18" charset="0"/>
                <a:cs typeface="Times New Roman" panose="02020603050405020304" pitchFamily="18" charset="0"/>
              </a:rPr>
              <a:t>c</a:t>
            </a:r>
            <a:r>
              <a:rPr lang="en-US" sz="1200" dirty="0">
                <a:latin typeface="Times New Roman" panose="02020603050405020304" pitchFamily="18" charset="0"/>
                <a:cs typeface="Times New Roman" panose="02020603050405020304" pitchFamily="18" charset="0"/>
              </a:rPr>
              <a:t>) Brownian-motion (BM) permulation against all background (n = 1,557): for each orthogroup independently, fold-change values were reassigned across species using rank-matched BM simulation along the species phylogeny (10,000 replicates). (</a:t>
            </a:r>
            <a:r>
              <a:rPr lang="en-US" sz="1200" b="1" dirty="0">
                <a:latin typeface="Times New Roman" panose="02020603050405020304" pitchFamily="18" charset="0"/>
                <a:cs typeface="Times New Roman" panose="02020603050405020304" pitchFamily="18" charset="0"/>
              </a:rPr>
              <a:t>d</a:t>
            </a:r>
            <a:r>
              <a:rPr lang="en-US" sz="1200" dirty="0">
                <a:latin typeface="Times New Roman" panose="02020603050405020304" pitchFamily="18" charset="0"/>
                <a:cs typeface="Times New Roman" panose="02020603050405020304" pitchFamily="18" charset="0"/>
              </a:rPr>
              <a:t>) BM permulation against magnitude-matched single-species DAPs (n = 155; |</a:t>
            </a:r>
            <a:r>
              <a:rPr lang="en-US" sz="1200" dirty="0" err="1">
                <a:latin typeface="Times New Roman" panose="02020603050405020304" pitchFamily="18" charset="0"/>
                <a:cs typeface="Times New Roman" panose="02020603050405020304" pitchFamily="18" charset="0"/>
              </a:rPr>
              <a:t>log₂FC</a:t>
            </a:r>
            <a:r>
              <a:rPr lang="en-US" sz="1200" dirty="0">
                <a:latin typeface="Times New Roman" panose="02020603050405020304" pitchFamily="18" charset="0"/>
                <a:cs typeface="Times New Roman" panose="02020603050405020304" pitchFamily="18" charset="0"/>
              </a:rPr>
              <a:t>| ≥ 0.53). The observed </a:t>
            </a:r>
            <a:r>
              <a:rPr lang="el-GR" sz="1200" dirty="0" err="1">
                <a:latin typeface="Times New Roman" panose="02020603050405020304" pitchFamily="18" charset="0"/>
                <a:cs typeface="Times New Roman" panose="02020603050405020304" pitchFamily="18" charset="0"/>
              </a:rPr>
              <a:t>Δ</a:t>
            </a:r>
            <a:r>
              <a:rPr lang="el-GR" sz="1200" i="1" dirty="0" err="1">
                <a:latin typeface="Times New Roman" panose="02020603050405020304" pitchFamily="18" charset="0"/>
                <a:cs typeface="Times New Roman" panose="02020603050405020304" pitchFamily="18" charset="0"/>
              </a:rPr>
              <a:t>ρ</a:t>
            </a:r>
            <a:r>
              <a:rPr lang="el-GR" sz="1200" dirty="0">
                <a:latin typeface="Times New Roman" panose="02020603050405020304" pitchFamily="18" charset="0"/>
                <a:cs typeface="Times New Roman" panose="02020603050405020304" pitchFamily="18" charset="0"/>
              </a:rPr>
              <a:t> </a:t>
            </a:r>
            <a:r>
              <a:rPr lang="en-US" sz="1200" dirty="0">
                <a:latin typeface="Times New Roman" panose="02020603050405020304" pitchFamily="18" charset="0"/>
                <a:cs typeface="Times New Roman" panose="02020603050405020304" pitchFamily="18" charset="0"/>
              </a:rPr>
              <a:t>in panel (d) is 0.218 because the comparison group is magnitude-matched single-species DAPs rather than all background.</a:t>
            </a:r>
          </a:p>
        </p:txBody>
      </p:sp>
      <p:pic>
        <p:nvPicPr>
          <p:cNvPr id="8" name="Picture 7">
            <a:extLst>
              <a:ext uri="{FF2B5EF4-FFF2-40B4-BE49-F238E27FC236}">
                <a16:creationId xmlns:a16="http://schemas.microsoft.com/office/drawing/2014/main" id="{6DF1C239-1661-8DD5-BEDB-7C0E084A5DA2}"/>
              </a:ext>
            </a:extLst>
          </p:cNvPr>
          <p:cNvPicPr>
            <a:picLocks noChangeAspect="1"/>
          </p:cNvPicPr>
          <p:nvPr/>
        </p:nvPicPr>
        <p:blipFill>
          <a:blip r:embed="rId2"/>
          <a:stretch>
            <a:fillRect/>
          </a:stretch>
        </p:blipFill>
        <p:spPr>
          <a:xfrm>
            <a:off x="1562100" y="0"/>
            <a:ext cx="6781800" cy="5767428"/>
          </a:xfrm>
          <a:prstGeom prst="rect">
            <a:avLst/>
          </a:prstGeom>
        </p:spPr>
      </p:pic>
    </p:spTree>
    <p:extLst>
      <p:ext uri="{BB962C8B-B14F-4D97-AF65-F5344CB8AC3E}">
        <p14:creationId xmlns:p14="http://schemas.microsoft.com/office/powerpoint/2010/main" val="29273302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2">
            <a:extLst>
              <a:ext uri="{FF2B5EF4-FFF2-40B4-BE49-F238E27FC236}">
                <a16:creationId xmlns:a16="http://schemas.microsoft.com/office/drawing/2014/main" id="{2E327A7B-68BA-B258-FEBE-0C356B3FA440}"/>
              </a:ext>
            </a:extLst>
          </p:cNvPr>
          <p:cNvSpPr txBox="1"/>
          <p:nvPr/>
        </p:nvSpPr>
        <p:spPr>
          <a:xfrm>
            <a:off x="67945" y="5867400"/>
            <a:ext cx="9770110" cy="917559"/>
          </a:xfrm>
          <a:prstGeom prst="rect">
            <a:avLst/>
          </a:prstGeom>
        </p:spPr>
        <p:txBody>
          <a:bodyPr vert="horz" wrap="square" lIns="0" tIns="19685" rIns="0" bIns="0" rtlCol="0">
            <a:spAutoFit/>
          </a:bodyPr>
          <a:lstStyle/>
          <a:p>
            <a:pPr marL="12700" marR="5080" algn="just">
              <a:lnSpc>
                <a:spcPts val="1430"/>
              </a:lnSpc>
              <a:spcBef>
                <a:spcPts val="155"/>
              </a:spcBef>
            </a:pPr>
            <a:r>
              <a:rPr lang="en-US" sz="1200" b="1" dirty="0">
                <a:latin typeface="Times New Roman" panose="02020603050405020304" pitchFamily="18" charset="0"/>
                <a:cs typeface="Times New Roman" panose="02020603050405020304" pitchFamily="18" charset="0"/>
              </a:rPr>
              <a:t>Fig. </a:t>
            </a:r>
            <a:r>
              <a:rPr sz="1200" b="1" dirty="0">
                <a:latin typeface="Times New Roman" panose="02020603050405020304" pitchFamily="18" charset="0"/>
                <a:cs typeface="Times New Roman" panose="02020603050405020304" pitchFamily="18" charset="0"/>
              </a:rPr>
              <a:t>S</a:t>
            </a:r>
            <a:r>
              <a:rPr lang="en-US" sz="1200" b="1" dirty="0">
                <a:latin typeface="Times New Roman" panose="02020603050405020304" pitchFamily="18" charset="0"/>
                <a:cs typeface="Times New Roman" panose="02020603050405020304" pitchFamily="18" charset="0"/>
              </a:rPr>
              <a:t>6</a:t>
            </a:r>
            <a:r>
              <a:rPr sz="1200" b="1" dirty="0">
                <a:latin typeface="Times New Roman" panose="02020603050405020304" pitchFamily="18" charset="0"/>
                <a:cs typeface="Times New Roman" panose="02020603050405020304" pitchFamily="18" charset="0"/>
              </a:rPr>
              <a:t>.</a:t>
            </a:r>
            <a:r>
              <a:rPr sz="1200" b="1" spc="170" dirty="0">
                <a:latin typeface="Times New Roman" panose="02020603050405020304" pitchFamily="18" charset="0"/>
                <a:cs typeface="Times New Roman" panose="02020603050405020304" pitchFamily="18" charset="0"/>
              </a:rPr>
              <a:t> </a:t>
            </a:r>
            <a:r>
              <a:rPr lang="en-US" sz="1200" b="1" dirty="0">
                <a:latin typeface="Times New Roman" panose="02020603050405020304" pitchFamily="18" charset="0"/>
                <a:cs typeface="Times New Roman" panose="02020603050405020304" pitchFamily="18" charset="0"/>
              </a:rPr>
              <a:t>Orthogroup sharing of significantly DAPs among </a:t>
            </a:r>
            <a:r>
              <a:rPr lang="en-US" sz="1200" b="1" i="1" dirty="0">
                <a:latin typeface="Times New Roman"/>
                <a:cs typeface="Times New Roman"/>
              </a:rPr>
              <a:t>Tripsacum dactyloides and T. floridanum hybrids, Andropogon</a:t>
            </a:r>
            <a:r>
              <a:rPr lang="en-US" sz="1200" b="1" i="1" spc="-25" dirty="0">
                <a:latin typeface="Times New Roman"/>
                <a:cs typeface="Times New Roman"/>
              </a:rPr>
              <a:t> </a:t>
            </a:r>
            <a:r>
              <a:rPr lang="en-US" sz="1200" b="1" i="1" dirty="0">
                <a:latin typeface="Times New Roman"/>
                <a:cs typeface="Times New Roman"/>
              </a:rPr>
              <a:t>gerardi,</a:t>
            </a:r>
            <a:r>
              <a:rPr lang="en-US" sz="1200" b="1" spc="140" dirty="0">
                <a:latin typeface="Times New Roman"/>
                <a:cs typeface="Times New Roman"/>
              </a:rPr>
              <a:t> </a:t>
            </a:r>
            <a:r>
              <a:rPr lang="en-US" sz="1200" b="1" i="1" dirty="0">
                <a:latin typeface="Times New Roman"/>
                <a:cs typeface="Times New Roman"/>
              </a:rPr>
              <a:t>Miscanthus </a:t>
            </a:r>
            <a:r>
              <a:rPr lang="en-US" sz="1200" b="1" spc="140" dirty="0">
                <a:latin typeface="Times New Roman"/>
                <a:cs typeface="Times New Roman"/>
              </a:rPr>
              <a:t>× </a:t>
            </a:r>
            <a:r>
              <a:rPr lang="en-US" sz="1200" b="1" i="1" dirty="0">
                <a:latin typeface="Times New Roman"/>
                <a:cs typeface="Times New Roman"/>
              </a:rPr>
              <a:t>giganteus</a:t>
            </a:r>
            <a:r>
              <a:rPr lang="en-US" sz="1200" b="1" dirty="0">
                <a:latin typeface="Times New Roman"/>
                <a:cs typeface="Times New Roman"/>
              </a:rPr>
              <a:t>,</a:t>
            </a:r>
            <a:r>
              <a:rPr lang="en-US" sz="1200" b="1" spc="145" dirty="0">
                <a:latin typeface="Times New Roman"/>
                <a:cs typeface="Times New Roman"/>
              </a:rPr>
              <a:t> </a:t>
            </a:r>
            <a:r>
              <a:rPr lang="en-US" sz="1200" b="1" i="1" dirty="0">
                <a:latin typeface="Times New Roman"/>
                <a:cs typeface="Times New Roman"/>
              </a:rPr>
              <a:t>Panicum</a:t>
            </a:r>
            <a:r>
              <a:rPr lang="en-US" sz="1200" b="1" i="1" spc="285" dirty="0">
                <a:latin typeface="Times New Roman"/>
                <a:cs typeface="Times New Roman"/>
              </a:rPr>
              <a:t> </a:t>
            </a:r>
            <a:r>
              <a:rPr lang="en-US" sz="1200" b="1" i="1" dirty="0">
                <a:latin typeface="Times New Roman"/>
                <a:cs typeface="Times New Roman"/>
              </a:rPr>
              <a:t>virgatum</a:t>
            </a:r>
            <a:r>
              <a:rPr lang="en-US" sz="1200" b="1" spc="-10" dirty="0">
                <a:latin typeface="Times New Roman"/>
                <a:cs typeface="Times New Roman"/>
              </a:rPr>
              <a:t>, </a:t>
            </a:r>
            <a:r>
              <a:rPr lang="en-US" sz="1200" b="1" dirty="0">
                <a:latin typeface="Times New Roman"/>
                <a:cs typeface="Times New Roman"/>
              </a:rPr>
              <a:t>and</a:t>
            </a:r>
            <a:r>
              <a:rPr lang="en-US" sz="1200" b="1" spc="455" dirty="0">
                <a:latin typeface="Times New Roman"/>
                <a:cs typeface="Times New Roman"/>
              </a:rPr>
              <a:t> </a:t>
            </a:r>
            <a:r>
              <a:rPr lang="en-US" sz="1200" b="1" i="1" dirty="0">
                <a:latin typeface="Times New Roman"/>
                <a:cs typeface="Times New Roman"/>
              </a:rPr>
              <a:t>Sorghastrum</a:t>
            </a:r>
            <a:r>
              <a:rPr lang="en-US" sz="1200" b="1" i="1" spc="270" dirty="0">
                <a:latin typeface="Times New Roman"/>
                <a:cs typeface="Times New Roman"/>
              </a:rPr>
              <a:t> </a:t>
            </a:r>
            <a:r>
              <a:rPr lang="en-US" sz="1200" b="1" i="1" dirty="0">
                <a:latin typeface="Times New Roman"/>
                <a:cs typeface="Times New Roman"/>
              </a:rPr>
              <a:t>nutans</a:t>
            </a:r>
            <a:r>
              <a:rPr lang="en-US" sz="1200" b="1" dirty="0">
                <a:latin typeface="Times New Roman" panose="02020603050405020304" pitchFamily="18" charset="0"/>
                <a:cs typeface="Times New Roman" panose="02020603050405020304" pitchFamily="18" charset="0"/>
              </a:rPr>
              <a:t>. (a)</a:t>
            </a:r>
            <a:r>
              <a:rPr lang="en-US" sz="1200" dirty="0">
                <a:latin typeface="Times New Roman" panose="02020603050405020304" pitchFamily="18" charset="0"/>
                <a:cs typeface="Times New Roman" panose="02020603050405020304" pitchFamily="18" charset="0"/>
              </a:rPr>
              <a:t> Winter-elevated. </a:t>
            </a:r>
            <a:r>
              <a:rPr lang="en-US" sz="1200" b="1" dirty="0">
                <a:latin typeface="Times New Roman" panose="02020603050405020304" pitchFamily="18" charset="0"/>
                <a:cs typeface="Times New Roman" panose="02020603050405020304" pitchFamily="18" charset="0"/>
              </a:rPr>
              <a:t>(b)</a:t>
            </a:r>
            <a:r>
              <a:rPr lang="en-US" sz="1200" dirty="0">
                <a:latin typeface="Times New Roman" panose="02020603050405020304" pitchFamily="18" charset="0"/>
                <a:cs typeface="Times New Roman" panose="02020603050405020304" pitchFamily="18" charset="0"/>
              </a:rPr>
              <a:t> Winter-reduced. Set sizes (horizontal bars) indicate the total number of differentially abundant orthogroups identified per species. Intersection sizes (vertical bars) represent orthogroups unique to individual species or shared among multiple species. Bar shading indicates the number of species sharing each orthogroup: unique to one species (white), shared between two species (gray), or shared among more than two species (black). Dots below the plot illustrate species-specific orthogroup intersections.</a:t>
            </a:r>
            <a:endParaRPr sz="1200"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64A11078-78A4-3A51-8F2D-58318850DAB0}"/>
              </a:ext>
            </a:extLst>
          </p:cNvPr>
          <p:cNvPicPr>
            <a:picLocks noChangeAspect="1"/>
          </p:cNvPicPr>
          <p:nvPr/>
        </p:nvPicPr>
        <p:blipFill>
          <a:blip r:embed="rId2"/>
          <a:stretch>
            <a:fillRect/>
          </a:stretch>
        </p:blipFill>
        <p:spPr>
          <a:xfrm>
            <a:off x="90556" y="1447800"/>
            <a:ext cx="9724887" cy="3759200"/>
          </a:xfrm>
          <a:prstGeom prst="rect">
            <a:avLst/>
          </a:prstGeom>
        </p:spPr>
      </p:pic>
    </p:spTree>
    <p:extLst>
      <p:ext uri="{BB962C8B-B14F-4D97-AF65-F5344CB8AC3E}">
        <p14:creationId xmlns:p14="http://schemas.microsoft.com/office/powerpoint/2010/main" val="14710134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78739" y="5181600"/>
            <a:ext cx="9770110" cy="1681871"/>
          </a:xfrm>
          <a:prstGeom prst="rect">
            <a:avLst/>
          </a:prstGeom>
        </p:spPr>
        <p:txBody>
          <a:bodyPr vert="horz" wrap="square" lIns="0" tIns="19685" rIns="0" bIns="0" rtlCol="0">
            <a:spAutoFit/>
          </a:bodyPr>
          <a:lstStyle/>
          <a:p>
            <a:pPr algn="just">
              <a:spcAft>
                <a:spcPts val="800"/>
              </a:spcAft>
            </a:pPr>
            <a:r>
              <a:rPr lang="en-IL" sz="1200" b="1" kern="100" dirty="0">
                <a:effectLst/>
                <a:latin typeface="Times New Roman" panose="02020603050405020304" pitchFamily="18" charset="0"/>
                <a:ea typeface="Aptos" panose="020B0004020202020204" pitchFamily="34" charset="0"/>
                <a:cs typeface="Times New Roman" panose="02020603050405020304" pitchFamily="18" charset="0"/>
              </a:rPr>
              <a:t>Fig. S7 (a) </a:t>
            </a:r>
            <a:r>
              <a:rPr lang="en-IL" sz="1200" kern="100" dirty="0">
                <a:effectLst/>
                <a:latin typeface="Times New Roman" panose="02020603050405020304" pitchFamily="18" charset="0"/>
                <a:ea typeface="Aptos" panose="020B0004020202020204" pitchFamily="34" charset="0"/>
                <a:cs typeface="Times New Roman" panose="02020603050405020304" pitchFamily="18" charset="0"/>
              </a:rPr>
              <a:t>Enriched biological processes (BP) of </a:t>
            </a:r>
            <a:r>
              <a:rPr lang="en-IL" sz="1200" i="1" kern="100" dirty="0">
                <a:effectLst/>
                <a:latin typeface="Times New Roman" panose="02020603050405020304" pitchFamily="18" charset="0"/>
                <a:ea typeface="Aptos" panose="020B0004020202020204" pitchFamily="34" charset="0"/>
                <a:cs typeface="Times New Roman" panose="02020603050405020304" pitchFamily="18" charset="0"/>
              </a:rPr>
              <a:t>Tripsacum dactyloides</a:t>
            </a:r>
            <a:r>
              <a:rPr lang="en-IL" sz="1200" kern="100" dirty="0">
                <a:effectLst/>
                <a:latin typeface="Times New Roman" panose="02020603050405020304" pitchFamily="18" charset="0"/>
                <a:ea typeface="Aptos" panose="020B0004020202020204" pitchFamily="34" charset="0"/>
                <a:cs typeface="Times New Roman" panose="02020603050405020304" pitchFamily="18" charset="0"/>
              </a:rPr>
              <a:t> and </a:t>
            </a:r>
            <a:r>
              <a:rPr lang="en-IL" sz="1200" i="1" kern="100" dirty="0">
                <a:effectLst/>
                <a:latin typeface="Times New Roman" panose="02020603050405020304" pitchFamily="18" charset="0"/>
                <a:ea typeface="Aptos" panose="020B0004020202020204" pitchFamily="34" charset="0"/>
                <a:cs typeface="Times New Roman" panose="02020603050405020304" pitchFamily="18" charset="0"/>
              </a:rPr>
              <a:t>T. floridanum</a:t>
            </a:r>
            <a:r>
              <a:rPr lang="en-IL" sz="1200" kern="100" dirty="0">
                <a:effectLst/>
                <a:latin typeface="Times New Roman" panose="02020603050405020304" pitchFamily="18" charset="0"/>
                <a:ea typeface="Aptos" panose="020B0004020202020204" pitchFamily="34" charset="0"/>
                <a:cs typeface="Times New Roman" panose="02020603050405020304" pitchFamily="18" charset="0"/>
              </a:rPr>
              <a:t> hybrids, </a:t>
            </a:r>
            <a:r>
              <a:rPr lang="en-IL" sz="1200" i="1" kern="100" dirty="0">
                <a:effectLst/>
                <a:latin typeface="Times New Roman" panose="02020603050405020304" pitchFamily="18" charset="0"/>
                <a:ea typeface="Aptos" panose="020B0004020202020204" pitchFamily="34" charset="0"/>
                <a:cs typeface="Times New Roman" panose="02020603050405020304" pitchFamily="18" charset="0"/>
              </a:rPr>
              <a:t>Andropogon </a:t>
            </a:r>
            <a:r>
              <a:rPr lang="en-US" sz="1200" i="1" kern="100" dirty="0">
                <a:effectLst/>
                <a:latin typeface="Times New Roman" panose="02020603050405020304" pitchFamily="18" charset="0"/>
                <a:ea typeface="Aptos" panose="020B0004020202020204" pitchFamily="34" charset="0"/>
                <a:cs typeface="Times New Roman" panose="02020603050405020304" pitchFamily="18" charset="0"/>
              </a:rPr>
              <a:t>gerardi</a:t>
            </a:r>
            <a:r>
              <a:rPr lang="en-IL" sz="12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IL" sz="1200" i="1" kern="100" dirty="0">
                <a:effectLst/>
                <a:latin typeface="Times New Roman" panose="02020603050405020304" pitchFamily="18" charset="0"/>
                <a:ea typeface="Aptos" panose="020B0004020202020204" pitchFamily="34" charset="0"/>
                <a:cs typeface="Times New Roman" panose="02020603050405020304" pitchFamily="18" charset="0"/>
              </a:rPr>
              <a:t>Miscanthus</a:t>
            </a:r>
            <a:r>
              <a:rPr lang="en-IL" sz="1200" kern="100" dirty="0">
                <a:effectLst/>
                <a:latin typeface="Times New Roman" panose="02020603050405020304" pitchFamily="18" charset="0"/>
                <a:ea typeface="Aptos" panose="020B0004020202020204" pitchFamily="34" charset="0"/>
                <a:cs typeface="Times New Roman" panose="02020603050405020304" pitchFamily="18" charset="0"/>
              </a:rPr>
              <a:t> × </a:t>
            </a:r>
            <a:r>
              <a:rPr lang="en-IL" sz="1200" i="1" kern="100" dirty="0">
                <a:effectLst/>
                <a:latin typeface="Times New Roman" panose="02020603050405020304" pitchFamily="18" charset="0"/>
                <a:ea typeface="Aptos" panose="020B0004020202020204" pitchFamily="34" charset="0"/>
                <a:cs typeface="Times New Roman" panose="02020603050405020304" pitchFamily="18" charset="0"/>
              </a:rPr>
              <a:t>giganteus</a:t>
            </a:r>
            <a:r>
              <a:rPr lang="en-IL" sz="12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IL" sz="1200" i="1" kern="100" dirty="0">
                <a:effectLst/>
                <a:latin typeface="Times New Roman" panose="02020603050405020304" pitchFamily="18" charset="0"/>
                <a:ea typeface="Aptos" panose="020B0004020202020204" pitchFamily="34" charset="0"/>
                <a:cs typeface="Times New Roman" panose="02020603050405020304" pitchFamily="18" charset="0"/>
              </a:rPr>
              <a:t>Panicum virgatum</a:t>
            </a:r>
            <a:r>
              <a:rPr lang="en-IL" sz="1200" kern="100" dirty="0">
                <a:effectLst/>
                <a:latin typeface="Times New Roman" panose="02020603050405020304" pitchFamily="18" charset="0"/>
                <a:ea typeface="Aptos" panose="020B0004020202020204" pitchFamily="34" charset="0"/>
                <a:cs typeface="Times New Roman" panose="02020603050405020304" pitchFamily="18" charset="0"/>
              </a:rPr>
              <a:t>, and </a:t>
            </a:r>
            <a:r>
              <a:rPr lang="en-IL" sz="1200" i="1" kern="100" dirty="0">
                <a:effectLst/>
                <a:latin typeface="Times New Roman" panose="02020603050405020304" pitchFamily="18" charset="0"/>
                <a:ea typeface="Aptos" panose="020B0004020202020204" pitchFamily="34" charset="0"/>
                <a:cs typeface="Times New Roman" panose="02020603050405020304" pitchFamily="18" charset="0"/>
              </a:rPr>
              <a:t>Sorghastrum nutans</a:t>
            </a:r>
            <a:r>
              <a:rPr lang="en-IL" sz="1200" kern="100" dirty="0">
                <a:effectLst/>
                <a:latin typeface="Times New Roman" panose="02020603050405020304" pitchFamily="18" charset="0"/>
                <a:ea typeface="Aptos" panose="020B0004020202020204" pitchFamily="34" charset="0"/>
                <a:cs typeface="Times New Roman" panose="02020603050405020304" pitchFamily="18" charset="0"/>
              </a:rPr>
              <a:t> rhizomes among differentially accumulated proteins (DAPs) in 475 winter-elevated and 609 winter-reduced proteins, r</a:t>
            </a:r>
            <a:r>
              <a:rPr lang="en-US" sz="1200" kern="100" dirty="0" err="1">
                <a:effectLst/>
                <a:latin typeface="Times New Roman" panose="02020603050405020304" pitchFamily="18" charset="0"/>
                <a:ea typeface="Aptos" panose="020B0004020202020204" pitchFamily="34" charset="0"/>
                <a:cs typeface="Times New Roman" panose="02020603050405020304" pitchFamily="18" charset="0"/>
              </a:rPr>
              <a:t>ather</a:t>
            </a:r>
            <a:r>
              <a:rPr lang="en-US" sz="1200" kern="100" dirty="0">
                <a:effectLst/>
                <a:latin typeface="Times New Roman" panose="02020603050405020304" pitchFamily="18" charset="0"/>
                <a:ea typeface="Aptos" panose="020B0004020202020204" pitchFamily="34" charset="0"/>
                <a:cs typeface="Times New Roman" panose="02020603050405020304" pitchFamily="18" charset="0"/>
              </a:rPr>
              <a:t> than the orthogroup counts (n=330 and n=470) discussed in the main text, to capture functional diversity among paralogs. Proteins with unknown BP term were excluded).</a:t>
            </a:r>
            <a:r>
              <a:rPr lang="en-IL" sz="1200" kern="100" dirty="0">
                <a:effectLst/>
                <a:latin typeface="Times New Roman" panose="02020603050405020304" pitchFamily="18" charset="0"/>
                <a:ea typeface="Aptos" panose="020B0004020202020204" pitchFamily="34" charset="0"/>
                <a:cs typeface="Times New Roman" panose="02020603050405020304" pitchFamily="18" charset="0"/>
              </a:rPr>
              <a:t> Dot size represents gene count per BP category, while dot color indicates the gene ratio (proportion of proteins annotated to each BP category). Only the top significantly enriched BP terms (lowest </a:t>
            </a:r>
            <a:r>
              <a:rPr lang="en-IL" sz="1200" i="1" kern="100" dirty="0">
                <a:effectLst/>
                <a:latin typeface="Times New Roman" panose="02020603050405020304" pitchFamily="18" charset="0"/>
                <a:ea typeface="Aptos" panose="020B0004020202020204" pitchFamily="34" charset="0"/>
                <a:cs typeface="Times New Roman" panose="02020603050405020304" pitchFamily="18" charset="0"/>
              </a:rPr>
              <a:t>P</a:t>
            </a:r>
            <a:r>
              <a:rPr lang="en-IL" sz="1200" kern="100" dirty="0">
                <a:effectLst/>
                <a:latin typeface="Times New Roman" panose="02020603050405020304" pitchFamily="18" charset="0"/>
                <a:ea typeface="Aptos" panose="020B0004020202020204" pitchFamily="34" charset="0"/>
                <a:cs typeface="Times New Roman" panose="02020603050405020304" pitchFamily="18" charset="0"/>
              </a:rPr>
              <a:t>-values) are displayed for clarity. </a:t>
            </a:r>
            <a:r>
              <a:rPr lang="en-IL" sz="1200" b="1" kern="100" dirty="0">
                <a:effectLst/>
                <a:latin typeface="Times New Roman" panose="02020603050405020304" pitchFamily="18" charset="0"/>
                <a:ea typeface="Aptos" panose="020B0004020202020204" pitchFamily="34" charset="0"/>
                <a:cs typeface="Times New Roman" panose="02020603050405020304" pitchFamily="18" charset="0"/>
              </a:rPr>
              <a:t>(b) </a:t>
            </a:r>
            <a:r>
              <a:rPr lang="en-IL" sz="1200" kern="100" dirty="0">
                <a:effectLst/>
                <a:latin typeface="Times New Roman" panose="02020603050405020304" pitchFamily="18" charset="0"/>
                <a:ea typeface="Aptos" panose="020B0004020202020204" pitchFamily="34" charset="0"/>
                <a:cs typeface="Times New Roman" panose="02020603050405020304" pitchFamily="18" charset="0"/>
              </a:rPr>
              <a:t>Mosaic plot of BP enriched among winter-elevated DAPs across five PACMAD grass species. The plot summarizes the distribution of functionally annotated proteins (n = 483 of 630; unannotated proteins were excluded) across 139 biological process (BP) terms. These terms were consolidated into broader functional categories to aid interpretability. Each bar shows the relative abundance of functional categories within a species, highlighting both conserved and species-specific patterns. A Chi-square test for independence (χ²[70]=97.5, </a:t>
            </a:r>
            <a:r>
              <a:rPr lang="en-IL" sz="1200" i="1" kern="100" dirty="0">
                <a:effectLst/>
                <a:latin typeface="Times New Roman" panose="02020603050405020304" pitchFamily="18" charset="0"/>
                <a:ea typeface="Aptos" panose="020B0004020202020204" pitchFamily="34" charset="0"/>
                <a:cs typeface="Times New Roman" panose="02020603050405020304" pitchFamily="18" charset="0"/>
              </a:rPr>
              <a:t>P</a:t>
            </a:r>
            <a:r>
              <a:rPr lang="en-IL" sz="1200" kern="100" dirty="0">
                <a:effectLst/>
                <a:latin typeface="Times New Roman" panose="02020603050405020304" pitchFamily="18" charset="0"/>
                <a:ea typeface="Aptos" panose="020B0004020202020204" pitchFamily="34" charset="0"/>
                <a:cs typeface="Times New Roman" panose="02020603050405020304" pitchFamily="18" charset="0"/>
              </a:rPr>
              <a:t>=0.017) was performed to evaluate variation across species. Category labels are shown in the legend.</a:t>
            </a:r>
          </a:p>
        </p:txBody>
      </p:sp>
      <p:pic>
        <p:nvPicPr>
          <p:cNvPr id="5" name="Picture 4">
            <a:extLst>
              <a:ext uri="{FF2B5EF4-FFF2-40B4-BE49-F238E27FC236}">
                <a16:creationId xmlns:a16="http://schemas.microsoft.com/office/drawing/2014/main" id="{EAC29886-E30A-9F5E-C2B6-6782390B5255}"/>
              </a:ext>
            </a:extLst>
          </p:cNvPr>
          <p:cNvPicPr>
            <a:picLocks noChangeAspect="1"/>
          </p:cNvPicPr>
          <p:nvPr/>
        </p:nvPicPr>
        <p:blipFill>
          <a:blip r:embed="rId2"/>
          <a:stretch>
            <a:fillRect/>
          </a:stretch>
        </p:blipFill>
        <p:spPr>
          <a:xfrm>
            <a:off x="2252010" y="0"/>
            <a:ext cx="5401980" cy="51054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p:nvPr/>
        </p:nvSpPr>
        <p:spPr>
          <a:xfrm>
            <a:off x="76200" y="5334000"/>
            <a:ext cx="9766477" cy="1490152"/>
          </a:xfrm>
          <a:prstGeom prst="rect">
            <a:avLst/>
          </a:prstGeom>
        </p:spPr>
        <p:txBody>
          <a:bodyPr vert="horz" wrap="square" lIns="0" tIns="12700" rIns="0" bIns="0" rtlCol="0">
            <a:spAutoFit/>
          </a:bodyPr>
          <a:lstStyle/>
          <a:p>
            <a:pPr algn="just"/>
            <a:r>
              <a:rPr lang="en-IL" sz="1200" b="1" dirty="0">
                <a:latin typeface="Times New Roman" panose="02020603050405020304" pitchFamily="18" charset="0"/>
                <a:cs typeface="Times New Roman" panose="02020603050405020304" pitchFamily="18" charset="0"/>
              </a:rPr>
              <a:t>Fig. S8.</a:t>
            </a:r>
            <a:r>
              <a:rPr lang="en-IL" sz="1200" dirty="0">
                <a:latin typeface="Times New Roman" panose="02020603050405020304" pitchFamily="18" charset="0"/>
                <a:cs typeface="Times New Roman" panose="02020603050405020304" pitchFamily="18" charset="0"/>
              </a:rPr>
              <a:t> </a:t>
            </a:r>
            <a:r>
              <a:rPr lang="en-IL" sz="1200" b="1" dirty="0">
                <a:latin typeface="Times New Roman" panose="02020603050405020304" pitchFamily="18" charset="0"/>
                <a:cs typeface="Times New Roman" panose="02020603050405020304" pitchFamily="18" charset="0"/>
              </a:rPr>
              <a:t>Relationship between seasonal protein abundance in rhizomes of </a:t>
            </a:r>
            <a:r>
              <a:rPr lang="en-IL" sz="1200" b="1" i="1" dirty="0">
                <a:latin typeface="Times New Roman" panose="02020603050405020304" pitchFamily="18" charset="0"/>
                <a:cs typeface="Times New Roman" panose="02020603050405020304" pitchFamily="18" charset="0"/>
              </a:rPr>
              <a:t>Tripsacum dactyloides</a:t>
            </a:r>
            <a:r>
              <a:rPr lang="en-IL" sz="1200" b="1" dirty="0">
                <a:latin typeface="Times New Roman" panose="02020603050405020304" pitchFamily="18" charset="0"/>
                <a:cs typeface="Times New Roman" panose="02020603050405020304" pitchFamily="18" charset="0"/>
              </a:rPr>
              <a:t> and </a:t>
            </a:r>
            <a:r>
              <a:rPr lang="en-IL" sz="1200" b="1" i="1" dirty="0">
                <a:latin typeface="Times New Roman" panose="02020603050405020304" pitchFamily="18" charset="0"/>
                <a:cs typeface="Times New Roman" panose="02020603050405020304" pitchFamily="18" charset="0"/>
              </a:rPr>
              <a:t>T. floridanum</a:t>
            </a:r>
            <a:r>
              <a:rPr lang="en-IL" sz="1200" b="1" dirty="0">
                <a:latin typeface="Times New Roman" panose="02020603050405020304" pitchFamily="18" charset="0"/>
                <a:cs typeface="Times New Roman" panose="02020603050405020304" pitchFamily="18" charset="0"/>
              </a:rPr>
              <a:t> hybrids and cold-responsive RNA expression in </a:t>
            </a:r>
            <a:r>
              <a:rPr lang="en-IL" sz="1200" b="1" i="1" dirty="0">
                <a:latin typeface="Times New Roman" panose="02020603050405020304" pitchFamily="18" charset="0"/>
                <a:cs typeface="Times New Roman" panose="02020603050405020304" pitchFamily="18" charset="0"/>
              </a:rPr>
              <a:t>Tripsacum</a:t>
            </a:r>
            <a:r>
              <a:rPr lang="en-IL" sz="1200" b="1" dirty="0">
                <a:latin typeface="Times New Roman" panose="02020603050405020304" pitchFamily="18" charset="0"/>
                <a:cs typeface="Times New Roman" panose="02020603050405020304" pitchFamily="18" charset="0"/>
              </a:rPr>
              <a:t> hybrids, </a:t>
            </a:r>
            <a:r>
              <a:rPr lang="en-IL" sz="1200" b="1" i="1" dirty="0">
                <a:latin typeface="Times New Roman" panose="02020603050405020304" pitchFamily="18" charset="0"/>
                <a:cs typeface="Times New Roman" panose="02020603050405020304" pitchFamily="18" charset="0"/>
              </a:rPr>
              <a:t>Tripsacum dactyloides</a:t>
            </a:r>
            <a:r>
              <a:rPr lang="en-IL" sz="1200" b="1" dirty="0">
                <a:latin typeface="Times New Roman" panose="02020603050405020304" pitchFamily="18" charset="0"/>
                <a:cs typeface="Times New Roman" panose="02020603050405020304" pitchFamily="18" charset="0"/>
              </a:rPr>
              <a:t>, and </a:t>
            </a:r>
            <a:r>
              <a:rPr lang="en-IL" sz="1200" b="1" i="1" dirty="0">
                <a:latin typeface="Times New Roman" panose="02020603050405020304" pitchFamily="18" charset="0"/>
                <a:cs typeface="Times New Roman" panose="02020603050405020304" pitchFamily="18" charset="0"/>
              </a:rPr>
              <a:t>Zea mays</a:t>
            </a:r>
            <a:r>
              <a:rPr lang="en-IL" sz="1200" b="1" dirty="0">
                <a:latin typeface="Times New Roman" panose="02020603050405020304" pitchFamily="18" charset="0"/>
                <a:cs typeface="Times New Roman" panose="02020603050405020304" pitchFamily="18" charset="0"/>
              </a:rPr>
              <a:t>. (a) </a:t>
            </a:r>
            <a:r>
              <a:rPr lang="en-IL" sz="1200" dirty="0">
                <a:latin typeface="Times New Roman" panose="02020603050405020304" pitchFamily="18" charset="0"/>
                <a:cs typeface="Times New Roman" panose="02020603050405020304" pitchFamily="18" charset="0"/>
              </a:rPr>
              <a:t>Scatterplots showing the relationship between </a:t>
            </a:r>
            <a:r>
              <a:rPr lang="en-IL" sz="1200" i="1" dirty="0">
                <a:latin typeface="Times New Roman" panose="02020603050405020304" pitchFamily="18" charset="0"/>
                <a:cs typeface="Times New Roman" panose="02020603050405020304" pitchFamily="18" charset="0"/>
              </a:rPr>
              <a:t>Tripsacum</a:t>
            </a:r>
            <a:r>
              <a:rPr lang="en-IL" sz="1200" dirty="0">
                <a:latin typeface="Times New Roman" panose="02020603050405020304" pitchFamily="18" charset="0"/>
                <a:cs typeface="Times New Roman" panose="02020603050405020304" pitchFamily="18" charset="0"/>
              </a:rPr>
              <a:t> rhizome proteins (x-axis, log2FC Winter/Summer, 2-year average) and </a:t>
            </a:r>
            <a:r>
              <a:rPr lang="en-IL" sz="1200" i="1" dirty="0">
                <a:latin typeface="Times New Roman" panose="02020603050405020304" pitchFamily="18" charset="0"/>
                <a:cs typeface="Times New Roman" panose="02020603050405020304" pitchFamily="18" charset="0"/>
              </a:rPr>
              <a:t>Tripsacum</a:t>
            </a:r>
            <a:r>
              <a:rPr lang="en-IL" sz="1200" dirty="0">
                <a:latin typeface="Times New Roman" panose="02020603050405020304" pitchFamily="18" charset="0"/>
                <a:cs typeface="Times New Roman" panose="02020603050405020304" pitchFamily="18" charset="0"/>
              </a:rPr>
              <a:t> leaf mRNA from a freezing tolerant F₂ bulk before and after 7 days cold acclimation (tol_5°C/tol_22°C) descended from the same </a:t>
            </a:r>
            <a:r>
              <a:rPr lang="en-IL" sz="1200" i="1" dirty="0">
                <a:latin typeface="Times New Roman" panose="02020603050405020304" pitchFamily="18" charset="0"/>
                <a:cs typeface="Times New Roman" panose="02020603050405020304" pitchFamily="18" charset="0"/>
              </a:rPr>
              <a:t>Tripsacum</a:t>
            </a:r>
            <a:r>
              <a:rPr lang="en-IL" sz="1200" dirty="0">
                <a:latin typeface="Times New Roman" panose="02020603050405020304" pitchFamily="18" charset="0"/>
                <a:cs typeface="Times New Roman" panose="02020603050405020304" pitchFamily="18" charset="0"/>
              </a:rPr>
              <a:t> hybrids used for rhizome proteomic analysis. </a:t>
            </a:r>
            <a:r>
              <a:rPr lang="en-IL" sz="1200" b="1" dirty="0">
                <a:latin typeface="Times New Roman" panose="02020603050405020304" pitchFamily="18" charset="0"/>
                <a:cs typeface="Times New Roman" panose="02020603050405020304" pitchFamily="18" charset="0"/>
              </a:rPr>
              <a:t>(b–e) </a:t>
            </a:r>
            <a:r>
              <a:rPr lang="en-IL" sz="1200" i="1" dirty="0">
                <a:latin typeface="Times New Roman" panose="02020603050405020304" pitchFamily="18" charset="0"/>
                <a:cs typeface="Times New Roman" panose="02020603050405020304" pitchFamily="18" charset="0"/>
              </a:rPr>
              <a:t>Tripsacum dactyloides</a:t>
            </a:r>
            <a:r>
              <a:rPr lang="en-IL" sz="1200" dirty="0">
                <a:latin typeface="Times New Roman" panose="02020603050405020304" pitchFamily="18" charset="0"/>
                <a:cs typeface="Times New Roman" panose="02020603050405020304" pitchFamily="18" charset="0"/>
              </a:rPr>
              <a:t> (cv. 'Pete') tissues (5°C/22°C): leaf, top-crown, bottom-crown, and root.</a:t>
            </a:r>
            <a:r>
              <a:rPr lang="en-IL" sz="1200" b="1" dirty="0">
                <a:latin typeface="Times New Roman" panose="02020603050405020304" pitchFamily="18" charset="0"/>
                <a:cs typeface="Times New Roman" panose="02020603050405020304" pitchFamily="18" charset="0"/>
              </a:rPr>
              <a:t> (f–i) </a:t>
            </a:r>
            <a:r>
              <a:rPr lang="en-IL" sz="1200" i="1" dirty="0">
                <a:latin typeface="Times New Roman" panose="02020603050405020304" pitchFamily="18" charset="0"/>
                <a:cs typeface="Times New Roman" panose="02020603050405020304" pitchFamily="18" charset="0"/>
              </a:rPr>
              <a:t>Zea mays</a:t>
            </a:r>
            <a:r>
              <a:rPr lang="en-IL" sz="1200" dirty="0">
                <a:latin typeface="Times New Roman" panose="02020603050405020304" pitchFamily="18" charset="0"/>
                <a:cs typeface="Times New Roman" panose="02020603050405020304" pitchFamily="18" charset="0"/>
              </a:rPr>
              <a:t> tissues (5°C/22°C): leaf, top-crown, bottom-crown, and root. Points are colored by shared differential expression status: blue for upregulated, pink for downregulated, and gray for non-significant changes. Dashed horizontal lines indicate the ±1 log2FC thresholds. Spearman's correlation coefficient (</a:t>
            </a:r>
            <a:r>
              <a:rPr lang="en-IL" sz="1200" i="1" dirty="0">
                <a:latin typeface="Times New Roman" panose="02020603050405020304" pitchFamily="18" charset="0"/>
                <a:cs typeface="Times New Roman" panose="02020603050405020304" pitchFamily="18" charset="0"/>
              </a:rPr>
              <a:t>ρ</a:t>
            </a:r>
            <a:r>
              <a:rPr lang="en-IL" sz="1200" dirty="0">
                <a:latin typeface="Times New Roman" panose="02020603050405020304" pitchFamily="18" charset="0"/>
                <a:cs typeface="Times New Roman" panose="02020603050405020304" pitchFamily="18" charset="0"/>
              </a:rPr>
              <a:t>) and </a:t>
            </a:r>
            <a:r>
              <a:rPr lang="en-IL" sz="1200" i="1" dirty="0">
                <a:latin typeface="Times New Roman" panose="02020603050405020304" pitchFamily="18" charset="0"/>
                <a:cs typeface="Times New Roman" panose="02020603050405020304" pitchFamily="18" charset="0"/>
              </a:rPr>
              <a:t>P</a:t>
            </a:r>
            <a:r>
              <a:rPr lang="en-IL" sz="1200" dirty="0">
                <a:latin typeface="Times New Roman" panose="02020603050405020304" pitchFamily="18" charset="0"/>
                <a:cs typeface="Times New Roman" panose="02020603050405020304" pitchFamily="18" charset="0"/>
              </a:rPr>
              <a:t>-value are shown in the upper left of each panel, along with the number of genes analyzed (</a:t>
            </a:r>
            <a:r>
              <a:rPr lang="en-IL" sz="1200" i="1" dirty="0">
                <a:latin typeface="Times New Roman" panose="02020603050405020304" pitchFamily="18" charset="0"/>
                <a:cs typeface="Times New Roman" panose="02020603050405020304" pitchFamily="18" charset="0"/>
              </a:rPr>
              <a:t>n</a:t>
            </a:r>
            <a:r>
              <a:rPr lang="en-IL" sz="1200" dirty="0">
                <a:latin typeface="Times New Roman" panose="02020603050405020304" pitchFamily="18" charset="0"/>
                <a:cs typeface="Times New Roman" panose="02020603050405020304" pitchFamily="18" charset="0"/>
              </a:rPr>
              <a:t>). The LEA3 gene is labeled in each panel.</a:t>
            </a:r>
          </a:p>
        </p:txBody>
      </p:sp>
      <p:pic>
        <p:nvPicPr>
          <p:cNvPr id="2" name="Picture 1">
            <a:extLst>
              <a:ext uri="{FF2B5EF4-FFF2-40B4-BE49-F238E27FC236}">
                <a16:creationId xmlns:a16="http://schemas.microsoft.com/office/drawing/2014/main" id="{67814547-79F6-8123-4973-561687D987BA}"/>
              </a:ext>
            </a:extLst>
          </p:cNvPr>
          <p:cNvPicPr>
            <a:picLocks noChangeAspect="1"/>
          </p:cNvPicPr>
          <p:nvPr/>
        </p:nvPicPr>
        <p:blipFill>
          <a:blip r:embed="rId2"/>
          <a:srcRect t="3903"/>
          <a:stretch>
            <a:fillRect/>
          </a:stretch>
        </p:blipFill>
        <p:spPr>
          <a:xfrm>
            <a:off x="1748932" y="33848"/>
            <a:ext cx="6408137" cy="528954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FB849EB-68FE-50C5-9CCF-265AB0ADF286}"/>
              </a:ext>
            </a:extLst>
          </p:cNvPr>
          <p:cNvPicPr>
            <a:picLocks noChangeAspect="1"/>
          </p:cNvPicPr>
          <p:nvPr/>
        </p:nvPicPr>
        <p:blipFill>
          <a:blip r:embed="rId2"/>
          <a:stretch>
            <a:fillRect/>
          </a:stretch>
        </p:blipFill>
        <p:spPr>
          <a:xfrm>
            <a:off x="391605" y="152400"/>
            <a:ext cx="9122790" cy="5746172"/>
          </a:xfrm>
          <a:prstGeom prst="rect">
            <a:avLst/>
          </a:prstGeom>
        </p:spPr>
      </p:pic>
      <p:sp>
        <p:nvSpPr>
          <p:cNvPr id="7" name="object 3">
            <a:extLst>
              <a:ext uri="{FF2B5EF4-FFF2-40B4-BE49-F238E27FC236}">
                <a16:creationId xmlns:a16="http://schemas.microsoft.com/office/drawing/2014/main" id="{67BD8C7C-B9F1-7AE4-114B-18CA2BF04D7E}"/>
              </a:ext>
            </a:extLst>
          </p:cNvPr>
          <p:cNvSpPr txBox="1"/>
          <p:nvPr/>
        </p:nvSpPr>
        <p:spPr>
          <a:xfrm>
            <a:off x="69761" y="5971045"/>
            <a:ext cx="9766477" cy="751488"/>
          </a:xfrm>
          <a:prstGeom prst="rect">
            <a:avLst/>
          </a:prstGeom>
        </p:spPr>
        <p:txBody>
          <a:bodyPr vert="horz" wrap="square" lIns="0" tIns="12700" rIns="0" bIns="0" rtlCol="0">
            <a:spAutoFit/>
          </a:bodyPr>
          <a:lstStyle/>
          <a:p>
            <a:pPr algn="just"/>
            <a:r>
              <a:rPr lang="en-US" sz="1200" b="1" dirty="0">
                <a:latin typeface="Times New Roman" panose="02020603050405020304" pitchFamily="18" charset="0"/>
                <a:cs typeface="Times New Roman" panose="02020603050405020304" pitchFamily="18" charset="0"/>
              </a:rPr>
              <a:t>Fig. S9. Multiple sequence alignment of LEA3 orthologs across six PACMAD species.</a:t>
            </a:r>
            <a:r>
              <a:rPr lang="en-US" sz="1200" dirty="0">
                <a:latin typeface="Times New Roman" panose="02020603050405020304" pitchFamily="18" charset="0"/>
                <a:cs typeface="Times New Roman" panose="02020603050405020304" pitchFamily="18" charset="0"/>
              </a:rPr>
              <a:t> MAFFT alignment of LEA3 (OG0022470) protein sequences from </a:t>
            </a:r>
            <a:r>
              <a:rPr lang="en-US" sz="1200" i="1" dirty="0">
                <a:latin typeface="Times New Roman" panose="02020603050405020304" pitchFamily="18" charset="0"/>
                <a:cs typeface="Times New Roman" panose="02020603050405020304" pitchFamily="18" charset="0"/>
              </a:rPr>
              <a:t>Tripsacum dactyloides</a:t>
            </a:r>
            <a:r>
              <a:rPr lang="en-US" sz="1200" dirty="0">
                <a:latin typeface="Times New Roman" panose="02020603050405020304" pitchFamily="18" charset="0"/>
                <a:cs typeface="Times New Roman" panose="02020603050405020304" pitchFamily="18" charset="0"/>
              </a:rPr>
              <a:t> (Td00001aa022594), </a:t>
            </a:r>
            <a:r>
              <a:rPr lang="en-US" sz="1200" i="1" dirty="0">
                <a:latin typeface="Times New Roman" panose="02020603050405020304" pitchFamily="18" charset="0"/>
                <a:cs typeface="Times New Roman" panose="02020603050405020304" pitchFamily="18" charset="0"/>
              </a:rPr>
              <a:t>Zea mays</a:t>
            </a:r>
            <a:r>
              <a:rPr lang="en-US" sz="1200" dirty="0">
                <a:latin typeface="Times New Roman" panose="02020603050405020304" pitchFamily="18" charset="0"/>
                <a:cs typeface="Times New Roman" panose="02020603050405020304" pitchFamily="18" charset="0"/>
              </a:rPr>
              <a:t> (Zm00001eb294480), </a:t>
            </a:r>
            <a:r>
              <a:rPr lang="en-US" sz="1200" i="1" dirty="0">
                <a:latin typeface="Times New Roman" panose="02020603050405020304" pitchFamily="18" charset="0"/>
                <a:cs typeface="Times New Roman" panose="02020603050405020304" pitchFamily="18" charset="0"/>
              </a:rPr>
              <a:t>Andropogon gerardi</a:t>
            </a:r>
            <a:r>
              <a:rPr lang="en-US" sz="1200" dirty="0">
                <a:latin typeface="Times New Roman" panose="02020603050405020304" pitchFamily="18" charset="0"/>
                <a:cs typeface="Times New Roman" panose="02020603050405020304" pitchFamily="18" charset="0"/>
              </a:rPr>
              <a:t> (Ag00001aa069574), </a:t>
            </a:r>
            <a:r>
              <a:rPr lang="en-US" sz="1200" i="1" dirty="0">
                <a:latin typeface="Times New Roman" panose="02020603050405020304" pitchFamily="18" charset="0"/>
                <a:cs typeface="Times New Roman" panose="02020603050405020304" pitchFamily="18" charset="0"/>
              </a:rPr>
              <a:t>Sorghastrum nutans</a:t>
            </a:r>
            <a:r>
              <a:rPr lang="en-US" sz="1200" dirty="0">
                <a:latin typeface="Times New Roman" panose="02020603050405020304" pitchFamily="18" charset="0"/>
                <a:cs typeface="Times New Roman" panose="02020603050405020304" pitchFamily="18" charset="0"/>
              </a:rPr>
              <a:t> (Sn00001aa056018), </a:t>
            </a:r>
            <a:r>
              <a:rPr lang="en-US" sz="1200" i="1" dirty="0">
                <a:latin typeface="Times New Roman" panose="02020603050405020304" pitchFamily="18" charset="0"/>
                <a:cs typeface="Times New Roman" panose="02020603050405020304" pitchFamily="18" charset="0"/>
              </a:rPr>
              <a:t>Miscanthus</a:t>
            </a:r>
            <a:r>
              <a:rPr lang="en-US" sz="1200" dirty="0">
                <a:latin typeface="Times New Roman" panose="02020603050405020304" pitchFamily="18" charset="0"/>
                <a:cs typeface="Times New Roman" panose="02020603050405020304" pitchFamily="18" charset="0"/>
              </a:rPr>
              <a:t> </a:t>
            </a:r>
            <a:r>
              <a:rPr lang="en-US" sz="1200" i="1" dirty="0">
                <a:latin typeface="Times New Roman" panose="02020603050405020304" pitchFamily="18" charset="0"/>
                <a:cs typeface="Times New Roman" panose="02020603050405020304" pitchFamily="18" charset="0"/>
              </a:rPr>
              <a:t>giganteus</a:t>
            </a:r>
            <a:r>
              <a:rPr lang="en-US" sz="1200" dirty="0">
                <a:latin typeface="Times New Roman" panose="02020603050405020304" pitchFamily="18" charset="0"/>
                <a:cs typeface="Times New Roman" panose="02020603050405020304" pitchFamily="18" charset="0"/>
              </a:rPr>
              <a:t> (Misin17G219700), and </a:t>
            </a:r>
            <a:r>
              <a:rPr lang="en-US" sz="1200" i="1" dirty="0">
                <a:latin typeface="Times New Roman" panose="02020603050405020304" pitchFamily="18" charset="0"/>
                <a:cs typeface="Times New Roman" panose="02020603050405020304" pitchFamily="18" charset="0"/>
              </a:rPr>
              <a:t>Panicum virgatum</a:t>
            </a:r>
            <a:r>
              <a:rPr lang="en-US" sz="1200" dirty="0">
                <a:latin typeface="Times New Roman" panose="02020603050405020304" pitchFamily="18" charset="0"/>
                <a:cs typeface="Times New Roman" panose="02020603050405020304" pitchFamily="18" charset="0"/>
              </a:rPr>
              <a:t> (PvWBCH1.3NG170900). Blue shading indicates tandem 11-mer repeat units; orange shading indicates the variant third repeat of </a:t>
            </a:r>
            <a:r>
              <a:rPr lang="en-US" sz="1200" i="1" dirty="0">
                <a:latin typeface="Times New Roman" panose="02020603050405020304" pitchFamily="18" charset="0"/>
                <a:cs typeface="Times New Roman" panose="02020603050405020304" pitchFamily="18" charset="0"/>
              </a:rPr>
              <a:t>Z. mays</a:t>
            </a:r>
            <a:r>
              <a:rPr lang="en-US" sz="1200" dirty="0">
                <a:latin typeface="Times New Roman" panose="02020603050405020304" pitchFamily="18" charset="0"/>
                <a:cs typeface="Times New Roman" panose="02020603050405020304" pitchFamily="18" charset="0"/>
              </a:rPr>
              <a:t>.</a:t>
            </a:r>
            <a:endParaRPr lang="en-IL" sz="1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793422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96" name="object 496"/>
          <p:cNvSpPr txBox="1"/>
          <p:nvPr/>
        </p:nvSpPr>
        <p:spPr>
          <a:xfrm>
            <a:off x="76200" y="5958332"/>
            <a:ext cx="9770110" cy="748923"/>
          </a:xfrm>
          <a:prstGeom prst="rect">
            <a:avLst/>
          </a:prstGeom>
        </p:spPr>
        <p:txBody>
          <a:bodyPr vert="horz" wrap="square" lIns="0" tIns="22860" rIns="0" bIns="0" rtlCol="0">
            <a:spAutoFit/>
          </a:bodyPr>
          <a:lstStyle/>
          <a:p>
            <a:pPr marL="12700" marR="5080" algn="just">
              <a:lnSpc>
                <a:spcPts val="1400"/>
              </a:lnSpc>
              <a:spcBef>
                <a:spcPts val="180"/>
              </a:spcBef>
            </a:pPr>
            <a:r>
              <a:rPr lang="en-US" sz="1200" b="1" dirty="0">
                <a:latin typeface="Times New Roman"/>
                <a:cs typeface="Times New Roman"/>
              </a:rPr>
              <a:t>Fig. </a:t>
            </a:r>
            <a:r>
              <a:rPr sz="1200" b="1" dirty="0">
                <a:latin typeface="Times New Roman"/>
                <a:cs typeface="Times New Roman"/>
              </a:rPr>
              <a:t>S</a:t>
            </a:r>
            <a:r>
              <a:rPr lang="en-US" sz="1200" b="1" dirty="0">
                <a:latin typeface="Times New Roman"/>
                <a:cs typeface="Times New Roman"/>
              </a:rPr>
              <a:t>10</a:t>
            </a:r>
            <a:r>
              <a:rPr sz="1200" dirty="0">
                <a:latin typeface="Times New Roman"/>
                <a:cs typeface="Times New Roman"/>
              </a:rPr>
              <a:t>.</a:t>
            </a:r>
            <a:r>
              <a:rPr sz="1200" spc="260" dirty="0">
                <a:latin typeface="Times New Roman"/>
                <a:cs typeface="Times New Roman"/>
              </a:rPr>
              <a:t> </a:t>
            </a:r>
            <a:r>
              <a:rPr sz="1200" b="1" dirty="0">
                <a:solidFill>
                  <a:srgbClr val="0E0E0E"/>
                </a:solidFill>
                <a:latin typeface="Times New Roman" panose="02020603050405020304" pitchFamily="18" charset="0"/>
                <a:cs typeface="Times New Roman" panose="02020603050405020304" pitchFamily="18" charset="0"/>
              </a:rPr>
              <a:t>Hydropathy</a:t>
            </a:r>
            <a:r>
              <a:rPr sz="1200" b="1" spc="260" dirty="0">
                <a:solidFill>
                  <a:srgbClr val="0E0E0E"/>
                </a:solidFill>
                <a:latin typeface="Times New Roman" panose="02020603050405020304" pitchFamily="18" charset="0"/>
                <a:cs typeface="Times New Roman" panose="02020603050405020304" pitchFamily="18" charset="0"/>
              </a:rPr>
              <a:t> </a:t>
            </a:r>
            <a:r>
              <a:rPr sz="1200" b="1" dirty="0">
                <a:solidFill>
                  <a:srgbClr val="0E0E0E"/>
                </a:solidFill>
                <a:latin typeface="Times New Roman" panose="02020603050405020304" pitchFamily="18" charset="0"/>
                <a:cs typeface="Times New Roman" panose="02020603050405020304" pitchFamily="18" charset="0"/>
              </a:rPr>
              <a:t>profiles</a:t>
            </a:r>
            <a:r>
              <a:rPr sz="1200" b="1" spc="265" dirty="0">
                <a:solidFill>
                  <a:srgbClr val="0E0E0E"/>
                </a:solidFill>
                <a:latin typeface="Times New Roman" panose="02020603050405020304" pitchFamily="18" charset="0"/>
                <a:cs typeface="Times New Roman" panose="02020603050405020304" pitchFamily="18" charset="0"/>
              </a:rPr>
              <a:t> </a:t>
            </a:r>
            <a:r>
              <a:rPr lang="en-US" sz="1200" b="1" dirty="0">
                <a:latin typeface="Times New Roman" panose="02020603050405020304" pitchFamily="18" charset="0"/>
                <a:cs typeface="Times New Roman" panose="02020603050405020304" pitchFamily="18" charset="0"/>
              </a:rPr>
              <a:t>of LEA3 orthologs.</a:t>
            </a:r>
            <a:r>
              <a:rPr lang="en-US" sz="1200" dirty="0">
                <a:latin typeface="Times New Roman" panose="02020603050405020304" pitchFamily="18" charset="0"/>
                <a:cs typeface="Times New Roman" panose="02020603050405020304" pitchFamily="18" charset="0"/>
              </a:rPr>
              <a:t> </a:t>
            </a:r>
            <a:r>
              <a:rPr lang="en-US" sz="1200" b="1" dirty="0">
                <a:latin typeface="Times New Roman" panose="02020603050405020304" pitchFamily="18" charset="0"/>
                <a:cs typeface="Times New Roman" panose="02020603050405020304" pitchFamily="18" charset="0"/>
              </a:rPr>
              <a:t>(a)</a:t>
            </a:r>
            <a:r>
              <a:rPr lang="en-US" sz="1200" dirty="0">
                <a:latin typeface="Times New Roman" panose="02020603050405020304" pitchFamily="18" charset="0"/>
                <a:cs typeface="Times New Roman" panose="02020603050405020304" pitchFamily="18" charset="0"/>
              </a:rPr>
              <a:t> </a:t>
            </a:r>
            <a:r>
              <a:rPr lang="en-US" sz="1200" i="1" dirty="0">
                <a:latin typeface="Times New Roman" panose="02020603050405020304" pitchFamily="18" charset="0"/>
                <a:cs typeface="Times New Roman" panose="02020603050405020304" pitchFamily="18" charset="0"/>
              </a:rPr>
              <a:t>Zea mays,</a:t>
            </a:r>
            <a:r>
              <a:rPr lang="en-US" sz="1200" dirty="0">
                <a:latin typeface="Times New Roman" panose="02020603050405020304" pitchFamily="18" charset="0"/>
                <a:cs typeface="Times New Roman" panose="02020603050405020304" pitchFamily="18" charset="0"/>
              </a:rPr>
              <a:t> </a:t>
            </a:r>
            <a:r>
              <a:rPr lang="en-US" sz="1200" b="1" dirty="0">
                <a:latin typeface="Times New Roman" panose="02020603050405020304" pitchFamily="18" charset="0"/>
                <a:cs typeface="Times New Roman" panose="02020603050405020304" pitchFamily="18" charset="0"/>
              </a:rPr>
              <a:t>(b) </a:t>
            </a:r>
            <a:r>
              <a:rPr lang="en-US" sz="1200" i="1" dirty="0">
                <a:latin typeface="Times New Roman" panose="02020603050405020304" pitchFamily="18" charset="0"/>
                <a:cs typeface="Times New Roman" panose="02020603050405020304" pitchFamily="18" charset="0"/>
              </a:rPr>
              <a:t>Tripsacum dactyloides</a:t>
            </a:r>
            <a:r>
              <a:rPr lang="en-US" sz="1200" dirty="0">
                <a:latin typeface="Times New Roman" panose="02020603050405020304" pitchFamily="18" charset="0"/>
                <a:cs typeface="Times New Roman" panose="02020603050405020304" pitchFamily="18" charset="0"/>
              </a:rPr>
              <a:t>, </a:t>
            </a:r>
            <a:r>
              <a:rPr lang="en-US" sz="1200" b="1" dirty="0">
                <a:latin typeface="Times New Roman" panose="02020603050405020304" pitchFamily="18" charset="0"/>
                <a:cs typeface="Times New Roman" panose="02020603050405020304" pitchFamily="18" charset="0"/>
              </a:rPr>
              <a:t>(c)</a:t>
            </a:r>
            <a:r>
              <a:rPr lang="en-US" sz="1200" dirty="0">
                <a:latin typeface="Times New Roman" panose="02020603050405020304" pitchFamily="18" charset="0"/>
                <a:cs typeface="Times New Roman" panose="02020603050405020304" pitchFamily="18" charset="0"/>
              </a:rPr>
              <a:t> </a:t>
            </a:r>
            <a:r>
              <a:rPr lang="en-US" sz="1200" i="1" dirty="0">
                <a:latin typeface="Times New Roman" panose="02020603050405020304" pitchFamily="18" charset="0"/>
                <a:cs typeface="Times New Roman" panose="02020603050405020304" pitchFamily="18" charset="0"/>
              </a:rPr>
              <a:t>Miscanthus</a:t>
            </a:r>
            <a:r>
              <a:rPr lang="en-US" sz="1200" dirty="0">
                <a:latin typeface="Times New Roman" panose="02020603050405020304" pitchFamily="18" charset="0"/>
                <a:cs typeface="Times New Roman" panose="02020603050405020304" pitchFamily="18" charset="0"/>
              </a:rPr>
              <a:t> × </a:t>
            </a:r>
            <a:r>
              <a:rPr lang="en-US" sz="1200" i="1" dirty="0">
                <a:latin typeface="Times New Roman" panose="02020603050405020304" pitchFamily="18" charset="0"/>
                <a:cs typeface="Times New Roman" panose="02020603050405020304" pitchFamily="18" charset="0"/>
              </a:rPr>
              <a:t>giganteus</a:t>
            </a:r>
            <a:r>
              <a:rPr lang="en-US" sz="1200" dirty="0">
                <a:latin typeface="Times New Roman" panose="02020603050405020304" pitchFamily="18" charset="0"/>
                <a:cs typeface="Times New Roman" panose="02020603050405020304" pitchFamily="18" charset="0"/>
              </a:rPr>
              <a:t>, </a:t>
            </a:r>
            <a:r>
              <a:rPr lang="en-US" sz="1200" b="1" dirty="0">
                <a:latin typeface="Times New Roman" panose="02020603050405020304" pitchFamily="18" charset="0"/>
                <a:cs typeface="Times New Roman" panose="02020603050405020304" pitchFamily="18" charset="0"/>
              </a:rPr>
              <a:t>(d) </a:t>
            </a:r>
            <a:r>
              <a:rPr lang="en-US" sz="1200" i="1" dirty="0">
                <a:latin typeface="Times New Roman" panose="02020603050405020304" pitchFamily="18" charset="0"/>
                <a:cs typeface="Times New Roman" panose="02020603050405020304" pitchFamily="18" charset="0"/>
              </a:rPr>
              <a:t>Andropogon gerardi</a:t>
            </a:r>
            <a:r>
              <a:rPr lang="en-US" sz="1200" dirty="0">
                <a:latin typeface="Times New Roman" panose="02020603050405020304" pitchFamily="18" charset="0"/>
                <a:cs typeface="Times New Roman" panose="02020603050405020304" pitchFamily="18" charset="0"/>
              </a:rPr>
              <a:t>, </a:t>
            </a:r>
            <a:r>
              <a:rPr lang="en-US" sz="1200" b="1" dirty="0">
                <a:latin typeface="Times New Roman" panose="02020603050405020304" pitchFamily="18" charset="0"/>
                <a:cs typeface="Times New Roman" panose="02020603050405020304" pitchFamily="18" charset="0"/>
              </a:rPr>
              <a:t>(e) </a:t>
            </a:r>
            <a:r>
              <a:rPr lang="en-US" sz="1200" i="1" dirty="0">
                <a:latin typeface="Times New Roman" panose="02020603050405020304" pitchFamily="18" charset="0"/>
                <a:cs typeface="Times New Roman" panose="02020603050405020304" pitchFamily="18" charset="0"/>
              </a:rPr>
              <a:t>Sorghastrum nutans</a:t>
            </a:r>
            <a:r>
              <a:rPr lang="en-US" sz="1200" dirty="0">
                <a:latin typeface="Times New Roman" panose="02020603050405020304" pitchFamily="18" charset="0"/>
                <a:cs typeface="Times New Roman" panose="02020603050405020304" pitchFamily="18" charset="0"/>
              </a:rPr>
              <a:t>, </a:t>
            </a:r>
            <a:r>
              <a:rPr lang="en-US" sz="1200" b="1" dirty="0">
                <a:latin typeface="Times New Roman" panose="02020603050405020304" pitchFamily="18" charset="0"/>
                <a:cs typeface="Times New Roman" panose="02020603050405020304" pitchFamily="18" charset="0"/>
              </a:rPr>
              <a:t>(f) </a:t>
            </a:r>
            <a:r>
              <a:rPr lang="en-US" sz="1200" i="1" dirty="0">
                <a:latin typeface="Times New Roman" panose="02020603050405020304" pitchFamily="18" charset="0"/>
                <a:cs typeface="Times New Roman" panose="02020603050405020304" pitchFamily="18" charset="0"/>
              </a:rPr>
              <a:t>Panicum virgatum</a:t>
            </a:r>
            <a:r>
              <a:rPr lang="en-US" sz="1200" dirty="0">
                <a:latin typeface="Times New Roman" panose="02020603050405020304" pitchFamily="18" charset="0"/>
                <a:cs typeface="Times New Roman" panose="02020603050405020304" pitchFamily="18" charset="0"/>
              </a:rPr>
              <a:t>, </a:t>
            </a:r>
            <a:r>
              <a:rPr lang="en-US" sz="1200" b="1" dirty="0">
                <a:latin typeface="Times New Roman" panose="02020603050405020304" pitchFamily="18" charset="0"/>
                <a:cs typeface="Times New Roman" panose="02020603050405020304" pitchFamily="18" charset="0"/>
              </a:rPr>
              <a:t>(g) </a:t>
            </a:r>
            <a:r>
              <a:rPr lang="en-US" sz="1200" i="1" dirty="0">
                <a:latin typeface="Times New Roman" panose="02020603050405020304" pitchFamily="18" charset="0"/>
                <a:cs typeface="Times New Roman" panose="02020603050405020304" pitchFamily="18" charset="0"/>
              </a:rPr>
              <a:t>Triticum aestivum</a:t>
            </a:r>
            <a:r>
              <a:rPr lang="en-US" sz="1200" dirty="0">
                <a:latin typeface="Times New Roman" panose="02020603050405020304" pitchFamily="18" charset="0"/>
                <a:cs typeface="Times New Roman" panose="02020603050405020304" pitchFamily="18" charset="0"/>
              </a:rPr>
              <a:t>, and </a:t>
            </a:r>
            <a:r>
              <a:rPr lang="en-US" sz="1200" b="1" dirty="0">
                <a:latin typeface="Times New Roman" panose="02020603050405020304" pitchFamily="18" charset="0"/>
                <a:cs typeface="Times New Roman" panose="02020603050405020304" pitchFamily="18" charset="0"/>
              </a:rPr>
              <a:t>(h) </a:t>
            </a:r>
            <a:r>
              <a:rPr lang="en-US" sz="1200" i="1" dirty="0">
                <a:latin typeface="Times New Roman" panose="02020603050405020304" pitchFamily="18" charset="0"/>
                <a:cs typeface="Times New Roman" panose="02020603050405020304" pitchFamily="18" charset="0"/>
              </a:rPr>
              <a:t>Arabidopsis thaliana</a:t>
            </a:r>
            <a:r>
              <a:rPr sz="1200" dirty="0">
                <a:solidFill>
                  <a:srgbClr val="0E0E0E"/>
                </a:solidFill>
                <a:latin typeface="Times New Roman"/>
                <a:cs typeface="Times New Roman"/>
              </a:rPr>
              <a:t>.</a:t>
            </a:r>
            <a:r>
              <a:rPr sz="1200" spc="265" dirty="0">
                <a:solidFill>
                  <a:srgbClr val="0E0E0E"/>
                </a:solidFill>
                <a:latin typeface="Times New Roman"/>
                <a:cs typeface="Times New Roman"/>
              </a:rPr>
              <a:t> </a:t>
            </a:r>
            <a:r>
              <a:rPr sz="1200" spc="-10" dirty="0">
                <a:solidFill>
                  <a:srgbClr val="0E0E0E"/>
                </a:solidFill>
                <a:latin typeface="Times New Roman"/>
                <a:cs typeface="Times New Roman"/>
              </a:rPr>
              <a:t>Kyte-</a:t>
            </a:r>
            <a:r>
              <a:rPr sz="1200" dirty="0">
                <a:solidFill>
                  <a:srgbClr val="0E0E0E"/>
                </a:solidFill>
                <a:latin typeface="Times New Roman"/>
                <a:cs typeface="Times New Roman"/>
              </a:rPr>
              <a:t>Doolittle</a:t>
            </a:r>
            <a:r>
              <a:rPr sz="1200" spc="260" dirty="0">
                <a:solidFill>
                  <a:srgbClr val="0E0E0E"/>
                </a:solidFill>
                <a:latin typeface="Times New Roman"/>
                <a:cs typeface="Times New Roman"/>
              </a:rPr>
              <a:t> </a:t>
            </a:r>
            <a:r>
              <a:rPr sz="1200" dirty="0">
                <a:solidFill>
                  <a:srgbClr val="0E0E0E"/>
                </a:solidFill>
                <a:latin typeface="Times New Roman"/>
                <a:cs typeface="Times New Roman"/>
              </a:rPr>
              <a:t>plots</a:t>
            </a:r>
            <a:r>
              <a:rPr sz="1200" spc="260" dirty="0">
                <a:solidFill>
                  <a:srgbClr val="0E0E0E"/>
                </a:solidFill>
                <a:latin typeface="Times New Roman"/>
                <a:cs typeface="Times New Roman"/>
              </a:rPr>
              <a:t> </a:t>
            </a:r>
            <a:r>
              <a:rPr sz="1200" spc="-20" dirty="0">
                <a:solidFill>
                  <a:srgbClr val="0E0E0E"/>
                </a:solidFill>
                <a:latin typeface="Times New Roman"/>
                <a:cs typeface="Times New Roman"/>
              </a:rPr>
              <a:t>were </a:t>
            </a:r>
            <a:r>
              <a:rPr sz="1200" dirty="0">
                <a:solidFill>
                  <a:srgbClr val="0E0E0E"/>
                </a:solidFill>
                <a:latin typeface="Times New Roman"/>
                <a:cs typeface="Times New Roman"/>
              </a:rPr>
              <a:t>generated</a:t>
            </a:r>
            <a:r>
              <a:rPr sz="1200" spc="45" dirty="0">
                <a:solidFill>
                  <a:srgbClr val="0E0E0E"/>
                </a:solidFill>
                <a:latin typeface="Times New Roman"/>
                <a:cs typeface="Times New Roman"/>
              </a:rPr>
              <a:t> </a:t>
            </a:r>
            <a:r>
              <a:rPr sz="1200" dirty="0">
                <a:solidFill>
                  <a:srgbClr val="0E0E0E"/>
                </a:solidFill>
                <a:latin typeface="Times New Roman"/>
                <a:cs typeface="Times New Roman"/>
              </a:rPr>
              <a:t>using</a:t>
            </a:r>
            <a:r>
              <a:rPr sz="1200" spc="50" dirty="0">
                <a:solidFill>
                  <a:srgbClr val="0E0E0E"/>
                </a:solidFill>
                <a:latin typeface="Times New Roman"/>
                <a:cs typeface="Times New Roman"/>
              </a:rPr>
              <a:t> </a:t>
            </a:r>
            <a:r>
              <a:rPr sz="1200" dirty="0">
                <a:solidFill>
                  <a:srgbClr val="0E0E0E"/>
                </a:solidFill>
                <a:latin typeface="Times New Roman"/>
                <a:cs typeface="Times New Roman"/>
              </a:rPr>
              <a:t>ProtScale</a:t>
            </a:r>
            <a:r>
              <a:rPr sz="1200" spc="60" dirty="0">
                <a:solidFill>
                  <a:srgbClr val="0E0E0E"/>
                </a:solidFill>
                <a:latin typeface="Times New Roman"/>
                <a:cs typeface="Times New Roman"/>
              </a:rPr>
              <a:t> </a:t>
            </a:r>
            <a:r>
              <a:rPr sz="1200" spc="-10" dirty="0">
                <a:solidFill>
                  <a:srgbClr val="0E0E0E"/>
                </a:solidFill>
                <a:latin typeface="Times New Roman"/>
                <a:cs typeface="Times New Roman"/>
              </a:rPr>
              <a:t>(ExPASy)</a:t>
            </a:r>
            <a:r>
              <a:rPr sz="1200" spc="45" dirty="0">
                <a:solidFill>
                  <a:srgbClr val="0E0E0E"/>
                </a:solidFill>
                <a:latin typeface="Times New Roman"/>
                <a:cs typeface="Times New Roman"/>
              </a:rPr>
              <a:t> </a:t>
            </a:r>
            <a:r>
              <a:rPr sz="1200" dirty="0">
                <a:solidFill>
                  <a:srgbClr val="0E0E0E"/>
                </a:solidFill>
                <a:latin typeface="Times New Roman"/>
                <a:cs typeface="Times New Roman"/>
              </a:rPr>
              <a:t>with</a:t>
            </a:r>
            <a:r>
              <a:rPr sz="1200" spc="50" dirty="0">
                <a:solidFill>
                  <a:srgbClr val="0E0E0E"/>
                </a:solidFill>
                <a:latin typeface="Times New Roman"/>
                <a:cs typeface="Times New Roman"/>
              </a:rPr>
              <a:t> </a:t>
            </a:r>
            <a:r>
              <a:rPr sz="1200" dirty="0">
                <a:solidFill>
                  <a:srgbClr val="0E0E0E"/>
                </a:solidFill>
                <a:latin typeface="Times New Roman"/>
                <a:cs typeface="Times New Roman"/>
              </a:rPr>
              <a:t>a</a:t>
            </a:r>
            <a:r>
              <a:rPr sz="1200" spc="55" dirty="0">
                <a:solidFill>
                  <a:srgbClr val="0E0E0E"/>
                </a:solidFill>
                <a:latin typeface="Times New Roman"/>
                <a:cs typeface="Times New Roman"/>
              </a:rPr>
              <a:t> </a:t>
            </a:r>
            <a:r>
              <a:rPr sz="1200" dirty="0">
                <a:solidFill>
                  <a:srgbClr val="0E0E0E"/>
                </a:solidFill>
                <a:latin typeface="Times New Roman"/>
                <a:cs typeface="Times New Roman"/>
              </a:rPr>
              <a:t>window</a:t>
            </a:r>
            <a:r>
              <a:rPr sz="1200" spc="50" dirty="0">
                <a:solidFill>
                  <a:srgbClr val="0E0E0E"/>
                </a:solidFill>
                <a:latin typeface="Times New Roman"/>
                <a:cs typeface="Times New Roman"/>
              </a:rPr>
              <a:t> </a:t>
            </a:r>
            <a:r>
              <a:rPr sz="1200" dirty="0">
                <a:solidFill>
                  <a:srgbClr val="0E0E0E"/>
                </a:solidFill>
                <a:latin typeface="Times New Roman"/>
                <a:cs typeface="Times New Roman"/>
              </a:rPr>
              <a:t>size</a:t>
            </a:r>
            <a:r>
              <a:rPr sz="1200" spc="55" dirty="0">
                <a:solidFill>
                  <a:srgbClr val="0E0E0E"/>
                </a:solidFill>
                <a:latin typeface="Times New Roman"/>
                <a:cs typeface="Times New Roman"/>
              </a:rPr>
              <a:t> </a:t>
            </a:r>
            <a:r>
              <a:rPr sz="1200" dirty="0">
                <a:solidFill>
                  <a:srgbClr val="0E0E0E"/>
                </a:solidFill>
                <a:latin typeface="Times New Roman"/>
                <a:cs typeface="Times New Roman"/>
              </a:rPr>
              <a:t>of</a:t>
            </a:r>
            <a:r>
              <a:rPr sz="1200" spc="55" dirty="0">
                <a:solidFill>
                  <a:srgbClr val="0E0E0E"/>
                </a:solidFill>
                <a:latin typeface="Times New Roman"/>
                <a:cs typeface="Times New Roman"/>
              </a:rPr>
              <a:t> </a:t>
            </a:r>
            <a:r>
              <a:rPr sz="1200" dirty="0">
                <a:solidFill>
                  <a:srgbClr val="0E0E0E"/>
                </a:solidFill>
                <a:latin typeface="Times New Roman"/>
                <a:cs typeface="Times New Roman"/>
              </a:rPr>
              <a:t>11</a:t>
            </a:r>
            <a:r>
              <a:rPr sz="1200" spc="50" dirty="0">
                <a:solidFill>
                  <a:srgbClr val="0E0E0E"/>
                </a:solidFill>
                <a:latin typeface="Times New Roman"/>
                <a:cs typeface="Times New Roman"/>
              </a:rPr>
              <a:t> </a:t>
            </a:r>
            <a:r>
              <a:rPr sz="1200" dirty="0">
                <a:solidFill>
                  <a:srgbClr val="0E0E0E"/>
                </a:solidFill>
                <a:latin typeface="Times New Roman"/>
                <a:cs typeface="Times New Roman"/>
              </a:rPr>
              <a:t>amino</a:t>
            </a:r>
            <a:r>
              <a:rPr sz="1200" spc="50" dirty="0">
                <a:solidFill>
                  <a:srgbClr val="0E0E0E"/>
                </a:solidFill>
                <a:latin typeface="Times New Roman"/>
                <a:cs typeface="Times New Roman"/>
              </a:rPr>
              <a:t> </a:t>
            </a:r>
            <a:r>
              <a:rPr sz="1200" dirty="0">
                <a:solidFill>
                  <a:srgbClr val="0E0E0E"/>
                </a:solidFill>
                <a:latin typeface="Times New Roman"/>
                <a:cs typeface="Times New Roman"/>
              </a:rPr>
              <a:t>acids.</a:t>
            </a:r>
            <a:r>
              <a:rPr sz="1200" spc="45" dirty="0">
                <a:solidFill>
                  <a:srgbClr val="0E0E0E"/>
                </a:solidFill>
                <a:latin typeface="Times New Roman"/>
                <a:cs typeface="Times New Roman"/>
              </a:rPr>
              <a:t> </a:t>
            </a:r>
            <a:r>
              <a:rPr sz="1200" dirty="0">
                <a:solidFill>
                  <a:srgbClr val="0E0E0E"/>
                </a:solidFill>
                <a:latin typeface="Times New Roman"/>
                <a:cs typeface="Times New Roman"/>
              </a:rPr>
              <a:t>The</a:t>
            </a:r>
            <a:r>
              <a:rPr sz="1200" spc="60" dirty="0">
                <a:solidFill>
                  <a:srgbClr val="0E0E0E"/>
                </a:solidFill>
                <a:latin typeface="Times New Roman"/>
                <a:cs typeface="Times New Roman"/>
              </a:rPr>
              <a:t> </a:t>
            </a:r>
            <a:r>
              <a:rPr sz="1200" spc="-10" dirty="0">
                <a:solidFill>
                  <a:srgbClr val="0E0E0E"/>
                </a:solidFill>
                <a:latin typeface="Times New Roman"/>
                <a:cs typeface="Times New Roman"/>
              </a:rPr>
              <a:t>x-</a:t>
            </a:r>
            <a:r>
              <a:rPr sz="1200" dirty="0">
                <a:solidFill>
                  <a:srgbClr val="0E0E0E"/>
                </a:solidFill>
                <a:latin typeface="Times New Roman"/>
                <a:cs typeface="Times New Roman"/>
              </a:rPr>
              <a:t>axis</a:t>
            </a:r>
            <a:r>
              <a:rPr sz="1200" spc="50" dirty="0">
                <a:solidFill>
                  <a:srgbClr val="0E0E0E"/>
                </a:solidFill>
                <a:latin typeface="Times New Roman"/>
                <a:cs typeface="Times New Roman"/>
              </a:rPr>
              <a:t> </a:t>
            </a:r>
            <a:r>
              <a:rPr sz="1200" dirty="0">
                <a:solidFill>
                  <a:srgbClr val="0E0E0E"/>
                </a:solidFill>
                <a:latin typeface="Times New Roman"/>
                <a:cs typeface="Times New Roman"/>
              </a:rPr>
              <a:t>indicates</a:t>
            </a:r>
            <a:r>
              <a:rPr sz="1200" spc="50" dirty="0">
                <a:solidFill>
                  <a:srgbClr val="0E0E0E"/>
                </a:solidFill>
                <a:latin typeface="Times New Roman"/>
                <a:cs typeface="Times New Roman"/>
              </a:rPr>
              <a:t> </a:t>
            </a:r>
            <a:r>
              <a:rPr sz="1200" dirty="0">
                <a:solidFill>
                  <a:srgbClr val="0E0E0E"/>
                </a:solidFill>
                <a:latin typeface="Times New Roman"/>
                <a:cs typeface="Times New Roman"/>
              </a:rPr>
              <a:t>amino</a:t>
            </a:r>
            <a:r>
              <a:rPr sz="1200" spc="45" dirty="0">
                <a:solidFill>
                  <a:srgbClr val="0E0E0E"/>
                </a:solidFill>
                <a:latin typeface="Times New Roman"/>
                <a:cs typeface="Times New Roman"/>
              </a:rPr>
              <a:t> </a:t>
            </a:r>
            <a:r>
              <a:rPr sz="1200" dirty="0">
                <a:solidFill>
                  <a:srgbClr val="0E0E0E"/>
                </a:solidFill>
                <a:latin typeface="Times New Roman"/>
                <a:cs typeface="Times New Roman"/>
              </a:rPr>
              <a:t>acid</a:t>
            </a:r>
            <a:r>
              <a:rPr sz="1200" spc="55" dirty="0">
                <a:solidFill>
                  <a:srgbClr val="0E0E0E"/>
                </a:solidFill>
                <a:latin typeface="Times New Roman"/>
                <a:cs typeface="Times New Roman"/>
              </a:rPr>
              <a:t> </a:t>
            </a:r>
            <a:r>
              <a:rPr sz="1200" spc="-10" dirty="0">
                <a:solidFill>
                  <a:srgbClr val="0E0E0E"/>
                </a:solidFill>
                <a:latin typeface="Times New Roman"/>
                <a:cs typeface="Times New Roman"/>
              </a:rPr>
              <a:t>position, </a:t>
            </a:r>
            <a:r>
              <a:rPr sz="1200" dirty="0">
                <a:solidFill>
                  <a:srgbClr val="0E0E0E"/>
                </a:solidFill>
                <a:latin typeface="Times New Roman"/>
                <a:cs typeface="Times New Roman"/>
              </a:rPr>
              <a:t>and</a:t>
            </a:r>
            <a:r>
              <a:rPr sz="1200" spc="210" dirty="0">
                <a:solidFill>
                  <a:srgbClr val="0E0E0E"/>
                </a:solidFill>
                <a:latin typeface="Times New Roman"/>
                <a:cs typeface="Times New Roman"/>
              </a:rPr>
              <a:t> </a:t>
            </a:r>
            <a:r>
              <a:rPr sz="1200" dirty="0">
                <a:solidFill>
                  <a:srgbClr val="0E0E0E"/>
                </a:solidFill>
                <a:latin typeface="Times New Roman"/>
                <a:cs typeface="Times New Roman"/>
              </a:rPr>
              <a:t>the</a:t>
            </a:r>
            <a:r>
              <a:rPr sz="1200" spc="229" dirty="0">
                <a:solidFill>
                  <a:srgbClr val="0E0E0E"/>
                </a:solidFill>
                <a:latin typeface="Times New Roman"/>
                <a:cs typeface="Times New Roman"/>
              </a:rPr>
              <a:t> </a:t>
            </a:r>
            <a:r>
              <a:rPr sz="1200" spc="-10" dirty="0">
                <a:solidFill>
                  <a:srgbClr val="0E0E0E"/>
                </a:solidFill>
                <a:latin typeface="Times New Roman"/>
                <a:cs typeface="Times New Roman"/>
              </a:rPr>
              <a:t>y-</a:t>
            </a:r>
            <a:r>
              <a:rPr sz="1200" dirty="0">
                <a:solidFill>
                  <a:srgbClr val="0E0E0E"/>
                </a:solidFill>
                <a:latin typeface="Times New Roman"/>
                <a:cs typeface="Times New Roman"/>
              </a:rPr>
              <a:t>axis</a:t>
            </a:r>
            <a:r>
              <a:rPr sz="1200" spc="225" dirty="0">
                <a:solidFill>
                  <a:srgbClr val="0E0E0E"/>
                </a:solidFill>
                <a:latin typeface="Times New Roman"/>
                <a:cs typeface="Times New Roman"/>
              </a:rPr>
              <a:t> </a:t>
            </a:r>
            <a:r>
              <a:rPr sz="1200" dirty="0">
                <a:solidFill>
                  <a:srgbClr val="0E0E0E"/>
                </a:solidFill>
                <a:latin typeface="Times New Roman"/>
                <a:cs typeface="Times New Roman"/>
              </a:rPr>
              <a:t>represents</a:t>
            </a:r>
            <a:r>
              <a:rPr sz="1200" spc="220" dirty="0">
                <a:solidFill>
                  <a:srgbClr val="0E0E0E"/>
                </a:solidFill>
                <a:latin typeface="Times New Roman"/>
                <a:cs typeface="Times New Roman"/>
              </a:rPr>
              <a:t> </a:t>
            </a:r>
            <a:r>
              <a:rPr sz="1200" dirty="0">
                <a:solidFill>
                  <a:srgbClr val="0E0E0E"/>
                </a:solidFill>
                <a:latin typeface="Times New Roman"/>
                <a:cs typeface="Times New Roman"/>
              </a:rPr>
              <a:t>hydropathy</a:t>
            </a:r>
            <a:r>
              <a:rPr sz="1200" spc="210" dirty="0">
                <a:solidFill>
                  <a:srgbClr val="0E0E0E"/>
                </a:solidFill>
                <a:latin typeface="Times New Roman"/>
                <a:cs typeface="Times New Roman"/>
              </a:rPr>
              <a:t> </a:t>
            </a:r>
            <a:r>
              <a:rPr sz="1200" dirty="0">
                <a:solidFill>
                  <a:srgbClr val="0E0E0E"/>
                </a:solidFill>
                <a:latin typeface="Times New Roman"/>
                <a:cs typeface="Times New Roman"/>
              </a:rPr>
              <a:t>score.</a:t>
            </a:r>
            <a:r>
              <a:rPr sz="1200" spc="215" dirty="0">
                <a:solidFill>
                  <a:srgbClr val="0E0E0E"/>
                </a:solidFill>
                <a:latin typeface="Times New Roman"/>
                <a:cs typeface="Times New Roman"/>
              </a:rPr>
              <a:t> </a:t>
            </a:r>
            <a:r>
              <a:rPr lang="en-US" sz="1200" dirty="0">
                <a:solidFill>
                  <a:srgbClr val="0E0E0E"/>
                </a:solidFill>
                <a:latin typeface="Times New Roman"/>
                <a:cs typeface="Times New Roman"/>
              </a:rPr>
              <a:t>Red boxes indicate the tandem 11-mer repeat region for each species</a:t>
            </a:r>
            <a:r>
              <a:rPr sz="1200" spc="-10" dirty="0">
                <a:solidFill>
                  <a:srgbClr val="0E0E0E"/>
                </a:solidFill>
                <a:latin typeface="Times New Roman"/>
                <a:cs typeface="Times New Roman"/>
              </a:rPr>
              <a:t>.</a:t>
            </a:r>
            <a:endParaRPr sz="1200" dirty="0">
              <a:latin typeface="Times New Roman"/>
              <a:cs typeface="Times New Roman"/>
            </a:endParaRPr>
          </a:p>
        </p:txBody>
      </p:sp>
      <p:pic>
        <p:nvPicPr>
          <p:cNvPr id="3" name="Picture 2">
            <a:extLst>
              <a:ext uri="{FF2B5EF4-FFF2-40B4-BE49-F238E27FC236}">
                <a16:creationId xmlns:a16="http://schemas.microsoft.com/office/drawing/2014/main" id="{AC7F87FF-441F-2F0D-EEF4-DD3BF6FB69AC}"/>
              </a:ext>
            </a:extLst>
          </p:cNvPr>
          <p:cNvPicPr>
            <a:picLocks noChangeAspect="1"/>
          </p:cNvPicPr>
          <p:nvPr/>
        </p:nvPicPr>
        <p:blipFill>
          <a:blip r:embed="rId2"/>
          <a:stretch>
            <a:fillRect/>
          </a:stretch>
        </p:blipFill>
        <p:spPr>
          <a:xfrm>
            <a:off x="1546226" y="9590"/>
            <a:ext cx="6813549" cy="5768909"/>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5219125" y="0"/>
            <a:ext cx="4686935" cy="4087495"/>
            <a:chOff x="5219125" y="0"/>
            <a:chExt cx="4686935" cy="4087495"/>
          </a:xfrm>
        </p:grpSpPr>
        <p:pic>
          <p:nvPicPr>
            <p:cNvPr id="3" name="object 3"/>
            <p:cNvPicPr/>
            <p:nvPr/>
          </p:nvPicPr>
          <p:blipFill>
            <a:blip r:embed="rId3" cstate="print"/>
            <a:stretch>
              <a:fillRect/>
            </a:stretch>
          </p:blipFill>
          <p:spPr>
            <a:xfrm>
              <a:off x="5219125" y="755122"/>
              <a:ext cx="2539401" cy="3332153"/>
            </a:xfrm>
            <a:prstGeom prst="rect">
              <a:avLst/>
            </a:prstGeom>
          </p:spPr>
        </p:pic>
        <p:pic>
          <p:nvPicPr>
            <p:cNvPr id="4" name="object 4"/>
            <p:cNvPicPr/>
            <p:nvPr/>
          </p:nvPicPr>
          <p:blipFill>
            <a:blip r:embed="rId4" cstate="print"/>
            <a:stretch>
              <a:fillRect/>
            </a:stretch>
          </p:blipFill>
          <p:spPr>
            <a:xfrm>
              <a:off x="7431358" y="0"/>
              <a:ext cx="2474641" cy="3263191"/>
            </a:xfrm>
            <a:prstGeom prst="rect">
              <a:avLst/>
            </a:prstGeom>
          </p:spPr>
        </p:pic>
        <p:sp>
          <p:nvSpPr>
            <p:cNvPr id="5" name="object 5"/>
            <p:cNvSpPr/>
            <p:nvPr/>
          </p:nvSpPr>
          <p:spPr>
            <a:xfrm>
              <a:off x="7632004" y="2252248"/>
              <a:ext cx="2073910" cy="282575"/>
            </a:xfrm>
            <a:custGeom>
              <a:avLst/>
              <a:gdLst/>
              <a:ahLst/>
              <a:cxnLst/>
              <a:rect l="l" t="t" r="r" b="b"/>
              <a:pathLst>
                <a:path w="2073909" h="282575">
                  <a:moveTo>
                    <a:pt x="2073348" y="0"/>
                  </a:moveTo>
                  <a:lnTo>
                    <a:pt x="0" y="0"/>
                  </a:lnTo>
                  <a:lnTo>
                    <a:pt x="0" y="282463"/>
                  </a:lnTo>
                  <a:lnTo>
                    <a:pt x="2073348" y="282463"/>
                  </a:lnTo>
                  <a:lnTo>
                    <a:pt x="2073348" y="0"/>
                  </a:lnTo>
                  <a:close/>
                </a:path>
              </a:pathLst>
            </a:custGeom>
            <a:solidFill>
              <a:srgbClr val="FFFFFF"/>
            </a:solidFill>
          </p:spPr>
          <p:txBody>
            <a:bodyPr wrap="square" lIns="0" tIns="0" rIns="0" bIns="0" rtlCol="0"/>
            <a:lstStyle/>
            <a:p>
              <a:endParaRPr/>
            </a:p>
          </p:txBody>
        </p:sp>
      </p:grpSp>
      <p:sp>
        <p:nvSpPr>
          <p:cNvPr id="6" name="object 6"/>
          <p:cNvSpPr txBox="1"/>
          <p:nvPr/>
        </p:nvSpPr>
        <p:spPr>
          <a:xfrm>
            <a:off x="5423751" y="325065"/>
            <a:ext cx="1304290" cy="222250"/>
          </a:xfrm>
          <a:prstGeom prst="rect">
            <a:avLst/>
          </a:prstGeom>
        </p:spPr>
        <p:txBody>
          <a:bodyPr vert="horz" wrap="square" lIns="0" tIns="17780" rIns="0" bIns="0" rtlCol="0">
            <a:spAutoFit/>
          </a:bodyPr>
          <a:lstStyle/>
          <a:p>
            <a:pPr marL="12700">
              <a:lnSpc>
                <a:spcPct val="100000"/>
              </a:lnSpc>
              <a:spcBef>
                <a:spcPts val="140"/>
              </a:spcBef>
            </a:pPr>
            <a:r>
              <a:rPr sz="1250" b="1" dirty="0">
                <a:latin typeface="Arial"/>
                <a:cs typeface="Arial"/>
              </a:rPr>
              <a:t>TdLEA3</a:t>
            </a:r>
            <a:r>
              <a:rPr sz="1250" b="1" spc="145" dirty="0">
                <a:latin typeface="Arial"/>
                <a:cs typeface="Arial"/>
              </a:rPr>
              <a:t> </a:t>
            </a:r>
            <a:r>
              <a:rPr sz="1250" b="1" spc="-10" dirty="0">
                <a:latin typeface="Arial"/>
                <a:cs typeface="Arial"/>
              </a:rPr>
              <a:t>4copies</a:t>
            </a:r>
            <a:endParaRPr sz="1250">
              <a:latin typeface="Arial"/>
              <a:cs typeface="Arial"/>
            </a:endParaRPr>
          </a:p>
        </p:txBody>
      </p:sp>
      <p:pic>
        <p:nvPicPr>
          <p:cNvPr id="7" name="object 7"/>
          <p:cNvPicPr/>
          <p:nvPr/>
        </p:nvPicPr>
        <p:blipFill>
          <a:blip r:embed="rId5" cstate="print"/>
          <a:stretch>
            <a:fillRect/>
          </a:stretch>
        </p:blipFill>
        <p:spPr>
          <a:xfrm>
            <a:off x="172639" y="349377"/>
            <a:ext cx="3949120" cy="3924282"/>
          </a:xfrm>
          <a:prstGeom prst="rect">
            <a:avLst/>
          </a:prstGeom>
        </p:spPr>
      </p:pic>
      <p:sp>
        <p:nvSpPr>
          <p:cNvPr id="8" name="object 8"/>
          <p:cNvSpPr txBox="1"/>
          <p:nvPr/>
        </p:nvSpPr>
        <p:spPr>
          <a:xfrm>
            <a:off x="353738" y="325065"/>
            <a:ext cx="1349375" cy="222250"/>
          </a:xfrm>
          <a:prstGeom prst="rect">
            <a:avLst/>
          </a:prstGeom>
        </p:spPr>
        <p:txBody>
          <a:bodyPr vert="horz" wrap="square" lIns="0" tIns="17780" rIns="0" bIns="0" rtlCol="0">
            <a:spAutoFit/>
          </a:bodyPr>
          <a:lstStyle/>
          <a:p>
            <a:pPr marL="12700">
              <a:lnSpc>
                <a:spcPct val="100000"/>
              </a:lnSpc>
              <a:spcBef>
                <a:spcPts val="140"/>
              </a:spcBef>
            </a:pPr>
            <a:r>
              <a:rPr sz="1250" b="1" dirty="0">
                <a:latin typeface="Arial"/>
                <a:cs typeface="Arial"/>
              </a:rPr>
              <a:t>ZmLEA3</a:t>
            </a:r>
            <a:r>
              <a:rPr sz="1250" b="1" spc="150" dirty="0">
                <a:latin typeface="Arial"/>
                <a:cs typeface="Arial"/>
              </a:rPr>
              <a:t> </a:t>
            </a:r>
            <a:r>
              <a:rPr sz="1250" b="1" spc="-10" dirty="0">
                <a:latin typeface="Arial"/>
                <a:cs typeface="Arial"/>
              </a:rPr>
              <a:t>4copies</a:t>
            </a:r>
            <a:endParaRPr sz="1250">
              <a:latin typeface="Arial"/>
              <a:cs typeface="Arial"/>
            </a:endParaRPr>
          </a:p>
        </p:txBody>
      </p:sp>
      <p:grpSp>
        <p:nvGrpSpPr>
          <p:cNvPr id="9" name="object 9"/>
          <p:cNvGrpSpPr/>
          <p:nvPr/>
        </p:nvGrpSpPr>
        <p:grpSpPr>
          <a:xfrm>
            <a:off x="2422622" y="96607"/>
            <a:ext cx="2459990" cy="3263265"/>
            <a:chOff x="2422622" y="96607"/>
            <a:chExt cx="2459990" cy="3263265"/>
          </a:xfrm>
        </p:grpSpPr>
        <p:pic>
          <p:nvPicPr>
            <p:cNvPr id="10" name="object 10"/>
            <p:cNvPicPr/>
            <p:nvPr/>
          </p:nvPicPr>
          <p:blipFill>
            <a:blip r:embed="rId6" cstate="print"/>
            <a:stretch>
              <a:fillRect/>
            </a:stretch>
          </p:blipFill>
          <p:spPr>
            <a:xfrm>
              <a:off x="2422622" y="96607"/>
              <a:ext cx="2459779" cy="3263191"/>
            </a:xfrm>
            <a:prstGeom prst="rect">
              <a:avLst/>
            </a:prstGeom>
          </p:spPr>
        </p:pic>
        <p:sp>
          <p:nvSpPr>
            <p:cNvPr id="11" name="object 11"/>
            <p:cNvSpPr/>
            <p:nvPr/>
          </p:nvSpPr>
          <p:spPr>
            <a:xfrm>
              <a:off x="2623269" y="2393444"/>
              <a:ext cx="2066289" cy="282575"/>
            </a:xfrm>
            <a:custGeom>
              <a:avLst/>
              <a:gdLst/>
              <a:ahLst/>
              <a:cxnLst/>
              <a:rect l="l" t="t" r="r" b="b"/>
              <a:pathLst>
                <a:path w="2066289" h="282575">
                  <a:moveTo>
                    <a:pt x="2065917" y="0"/>
                  </a:moveTo>
                  <a:lnTo>
                    <a:pt x="0" y="0"/>
                  </a:lnTo>
                  <a:lnTo>
                    <a:pt x="0" y="282463"/>
                  </a:lnTo>
                  <a:lnTo>
                    <a:pt x="2065917" y="282463"/>
                  </a:lnTo>
                  <a:lnTo>
                    <a:pt x="2065917" y="0"/>
                  </a:lnTo>
                  <a:close/>
                </a:path>
              </a:pathLst>
            </a:custGeom>
            <a:solidFill>
              <a:srgbClr val="FFFFFF"/>
            </a:solidFill>
          </p:spPr>
          <p:txBody>
            <a:bodyPr wrap="square" lIns="0" tIns="0" rIns="0" bIns="0" rtlCol="0"/>
            <a:lstStyle/>
            <a:p>
              <a:endParaRPr/>
            </a:p>
          </p:txBody>
        </p:sp>
      </p:grpSp>
      <p:pic>
        <p:nvPicPr>
          <p:cNvPr id="12" name="object 12"/>
          <p:cNvPicPr/>
          <p:nvPr/>
        </p:nvPicPr>
        <p:blipFill>
          <a:blip r:embed="rId7" cstate="print"/>
          <a:stretch>
            <a:fillRect/>
          </a:stretch>
        </p:blipFill>
        <p:spPr>
          <a:xfrm>
            <a:off x="1784877" y="4403023"/>
            <a:ext cx="6215317" cy="158302"/>
          </a:xfrm>
          <a:prstGeom prst="rect">
            <a:avLst/>
          </a:prstGeom>
        </p:spPr>
      </p:pic>
      <p:sp>
        <p:nvSpPr>
          <p:cNvPr id="13" name="object 13"/>
          <p:cNvSpPr txBox="1"/>
          <p:nvPr/>
        </p:nvSpPr>
        <p:spPr>
          <a:xfrm>
            <a:off x="36501" y="16973"/>
            <a:ext cx="160020" cy="237886"/>
          </a:xfrm>
          <a:prstGeom prst="rect">
            <a:avLst/>
          </a:prstGeom>
        </p:spPr>
        <p:txBody>
          <a:bodyPr vert="horz" wrap="square" lIns="0" tIns="14605" rIns="0" bIns="0" rtlCol="0">
            <a:spAutoFit/>
          </a:bodyPr>
          <a:lstStyle/>
          <a:p>
            <a:pPr marL="12700">
              <a:lnSpc>
                <a:spcPct val="100000"/>
              </a:lnSpc>
              <a:spcBef>
                <a:spcPts val="115"/>
              </a:spcBef>
            </a:pPr>
            <a:r>
              <a:rPr lang="en-US" sz="1450" b="1" spc="-50" dirty="0">
                <a:latin typeface="Arial"/>
                <a:cs typeface="Arial"/>
              </a:rPr>
              <a:t>a</a:t>
            </a:r>
            <a:endParaRPr sz="1450" dirty="0">
              <a:latin typeface="Arial"/>
              <a:cs typeface="Arial"/>
            </a:endParaRPr>
          </a:p>
        </p:txBody>
      </p:sp>
      <p:sp>
        <p:nvSpPr>
          <p:cNvPr id="14" name="object 14"/>
          <p:cNvSpPr txBox="1"/>
          <p:nvPr/>
        </p:nvSpPr>
        <p:spPr>
          <a:xfrm>
            <a:off x="4956091" y="16973"/>
            <a:ext cx="160020" cy="237886"/>
          </a:xfrm>
          <a:prstGeom prst="rect">
            <a:avLst/>
          </a:prstGeom>
        </p:spPr>
        <p:txBody>
          <a:bodyPr vert="horz" wrap="square" lIns="0" tIns="14605" rIns="0" bIns="0" rtlCol="0">
            <a:spAutoFit/>
          </a:bodyPr>
          <a:lstStyle/>
          <a:p>
            <a:pPr marL="12700">
              <a:lnSpc>
                <a:spcPct val="100000"/>
              </a:lnSpc>
              <a:spcBef>
                <a:spcPts val="115"/>
              </a:spcBef>
            </a:pPr>
            <a:r>
              <a:rPr lang="en-US" sz="1450" b="1" spc="-50" dirty="0">
                <a:latin typeface="Arial"/>
                <a:cs typeface="Arial"/>
              </a:rPr>
              <a:t>b</a:t>
            </a:r>
            <a:endParaRPr sz="1450" dirty="0">
              <a:latin typeface="Arial"/>
              <a:cs typeface="Arial"/>
            </a:endParaRPr>
          </a:p>
        </p:txBody>
      </p:sp>
      <p:sp>
        <p:nvSpPr>
          <p:cNvPr id="15" name="object 15"/>
          <p:cNvSpPr txBox="1"/>
          <p:nvPr/>
        </p:nvSpPr>
        <p:spPr>
          <a:xfrm>
            <a:off x="61613" y="5768926"/>
            <a:ext cx="9789160" cy="948465"/>
          </a:xfrm>
          <a:prstGeom prst="rect">
            <a:avLst/>
          </a:prstGeom>
        </p:spPr>
        <p:txBody>
          <a:bodyPr vert="horz" wrap="square" lIns="0" tIns="8890" rIns="0" bIns="0" rtlCol="0">
            <a:spAutoFit/>
          </a:bodyPr>
          <a:lstStyle/>
          <a:p>
            <a:pPr marL="12700" marR="5080" algn="just">
              <a:lnSpc>
                <a:spcPct val="103200"/>
              </a:lnSpc>
              <a:spcBef>
                <a:spcPts val="70"/>
              </a:spcBef>
            </a:pPr>
            <a:r>
              <a:rPr lang="en-US" sz="1200" b="1" dirty="0">
                <a:latin typeface="Times New Roman"/>
                <a:cs typeface="Times New Roman"/>
              </a:rPr>
              <a:t>Fig. S11.</a:t>
            </a:r>
            <a:r>
              <a:rPr sz="1200" b="1" spc="190" dirty="0">
                <a:latin typeface="Times New Roman"/>
                <a:cs typeface="Times New Roman"/>
              </a:rPr>
              <a:t> </a:t>
            </a:r>
            <a:r>
              <a:rPr sz="1200" b="1" dirty="0">
                <a:latin typeface="Times New Roman"/>
                <a:cs typeface="Times New Roman"/>
              </a:rPr>
              <a:t>AlphaFold</a:t>
            </a:r>
            <a:r>
              <a:rPr sz="1200" b="1" spc="190" dirty="0">
                <a:latin typeface="Times New Roman"/>
                <a:cs typeface="Times New Roman"/>
              </a:rPr>
              <a:t> </a:t>
            </a:r>
            <a:r>
              <a:rPr sz="1200" b="1" dirty="0">
                <a:latin typeface="Times New Roman"/>
                <a:cs typeface="Times New Roman"/>
              </a:rPr>
              <a:t>3</a:t>
            </a:r>
            <a:r>
              <a:rPr sz="1200" b="1" spc="190" dirty="0">
                <a:latin typeface="Times New Roman"/>
                <a:cs typeface="Times New Roman"/>
              </a:rPr>
              <a:t> </a:t>
            </a:r>
            <a:r>
              <a:rPr sz="1200" b="1" dirty="0">
                <a:latin typeface="Times New Roman"/>
                <a:cs typeface="Times New Roman"/>
              </a:rPr>
              <a:t>prediction</a:t>
            </a:r>
            <a:r>
              <a:rPr sz="1200" b="1" spc="190" dirty="0">
                <a:latin typeface="Times New Roman"/>
                <a:cs typeface="Times New Roman"/>
              </a:rPr>
              <a:t> </a:t>
            </a:r>
            <a:r>
              <a:rPr sz="1200" b="1" dirty="0">
                <a:latin typeface="Times New Roman"/>
                <a:cs typeface="Times New Roman"/>
              </a:rPr>
              <a:t>of</a:t>
            </a:r>
            <a:r>
              <a:rPr sz="1200" b="1" spc="225" dirty="0">
                <a:latin typeface="Times New Roman"/>
                <a:cs typeface="Times New Roman"/>
              </a:rPr>
              <a:t> </a:t>
            </a:r>
            <a:r>
              <a:rPr sz="1200" b="1" dirty="0">
                <a:latin typeface="Times New Roman"/>
                <a:cs typeface="Times New Roman"/>
              </a:rPr>
              <a:t>LEA3</a:t>
            </a:r>
            <a:r>
              <a:rPr sz="1200" b="1" spc="190" dirty="0">
                <a:latin typeface="Times New Roman"/>
                <a:cs typeface="Times New Roman"/>
              </a:rPr>
              <a:t> </a:t>
            </a:r>
            <a:r>
              <a:rPr sz="1200" b="1" dirty="0">
                <a:latin typeface="Times New Roman"/>
                <a:cs typeface="Times New Roman"/>
              </a:rPr>
              <a:t>homo-tetramer</a:t>
            </a:r>
            <a:r>
              <a:rPr sz="1200" b="1" spc="190" dirty="0">
                <a:latin typeface="Times New Roman"/>
                <a:cs typeface="Times New Roman"/>
              </a:rPr>
              <a:t> </a:t>
            </a:r>
            <a:r>
              <a:rPr sz="1200" b="1" dirty="0">
                <a:latin typeface="Times New Roman"/>
                <a:cs typeface="Times New Roman"/>
              </a:rPr>
              <a:t>assemblies</a:t>
            </a:r>
            <a:r>
              <a:rPr sz="1200" dirty="0">
                <a:latin typeface="Times New Roman"/>
                <a:cs typeface="Times New Roman"/>
              </a:rPr>
              <a:t>.</a:t>
            </a:r>
            <a:r>
              <a:rPr sz="1200" spc="190" dirty="0">
                <a:latin typeface="Times New Roman"/>
                <a:cs typeface="Times New Roman"/>
              </a:rPr>
              <a:t> </a:t>
            </a:r>
            <a:r>
              <a:rPr sz="1200" dirty="0">
                <a:latin typeface="Times New Roman"/>
                <a:cs typeface="Times New Roman"/>
              </a:rPr>
              <a:t>Predicted</a:t>
            </a:r>
            <a:r>
              <a:rPr sz="1200" spc="190" dirty="0">
                <a:latin typeface="Times New Roman"/>
                <a:cs typeface="Times New Roman"/>
              </a:rPr>
              <a:t> </a:t>
            </a:r>
            <a:r>
              <a:rPr sz="1200" dirty="0">
                <a:latin typeface="Times New Roman"/>
                <a:cs typeface="Times New Roman"/>
              </a:rPr>
              <a:t>quaternary</a:t>
            </a:r>
            <a:r>
              <a:rPr sz="1200" spc="185" dirty="0">
                <a:latin typeface="Times New Roman"/>
                <a:cs typeface="Times New Roman"/>
              </a:rPr>
              <a:t> </a:t>
            </a:r>
            <a:r>
              <a:rPr sz="1200" dirty="0">
                <a:latin typeface="Times New Roman"/>
                <a:cs typeface="Times New Roman"/>
              </a:rPr>
              <a:t>structures</a:t>
            </a:r>
            <a:r>
              <a:rPr sz="1200" spc="190" dirty="0">
                <a:latin typeface="Times New Roman"/>
                <a:cs typeface="Times New Roman"/>
              </a:rPr>
              <a:t> </a:t>
            </a:r>
            <a:r>
              <a:rPr sz="1200" dirty="0">
                <a:latin typeface="Times New Roman"/>
                <a:cs typeface="Times New Roman"/>
              </a:rPr>
              <a:t>of</a:t>
            </a:r>
            <a:r>
              <a:rPr sz="1200" spc="220" dirty="0">
                <a:latin typeface="Times New Roman"/>
                <a:cs typeface="Times New Roman"/>
              </a:rPr>
              <a:t> </a:t>
            </a:r>
            <a:r>
              <a:rPr sz="1200" dirty="0">
                <a:latin typeface="Times New Roman"/>
                <a:cs typeface="Times New Roman"/>
              </a:rPr>
              <a:t>LEA3</a:t>
            </a:r>
            <a:r>
              <a:rPr sz="1200" spc="190" dirty="0">
                <a:latin typeface="Times New Roman"/>
                <a:cs typeface="Times New Roman"/>
              </a:rPr>
              <a:t> </a:t>
            </a:r>
            <a:r>
              <a:rPr sz="1200" dirty="0">
                <a:latin typeface="Times New Roman"/>
                <a:cs typeface="Times New Roman"/>
              </a:rPr>
              <a:t>homotetramers</a:t>
            </a:r>
            <a:r>
              <a:rPr sz="1200" spc="185" dirty="0">
                <a:latin typeface="Times New Roman"/>
                <a:cs typeface="Times New Roman"/>
              </a:rPr>
              <a:t> </a:t>
            </a:r>
            <a:r>
              <a:rPr sz="1200" dirty="0">
                <a:latin typeface="Times New Roman"/>
                <a:cs typeface="Times New Roman"/>
              </a:rPr>
              <a:t>for</a:t>
            </a:r>
            <a:r>
              <a:rPr sz="1200" spc="190" dirty="0">
                <a:latin typeface="Times New Roman"/>
                <a:cs typeface="Times New Roman"/>
              </a:rPr>
              <a:t> </a:t>
            </a:r>
            <a:r>
              <a:rPr sz="1200" b="1" dirty="0">
                <a:latin typeface="Times New Roman"/>
                <a:cs typeface="Times New Roman"/>
              </a:rPr>
              <a:t>(</a:t>
            </a:r>
            <a:r>
              <a:rPr lang="en-US" sz="1200" b="1" dirty="0">
                <a:latin typeface="Times New Roman"/>
                <a:cs typeface="Times New Roman"/>
              </a:rPr>
              <a:t>a</a:t>
            </a:r>
            <a:r>
              <a:rPr sz="1200" b="1" dirty="0">
                <a:latin typeface="Times New Roman"/>
                <a:cs typeface="Times New Roman"/>
              </a:rPr>
              <a:t>)</a:t>
            </a:r>
            <a:r>
              <a:rPr sz="1200" spc="190" dirty="0">
                <a:latin typeface="Times New Roman"/>
                <a:cs typeface="Times New Roman"/>
              </a:rPr>
              <a:t> </a:t>
            </a:r>
            <a:r>
              <a:rPr sz="1200" i="1" dirty="0">
                <a:latin typeface="Times New Roman"/>
                <a:cs typeface="Times New Roman"/>
              </a:rPr>
              <a:t>Zea</a:t>
            </a:r>
            <a:r>
              <a:rPr sz="1200" i="1" spc="185" dirty="0">
                <a:latin typeface="Times New Roman"/>
                <a:cs typeface="Times New Roman"/>
              </a:rPr>
              <a:t> </a:t>
            </a:r>
            <a:r>
              <a:rPr sz="1200" i="1" spc="-20" dirty="0">
                <a:latin typeface="Times New Roman"/>
                <a:cs typeface="Times New Roman"/>
              </a:rPr>
              <a:t>mays </a:t>
            </a:r>
            <a:r>
              <a:rPr sz="1200" dirty="0">
                <a:latin typeface="Times New Roman"/>
                <a:cs typeface="Times New Roman"/>
              </a:rPr>
              <a:t>and</a:t>
            </a:r>
            <a:r>
              <a:rPr sz="1200" spc="295" dirty="0">
                <a:latin typeface="Times New Roman"/>
                <a:cs typeface="Times New Roman"/>
              </a:rPr>
              <a:t> </a:t>
            </a:r>
            <a:r>
              <a:rPr sz="1200" b="1" dirty="0">
                <a:latin typeface="Times New Roman"/>
                <a:cs typeface="Times New Roman"/>
              </a:rPr>
              <a:t>(</a:t>
            </a:r>
            <a:r>
              <a:rPr lang="en-US" sz="1200" b="1" dirty="0">
                <a:latin typeface="Times New Roman"/>
                <a:cs typeface="Times New Roman"/>
              </a:rPr>
              <a:t>b</a:t>
            </a:r>
            <a:r>
              <a:rPr sz="1200" b="1" dirty="0">
                <a:latin typeface="Times New Roman"/>
                <a:cs typeface="Times New Roman"/>
              </a:rPr>
              <a:t>)</a:t>
            </a:r>
            <a:r>
              <a:rPr sz="1200" spc="290" dirty="0">
                <a:latin typeface="Times New Roman"/>
                <a:cs typeface="Times New Roman"/>
              </a:rPr>
              <a:t> </a:t>
            </a:r>
            <a:r>
              <a:rPr sz="1200" i="1" dirty="0">
                <a:latin typeface="Times New Roman"/>
                <a:cs typeface="Times New Roman"/>
              </a:rPr>
              <a:t>Tripsacum</a:t>
            </a:r>
            <a:r>
              <a:rPr sz="1200" i="1" spc="305" dirty="0">
                <a:latin typeface="Times New Roman"/>
                <a:cs typeface="Times New Roman"/>
              </a:rPr>
              <a:t> </a:t>
            </a:r>
            <a:r>
              <a:rPr sz="1200" i="1" dirty="0">
                <a:latin typeface="Times New Roman"/>
                <a:cs typeface="Times New Roman"/>
              </a:rPr>
              <a:t>dactyloides</a:t>
            </a:r>
            <a:r>
              <a:rPr sz="1200" dirty="0">
                <a:latin typeface="Times New Roman"/>
                <a:cs typeface="Times New Roman"/>
              </a:rPr>
              <a:t>.</a:t>
            </a:r>
            <a:r>
              <a:rPr sz="1200" spc="260" dirty="0">
                <a:latin typeface="Times New Roman"/>
                <a:cs typeface="Times New Roman"/>
              </a:rPr>
              <a:t> </a:t>
            </a:r>
            <a:r>
              <a:rPr sz="1200" dirty="0">
                <a:latin typeface="Times New Roman"/>
                <a:cs typeface="Times New Roman"/>
              </a:rPr>
              <a:t>Both</a:t>
            </a:r>
            <a:r>
              <a:rPr sz="1200" spc="280" dirty="0">
                <a:latin typeface="Times New Roman"/>
                <a:cs typeface="Times New Roman"/>
              </a:rPr>
              <a:t> </a:t>
            </a:r>
            <a:r>
              <a:rPr sz="1200" dirty="0">
                <a:latin typeface="Times New Roman"/>
                <a:cs typeface="Times New Roman"/>
              </a:rPr>
              <a:t>orthologs</a:t>
            </a:r>
            <a:r>
              <a:rPr sz="1200" spc="270" dirty="0">
                <a:latin typeface="Times New Roman"/>
                <a:cs typeface="Times New Roman"/>
              </a:rPr>
              <a:t> </a:t>
            </a:r>
            <a:r>
              <a:rPr sz="1200" dirty="0">
                <a:latin typeface="Times New Roman"/>
                <a:cs typeface="Times New Roman"/>
              </a:rPr>
              <a:t>are</a:t>
            </a:r>
            <a:r>
              <a:rPr sz="1200" spc="280" dirty="0">
                <a:latin typeface="Times New Roman"/>
                <a:cs typeface="Times New Roman"/>
              </a:rPr>
              <a:t> </a:t>
            </a:r>
            <a:r>
              <a:rPr sz="1200" dirty="0">
                <a:latin typeface="Times New Roman"/>
                <a:cs typeface="Times New Roman"/>
              </a:rPr>
              <a:t>predicted</a:t>
            </a:r>
            <a:r>
              <a:rPr sz="1200" spc="254" dirty="0">
                <a:latin typeface="Times New Roman"/>
                <a:cs typeface="Times New Roman"/>
              </a:rPr>
              <a:t> </a:t>
            </a:r>
            <a:r>
              <a:rPr sz="1200" dirty="0">
                <a:latin typeface="Times New Roman"/>
                <a:cs typeface="Times New Roman"/>
              </a:rPr>
              <a:t>to</a:t>
            </a:r>
            <a:r>
              <a:rPr sz="1200" spc="295" dirty="0">
                <a:latin typeface="Times New Roman"/>
                <a:cs typeface="Times New Roman"/>
              </a:rPr>
              <a:t> </a:t>
            </a:r>
            <a:r>
              <a:rPr sz="1200" dirty="0">
                <a:latin typeface="Times New Roman"/>
                <a:cs typeface="Times New Roman"/>
              </a:rPr>
              <a:t>form</a:t>
            </a:r>
            <a:r>
              <a:rPr sz="1200" spc="250" dirty="0">
                <a:latin typeface="Times New Roman"/>
                <a:cs typeface="Times New Roman"/>
              </a:rPr>
              <a:t> </a:t>
            </a:r>
            <a:r>
              <a:rPr sz="1200" dirty="0">
                <a:latin typeface="Times New Roman"/>
                <a:cs typeface="Times New Roman"/>
              </a:rPr>
              <a:t>tetrameric</a:t>
            </a:r>
            <a:r>
              <a:rPr sz="1200" spc="285" dirty="0">
                <a:latin typeface="Times New Roman"/>
                <a:cs typeface="Times New Roman"/>
              </a:rPr>
              <a:t> </a:t>
            </a:r>
            <a:r>
              <a:rPr sz="1200" dirty="0">
                <a:latin typeface="Times New Roman"/>
                <a:cs typeface="Times New Roman"/>
              </a:rPr>
              <a:t>assemblies.</a:t>
            </a:r>
            <a:r>
              <a:rPr sz="1200" spc="265" dirty="0">
                <a:latin typeface="Times New Roman"/>
                <a:cs typeface="Times New Roman"/>
              </a:rPr>
              <a:t> </a:t>
            </a:r>
            <a:r>
              <a:rPr sz="1200" dirty="0">
                <a:latin typeface="Times New Roman"/>
                <a:cs typeface="Times New Roman"/>
              </a:rPr>
              <a:t>Colors</a:t>
            </a:r>
            <a:r>
              <a:rPr sz="1200" spc="295" dirty="0">
                <a:latin typeface="Times New Roman"/>
                <a:cs typeface="Times New Roman"/>
              </a:rPr>
              <a:t> </a:t>
            </a:r>
            <a:r>
              <a:rPr sz="1200" dirty="0">
                <a:latin typeface="Times New Roman"/>
                <a:cs typeface="Times New Roman"/>
              </a:rPr>
              <a:t>indicate</a:t>
            </a:r>
            <a:r>
              <a:rPr sz="1200" spc="275" dirty="0">
                <a:latin typeface="Times New Roman"/>
                <a:cs typeface="Times New Roman"/>
              </a:rPr>
              <a:t> </a:t>
            </a:r>
            <a:r>
              <a:rPr sz="1200" dirty="0">
                <a:latin typeface="Times New Roman"/>
                <a:cs typeface="Times New Roman"/>
              </a:rPr>
              <a:t>per-residue</a:t>
            </a:r>
            <a:r>
              <a:rPr sz="1200" spc="250" dirty="0">
                <a:latin typeface="Times New Roman"/>
                <a:cs typeface="Times New Roman"/>
              </a:rPr>
              <a:t> </a:t>
            </a:r>
            <a:r>
              <a:rPr sz="1200" dirty="0">
                <a:latin typeface="Times New Roman"/>
                <a:cs typeface="Times New Roman"/>
              </a:rPr>
              <a:t>confidence</a:t>
            </a:r>
            <a:r>
              <a:rPr sz="1200" spc="254" dirty="0">
                <a:latin typeface="Times New Roman"/>
                <a:cs typeface="Times New Roman"/>
              </a:rPr>
              <a:t> </a:t>
            </a:r>
            <a:r>
              <a:rPr sz="1200" dirty="0">
                <a:latin typeface="Times New Roman"/>
                <a:cs typeface="Times New Roman"/>
              </a:rPr>
              <a:t>(pLDDT),</a:t>
            </a:r>
            <a:r>
              <a:rPr sz="1200" spc="290" dirty="0">
                <a:latin typeface="Times New Roman"/>
                <a:cs typeface="Times New Roman"/>
              </a:rPr>
              <a:t> </a:t>
            </a:r>
            <a:r>
              <a:rPr sz="1200" dirty="0">
                <a:latin typeface="Times New Roman"/>
                <a:cs typeface="Times New Roman"/>
              </a:rPr>
              <a:t>with</a:t>
            </a:r>
            <a:r>
              <a:rPr sz="1200" spc="265" dirty="0">
                <a:latin typeface="Times New Roman"/>
                <a:cs typeface="Times New Roman"/>
              </a:rPr>
              <a:t> </a:t>
            </a:r>
            <a:r>
              <a:rPr sz="1200" dirty="0">
                <a:latin typeface="Times New Roman"/>
                <a:cs typeface="Times New Roman"/>
              </a:rPr>
              <a:t>dark</a:t>
            </a:r>
            <a:r>
              <a:rPr sz="1200" spc="260" dirty="0">
                <a:latin typeface="Times New Roman"/>
                <a:cs typeface="Times New Roman"/>
              </a:rPr>
              <a:t> </a:t>
            </a:r>
            <a:r>
              <a:rPr sz="1200" spc="-10" dirty="0">
                <a:latin typeface="Times New Roman"/>
                <a:cs typeface="Times New Roman"/>
              </a:rPr>
              <a:t>blue/blue </a:t>
            </a:r>
            <a:r>
              <a:rPr sz="1200" dirty="0">
                <a:latin typeface="Times New Roman"/>
                <a:cs typeface="Times New Roman"/>
              </a:rPr>
              <a:t>representing</a:t>
            </a:r>
            <a:r>
              <a:rPr sz="1200" spc="254" dirty="0">
                <a:latin typeface="Times New Roman"/>
                <a:cs typeface="Times New Roman"/>
              </a:rPr>
              <a:t> </a:t>
            </a:r>
            <a:r>
              <a:rPr sz="1200" dirty="0">
                <a:latin typeface="Times New Roman"/>
                <a:cs typeface="Times New Roman"/>
              </a:rPr>
              <a:t>high</a:t>
            </a:r>
            <a:r>
              <a:rPr sz="1200" spc="210" dirty="0">
                <a:latin typeface="Times New Roman"/>
                <a:cs typeface="Times New Roman"/>
              </a:rPr>
              <a:t> </a:t>
            </a:r>
            <a:r>
              <a:rPr sz="1200" dirty="0">
                <a:latin typeface="Times New Roman"/>
                <a:cs typeface="Times New Roman"/>
              </a:rPr>
              <a:t>to</a:t>
            </a:r>
            <a:r>
              <a:rPr sz="1200" spc="240" dirty="0">
                <a:latin typeface="Times New Roman"/>
                <a:cs typeface="Times New Roman"/>
              </a:rPr>
              <a:t> </a:t>
            </a:r>
            <a:r>
              <a:rPr sz="1200" dirty="0">
                <a:latin typeface="Times New Roman"/>
                <a:cs typeface="Times New Roman"/>
              </a:rPr>
              <a:t>very</a:t>
            </a:r>
            <a:r>
              <a:rPr sz="1200" spc="204" dirty="0">
                <a:latin typeface="Times New Roman"/>
                <a:cs typeface="Times New Roman"/>
              </a:rPr>
              <a:t> </a:t>
            </a:r>
            <a:r>
              <a:rPr sz="1200" dirty="0">
                <a:latin typeface="Times New Roman"/>
                <a:cs typeface="Times New Roman"/>
              </a:rPr>
              <a:t>high</a:t>
            </a:r>
            <a:r>
              <a:rPr sz="1200" spc="210" dirty="0">
                <a:latin typeface="Times New Roman"/>
                <a:cs typeface="Times New Roman"/>
              </a:rPr>
              <a:t> </a:t>
            </a:r>
            <a:r>
              <a:rPr sz="1200" dirty="0">
                <a:latin typeface="Times New Roman"/>
                <a:cs typeface="Times New Roman"/>
              </a:rPr>
              <a:t>confidence.</a:t>
            </a:r>
            <a:r>
              <a:rPr sz="1200" spc="204" dirty="0">
                <a:latin typeface="Times New Roman"/>
                <a:cs typeface="Times New Roman"/>
              </a:rPr>
              <a:t> </a:t>
            </a:r>
            <a:r>
              <a:rPr sz="1200" dirty="0">
                <a:latin typeface="Times New Roman"/>
                <a:cs typeface="Times New Roman"/>
              </a:rPr>
              <a:t>The</a:t>
            </a:r>
            <a:r>
              <a:rPr sz="1200" spc="190" dirty="0">
                <a:latin typeface="Times New Roman"/>
                <a:cs typeface="Times New Roman"/>
              </a:rPr>
              <a:t> </a:t>
            </a:r>
            <a:r>
              <a:rPr sz="1200" i="1" dirty="0">
                <a:latin typeface="Times New Roman"/>
                <a:cs typeface="Times New Roman"/>
              </a:rPr>
              <a:t>Z.</a:t>
            </a:r>
            <a:r>
              <a:rPr sz="1200" i="1" spc="204" dirty="0">
                <a:latin typeface="Times New Roman"/>
                <a:cs typeface="Times New Roman"/>
              </a:rPr>
              <a:t> </a:t>
            </a:r>
            <a:r>
              <a:rPr sz="1200" i="1" dirty="0">
                <a:latin typeface="Times New Roman"/>
                <a:cs typeface="Times New Roman"/>
              </a:rPr>
              <a:t>mays</a:t>
            </a:r>
            <a:r>
              <a:rPr sz="1200" i="1" spc="254" dirty="0">
                <a:latin typeface="Times New Roman"/>
                <a:cs typeface="Times New Roman"/>
              </a:rPr>
              <a:t> </a:t>
            </a:r>
            <a:r>
              <a:rPr sz="1200" dirty="0">
                <a:latin typeface="Times New Roman"/>
                <a:cs typeface="Times New Roman"/>
              </a:rPr>
              <a:t>complex</a:t>
            </a:r>
            <a:r>
              <a:rPr sz="1200" spc="229" dirty="0">
                <a:latin typeface="Times New Roman"/>
                <a:cs typeface="Times New Roman"/>
              </a:rPr>
              <a:t> </a:t>
            </a:r>
            <a:r>
              <a:rPr sz="1200" dirty="0">
                <a:latin typeface="Times New Roman"/>
                <a:cs typeface="Times New Roman"/>
              </a:rPr>
              <a:t>displays</a:t>
            </a:r>
            <a:r>
              <a:rPr sz="1200" spc="240" dirty="0">
                <a:latin typeface="Times New Roman"/>
                <a:cs typeface="Times New Roman"/>
              </a:rPr>
              <a:t> </a:t>
            </a:r>
            <a:r>
              <a:rPr sz="1200" dirty="0">
                <a:latin typeface="Times New Roman"/>
                <a:cs typeface="Times New Roman"/>
              </a:rPr>
              <a:t>a</a:t>
            </a:r>
            <a:r>
              <a:rPr sz="1200" spc="220" dirty="0">
                <a:latin typeface="Times New Roman"/>
                <a:cs typeface="Times New Roman"/>
              </a:rPr>
              <a:t> </a:t>
            </a:r>
            <a:r>
              <a:rPr sz="1200" dirty="0">
                <a:latin typeface="Times New Roman"/>
                <a:cs typeface="Times New Roman"/>
              </a:rPr>
              <a:t>distinct</a:t>
            </a:r>
            <a:r>
              <a:rPr sz="1200" spc="204" dirty="0">
                <a:latin typeface="Times New Roman"/>
                <a:cs typeface="Times New Roman"/>
              </a:rPr>
              <a:t> </a:t>
            </a:r>
            <a:r>
              <a:rPr sz="1200" dirty="0">
                <a:latin typeface="Times New Roman"/>
                <a:cs typeface="Times New Roman"/>
              </a:rPr>
              <a:t>oligomeric</a:t>
            </a:r>
            <a:r>
              <a:rPr sz="1200" spc="195" dirty="0">
                <a:latin typeface="Times New Roman"/>
                <a:cs typeface="Times New Roman"/>
              </a:rPr>
              <a:t> </a:t>
            </a:r>
            <a:r>
              <a:rPr sz="1200" dirty="0">
                <a:latin typeface="Times New Roman"/>
                <a:cs typeface="Times New Roman"/>
              </a:rPr>
              <a:t>packing</a:t>
            </a:r>
            <a:r>
              <a:rPr sz="1200" spc="220" dirty="0">
                <a:latin typeface="Times New Roman"/>
                <a:cs typeface="Times New Roman"/>
              </a:rPr>
              <a:t> </a:t>
            </a:r>
            <a:r>
              <a:rPr sz="1200" dirty="0">
                <a:latin typeface="Times New Roman"/>
                <a:cs typeface="Times New Roman"/>
              </a:rPr>
              <a:t>arrangement</a:t>
            </a:r>
            <a:r>
              <a:rPr sz="1200" spc="200" dirty="0">
                <a:latin typeface="Times New Roman"/>
                <a:cs typeface="Times New Roman"/>
              </a:rPr>
              <a:t> </a:t>
            </a:r>
            <a:r>
              <a:rPr sz="1200" dirty="0">
                <a:latin typeface="Times New Roman"/>
                <a:cs typeface="Times New Roman"/>
              </a:rPr>
              <a:t>relative</a:t>
            </a:r>
            <a:r>
              <a:rPr sz="1200" spc="200" dirty="0">
                <a:latin typeface="Times New Roman"/>
                <a:cs typeface="Times New Roman"/>
              </a:rPr>
              <a:t> </a:t>
            </a:r>
            <a:r>
              <a:rPr sz="1200" dirty="0">
                <a:latin typeface="Times New Roman"/>
                <a:cs typeface="Times New Roman"/>
              </a:rPr>
              <a:t>to</a:t>
            </a:r>
            <a:r>
              <a:rPr sz="1200" spc="240" dirty="0">
                <a:latin typeface="Times New Roman"/>
                <a:cs typeface="Times New Roman"/>
              </a:rPr>
              <a:t> </a:t>
            </a:r>
            <a:r>
              <a:rPr sz="1200" i="1" dirty="0">
                <a:latin typeface="Times New Roman"/>
                <a:cs typeface="Times New Roman"/>
              </a:rPr>
              <a:t>Tripsacum</a:t>
            </a:r>
            <a:r>
              <a:rPr sz="1200" dirty="0">
                <a:latin typeface="Times New Roman"/>
                <a:cs typeface="Times New Roman"/>
              </a:rPr>
              <a:t>.</a:t>
            </a:r>
            <a:r>
              <a:rPr sz="1200" spc="210" dirty="0">
                <a:latin typeface="Times New Roman"/>
                <a:cs typeface="Times New Roman"/>
              </a:rPr>
              <a:t> </a:t>
            </a:r>
            <a:r>
              <a:rPr sz="1200" dirty="0">
                <a:latin typeface="Times New Roman"/>
                <a:cs typeface="Times New Roman"/>
              </a:rPr>
              <a:t>Predicted</a:t>
            </a:r>
            <a:r>
              <a:rPr sz="1200" spc="185" dirty="0">
                <a:latin typeface="Times New Roman"/>
                <a:cs typeface="Times New Roman"/>
              </a:rPr>
              <a:t> </a:t>
            </a:r>
            <a:r>
              <a:rPr sz="1200" dirty="0">
                <a:latin typeface="Times New Roman"/>
                <a:cs typeface="Times New Roman"/>
              </a:rPr>
              <a:t>Aligned</a:t>
            </a:r>
            <a:r>
              <a:rPr sz="1200" spc="220" dirty="0">
                <a:latin typeface="Times New Roman"/>
                <a:cs typeface="Times New Roman"/>
              </a:rPr>
              <a:t> </a:t>
            </a:r>
            <a:r>
              <a:rPr sz="1200" spc="-10" dirty="0">
                <a:latin typeface="Times New Roman"/>
                <a:cs typeface="Times New Roman"/>
              </a:rPr>
              <a:t>Error </a:t>
            </a:r>
            <a:r>
              <a:rPr sz="1200" dirty="0">
                <a:latin typeface="Times New Roman"/>
                <a:cs typeface="Times New Roman"/>
              </a:rPr>
              <a:t>(PAE)</a:t>
            </a:r>
            <a:r>
              <a:rPr sz="1200" spc="235" dirty="0">
                <a:latin typeface="Times New Roman"/>
                <a:cs typeface="Times New Roman"/>
              </a:rPr>
              <a:t> </a:t>
            </a:r>
            <a:r>
              <a:rPr sz="1200" dirty="0">
                <a:latin typeface="Times New Roman"/>
                <a:cs typeface="Times New Roman"/>
              </a:rPr>
              <a:t>plots.</a:t>
            </a:r>
            <a:r>
              <a:rPr sz="1200" spc="215" dirty="0">
                <a:latin typeface="Times New Roman"/>
                <a:cs typeface="Times New Roman"/>
              </a:rPr>
              <a:t> </a:t>
            </a:r>
            <a:r>
              <a:rPr sz="1200" dirty="0">
                <a:latin typeface="Times New Roman"/>
                <a:cs typeface="Times New Roman"/>
              </a:rPr>
              <a:t>Low</a:t>
            </a:r>
            <a:r>
              <a:rPr sz="1200" spc="200" dirty="0">
                <a:latin typeface="Times New Roman"/>
                <a:cs typeface="Times New Roman"/>
              </a:rPr>
              <a:t> </a:t>
            </a:r>
            <a:r>
              <a:rPr sz="1200" dirty="0">
                <a:latin typeface="Times New Roman"/>
                <a:cs typeface="Times New Roman"/>
              </a:rPr>
              <a:t>error</a:t>
            </a:r>
            <a:r>
              <a:rPr sz="1200" spc="240" dirty="0">
                <a:latin typeface="Times New Roman"/>
                <a:cs typeface="Times New Roman"/>
              </a:rPr>
              <a:t> </a:t>
            </a:r>
            <a:r>
              <a:rPr sz="1200" dirty="0">
                <a:latin typeface="Times New Roman"/>
                <a:cs typeface="Times New Roman"/>
              </a:rPr>
              <a:t>values</a:t>
            </a:r>
            <a:r>
              <a:rPr sz="1200" spc="235" dirty="0">
                <a:latin typeface="Times New Roman"/>
                <a:cs typeface="Times New Roman"/>
              </a:rPr>
              <a:t> </a:t>
            </a:r>
            <a:r>
              <a:rPr sz="1200" dirty="0">
                <a:latin typeface="Times New Roman"/>
                <a:cs typeface="Times New Roman"/>
              </a:rPr>
              <a:t>(dark</a:t>
            </a:r>
            <a:r>
              <a:rPr sz="1200" spc="235" dirty="0">
                <a:latin typeface="Times New Roman"/>
                <a:cs typeface="Times New Roman"/>
              </a:rPr>
              <a:t> </a:t>
            </a:r>
            <a:r>
              <a:rPr sz="1200" dirty="0">
                <a:latin typeface="Times New Roman"/>
                <a:cs typeface="Times New Roman"/>
              </a:rPr>
              <a:t>green)</a:t>
            </a:r>
            <a:r>
              <a:rPr sz="1200" spc="225" dirty="0">
                <a:latin typeface="Times New Roman"/>
                <a:cs typeface="Times New Roman"/>
              </a:rPr>
              <a:t> </a:t>
            </a:r>
            <a:r>
              <a:rPr sz="1200" dirty="0">
                <a:latin typeface="Times New Roman"/>
                <a:cs typeface="Times New Roman"/>
              </a:rPr>
              <a:t>in</a:t>
            </a:r>
            <a:r>
              <a:rPr sz="1200" spc="245" dirty="0">
                <a:latin typeface="Times New Roman"/>
                <a:cs typeface="Times New Roman"/>
              </a:rPr>
              <a:t> </a:t>
            </a:r>
            <a:r>
              <a:rPr sz="1200" dirty="0">
                <a:latin typeface="Times New Roman"/>
                <a:cs typeface="Times New Roman"/>
              </a:rPr>
              <a:t>the</a:t>
            </a:r>
            <a:r>
              <a:rPr sz="1200" spc="235" dirty="0">
                <a:latin typeface="Times New Roman"/>
                <a:cs typeface="Times New Roman"/>
              </a:rPr>
              <a:t> </a:t>
            </a:r>
            <a:r>
              <a:rPr sz="1200" dirty="0">
                <a:latin typeface="Times New Roman"/>
                <a:cs typeface="Times New Roman"/>
              </a:rPr>
              <a:t>off-diagonal</a:t>
            </a:r>
            <a:r>
              <a:rPr sz="1200" spc="195" dirty="0">
                <a:latin typeface="Times New Roman"/>
                <a:cs typeface="Times New Roman"/>
              </a:rPr>
              <a:t> </a:t>
            </a:r>
            <a:r>
              <a:rPr sz="1200" dirty="0">
                <a:latin typeface="Times New Roman"/>
                <a:cs typeface="Times New Roman"/>
              </a:rPr>
              <a:t>regions</a:t>
            </a:r>
            <a:r>
              <a:rPr sz="1200" spc="200" dirty="0">
                <a:latin typeface="Times New Roman"/>
                <a:cs typeface="Times New Roman"/>
              </a:rPr>
              <a:t> </a:t>
            </a:r>
            <a:r>
              <a:rPr sz="1200" dirty="0">
                <a:latin typeface="Times New Roman"/>
                <a:cs typeface="Times New Roman"/>
              </a:rPr>
              <a:t>confirm</a:t>
            </a:r>
            <a:r>
              <a:rPr sz="1200" spc="250" dirty="0">
                <a:latin typeface="Times New Roman"/>
                <a:cs typeface="Times New Roman"/>
              </a:rPr>
              <a:t> </a:t>
            </a:r>
            <a:r>
              <a:rPr sz="1200" dirty="0">
                <a:latin typeface="Times New Roman"/>
                <a:cs typeface="Times New Roman"/>
              </a:rPr>
              <a:t>high</a:t>
            </a:r>
            <a:r>
              <a:rPr sz="1200" spc="215" dirty="0">
                <a:latin typeface="Times New Roman"/>
                <a:cs typeface="Times New Roman"/>
              </a:rPr>
              <a:t> </a:t>
            </a:r>
            <a:r>
              <a:rPr sz="1200" dirty="0">
                <a:latin typeface="Times New Roman"/>
                <a:cs typeface="Times New Roman"/>
              </a:rPr>
              <a:t>confidence</a:t>
            </a:r>
            <a:r>
              <a:rPr sz="1200" spc="215" dirty="0">
                <a:latin typeface="Times New Roman"/>
                <a:cs typeface="Times New Roman"/>
              </a:rPr>
              <a:t> </a:t>
            </a:r>
            <a:r>
              <a:rPr sz="1200" dirty="0">
                <a:latin typeface="Times New Roman"/>
                <a:cs typeface="Times New Roman"/>
              </a:rPr>
              <a:t>in</a:t>
            </a:r>
            <a:r>
              <a:rPr sz="1200" spc="250" dirty="0">
                <a:latin typeface="Times New Roman"/>
                <a:cs typeface="Times New Roman"/>
              </a:rPr>
              <a:t> </a:t>
            </a:r>
            <a:r>
              <a:rPr sz="1200" dirty="0">
                <a:latin typeface="Times New Roman"/>
                <a:cs typeface="Times New Roman"/>
              </a:rPr>
              <a:t>the</a:t>
            </a:r>
            <a:r>
              <a:rPr sz="1200" spc="229" dirty="0">
                <a:latin typeface="Times New Roman"/>
                <a:cs typeface="Times New Roman"/>
              </a:rPr>
              <a:t> </a:t>
            </a:r>
            <a:r>
              <a:rPr sz="1200" dirty="0">
                <a:latin typeface="Times New Roman"/>
                <a:cs typeface="Times New Roman"/>
              </a:rPr>
              <a:t>relative</a:t>
            </a:r>
            <a:r>
              <a:rPr sz="1200" spc="210" dirty="0">
                <a:latin typeface="Times New Roman"/>
                <a:cs typeface="Times New Roman"/>
              </a:rPr>
              <a:t> </a:t>
            </a:r>
            <a:r>
              <a:rPr sz="1200" dirty="0">
                <a:latin typeface="Times New Roman"/>
                <a:cs typeface="Times New Roman"/>
              </a:rPr>
              <a:t>positioning</a:t>
            </a:r>
            <a:r>
              <a:rPr sz="1200" spc="220" dirty="0">
                <a:latin typeface="Times New Roman"/>
                <a:cs typeface="Times New Roman"/>
              </a:rPr>
              <a:t> </a:t>
            </a:r>
            <a:r>
              <a:rPr sz="1200" dirty="0">
                <a:latin typeface="Times New Roman"/>
                <a:cs typeface="Times New Roman"/>
              </a:rPr>
              <a:t>of</a:t>
            </a:r>
            <a:r>
              <a:rPr sz="1200" spc="190" dirty="0">
                <a:latin typeface="Times New Roman"/>
                <a:cs typeface="Times New Roman"/>
              </a:rPr>
              <a:t> </a:t>
            </a:r>
            <a:r>
              <a:rPr sz="1200" dirty="0">
                <a:latin typeface="Times New Roman"/>
                <a:cs typeface="Times New Roman"/>
              </a:rPr>
              <a:t>the</a:t>
            </a:r>
            <a:r>
              <a:rPr sz="1200" spc="235" dirty="0">
                <a:latin typeface="Times New Roman"/>
                <a:cs typeface="Times New Roman"/>
              </a:rPr>
              <a:t> </a:t>
            </a:r>
            <a:r>
              <a:rPr sz="1200" dirty="0">
                <a:latin typeface="Times New Roman"/>
                <a:cs typeface="Times New Roman"/>
              </a:rPr>
              <a:t>subunits,</a:t>
            </a:r>
            <a:r>
              <a:rPr sz="1200" spc="220" dirty="0">
                <a:latin typeface="Times New Roman"/>
                <a:cs typeface="Times New Roman"/>
              </a:rPr>
              <a:t> </a:t>
            </a:r>
            <a:r>
              <a:rPr sz="1200" dirty="0">
                <a:latin typeface="Times New Roman"/>
                <a:cs typeface="Times New Roman"/>
              </a:rPr>
              <a:t>validating</a:t>
            </a:r>
            <a:r>
              <a:rPr sz="1200" spc="235" dirty="0">
                <a:latin typeface="Times New Roman"/>
                <a:cs typeface="Times New Roman"/>
              </a:rPr>
              <a:t> </a:t>
            </a:r>
            <a:r>
              <a:rPr sz="1200" dirty="0">
                <a:latin typeface="Times New Roman"/>
                <a:cs typeface="Times New Roman"/>
              </a:rPr>
              <a:t>the</a:t>
            </a:r>
            <a:r>
              <a:rPr sz="1200" spc="229" dirty="0">
                <a:latin typeface="Times New Roman"/>
                <a:cs typeface="Times New Roman"/>
              </a:rPr>
              <a:t> </a:t>
            </a:r>
            <a:r>
              <a:rPr sz="1200" spc="-10" dirty="0">
                <a:latin typeface="Times New Roman"/>
                <a:cs typeface="Times New Roman"/>
              </a:rPr>
              <a:t>predicted </a:t>
            </a:r>
            <a:r>
              <a:rPr sz="1200" dirty="0">
                <a:latin typeface="Times New Roman"/>
                <a:cs typeface="Times New Roman"/>
              </a:rPr>
              <a:t>tetrameric</a:t>
            </a:r>
            <a:r>
              <a:rPr sz="1200" spc="114" dirty="0">
                <a:latin typeface="Times New Roman"/>
                <a:cs typeface="Times New Roman"/>
              </a:rPr>
              <a:t> </a:t>
            </a:r>
            <a:r>
              <a:rPr sz="1200" dirty="0">
                <a:latin typeface="Times New Roman"/>
                <a:cs typeface="Times New Roman"/>
              </a:rPr>
              <a:t>interfaces</a:t>
            </a:r>
            <a:r>
              <a:rPr sz="1200" spc="114" dirty="0">
                <a:latin typeface="Times New Roman"/>
                <a:cs typeface="Times New Roman"/>
              </a:rPr>
              <a:t> </a:t>
            </a:r>
            <a:r>
              <a:rPr sz="1200" dirty="0">
                <a:latin typeface="Times New Roman"/>
                <a:cs typeface="Times New Roman"/>
              </a:rPr>
              <a:t>for</a:t>
            </a:r>
            <a:r>
              <a:rPr sz="1200" spc="100" dirty="0">
                <a:latin typeface="Times New Roman"/>
                <a:cs typeface="Times New Roman"/>
              </a:rPr>
              <a:t> </a:t>
            </a:r>
            <a:r>
              <a:rPr sz="1200" dirty="0">
                <a:latin typeface="Times New Roman"/>
                <a:cs typeface="Times New Roman"/>
              </a:rPr>
              <a:t>both</a:t>
            </a:r>
            <a:r>
              <a:rPr sz="1200" spc="85" dirty="0">
                <a:latin typeface="Times New Roman"/>
                <a:cs typeface="Times New Roman"/>
              </a:rPr>
              <a:t> </a:t>
            </a:r>
            <a:r>
              <a:rPr sz="1200" spc="-10" dirty="0">
                <a:latin typeface="Times New Roman"/>
                <a:cs typeface="Times New Roman"/>
              </a:rPr>
              <a:t>species.</a:t>
            </a:r>
            <a:endParaRPr sz="1200" dirty="0">
              <a:latin typeface="Times New Roman"/>
              <a:cs typeface="Times New Roman"/>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2028</TotalTime>
  <Words>1599</Words>
  <Application>Microsoft Macintosh PowerPoint</Application>
  <PresentationFormat>A4 Paper (210x297 mm)</PresentationFormat>
  <Paragraphs>43</Paragraphs>
  <Slides>11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Aptos</vt:lpstr>
      <vt:lpstr>Arial</vt:lpstr>
      <vt:lpstr>Calibri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Elad Oren</cp:lastModifiedBy>
  <cp:revision>1</cp:revision>
  <dcterms:created xsi:type="dcterms:W3CDTF">2026-01-30T17:19:25Z</dcterms:created>
  <dcterms:modified xsi:type="dcterms:W3CDTF">2026-03-06T10:15:12Z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2025-04-27T00:00:00Z</vt:filetime>
  </property>
  <property fmtid="{D5CDD505-2E9C-101B-9397-08002B2CF9AE}" pid="3" name="LastSaved">
    <vt:filetime>2026-01-30T00:00:00Z</vt:filetime>
  </property>
  <property fmtid="{D5CDD505-2E9C-101B-9397-08002B2CF9AE}" pid="4" name="Producer">
    <vt:lpwstr>macOS Version 15.4.1 (Build 24E263) Quartz PDFContext</vt:lpwstr>
  </property>
</Properties>
</file>